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375" r:id="rId2"/>
    <p:sldId id="413" r:id="rId3"/>
    <p:sldId id="314" r:id="rId4"/>
    <p:sldId id="402" r:id="rId5"/>
    <p:sldId id="403" r:id="rId6"/>
    <p:sldId id="404" r:id="rId7"/>
    <p:sldId id="407" r:id="rId8"/>
    <p:sldId id="408" r:id="rId9"/>
    <p:sldId id="405" r:id="rId10"/>
    <p:sldId id="410" r:id="rId11"/>
    <p:sldId id="414" r:id="rId12"/>
    <p:sldId id="409" r:id="rId13"/>
    <p:sldId id="334" r:id="rId14"/>
  </p:sldIdLst>
  <p:sldSz cx="9144000" cy="6858000" type="screen4x3"/>
  <p:notesSz cx="7099300" cy="10234613"/>
  <p:defaultTextStyle>
    <a:defPPr>
      <a:defRPr lang="da-DK"/>
    </a:defPPr>
    <a:lvl1pPr algn="l" rtl="0" fontAlgn="base">
      <a:spcBef>
        <a:spcPct val="0"/>
      </a:spcBef>
      <a:spcAft>
        <a:spcPct val="0"/>
      </a:spcAft>
      <a:defRPr sz="2000" kern="1200">
        <a:solidFill>
          <a:srgbClr val="A50021"/>
        </a:solidFill>
        <a:latin typeface="Arial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rgbClr val="A50021"/>
        </a:solidFill>
        <a:latin typeface="Arial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rgbClr val="A50021"/>
        </a:solidFill>
        <a:latin typeface="Arial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rgbClr val="A50021"/>
        </a:solidFill>
        <a:latin typeface="Arial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rgbClr val="A5002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000" kern="1200">
        <a:solidFill>
          <a:srgbClr val="A5002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000" kern="1200">
        <a:solidFill>
          <a:srgbClr val="A5002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000" kern="1200">
        <a:solidFill>
          <a:srgbClr val="A5002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000" kern="1200">
        <a:solidFill>
          <a:srgbClr val="A5002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DAA713F-5F37-409B-BE0B-0BDA6802FF5C}">
          <p14:sldIdLst>
            <p14:sldId id="375"/>
            <p14:sldId id="413"/>
            <p14:sldId id="314"/>
            <p14:sldId id="402"/>
            <p14:sldId id="403"/>
            <p14:sldId id="404"/>
            <p14:sldId id="407"/>
            <p14:sldId id="408"/>
            <p14:sldId id="405"/>
            <p14:sldId id="410"/>
            <p14:sldId id="414"/>
            <p14:sldId id="409"/>
            <p14:sldId id="33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000066"/>
    <a:srgbClr val="CCECFF"/>
    <a:srgbClr val="A50021"/>
    <a:srgbClr val="FFFFCC"/>
    <a:srgbClr val="92D050"/>
    <a:srgbClr val="0000CC"/>
    <a:srgbClr val="CCFFCC"/>
    <a:srgbClr val="66CC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4" autoAdjust="0"/>
    <p:restoredTop sz="94726" autoAdjust="0"/>
  </p:normalViewPr>
  <p:slideViewPr>
    <p:cSldViewPr>
      <p:cViewPr varScale="1">
        <p:scale>
          <a:sx n="114" d="100"/>
          <a:sy n="114" d="100"/>
        </p:scale>
        <p:origin x="84" y="3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472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-11832"/>
    </p:cViewPr>
  </p:sorterViewPr>
  <p:notesViewPr>
    <p:cSldViewPr>
      <p:cViewPr varScale="1">
        <p:scale>
          <a:sx n="88" d="100"/>
          <a:sy n="88" d="100"/>
        </p:scale>
        <p:origin x="-2220" y="-102"/>
      </p:cViewPr>
      <p:guideLst>
        <p:guide orient="horz" pos="3224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rt Jensen" userId="536d7847-4321-45c6-997a-4b9f60543789" providerId="ADAL" clId="{E17C5AF6-11E3-421A-B6F2-416B0C981305}"/>
    <pc:docChg chg="undo custSel modSld">
      <pc:chgData name="Kurt Jensen" userId="536d7847-4321-45c6-997a-4b9f60543789" providerId="ADAL" clId="{E17C5AF6-11E3-421A-B6F2-416B0C981305}" dt="2025-11-24T07:12:55.011" v="310" actId="20577"/>
      <pc:docMkLst>
        <pc:docMk/>
      </pc:docMkLst>
      <pc:sldChg chg="modSp mod">
        <pc:chgData name="Kurt Jensen" userId="536d7847-4321-45c6-997a-4b9f60543789" providerId="ADAL" clId="{E17C5AF6-11E3-421A-B6F2-416B0C981305}" dt="2025-11-24T07:12:55.011" v="310" actId="20577"/>
        <pc:sldMkLst>
          <pc:docMk/>
          <pc:sldMk cId="1768001902" sldId="404"/>
        </pc:sldMkLst>
        <pc:spChg chg="mod">
          <ac:chgData name="Kurt Jensen" userId="536d7847-4321-45c6-997a-4b9f60543789" providerId="ADAL" clId="{E17C5AF6-11E3-421A-B6F2-416B0C981305}" dt="2025-11-24T07:12:55.011" v="310" actId="20577"/>
          <ac:spMkLst>
            <pc:docMk/>
            <pc:sldMk cId="1768001902" sldId="404"/>
            <ac:spMk id="10244" creationId="{00000000-0000-0000-0000-000000000000}"/>
          </ac:spMkLst>
        </pc:spChg>
      </pc:sldChg>
      <pc:sldChg chg="modSp mod">
        <pc:chgData name="Kurt Jensen" userId="536d7847-4321-45c6-997a-4b9f60543789" providerId="ADAL" clId="{E17C5AF6-11E3-421A-B6F2-416B0C981305}" dt="2025-11-24T07:08:00.870" v="305" actId="20577"/>
        <pc:sldMkLst>
          <pc:docMk/>
          <pc:sldMk cId="320053938" sldId="413"/>
        </pc:sldMkLst>
        <pc:spChg chg="mod">
          <ac:chgData name="Kurt Jensen" userId="536d7847-4321-45c6-997a-4b9f60543789" providerId="ADAL" clId="{E17C5AF6-11E3-421A-B6F2-416B0C981305}" dt="2025-11-24T07:08:00.870" v="305" actId="20577"/>
          <ac:spMkLst>
            <pc:docMk/>
            <pc:sldMk cId="320053938" sldId="413"/>
            <ac:spMk id="8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77085" cy="511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9041" tIns="49520" rIns="99041" bIns="49520" numCol="1" anchor="t" anchorCtr="0" compatLnSpc="1">
            <a:prstTxWarp prst="textNoShape">
              <a:avLst/>
            </a:prstTxWarp>
          </a:bodyPr>
          <a:lstStyle>
            <a:lvl1pPr defTabSz="990528">
              <a:defRPr sz="1300">
                <a:solidFill>
                  <a:schemeClr val="tx1"/>
                </a:solidFill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0548" y="0"/>
            <a:ext cx="3077085" cy="511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9041" tIns="49520" rIns="99041" bIns="49520" numCol="1" anchor="t" anchorCtr="0" compatLnSpc="1">
            <a:prstTxWarp prst="textNoShape">
              <a:avLst/>
            </a:prstTxWarp>
          </a:bodyPr>
          <a:lstStyle>
            <a:lvl1pPr algn="r" defTabSz="990528">
              <a:defRPr sz="1300">
                <a:solidFill>
                  <a:schemeClr val="tx1"/>
                </a:solidFill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614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721494"/>
            <a:ext cx="3077085" cy="511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9041" tIns="49520" rIns="99041" bIns="49520" numCol="1" anchor="b" anchorCtr="0" compatLnSpc="1">
            <a:prstTxWarp prst="textNoShape">
              <a:avLst/>
            </a:prstTxWarp>
          </a:bodyPr>
          <a:lstStyle>
            <a:lvl1pPr defTabSz="990528">
              <a:defRPr sz="1300">
                <a:solidFill>
                  <a:schemeClr val="tx1"/>
                </a:solidFill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614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0548" y="9721494"/>
            <a:ext cx="3077085" cy="511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9041" tIns="49520" rIns="99041" bIns="49520" numCol="1" anchor="b" anchorCtr="0" compatLnSpc="1">
            <a:prstTxWarp prst="textNoShape">
              <a:avLst/>
            </a:prstTxWarp>
          </a:bodyPr>
          <a:lstStyle>
            <a:lvl1pPr algn="r" defTabSz="990528">
              <a:defRPr sz="13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39B72E09-9C15-4F53-91FA-378928BEE7AC}" type="slidenum">
              <a:rPr lang="da-DK" altLang="da-DK"/>
              <a:pPr>
                <a:defRPr/>
              </a:pPr>
              <a:t>‹#›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90174962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77085" cy="511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9041" tIns="49520" rIns="99041" bIns="49520" numCol="1" anchor="t" anchorCtr="0" compatLnSpc="1">
            <a:prstTxWarp prst="textNoShape">
              <a:avLst/>
            </a:prstTxWarp>
          </a:bodyPr>
          <a:lstStyle>
            <a:lvl1pPr defTabSz="990528">
              <a:defRPr sz="1300" b="1">
                <a:solidFill>
                  <a:srgbClr val="CC0000"/>
                </a:solidFill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215" y="0"/>
            <a:ext cx="3077085" cy="511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9041" tIns="49520" rIns="99041" bIns="49520" numCol="1" anchor="t" anchorCtr="0" compatLnSpc="1">
            <a:prstTxWarp prst="textNoShape">
              <a:avLst/>
            </a:prstTxWarp>
          </a:bodyPr>
          <a:lstStyle>
            <a:lvl1pPr algn="r" defTabSz="990528">
              <a:defRPr sz="1300" b="1">
                <a:solidFill>
                  <a:srgbClr val="CC0000"/>
                </a:solidFill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796" y="4861564"/>
            <a:ext cx="5205709" cy="46050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9041" tIns="49520" rIns="99041" bIns="495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noProof="0"/>
              <a:t>Klik for at redigere teksttypografierne i masteren</a:t>
            </a:r>
          </a:p>
          <a:p>
            <a:pPr lvl="1"/>
            <a:r>
              <a:rPr lang="da-DK" noProof="0"/>
              <a:t>Andet niveau</a:t>
            </a:r>
          </a:p>
          <a:p>
            <a:pPr lvl="2"/>
            <a:r>
              <a:rPr lang="da-DK" noProof="0"/>
              <a:t>Tredje niveau</a:t>
            </a:r>
          </a:p>
          <a:p>
            <a:pPr lvl="3"/>
            <a:r>
              <a:rPr lang="da-DK" noProof="0"/>
              <a:t>Fjerde niveau</a:t>
            </a:r>
          </a:p>
          <a:p>
            <a:pPr lvl="4"/>
            <a:r>
              <a:rPr lang="da-DK" noProof="0"/>
              <a:t>Femte niveau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723127"/>
            <a:ext cx="3077085" cy="511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9041" tIns="49520" rIns="99041" bIns="49520" numCol="1" anchor="b" anchorCtr="0" compatLnSpc="1">
            <a:prstTxWarp prst="textNoShape">
              <a:avLst/>
            </a:prstTxWarp>
          </a:bodyPr>
          <a:lstStyle>
            <a:lvl1pPr defTabSz="990528">
              <a:defRPr sz="1300" b="1">
                <a:solidFill>
                  <a:srgbClr val="CC0000"/>
                </a:solidFill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215" y="9723127"/>
            <a:ext cx="3077085" cy="511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9041" tIns="49520" rIns="99041" bIns="49520" numCol="1" anchor="b" anchorCtr="0" compatLnSpc="1">
            <a:prstTxWarp prst="textNoShape">
              <a:avLst/>
            </a:prstTxWarp>
          </a:bodyPr>
          <a:lstStyle>
            <a:lvl1pPr algn="r" defTabSz="990528">
              <a:defRPr sz="1300" b="1">
                <a:solidFill>
                  <a:srgbClr val="CC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E392DC24-3004-4372-BE92-7F24D50BA456}" type="slidenum">
              <a:rPr lang="da-DK" altLang="da-DK"/>
              <a:pPr>
                <a:defRPr/>
              </a:pPr>
              <a:t>‹#›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71282625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897" indent="-285730"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2918" indent="-228584"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085" indent="-228584"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252" indent="-228584"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419" indent="-228584" defTabSz="99052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585" indent="-228584" defTabSz="99052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8752" indent="-228584" defTabSz="99052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5919" indent="-228584" defTabSz="99052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392CB419-FA32-4238-A473-EBED58FF00DE}" type="slidenum">
              <a:rPr lang="da-DK" altLang="da-DK" sz="1300">
                <a:solidFill>
                  <a:srgbClr val="CC0000"/>
                </a:solidFill>
              </a:rPr>
              <a:pPr eaLnBrk="1" hangingPunct="1">
                <a:spcBef>
                  <a:spcPct val="0"/>
                </a:spcBef>
              </a:pPr>
              <a:t>1</a:t>
            </a:fld>
            <a:endParaRPr lang="da-DK" altLang="da-DK" sz="1300" dirty="0">
              <a:solidFill>
                <a:srgbClr val="CC0000"/>
              </a:solidFill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da-DK" dirty="0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52312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897" indent="-285730"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2918" indent="-228584"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085" indent="-228584"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252" indent="-228584"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419" indent="-228584" defTabSz="99052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585" indent="-228584" defTabSz="99052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8752" indent="-228584" defTabSz="99052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5919" indent="-228584" defTabSz="99052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392CB419-FA32-4238-A473-EBED58FF00DE}" type="slidenum">
              <a:rPr lang="da-DK" altLang="da-DK" sz="1300">
                <a:solidFill>
                  <a:srgbClr val="CC0000"/>
                </a:solidFill>
              </a:rPr>
              <a:pPr eaLnBrk="1" hangingPunct="1">
                <a:spcBef>
                  <a:spcPct val="0"/>
                </a:spcBef>
              </a:pPr>
              <a:t>2</a:t>
            </a:fld>
            <a:endParaRPr lang="da-DK" altLang="da-DK" sz="1300" dirty="0">
              <a:solidFill>
                <a:srgbClr val="CC0000"/>
              </a:solidFill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da-DK" dirty="0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447643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2DC24-3004-4372-BE92-7F24D50BA456}" type="slidenum">
              <a:rPr lang="da-DK" altLang="da-DK" smtClean="0"/>
              <a:pPr>
                <a:defRPr/>
              </a:pPr>
              <a:t>3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12230063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2DC24-3004-4372-BE92-7F24D50BA456}" type="slidenum">
              <a:rPr lang="da-DK" altLang="da-DK" smtClean="0"/>
              <a:pPr>
                <a:defRPr/>
              </a:pPr>
              <a:t>4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15479427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2DC24-3004-4372-BE92-7F24D50BA456}" type="slidenum">
              <a:rPr lang="da-DK" altLang="da-DK" smtClean="0"/>
              <a:pPr>
                <a:defRPr/>
              </a:pPr>
              <a:t>5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2640888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2DC24-3004-4372-BE92-7F24D50BA456}" type="slidenum">
              <a:rPr lang="da-DK" altLang="da-DK" smtClean="0"/>
              <a:pPr>
                <a:defRPr/>
              </a:pPr>
              <a:t>6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40398034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2DC24-3004-4372-BE92-7F24D50BA456}" type="slidenum">
              <a:rPr lang="da-DK" altLang="da-DK" smtClean="0"/>
              <a:pPr>
                <a:defRPr/>
              </a:pPr>
              <a:t>7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2219498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2DC24-3004-4372-BE92-7F24D50BA456}" type="slidenum">
              <a:rPr lang="da-DK" altLang="da-DK" smtClean="0"/>
              <a:pPr>
                <a:defRPr/>
              </a:pPr>
              <a:t>8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10891576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2DC24-3004-4372-BE92-7F24D50BA456}" type="slidenum">
              <a:rPr lang="da-DK" altLang="da-DK" smtClean="0"/>
              <a:pPr>
                <a:defRPr/>
              </a:pPr>
              <a:t>9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29239470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2DC24-3004-4372-BE92-7F24D50BA456}" type="slidenum">
              <a:rPr lang="da-DK" altLang="da-DK" smtClean="0"/>
              <a:pPr>
                <a:defRPr/>
              </a:pPr>
              <a:t>10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29656968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2DC24-3004-4372-BE92-7F24D50BA456}" type="slidenum">
              <a:rPr lang="da-DK" altLang="da-DK" smtClean="0"/>
              <a:pPr>
                <a:defRPr/>
              </a:pPr>
              <a:t>11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977241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2DC24-3004-4372-BE92-7F24D50BA456}" type="slidenum">
              <a:rPr lang="da-DK" altLang="da-DK" smtClean="0"/>
              <a:pPr>
                <a:defRPr/>
              </a:pPr>
              <a:t>12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4241200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897" indent="-285730"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2918" indent="-228584"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085" indent="-228584"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252" indent="-228584"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419" indent="-228584" defTabSz="99052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585" indent="-228584" defTabSz="99052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8752" indent="-228584" defTabSz="99052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5919" indent="-228584" defTabSz="99052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0A7C83F2-97F6-4FF2-A03C-029400408B2C}" type="slidenum">
              <a:rPr lang="da-DK" altLang="da-DK" sz="1300">
                <a:solidFill>
                  <a:srgbClr val="CC0000"/>
                </a:solidFill>
              </a:rPr>
              <a:pPr eaLnBrk="1" hangingPunct="1">
                <a:spcBef>
                  <a:spcPct val="0"/>
                </a:spcBef>
              </a:pPr>
              <a:t>13</a:t>
            </a:fld>
            <a:endParaRPr lang="da-DK" altLang="da-DK" sz="1300">
              <a:solidFill>
                <a:srgbClr val="CC0000"/>
              </a:solidFill>
            </a:endParaRPr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da-DK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7084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a-DK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a-DK"/>
              <a:t>Click to edit Master subtitle style</a:t>
            </a:r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532440" y="6400800"/>
            <a:ext cx="611560" cy="457200"/>
          </a:xfrm>
          <a:prstGeom prst="rect">
            <a:avLst/>
          </a:prstGeom>
          <a:ln/>
        </p:spPr>
        <p:txBody>
          <a:bodyPr/>
          <a:lstStyle>
            <a:lvl1pPr algn="l">
              <a:defRPr sz="1800" b="1">
                <a:solidFill>
                  <a:srgbClr val="003399"/>
                </a:solidFill>
                <a:latin typeface="+mn-lt"/>
              </a:defRPr>
            </a:lvl1pPr>
          </a:lstStyle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‹#›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2519836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Master </a:t>
            </a:r>
            <a:r>
              <a:rPr lang="da-DK" dirty="0" err="1"/>
              <a:t>text</a:t>
            </a:r>
            <a:r>
              <a:rPr lang="da-DK" dirty="0"/>
              <a:t> </a:t>
            </a:r>
            <a:r>
              <a:rPr lang="da-DK" dirty="0" err="1"/>
              <a:t>styles</a:t>
            </a:r>
            <a:endParaRPr lang="da-DK" dirty="0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</a:t>
            </a:r>
            <a:r>
              <a:rPr lang="da-DK" dirty="0"/>
              <a:t> </a:t>
            </a:r>
            <a:r>
              <a:rPr lang="da-DK" dirty="0" err="1"/>
              <a:t>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460432" y="6400800"/>
            <a:ext cx="683568" cy="457200"/>
          </a:xfrm>
          <a:prstGeom prst="rect">
            <a:avLst/>
          </a:prstGeom>
          <a:ln>
            <a:noFill/>
          </a:ln>
        </p:spPr>
        <p:txBody>
          <a:bodyPr/>
          <a:lstStyle>
            <a:lvl1pPr algn="ctr">
              <a:defRPr sz="1800" b="1">
                <a:solidFill>
                  <a:srgbClr val="003399"/>
                </a:solidFill>
                <a:latin typeface="+mn-lt"/>
              </a:defRPr>
            </a:lvl1pPr>
          </a:lstStyle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‹#›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3094675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3" y="1052513"/>
            <a:ext cx="4027487" cy="51958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Master </a:t>
            </a:r>
            <a:r>
              <a:rPr lang="da-DK" dirty="0" err="1"/>
              <a:t>text</a:t>
            </a:r>
            <a:r>
              <a:rPr lang="da-DK" dirty="0"/>
              <a:t> </a:t>
            </a:r>
            <a:r>
              <a:rPr lang="da-DK" dirty="0" err="1"/>
              <a:t>styles</a:t>
            </a:r>
            <a:endParaRPr lang="da-DK" dirty="0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</a:t>
            </a:r>
            <a:r>
              <a:rPr lang="da-DK" dirty="0"/>
              <a:t> </a:t>
            </a:r>
            <a:r>
              <a:rPr lang="da-DK" dirty="0" err="1"/>
              <a:t>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52513"/>
            <a:ext cx="4027488" cy="51958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Click to edit Master text styles</a:t>
            </a:r>
          </a:p>
          <a:p>
            <a:pPr lvl="1"/>
            <a:r>
              <a:rPr lang="da-DK"/>
              <a:t>Second level</a:t>
            </a:r>
          </a:p>
          <a:p>
            <a:pPr lvl="2"/>
            <a:r>
              <a:rPr lang="da-DK"/>
              <a:t>Third level</a:t>
            </a:r>
          </a:p>
          <a:p>
            <a:pPr lvl="3"/>
            <a:r>
              <a:rPr lang="da-DK"/>
              <a:t>Fourth level</a:t>
            </a:r>
          </a:p>
          <a:p>
            <a:pPr lvl="4"/>
            <a:r>
              <a:rPr lang="da-DK"/>
              <a:t>Fifth level</a:t>
            </a: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532440" y="6400800"/>
            <a:ext cx="611560" cy="457200"/>
          </a:xfrm>
          <a:ln/>
        </p:spPr>
        <p:txBody>
          <a:bodyPr/>
          <a:lstStyle>
            <a:lvl1pPr algn="l">
              <a:defRPr sz="1800" b="1">
                <a:solidFill>
                  <a:srgbClr val="003399"/>
                </a:solidFill>
                <a:latin typeface="+mn-lt"/>
              </a:defRPr>
            </a:lvl1pPr>
          </a:lstStyle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‹#›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204871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Click to edit Master title style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532440" y="6400800"/>
            <a:ext cx="611560" cy="457200"/>
          </a:xfrm>
          <a:ln/>
        </p:spPr>
        <p:txBody>
          <a:bodyPr/>
          <a:lstStyle>
            <a:lvl1pPr algn="l">
              <a:defRPr sz="1800" b="1">
                <a:solidFill>
                  <a:srgbClr val="003399"/>
                </a:solidFill>
                <a:latin typeface="+mn-lt"/>
              </a:defRPr>
            </a:lvl1pPr>
          </a:lstStyle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‹#›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4260232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333375"/>
            <a:ext cx="820737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a-DK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052513"/>
            <a:ext cx="8207375" cy="5195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Master </a:t>
            </a:r>
            <a:r>
              <a:rPr lang="da-DK" dirty="0" err="1"/>
              <a:t>text</a:t>
            </a:r>
            <a:r>
              <a:rPr lang="da-DK" dirty="0"/>
              <a:t> </a:t>
            </a:r>
            <a:r>
              <a:rPr lang="da-DK" dirty="0" err="1"/>
              <a:t>styles</a:t>
            </a:r>
            <a:endParaRPr lang="da-DK" dirty="0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</a:t>
            </a:r>
            <a:r>
              <a:rPr lang="da-DK" dirty="0"/>
              <a:t> </a:t>
            </a:r>
            <a:r>
              <a:rPr lang="da-DK" dirty="0" err="1"/>
              <a:t>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da-DK" dirty="0"/>
          </a:p>
        </p:txBody>
      </p:sp>
      <p:sp>
        <p:nvSpPr>
          <p:cNvPr id="1033" name="Line 9"/>
          <p:cNvSpPr>
            <a:spLocks noChangeShapeType="1"/>
          </p:cNvSpPr>
          <p:nvPr userDrawn="1"/>
        </p:nvSpPr>
        <p:spPr bwMode="auto">
          <a:xfrm flipV="1">
            <a:off x="468313" y="981075"/>
            <a:ext cx="8207375" cy="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ea typeface="ＭＳ Ｐゴシック" charset="0"/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532440" y="6400800"/>
            <a:ext cx="611560" cy="457200"/>
          </a:xfrm>
          <a:prstGeom prst="rect">
            <a:avLst/>
          </a:prstGeom>
          <a:ln/>
        </p:spPr>
        <p:txBody>
          <a:bodyPr/>
          <a:lstStyle>
            <a:lvl1pPr algn="l">
              <a:defRPr sz="1800" b="1">
                <a:solidFill>
                  <a:srgbClr val="003399"/>
                </a:solidFill>
                <a:latin typeface="+mn-lt"/>
              </a:defRPr>
            </a:lvl1pPr>
          </a:lstStyle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‹#›</a:t>
            </a:fld>
            <a:endParaRPr lang="da-DK" altLang="da-DK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+mj-lt"/>
          <a:ea typeface="+mj-ea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Arial" charset="0"/>
          <a:ea typeface="ＭＳ Ｐゴシック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Arial" charset="0"/>
          <a:ea typeface="ＭＳ Ｐゴシック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Arial" charset="0"/>
          <a:ea typeface="ＭＳ Ｐゴシック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A5002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000066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rgbClr val="000066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Times New Roman" charset="0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Times New Roman" charset="0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Times New Roman" charset="0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Times New Roman" charset="0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Times New Roman" charset="0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Times New Roman" charset="0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467544" y="188640"/>
            <a:ext cx="8361247" cy="1152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+mj-lt"/>
                <a:ea typeface="ＭＳ Ｐゴシック" pitchFamily="-107" charset="-128"/>
                <a:cs typeface="ＭＳ Ｐゴシック" pitchFamily="-107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charset="0"/>
              </a:defRPr>
            </a:lvl9pPr>
          </a:lstStyle>
          <a:p>
            <a:pPr marL="358775"/>
            <a:r>
              <a:rPr lang="en-GB" altLang="da-DK" sz="2800" dirty="0"/>
              <a:t>Welcome to the information meeting for bachelor projects in the spring of 2026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899592" y="1412776"/>
            <a:ext cx="8136904" cy="5256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400" b="1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eaLnBrk="0" hangingPunct="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itchFamily="34" charset="0"/>
                <a:ea typeface="ＭＳ Ｐゴシック" pitchFamily="34" charset="-128"/>
              </a:defRPr>
            </a:lvl2pPr>
            <a:lvl3pPr eaLnBrk="0" hangingPunct="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eaLnBrk="0" hangingPunct="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eaLnBrk="0" hangingPunct="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 marL="271463" indent="-271463">
              <a:spcBef>
                <a:spcPts val="1200"/>
              </a:spcBef>
            </a:pPr>
            <a:r>
              <a:rPr lang="en-GB" altLang="da-DK" sz="1800" dirty="0"/>
              <a:t>Kurt Jensen – responsible for the bachelor project course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Lectures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Brightspace pages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Formation of groups, etc.</a:t>
            </a:r>
          </a:p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</a:rPr>
              <a:t>Program for this information meeting</a:t>
            </a:r>
          </a:p>
          <a:p>
            <a:pPr marL="728663" lvl="1" indent="-271463">
              <a:spcBef>
                <a:spcPts val="600"/>
              </a:spcBef>
              <a:buFont typeface="+mj-lt"/>
              <a:buChar char="–"/>
            </a:pPr>
            <a:r>
              <a:rPr lang="en-GB" altLang="da-DK" sz="1600" dirty="0"/>
              <a:t>I will give a brief presentation of the rules for bachelor projects and the organisation of the bachelor project course (20 minutes)</a:t>
            </a:r>
            <a:br>
              <a:rPr lang="en-GB" altLang="da-DK" sz="1600" dirty="0"/>
            </a:br>
            <a:r>
              <a:rPr lang="en-GB" altLang="da-DK" sz="1600" dirty="0">
                <a:solidFill>
                  <a:srgbClr val="FF0000"/>
                </a:solidFill>
              </a:rPr>
              <a:t>Questions are very welcome during my talk</a:t>
            </a:r>
          </a:p>
          <a:p>
            <a:pPr marL="728663" lvl="1" indent="-271463">
              <a:spcBef>
                <a:spcPts val="900"/>
              </a:spcBef>
              <a:buFont typeface="+mj-lt"/>
              <a:buChar char="–"/>
            </a:pPr>
            <a:r>
              <a:rPr lang="en-GB" altLang="da-DK" sz="1600" dirty="0"/>
              <a:t>Each of the four sections will give a 15 minutes' presentation of the section and the bachelor projects they offer</a:t>
            </a:r>
          </a:p>
          <a:p>
            <a:pPr marL="728663" lvl="1" indent="-271463">
              <a:spcBef>
                <a:spcPts val="900"/>
              </a:spcBef>
              <a:buFont typeface="+mj-lt"/>
              <a:buChar char="–"/>
            </a:pPr>
            <a:r>
              <a:rPr lang="en-GB" altLang="da-DK" sz="1600" spc="-30" dirty="0"/>
              <a:t>Meet advisors from the different sections (outside auditorium)</a:t>
            </a:r>
          </a:p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</a:rPr>
              <a:t>Slides from this information meeting</a:t>
            </a:r>
          </a:p>
          <a:p>
            <a:pPr marL="728663" lvl="1" indent="-271463">
              <a:spcBef>
                <a:spcPts val="600"/>
              </a:spcBef>
              <a:buFont typeface="+mj-lt"/>
              <a:buChar char="–"/>
            </a:pPr>
            <a:r>
              <a:rPr lang="en-GB" altLang="da-DK" sz="1600" spc="-50" dirty="0"/>
              <a:t>All slides can be found on the Brightspace page </a:t>
            </a:r>
            <a:r>
              <a:rPr lang="en-US" altLang="da-DK" sz="1600" b="1" spc="-50" dirty="0">
                <a:solidFill>
                  <a:srgbClr val="008000"/>
                </a:solidFill>
              </a:rPr>
              <a:t>Information meeting</a:t>
            </a:r>
          </a:p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</a:rPr>
              <a:t>The rest of this talk will be conducted in Danish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Students enrolled for bachelor courses must be able to speak Danish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Slides will be in English (to help advisors who do not speak Danish)</a:t>
            </a:r>
          </a:p>
          <a:p>
            <a:pPr marL="728663" lvl="1" indent="-271463">
              <a:spcBef>
                <a:spcPts val="600"/>
              </a:spcBef>
              <a:buFont typeface="+mj-lt"/>
              <a:buChar char="–"/>
            </a:pPr>
            <a:endParaRPr lang="da-DK" altLang="da-DK" sz="2000" spc="-50" dirty="0"/>
          </a:p>
          <a:p>
            <a:pPr>
              <a:buFontTx/>
              <a:buNone/>
            </a:pPr>
            <a:endParaRPr lang="da-DK" altLang="da-DK" sz="2000" dirty="0"/>
          </a:p>
        </p:txBody>
      </p:sp>
    </p:spTree>
    <p:extLst>
      <p:ext uri="{BB962C8B-B14F-4D97-AF65-F5344CB8AC3E}">
        <p14:creationId xmlns:p14="http://schemas.microsoft.com/office/powerpoint/2010/main" val="3828024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459225" y="260349"/>
            <a:ext cx="8433255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+mj-lt"/>
                <a:ea typeface="ＭＳ Ｐゴシック" pitchFamily="-107" charset="-128"/>
                <a:cs typeface="ＭＳ Ｐゴシック" pitchFamily="-107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charset="0"/>
                <a:ea typeface="ＭＳ Ｐゴシック" pitchFamily="-107" charset="-128"/>
                <a:cs typeface="ＭＳ Ｐゴシック" pitchFamily="-107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charset="0"/>
              </a:defRPr>
            </a:lvl9pPr>
          </a:lstStyle>
          <a:p>
            <a:pPr marL="271463" indent="-271463"/>
            <a:r>
              <a:rPr lang="en-GB" altLang="da-DK" sz="2800" dirty="0"/>
              <a:t>Number of students and workload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459225" y="1052736"/>
            <a:ext cx="8361247" cy="5256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400" b="1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eaLnBrk="0" hangingPunct="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itchFamily="34" charset="0"/>
                <a:ea typeface="ＭＳ Ｐゴシック" pitchFamily="34" charset="-128"/>
              </a:defRPr>
            </a:lvl2pPr>
            <a:lvl3pPr eaLnBrk="0" hangingPunct="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eaLnBrk="0" hangingPunct="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eaLnBrk="0" hangingPunct="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 marL="271463" lvl="1" indent="-271463">
              <a:spcBef>
                <a:spcPts val="18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</a:rPr>
              <a:t>There will be a total of 130 students doing their cs / it bachelor project in the Spring of 2026</a:t>
            </a:r>
          </a:p>
          <a:p>
            <a:pPr marL="728663" lvl="1" indent="-271463">
              <a:spcBef>
                <a:spcPts val="600"/>
              </a:spcBef>
            </a:pPr>
            <a:r>
              <a:rPr lang="en-GB" altLang="da-DK" sz="1600" dirty="0"/>
              <a:t>Officially, there are three different bachelor project courses (one for </a:t>
            </a:r>
            <a:r>
              <a:rPr lang="en-GB" altLang="da-DK" sz="1600" dirty="0" err="1"/>
              <a:t>cs</a:t>
            </a:r>
            <a:r>
              <a:rPr lang="en-GB" altLang="da-DK" sz="1600" dirty="0"/>
              <a:t>, one for it and one for 10 ECTS projects), but in practice, they are organised as a single course with one Brightspace page and common lectures</a:t>
            </a:r>
            <a:endParaRPr lang="en-GB" altLang="da-DK" sz="1600" dirty="0">
              <a:solidFill>
                <a:srgbClr val="00B050"/>
              </a:solidFill>
            </a:endParaRPr>
          </a:p>
          <a:p>
            <a:pPr marL="271463" lvl="1" indent="-271463">
              <a:spcBef>
                <a:spcPts val="18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</a:rPr>
              <a:t>The workload of the bachelor project is 15 ECTS (with a few exceptions)</a:t>
            </a:r>
          </a:p>
          <a:p>
            <a:pPr marL="728663" lvl="1" indent="-271463">
              <a:spcBef>
                <a:spcPts val="600"/>
              </a:spcBef>
            </a:pPr>
            <a:r>
              <a:rPr lang="en-GB" altLang="da-DK" sz="1600" dirty="0"/>
              <a:t>In the first half of the semester, you are expected to spend 15 hours per week</a:t>
            </a:r>
          </a:p>
          <a:p>
            <a:pPr marL="728663" lvl="1" indent="-271463">
              <a:spcBef>
                <a:spcPts val="600"/>
              </a:spcBef>
            </a:pPr>
            <a:r>
              <a:rPr lang="en-GB" altLang="da-DK" sz="1600" dirty="0"/>
              <a:t>In the second half of the semester, you are expected to spend 30 hours per week</a:t>
            </a:r>
          </a:p>
          <a:p>
            <a:pPr>
              <a:buFontTx/>
              <a:buNone/>
            </a:pPr>
            <a:endParaRPr lang="da-DK" altLang="da-DK" sz="2000" dirty="0"/>
          </a:p>
          <a:p>
            <a:pPr>
              <a:buFontTx/>
              <a:buNone/>
            </a:pPr>
            <a:endParaRPr lang="da-DK" altLang="da-DK" sz="2000" dirty="0"/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460432" y="6400800"/>
            <a:ext cx="683568" cy="457200"/>
          </a:xfrm>
        </p:spPr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2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320053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altLang="da-DK" sz="2800" dirty="0"/>
              <a:t>Advisors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052736"/>
            <a:ext cx="8712968" cy="5348064"/>
          </a:xfrm>
          <a:noFill/>
        </p:spPr>
        <p:txBody>
          <a:bodyPr/>
          <a:lstStyle/>
          <a:p>
            <a:pPr eaLnBrk="1" hangingPunct="1">
              <a:defRPr/>
            </a:pPr>
            <a:r>
              <a:rPr lang="en-GB" altLang="da-DK" sz="1800" noProof="0" dirty="0"/>
              <a:t>It will be possible to make the bachelor projects within the following four sections</a:t>
            </a:r>
          </a:p>
          <a:p>
            <a:pPr marL="728663" lvl="1" indent="-271463">
              <a:spcBef>
                <a:spcPts val="300"/>
              </a:spcBef>
            </a:pPr>
            <a:r>
              <a:rPr lang="en-US" sz="1600" kern="1200" dirty="0">
                <a:latin typeface="Arial" pitchFamily="34" charset="0"/>
                <a:ea typeface="ＭＳ Ｐゴシック" pitchFamily="34" charset="-128"/>
                <a:cs typeface="+mn-cs"/>
              </a:rPr>
              <a:t>Algorithms, Data Structures and Artificial Intelligence (ADA</a:t>
            </a:r>
          </a:p>
          <a:p>
            <a:pPr marL="728663" lvl="1" indent="-271463">
              <a:spcBef>
                <a:spcPts val="300"/>
              </a:spcBef>
            </a:pPr>
            <a:r>
              <a:rPr lang="en-US" sz="1600" kern="1200" dirty="0">
                <a:latin typeface="Arial" pitchFamily="34" charset="0"/>
                <a:ea typeface="ＭＳ Ｐゴシック" pitchFamily="34" charset="-128"/>
                <a:cs typeface="+mn-cs"/>
              </a:rPr>
              <a:t>Cryptography and Cybersecurity (CC).</a:t>
            </a:r>
          </a:p>
          <a:p>
            <a:pPr marL="728663" lvl="1" indent="-271463">
              <a:spcBef>
                <a:spcPts val="300"/>
              </a:spcBef>
            </a:pPr>
            <a:r>
              <a:rPr lang="en-US" sz="1600" kern="1200" dirty="0">
                <a:latin typeface="Arial" pitchFamily="34" charset="0"/>
                <a:ea typeface="ＭＳ Ｐゴシック" pitchFamily="34" charset="-128"/>
                <a:cs typeface="+mn-cs"/>
              </a:rPr>
              <a:t>Human-Centered Computing (HCC).</a:t>
            </a:r>
          </a:p>
          <a:p>
            <a:pPr marL="728663" lvl="1" indent="-271463">
              <a:spcBef>
                <a:spcPts val="300"/>
              </a:spcBef>
            </a:pPr>
            <a:r>
              <a:rPr lang="en-US" sz="1600" kern="1200" dirty="0">
                <a:latin typeface="Arial" pitchFamily="34" charset="0"/>
                <a:ea typeface="ＭＳ Ｐゴシック" pitchFamily="34" charset="-128"/>
                <a:cs typeface="+mn-cs"/>
              </a:rPr>
              <a:t>Programming Languages, Logic, and Software Security (PLS).</a:t>
            </a:r>
          </a:p>
          <a:p>
            <a:pPr marL="342900" lvl="1" indent="-342900" eaLnBrk="1" hangingPunct="1">
              <a:spcBef>
                <a:spcPts val="1800"/>
              </a:spcBef>
              <a:buChar char="•"/>
              <a:defRPr/>
            </a:pPr>
            <a:r>
              <a:rPr lang="en-US" sz="1800" b="1" dirty="0">
                <a:solidFill>
                  <a:srgbClr val="A50021"/>
                </a:solidFill>
                <a:cs typeface="ＭＳ Ｐゴシック" charset="0"/>
              </a:rPr>
              <a:t>The four sections have the following contact persons for bachelor projects</a:t>
            </a:r>
          </a:p>
          <a:p>
            <a:pPr marL="728663" lvl="1" indent="-271463">
              <a:spcBef>
                <a:spcPts val="300"/>
              </a:spcBef>
            </a:pPr>
            <a:r>
              <a:rPr lang="en-US" sz="1600" kern="1200" spc="-40" dirty="0">
                <a:latin typeface="Arial" pitchFamily="34" charset="0"/>
                <a:ea typeface="ＭＳ Ｐゴシック" pitchFamily="34" charset="-128"/>
                <a:cs typeface="+mn-cs"/>
              </a:rPr>
              <a:t>ADA section: Chris Schwiegelshohn, Kristoffer Arnsfelt Hansen &amp; Akhil Arora</a:t>
            </a:r>
          </a:p>
          <a:p>
            <a:pPr marL="728663" lvl="1" indent="-271463">
              <a:spcBef>
                <a:spcPts val="300"/>
              </a:spcBef>
            </a:pPr>
            <a:r>
              <a:rPr lang="en-US" sz="1600" kern="1200" spc="-40" dirty="0">
                <a:latin typeface="Arial" pitchFamily="34" charset="0"/>
                <a:ea typeface="ＭＳ Ｐゴシック" pitchFamily="34" charset="-128"/>
                <a:cs typeface="+mn-cs"/>
              </a:rPr>
              <a:t>CC section: Ivan Bjerre Damgård.</a:t>
            </a:r>
          </a:p>
          <a:p>
            <a:pPr marL="728663" lvl="1" indent="-271463">
              <a:spcBef>
                <a:spcPts val="300"/>
              </a:spcBef>
            </a:pPr>
            <a:r>
              <a:rPr lang="en-US" sz="1600" kern="1200" spc="-40" dirty="0">
                <a:latin typeface="Arial" pitchFamily="34" charset="0"/>
                <a:ea typeface="ＭＳ Ｐゴシック" pitchFamily="34" charset="-128"/>
                <a:cs typeface="+mn-cs"/>
              </a:rPr>
              <a:t>HCC section: Eve Hoggan.</a:t>
            </a:r>
          </a:p>
          <a:p>
            <a:pPr marL="728663" lvl="1" indent="-271463">
              <a:spcBef>
                <a:spcPts val="300"/>
              </a:spcBef>
            </a:pPr>
            <a:r>
              <a:rPr lang="en-US" sz="1600" kern="1200" spc="-40" dirty="0">
                <a:latin typeface="Arial" pitchFamily="34" charset="0"/>
                <a:ea typeface="ＭＳ Ｐゴシック" pitchFamily="34" charset="-128"/>
                <a:cs typeface="+mn-cs"/>
              </a:rPr>
              <a:t>PLS section: Andreas Pavlogiannis &amp; Jaco van de Pol.</a:t>
            </a:r>
          </a:p>
          <a:p>
            <a:pPr marL="728663" lvl="1" indent="-271463">
              <a:spcBef>
                <a:spcPts val="300"/>
              </a:spcBef>
            </a:pPr>
            <a:endParaRPr lang="en-US" sz="1600" kern="1200" spc="-40" dirty="0">
              <a:latin typeface="Arial" pitchFamily="34" charset="0"/>
              <a:ea typeface="ＭＳ Ｐゴシック" pitchFamily="34" charset="-128"/>
              <a:cs typeface="+mn-cs"/>
            </a:endParaRPr>
          </a:p>
          <a:p>
            <a:pPr marL="457200" lvl="1" indent="0">
              <a:spcBef>
                <a:spcPts val="300"/>
              </a:spcBef>
              <a:buNone/>
            </a:pPr>
            <a:r>
              <a:rPr lang="en-US" sz="1600" kern="1200" spc="-40" dirty="0">
                <a:latin typeface="Arial" pitchFamily="34" charset="0"/>
                <a:ea typeface="ＭＳ Ｐゴシック" pitchFamily="34" charset="-128"/>
                <a:cs typeface="+mn-cs"/>
              </a:rPr>
              <a:t>The actual advisor for a given project may be another person from the section</a:t>
            </a:r>
            <a:endParaRPr lang="da-DK" sz="1600" kern="1200" spc="-40" dirty="0">
              <a:latin typeface="Arial" pitchFamily="34" charset="0"/>
              <a:ea typeface="ＭＳ Ｐゴシック" pitchFamily="34" charset="-128"/>
              <a:cs typeface="+mn-cs"/>
            </a:endParaRPr>
          </a:p>
          <a:p>
            <a:pPr eaLnBrk="1" hangingPunct="1">
              <a:defRPr/>
            </a:pPr>
            <a:endParaRPr lang="en-GB" altLang="da-DK" sz="2000" noProof="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3</a:t>
            </a:fld>
            <a:endParaRPr lang="da-DK" altLang="da-DK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784207" cy="6096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da-DK" sz="2800" dirty="0"/>
              <a:t>Learning goals (from official course descriptions)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7463" y="1039018"/>
            <a:ext cx="8496944" cy="5558334"/>
          </a:xfrm>
          <a:noFill/>
        </p:spPr>
        <p:txBody>
          <a:bodyPr/>
          <a:lstStyle/>
          <a:p>
            <a:pPr eaLnBrk="1" hangingPunct="1">
              <a:defRPr/>
            </a:pPr>
            <a:r>
              <a:rPr lang="en-GB" altLang="da-DK" sz="1800" noProof="0" dirty="0"/>
              <a:t>Qualifications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sz="1600" kern="1200" dirty="0">
                <a:latin typeface="Arial" pitchFamily="34" charset="0"/>
                <a:ea typeface="ＭＳ Ｐゴシック" pitchFamily="34" charset="-128"/>
              </a:rPr>
              <a:t>After the course you will have obtained </a:t>
            </a:r>
            <a:r>
              <a:rPr lang="en-GB" sz="1600" b="1" kern="1200" dirty="0">
                <a:latin typeface="Arial" pitchFamily="34" charset="0"/>
                <a:ea typeface="ＭＳ Ｐゴシック" pitchFamily="34" charset="-128"/>
              </a:rPr>
              <a:t>detailed knowledge</a:t>
            </a:r>
            <a:r>
              <a:rPr lang="en-GB" sz="1600" kern="1200" dirty="0">
                <a:latin typeface="Arial" pitchFamily="34" charset="0"/>
                <a:ea typeface="ＭＳ Ｐゴシック" pitchFamily="34" charset="-128"/>
              </a:rPr>
              <a:t> and practical experience with a </a:t>
            </a:r>
            <a:r>
              <a:rPr lang="en-GB" sz="1600" b="1" kern="1200" dirty="0">
                <a:latin typeface="Arial" pitchFamily="34" charset="0"/>
                <a:ea typeface="ＭＳ Ｐゴシック" pitchFamily="34" charset="-128"/>
              </a:rPr>
              <a:t>specific area</a:t>
            </a:r>
            <a:r>
              <a:rPr lang="en-GB" sz="1600" kern="1200" dirty="0">
                <a:latin typeface="Arial" pitchFamily="34" charset="0"/>
                <a:ea typeface="ＭＳ Ｐゴシック" pitchFamily="34" charset="-128"/>
              </a:rPr>
              <a:t> within cs / it product development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sz="1600" kern="1200" dirty="0">
                <a:latin typeface="Arial" pitchFamily="34" charset="0"/>
                <a:ea typeface="ＭＳ Ｐゴシック" pitchFamily="34" charset="-128"/>
              </a:rPr>
              <a:t>The course will train you in independently </a:t>
            </a:r>
            <a:r>
              <a:rPr lang="en-GB" sz="1600" b="1" kern="1200" dirty="0">
                <a:latin typeface="Arial" pitchFamily="34" charset="0"/>
                <a:ea typeface="ＭＳ Ｐゴシック" pitchFamily="34" charset="-128"/>
              </a:rPr>
              <a:t>seeking information</a:t>
            </a:r>
            <a:r>
              <a:rPr lang="en-GB" sz="1600" kern="1200" dirty="0">
                <a:latin typeface="Arial" pitchFamily="34" charset="0"/>
                <a:ea typeface="ＭＳ Ｐゴシック" pitchFamily="34" charset="-128"/>
              </a:rPr>
              <a:t>, </a:t>
            </a:r>
            <a:r>
              <a:rPr lang="en-GB" sz="1600" b="1" kern="1200" dirty="0">
                <a:latin typeface="Arial" pitchFamily="34" charset="0"/>
                <a:ea typeface="ＭＳ Ｐゴシック" pitchFamily="34" charset="-128"/>
              </a:rPr>
              <a:t>planning</a:t>
            </a:r>
            <a:r>
              <a:rPr lang="en-GB" sz="1600" kern="1200" dirty="0">
                <a:latin typeface="Arial" pitchFamily="34" charset="0"/>
                <a:ea typeface="ＭＳ Ｐゴシック" pitchFamily="34" charset="-128"/>
              </a:rPr>
              <a:t> and </a:t>
            </a:r>
            <a:r>
              <a:rPr lang="en-GB" sz="1600" b="1" kern="1200" dirty="0">
                <a:latin typeface="Arial" pitchFamily="34" charset="0"/>
                <a:ea typeface="ＭＳ Ｐゴシック" pitchFamily="34" charset="-128"/>
              </a:rPr>
              <a:t>conducting</a:t>
            </a:r>
            <a:r>
              <a:rPr lang="en-GB" sz="1600" kern="1200" dirty="0">
                <a:latin typeface="Arial" pitchFamily="34" charset="0"/>
                <a:ea typeface="ＭＳ Ｐゴシック" pitchFamily="34" charset="-128"/>
              </a:rPr>
              <a:t> a project, and </a:t>
            </a:r>
            <a:r>
              <a:rPr lang="en-GB" sz="1600" b="1" kern="1200" dirty="0">
                <a:latin typeface="Arial" pitchFamily="34" charset="0"/>
                <a:ea typeface="ＭＳ Ｐゴシック" pitchFamily="34" charset="-128"/>
              </a:rPr>
              <a:t>communicating</a:t>
            </a:r>
            <a:r>
              <a:rPr lang="en-GB" sz="1600" kern="1200" dirty="0">
                <a:latin typeface="Arial" pitchFamily="34" charset="0"/>
                <a:ea typeface="ＭＳ Ｐゴシック" pitchFamily="34" charset="-128"/>
              </a:rPr>
              <a:t> the results of your project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sz="1600" kern="1200" dirty="0">
                <a:latin typeface="Arial" pitchFamily="34" charset="0"/>
                <a:ea typeface="ＭＳ Ｐゴシック" pitchFamily="34" charset="-128"/>
              </a:rPr>
              <a:t>You will obtain experience in reading and understanding </a:t>
            </a:r>
            <a:r>
              <a:rPr lang="en-GB" sz="1600" b="1" kern="1200" dirty="0">
                <a:latin typeface="Arial" pitchFamily="34" charset="0"/>
                <a:ea typeface="ＭＳ Ｐゴシック" pitchFamily="34" charset="-128"/>
              </a:rPr>
              <a:t>scientific papers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sz="1600" kern="1200" dirty="0">
                <a:latin typeface="Arial" pitchFamily="34" charset="0"/>
                <a:ea typeface="ＭＳ Ｐゴシック" pitchFamily="34" charset="-128"/>
              </a:rPr>
              <a:t>After the course you will be able to:</a:t>
            </a:r>
          </a:p>
          <a:p>
            <a:pPr marL="1128713" lvl="2" indent="-271463">
              <a:spcBef>
                <a:spcPts val="100"/>
              </a:spcBef>
            </a:pPr>
            <a:r>
              <a:rPr lang="en-GB" b="1" kern="1200" dirty="0">
                <a:latin typeface="Arial" pitchFamily="34" charset="0"/>
                <a:ea typeface="ＭＳ Ｐゴシック" pitchFamily="34" charset="-128"/>
              </a:rPr>
              <a:t>formulate</a:t>
            </a:r>
            <a:r>
              <a:rPr lang="en-GB" kern="1200" dirty="0">
                <a:latin typeface="Arial" pitchFamily="34" charset="0"/>
                <a:ea typeface="ＭＳ Ｐゴシック" pitchFamily="34" charset="-128"/>
              </a:rPr>
              <a:t> a cs/it </a:t>
            </a:r>
            <a:r>
              <a:rPr lang="en-GB" b="1" kern="1200" dirty="0">
                <a:latin typeface="Arial" pitchFamily="34" charset="0"/>
                <a:ea typeface="ＭＳ Ｐゴシック" pitchFamily="34" charset="-128"/>
              </a:rPr>
              <a:t>academic problem</a:t>
            </a:r>
            <a:r>
              <a:rPr lang="en-GB" kern="1200" dirty="0">
                <a:latin typeface="Arial" pitchFamily="34" charset="0"/>
                <a:ea typeface="ＭＳ Ｐゴシック" pitchFamily="34" charset="-128"/>
              </a:rPr>
              <a:t> based on </a:t>
            </a:r>
            <a:r>
              <a:rPr lang="en-GB" b="1" kern="1200" dirty="0">
                <a:latin typeface="Arial" pitchFamily="34" charset="0"/>
                <a:ea typeface="ＭＳ Ｐゴシック" pitchFamily="34" charset="-128"/>
              </a:rPr>
              <a:t>relevant literature</a:t>
            </a:r>
          </a:p>
          <a:p>
            <a:pPr marL="1128713" lvl="2" indent="-271463">
              <a:spcBef>
                <a:spcPts val="100"/>
              </a:spcBef>
            </a:pPr>
            <a:r>
              <a:rPr lang="en-GB" b="1" kern="1200" dirty="0">
                <a:latin typeface="Arial" pitchFamily="34" charset="0"/>
                <a:ea typeface="ＭＳ Ｐゴシック" pitchFamily="34" charset="-128"/>
              </a:rPr>
              <a:t>implement</a:t>
            </a:r>
            <a:r>
              <a:rPr lang="en-GB" kern="1200" dirty="0">
                <a:latin typeface="Arial" pitchFamily="34" charset="0"/>
                <a:ea typeface="ＭＳ Ｐゴシック" pitchFamily="34" charset="-128"/>
              </a:rPr>
              <a:t> a </a:t>
            </a:r>
            <a:r>
              <a:rPr lang="en-GB" b="1" kern="1200" dirty="0">
                <a:latin typeface="Arial" pitchFamily="34" charset="0"/>
                <a:ea typeface="ＭＳ Ｐゴシック" pitchFamily="34" charset="-128"/>
              </a:rPr>
              <a:t>written assignment</a:t>
            </a:r>
            <a:r>
              <a:rPr lang="en-GB" kern="1200" dirty="0">
                <a:latin typeface="Arial" pitchFamily="34" charset="0"/>
                <a:ea typeface="ＭＳ Ｐゴシック" pitchFamily="34" charset="-128"/>
              </a:rPr>
              <a:t> during the use of cs/it academic </a:t>
            </a:r>
            <a:r>
              <a:rPr lang="en-GB" b="1" kern="1200" dirty="0">
                <a:latin typeface="Arial" pitchFamily="34" charset="0"/>
                <a:ea typeface="ＭＳ Ｐゴシック" pitchFamily="34" charset="-128"/>
              </a:rPr>
              <a:t>methods</a:t>
            </a:r>
          </a:p>
          <a:p>
            <a:pPr marL="1128713" lvl="2" indent="-271463">
              <a:spcBef>
                <a:spcPts val="100"/>
              </a:spcBef>
            </a:pPr>
            <a:r>
              <a:rPr lang="en-GB" b="1" kern="1200" dirty="0">
                <a:latin typeface="Arial" pitchFamily="34" charset="0"/>
                <a:ea typeface="ＭＳ Ｐゴシック" pitchFamily="34" charset="-128"/>
              </a:rPr>
              <a:t>apply</a:t>
            </a:r>
            <a:r>
              <a:rPr lang="en-GB" kern="1200" dirty="0">
                <a:latin typeface="Arial" pitchFamily="34" charset="0"/>
                <a:ea typeface="ＭＳ Ｐゴシック" pitchFamily="34" charset="-128"/>
              </a:rPr>
              <a:t> cs/it </a:t>
            </a:r>
            <a:r>
              <a:rPr lang="en-GB" b="1" kern="1200" dirty="0">
                <a:latin typeface="Arial" pitchFamily="34" charset="0"/>
                <a:ea typeface="ＭＳ Ｐゴシック" pitchFamily="34" charset="-128"/>
              </a:rPr>
              <a:t>theories</a:t>
            </a:r>
            <a:r>
              <a:rPr lang="en-GB" kern="1200" dirty="0">
                <a:latin typeface="Arial" pitchFamily="34" charset="0"/>
                <a:ea typeface="ＭＳ Ｐゴシック" pitchFamily="34" charset="-128"/>
              </a:rPr>
              <a:t> and </a:t>
            </a:r>
            <a:r>
              <a:rPr lang="en-GB" b="1" kern="1200" dirty="0">
                <a:latin typeface="Arial" pitchFamily="34" charset="0"/>
                <a:ea typeface="ＭＳ Ｐゴシック" pitchFamily="34" charset="-128"/>
              </a:rPr>
              <a:t>methods</a:t>
            </a:r>
            <a:r>
              <a:rPr lang="en-GB" kern="1200" dirty="0">
                <a:latin typeface="Arial" pitchFamily="34" charset="0"/>
                <a:ea typeface="ＭＳ Ｐゴシック" pitchFamily="34" charset="-128"/>
              </a:rPr>
              <a:t> to an academic problem</a:t>
            </a:r>
          </a:p>
          <a:p>
            <a:pPr marL="1128713" lvl="2" indent="-271463">
              <a:spcBef>
                <a:spcPts val="100"/>
              </a:spcBef>
            </a:pPr>
            <a:r>
              <a:rPr lang="en-GB" b="1" kern="1200" dirty="0">
                <a:latin typeface="Arial" pitchFamily="34" charset="0"/>
                <a:ea typeface="ＭＳ Ｐゴシック" pitchFamily="34" charset="-128"/>
              </a:rPr>
              <a:t>analyse</a:t>
            </a:r>
            <a:r>
              <a:rPr lang="en-GB" kern="1200" dirty="0">
                <a:latin typeface="Arial" pitchFamily="34" charset="0"/>
                <a:ea typeface="ＭＳ Ｐゴシック" pitchFamily="34" charset="-128"/>
              </a:rPr>
              <a:t> a cs/it </a:t>
            </a:r>
            <a:r>
              <a:rPr lang="en-GB" b="1" kern="1200" dirty="0">
                <a:latin typeface="Arial" pitchFamily="34" charset="0"/>
                <a:ea typeface="ＭＳ Ｐゴシック" pitchFamily="34" charset="-128"/>
              </a:rPr>
              <a:t>academic problem</a:t>
            </a:r>
            <a:r>
              <a:rPr lang="en-GB" kern="1200" dirty="0">
                <a:latin typeface="Arial" pitchFamily="34" charset="0"/>
                <a:ea typeface="ＭＳ Ｐゴシック" pitchFamily="34" charset="-128"/>
              </a:rPr>
              <a:t> using </a:t>
            </a:r>
            <a:r>
              <a:rPr lang="en-GB" b="1" kern="1200" dirty="0">
                <a:latin typeface="Arial" pitchFamily="34" charset="0"/>
                <a:ea typeface="ＭＳ Ｐゴシック" pitchFamily="34" charset="-128"/>
              </a:rPr>
              <a:t>relevant literature</a:t>
            </a:r>
          </a:p>
          <a:p>
            <a:pPr marL="1128713" lvl="2" indent="-271463">
              <a:spcBef>
                <a:spcPts val="100"/>
              </a:spcBef>
            </a:pPr>
            <a:r>
              <a:rPr lang="en-GB" b="1" kern="1200" dirty="0">
                <a:latin typeface="Arial" pitchFamily="34" charset="0"/>
                <a:ea typeface="ＭＳ Ｐゴシック" pitchFamily="34" charset="-128"/>
              </a:rPr>
              <a:t>discuss</a:t>
            </a:r>
            <a:r>
              <a:rPr lang="en-GB" kern="1200" dirty="0">
                <a:latin typeface="Arial" pitchFamily="34" charset="0"/>
                <a:ea typeface="ＭＳ Ｐゴシック" pitchFamily="34" charset="-128"/>
              </a:rPr>
              <a:t> and put in </a:t>
            </a:r>
            <a:r>
              <a:rPr lang="en-GB" b="1" kern="1200" dirty="0">
                <a:latin typeface="Arial" pitchFamily="34" charset="0"/>
                <a:ea typeface="ＭＳ Ｐゴシック" pitchFamily="34" charset="-128"/>
              </a:rPr>
              <a:t>perspective</a:t>
            </a:r>
            <a:r>
              <a:rPr lang="en-GB" kern="1200" dirty="0">
                <a:latin typeface="Arial" pitchFamily="34" charset="0"/>
                <a:ea typeface="ＭＳ Ｐゴシック" pitchFamily="34" charset="-128"/>
              </a:rPr>
              <a:t> a cs/it academic problem</a:t>
            </a:r>
            <a:endParaRPr lang="en-GB" sz="1200" kern="1200" dirty="0">
              <a:latin typeface="Arial" pitchFamily="34" charset="0"/>
              <a:ea typeface="ＭＳ Ｐゴシック" pitchFamily="34" charset="-128"/>
            </a:endParaRPr>
          </a:p>
          <a:p>
            <a:pPr marL="342900" lvl="2" indent="-342900" eaLnBrk="1" hangingPunct="1">
              <a:spcBef>
                <a:spcPts val="800"/>
              </a:spcBef>
              <a:defRPr/>
            </a:pPr>
            <a:r>
              <a:rPr lang="en-GB" sz="1800" b="1" dirty="0">
                <a:solidFill>
                  <a:srgbClr val="A50021"/>
                </a:solidFill>
                <a:cs typeface="ＭＳ Ｐゴシック" charset="0"/>
              </a:rPr>
              <a:t>Contents 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sz="1600" kern="1200" dirty="0">
                <a:latin typeface="Arial" pitchFamily="34" charset="0"/>
                <a:ea typeface="ＭＳ Ｐゴシック" pitchFamily="34" charset="-128"/>
              </a:rPr>
              <a:t>The course will give an </a:t>
            </a:r>
            <a:r>
              <a:rPr lang="en-GB" sz="1600" b="1" kern="1200" dirty="0">
                <a:latin typeface="Arial" pitchFamily="34" charset="0"/>
                <a:ea typeface="ＭＳ Ｐゴシック" pitchFamily="34" charset="-128"/>
              </a:rPr>
              <a:t>introduction</a:t>
            </a:r>
            <a:r>
              <a:rPr lang="en-GB" sz="1600" kern="1200" dirty="0">
                <a:latin typeface="Arial" pitchFamily="34" charset="0"/>
                <a:ea typeface="ＭＳ Ｐゴシック" pitchFamily="34" charset="-128"/>
              </a:rPr>
              <a:t> to key texts and results within </a:t>
            </a:r>
            <a:r>
              <a:rPr lang="en-GB" sz="1600" b="1" kern="1200" dirty="0">
                <a:latin typeface="Arial" pitchFamily="34" charset="0"/>
                <a:ea typeface="ＭＳ Ｐゴシック" pitchFamily="34" charset="-128"/>
              </a:rPr>
              <a:t>several</a:t>
            </a:r>
            <a:r>
              <a:rPr lang="en-GB" sz="1600" kern="1200" dirty="0">
                <a:latin typeface="Arial" pitchFamily="34" charset="0"/>
                <a:ea typeface="ＭＳ Ｐゴシック" pitchFamily="34" charset="-128"/>
              </a:rPr>
              <a:t> </a:t>
            </a:r>
            <a:r>
              <a:rPr lang="en-GB" sz="1600" b="1" kern="1200" dirty="0">
                <a:latin typeface="Arial" pitchFamily="34" charset="0"/>
                <a:ea typeface="ＭＳ Ｐゴシック" pitchFamily="34" charset="-128"/>
              </a:rPr>
              <a:t>emerging areas</a:t>
            </a:r>
            <a:r>
              <a:rPr lang="en-GB" sz="1600" kern="1200" dirty="0">
                <a:latin typeface="Arial" pitchFamily="34" charset="0"/>
                <a:ea typeface="ＭＳ Ｐゴシック" pitchFamily="34" charset="-128"/>
              </a:rPr>
              <a:t> of cs / it product development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sz="1600" kern="1200" dirty="0">
                <a:latin typeface="Arial" pitchFamily="34" charset="0"/>
                <a:ea typeface="ＭＳ Ｐゴシック" pitchFamily="34" charset="-128"/>
              </a:rPr>
              <a:t>You are required to obtain further overview through </a:t>
            </a:r>
            <a:r>
              <a:rPr lang="en-GB" sz="1600" b="1" kern="1200" dirty="0">
                <a:latin typeface="Arial" pitchFamily="34" charset="0"/>
                <a:ea typeface="ＭＳ Ｐゴシック" pitchFamily="34" charset="-128"/>
              </a:rPr>
              <a:t>independently seeking additional literature</a:t>
            </a:r>
            <a:r>
              <a:rPr lang="en-GB" sz="1600" kern="1200" dirty="0">
                <a:latin typeface="Arial" pitchFamily="34" charset="0"/>
                <a:ea typeface="ＭＳ Ｐゴシック" pitchFamily="34" charset="-128"/>
              </a:rPr>
              <a:t> within a chosen area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sz="1600" kern="1200" dirty="0">
                <a:latin typeface="Arial" pitchFamily="34" charset="0"/>
                <a:ea typeface="ＭＳ Ｐゴシック" pitchFamily="34" charset="-128"/>
              </a:rPr>
              <a:t>Under supervision you </a:t>
            </a:r>
            <a:r>
              <a:rPr lang="en-GB" sz="1600" b="1" kern="1200" dirty="0">
                <a:latin typeface="Arial" pitchFamily="34" charset="0"/>
                <a:ea typeface="ＭＳ Ｐゴシック" pitchFamily="34" charset="-128"/>
              </a:rPr>
              <a:t>plan a project</a:t>
            </a:r>
            <a:r>
              <a:rPr lang="en-GB" sz="1600" kern="1200" dirty="0">
                <a:latin typeface="Arial" pitchFamily="34" charset="0"/>
                <a:ea typeface="ＭＳ Ｐゴシック" pitchFamily="34" charset="-128"/>
              </a:rPr>
              <a:t> investigating a problem with theoretical and/or experimental methods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sz="1600" kern="1200" dirty="0">
                <a:latin typeface="Arial" pitchFamily="34" charset="0"/>
                <a:ea typeface="ＭＳ Ｐゴシック" pitchFamily="34" charset="-128"/>
              </a:rPr>
              <a:t>Finally, you report the results of your investigations in a </a:t>
            </a:r>
            <a:r>
              <a:rPr lang="en-GB" sz="1600" b="1" kern="1200" dirty="0">
                <a:latin typeface="Arial" pitchFamily="34" charset="0"/>
                <a:ea typeface="ＭＳ Ｐゴシック" pitchFamily="34" charset="-128"/>
              </a:rPr>
              <a:t>written report</a:t>
            </a:r>
            <a:endParaRPr lang="en-GB" altLang="da-DK" sz="1600" b="1" kern="1200" dirty="0">
              <a:latin typeface="Arial" pitchFamily="34" charset="0"/>
              <a:ea typeface="ＭＳ Ｐゴシック" pitchFamily="34" charset="-128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4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3028390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784207" cy="6096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da-DK" sz="2800" dirty="0"/>
              <a:t>Report and oral exam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052736"/>
            <a:ext cx="8424167" cy="4145557"/>
          </a:xfrm>
          <a:noFill/>
        </p:spPr>
        <p:txBody>
          <a:bodyPr/>
          <a:lstStyle/>
          <a:p>
            <a:pPr eaLnBrk="1" hangingPunct="1">
              <a:defRPr/>
            </a:pPr>
            <a:r>
              <a:rPr lang="en-GB" altLang="da-DK" sz="1800" noProof="0" dirty="0"/>
              <a:t>Bachelor project report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sz="1600" kern="1200" dirty="0">
                <a:latin typeface="Arial" pitchFamily="34" charset="0"/>
                <a:ea typeface="ＭＳ Ｐゴシック" pitchFamily="34" charset="-128"/>
              </a:rPr>
              <a:t>The bachelor project report must be handed in no later than </a:t>
            </a:r>
            <a:r>
              <a:rPr lang="en-GB" sz="1600" b="1" kern="1200" dirty="0">
                <a:latin typeface="Arial" pitchFamily="34" charset="0"/>
                <a:ea typeface="ＭＳ Ｐゴシック" pitchFamily="34" charset="-128"/>
              </a:rPr>
              <a:t>June 8</a:t>
            </a:r>
            <a:r>
              <a:rPr lang="en-GB" sz="1600" kern="1200" dirty="0">
                <a:latin typeface="Arial" pitchFamily="34" charset="0"/>
                <a:ea typeface="ＭＳ Ｐゴシック" pitchFamily="34" charset="-128"/>
              </a:rPr>
              <a:t> </a:t>
            </a:r>
            <a:r>
              <a:rPr lang="en-US" sz="1600" kern="1200" dirty="0">
                <a:latin typeface="Arial" pitchFamily="34" charset="0"/>
                <a:ea typeface="ＭＳ Ｐゴシック" pitchFamily="34" charset="-128"/>
              </a:rPr>
              <a:t> (or the next working day at 13.00 if June 8 is a Saturday or a Sunday) – </a:t>
            </a:r>
            <a:r>
              <a:rPr lang="en-US" sz="1600" b="1" kern="1200" dirty="0">
                <a:latin typeface="Arial" pitchFamily="34" charset="0"/>
                <a:ea typeface="ＭＳ Ｐゴシック" pitchFamily="34" charset="-128"/>
              </a:rPr>
              <a:t>2026: June 8 at 13.00</a:t>
            </a:r>
            <a:endParaRPr lang="en-GB" sz="1600" b="1" kern="1200" dirty="0">
              <a:latin typeface="Arial" pitchFamily="34" charset="0"/>
              <a:ea typeface="ＭＳ Ｐゴシック" pitchFamily="34" charset="-128"/>
            </a:endParaRPr>
          </a:p>
          <a:p>
            <a:pPr marL="728663" lvl="1" indent="-271463">
              <a:spcBef>
                <a:spcPts val="300"/>
              </a:spcBef>
            </a:pPr>
            <a:r>
              <a:rPr lang="en-GB" sz="1600" kern="1200" dirty="0">
                <a:latin typeface="Arial" pitchFamily="34" charset="0"/>
                <a:ea typeface="ＭＳ Ｐゴシック" pitchFamily="34" charset="-128"/>
              </a:rPr>
              <a:t>The size of the report is </a:t>
            </a:r>
            <a:r>
              <a:rPr lang="en-GB" sz="1600" b="1" kern="1200" dirty="0">
                <a:latin typeface="Arial" pitchFamily="34" charset="0"/>
                <a:ea typeface="ＭＳ Ｐゴシック" pitchFamily="34" charset="-128"/>
              </a:rPr>
              <a:t>maximum 30 pages</a:t>
            </a:r>
            <a:r>
              <a:rPr lang="en-GB" sz="1600" kern="1200" dirty="0">
                <a:latin typeface="Arial" pitchFamily="34" charset="0"/>
                <a:ea typeface="ＭＳ Ｐゴシック" pitchFamily="34" charset="-128"/>
              </a:rPr>
              <a:t> (excluding front page, abstract, table of contents, appendix and bibliography)</a:t>
            </a:r>
          </a:p>
          <a:p>
            <a:pPr marL="342900" lvl="1" indent="-342900" eaLnBrk="1" hangingPunct="1">
              <a:spcBef>
                <a:spcPts val="1200"/>
              </a:spcBef>
              <a:buChar char="•"/>
              <a:defRPr/>
            </a:pPr>
            <a:r>
              <a:rPr lang="en-GB" sz="1800" b="1" dirty="0">
                <a:solidFill>
                  <a:srgbClr val="A50021"/>
                </a:solidFill>
                <a:cs typeface="ＭＳ Ｐゴシック" charset="0"/>
              </a:rPr>
              <a:t>Oral exam in June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sz="1600" kern="1200" dirty="0">
                <a:latin typeface="Arial" pitchFamily="34" charset="0"/>
                <a:ea typeface="ＭＳ Ｐゴシック" pitchFamily="34" charset="-128"/>
              </a:rPr>
              <a:t>The report is the basis for an </a:t>
            </a:r>
            <a:r>
              <a:rPr lang="en-GB" sz="1600" b="1" kern="1200" dirty="0">
                <a:latin typeface="Arial" pitchFamily="34" charset="0"/>
                <a:ea typeface="ＭＳ Ｐゴシック" pitchFamily="34" charset="-128"/>
              </a:rPr>
              <a:t>individual 30 minutes' oral exam</a:t>
            </a:r>
            <a:r>
              <a:rPr lang="en-GB" sz="1600" kern="1200" dirty="0">
                <a:latin typeface="Arial" pitchFamily="34" charset="0"/>
                <a:ea typeface="ＭＳ Ｐゴシック" pitchFamily="34" charset="-128"/>
              </a:rPr>
              <a:t>, where you </a:t>
            </a:r>
            <a:r>
              <a:rPr lang="en-GB" sz="1600" b="1" kern="1200" dirty="0">
                <a:latin typeface="Arial" pitchFamily="34" charset="0"/>
                <a:ea typeface="ＭＳ Ｐゴシック" pitchFamily="34" charset="-128"/>
              </a:rPr>
              <a:t>present</a:t>
            </a:r>
            <a:r>
              <a:rPr lang="en-GB" sz="1600" kern="1200" dirty="0">
                <a:latin typeface="Arial" pitchFamily="34" charset="0"/>
                <a:ea typeface="ＭＳ Ｐゴシック" pitchFamily="34" charset="-128"/>
              </a:rPr>
              <a:t> the findings of the bachelor project </a:t>
            </a:r>
            <a:r>
              <a:rPr lang="en-GB" sz="1600" b="1" kern="1200" dirty="0">
                <a:latin typeface="Arial" pitchFamily="34" charset="0"/>
                <a:ea typeface="ＭＳ Ｐゴシック" pitchFamily="34" charset="-128"/>
              </a:rPr>
              <a:t>followed by a discussion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sz="1600" kern="1200" dirty="0">
                <a:latin typeface="Arial" pitchFamily="34" charset="0"/>
                <a:ea typeface="ＭＳ Ｐゴシック" pitchFamily="34" charset="-128"/>
              </a:rPr>
              <a:t>A common grade is given for the written report and the oral exam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sz="1600" kern="1200" spc="-60" dirty="0">
                <a:latin typeface="Arial" pitchFamily="34" charset="0"/>
                <a:ea typeface="ＭＳ Ｐゴシック" pitchFamily="34" charset="-128"/>
              </a:rPr>
              <a:t>An external examiner (censor) participates in the evaluation of the report and the oral exam</a:t>
            </a:r>
          </a:p>
          <a:p>
            <a:pPr marL="342900" lvl="1" indent="-342900" eaLnBrk="1" hangingPunct="1">
              <a:spcBef>
                <a:spcPts val="1200"/>
              </a:spcBef>
              <a:buChar char="•"/>
              <a:defRPr/>
            </a:pPr>
            <a:r>
              <a:rPr lang="en-GB" sz="1800" b="1" dirty="0">
                <a:solidFill>
                  <a:srgbClr val="A50021"/>
                </a:solidFill>
                <a:cs typeface="ＭＳ Ｐゴシック" charset="0"/>
              </a:rPr>
              <a:t>Re-examination</a:t>
            </a:r>
            <a:endParaRPr lang="en-GB" sz="1400" kern="1200" dirty="0">
              <a:latin typeface="Arial" pitchFamily="34" charset="0"/>
              <a:ea typeface="ＭＳ Ｐゴシック" pitchFamily="34" charset="-128"/>
            </a:endParaRPr>
          </a:p>
          <a:p>
            <a:pPr marL="728663" lvl="1" indent="-271463">
              <a:spcBef>
                <a:spcPts val="300"/>
              </a:spcBef>
            </a:pPr>
            <a:r>
              <a:rPr lang="en-GB" sz="1600" kern="1200" dirty="0">
                <a:latin typeface="Arial" pitchFamily="34" charset="0"/>
                <a:ea typeface="ＭＳ Ｐゴシック" pitchFamily="34" charset="-128"/>
              </a:rPr>
              <a:t>If you do not pass, it is possible to resubmit a revised version of the report no later than August 15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5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2366877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784207" cy="6096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da-DK" sz="2800" dirty="0"/>
              <a:t>Proposals for bachelor projects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8699" y="1052736"/>
            <a:ext cx="8403781" cy="5348064"/>
          </a:xfrm>
          <a:noFill/>
        </p:spPr>
        <p:txBody>
          <a:bodyPr/>
          <a:lstStyle/>
          <a:p>
            <a:pPr eaLnBrk="1" hangingPunct="1">
              <a:defRPr/>
            </a:pPr>
            <a:r>
              <a:rPr lang="en-GB" altLang="da-DK" sz="1800" noProof="0" dirty="0"/>
              <a:t>On the Brightspace page of the bachelor project course you can find a number of proposals for bachelor projects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sz="1600" kern="1200" dirty="0">
                <a:latin typeface="Arial" pitchFamily="34" charset="0"/>
                <a:ea typeface="ＭＳ Ｐゴシック" pitchFamily="34" charset="-128"/>
              </a:rPr>
              <a:t>You are encouraged to speak with the contact person(s) for the corresponding section to obtain additional information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sz="1600" kern="1200" dirty="0">
                <a:latin typeface="Arial" pitchFamily="34" charset="0"/>
                <a:ea typeface="ＭＳ Ｐゴシック" pitchFamily="34" charset="-128"/>
              </a:rPr>
              <a:t>You may be redirected to another advisor in the section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sz="1600" kern="1200" dirty="0">
                <a:latin typeface="Arial" pitchFamily="34" charset="0"/>
                <a:ea typeface="ＭＳ Ｐゴシック" pitchFamily="34" charset="-128"/>
              </a:rPr>
              <a:t>Several bachelor groups can do the same project</a:t>
            </a:r>
          </a:p>
          <a:p>
            <a:pPr marL="342900" lvl="1" indent="-342900" eaLnBrk="1" hangingPunct="1">
              <a:spcBef>
                <a:spcPts val="1200"/>
              </a:spcBef>
              <a:buChar char="•"/>
              <a:defRPr/>
            </a:pPr>
            <a:r>
              <a:rPr lang="en-GB" sz="1800" b="1" dirty="0">
                <a:solidFill>
                  <a:srgbClr val="A50021"/>
                </a:solidFill>
                <a:cs typeface="ＭＳ Ｐゴシック" charset="0"/>
              </a:rPr>
              <a:t>You are also allowed to formulate your own project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sz="1600" kern="1200" dirty="0">
                <a:latin typeface="Arial" pitchFamily="34" charset="0"/>
                <a:ea typeface="ＭＳ Ｐゴシック" pitchFamily="34" charset="-128"/>
              </a:rPr>
              <a:t>If you do this, you must contact the section to obtain approval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sz="1600" kern="1200" dirty="0">
                <a:latin typeface="Arial" pitchFamily="34" charset="0"/>
                <a:ea typeface="ＭＳ Ｐゴシック" pitchFamily="34" charset="-128"/>
              </a:rPr>
              <a:t>You can also contact a section and ask, whether they are willing to formulate a project proposal within a particular area</a:t>
            </a:r>
          </a:p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</a:rPr>
              <a:t>The bachelor projects are performed in groups of 1-3 persons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It is possible to have mixed groups with both cs and it students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It is more difficult to mix 10ECTS and 15 ECTS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Groups with 4 or more persons are </a:t>
            </a:r>
            <a:r>
              <a:rPr lang="en-GB" altLang="da-DK" sz="1600"/>
              <a:t>not allowed</a:t>
            </a:r>
            <a:endParaRPr lang="en-GB" altLang="da-DK" sz="1600" dirty="0"/>
          </a:p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</a:rPr>
              <a:t>Each group can expect to get 20 hours of supervision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spc="-40" dirty="0"/>
              <a:t>This includes the time to read report drafts, the final report and make the examination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spc="-60" dirty="0"/>
              <a:t>To improve quality and efficiency, your advisor may organise joint activities across groups</a:t>
            </a:r>
          </a:p>
          <a:p>
            <a:pPr marL="728663" lvl="1" indent="-271463">
              <a:spcBef>
                <a:spcPts val="300"/>
              </a:spcBef>
            </a:pPr>
            <a:endParaRPr lang="en-GB" altLang="da-DK" sz="16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6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1768001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568183" cy="6096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da-DK" sz="2800" spc="-50" dirty="0"/>
              <a:t>We strongly recommend groups with 2-3 persons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124745"/>
            <a:ext cx="8496175" cy="5040559"/>
          </a:xfrm>
          <a:noFill/>
        </p:spPr>
        <p:txBody>
          <a:bodyPr/>
          <a:lstStyle/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</a:rPr>
              <a:t>You learn a lot from working in a group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It is an important job competence to be able to work efficiently with other people</a:t>
            </a:r>
          </a:p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</a:rPr>
              <a:t>Groups are much more stable and solid than individuals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If one group member has a "bad day", gets depressed, or makes a significant misjudgement, the other group members are likely to get her/him "back on track"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spc="-40" dirty="0"/>
              <a:t>The chances of a group "getting stuck" is </a:t>
            </a:r>
            <a:r>
              <a:rPr lang="en-GB" altLang="da-DK" sz="1600" b="1" spc="-40" dirty="0"/>
              <a:t>much smaller</a:t>
            </a:r>
            <a:r>
              <a:rPr lang="en-GB" altLang="da-DK" sz="1600" spc="-40" dirty="0"/>
              <a:t> than for a person working alone</a:t>
            </a:r>
          </a:p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</a:rPr>
              <a:t>Groups produce better results</a:t>
            </a:r>
            <a:endParaRPr lang="en-GB" altLang="da-DK" sz="1600" dirty="0"/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spc="-40" dirty="0"/>
              <a:t>Groups will always have larger and more diverse competences than a single person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spc="-70" dirty="0"/>
              <a:t>Group members will have a much more detailed knowledge of your work than the advisor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It will often be much faster to consult other group members than to set up a meeting with the advisor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The discussions in a group improve the outcome and the result</a:t>
            </a:r>
          </a:p>
          <a:p>
            <a:pPr marL="271463" lvl="1" indent="-271463">
              <a:spcBef>
                <a:spcPts val="1200"/>
              </a:spcBef>
              <a:buChar char="•"/>
            </a:pPr>
            <a:r>
              <a:rPr lang="en-US" altLang="da-DK" sz="1800" b="1" dirty="0">
                <a:solidFill>
                  <a:srgbClr val="A50021"/>
                </a:solidFill>
              </a:rPr>
              <a:t>Groups get higher grades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Statistics from spring 2019:   3-persons: 9,9,   2-persons: 9,4,   1-person: 7,8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To work alone you need to contact the intended advisor to obtain approval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7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1771426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784207" cy="6096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da-DK" sz="2800" dirty="0"/>
              <a:t>Choice of partners and projects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1722" y="1128267"/>
            <a:ext cx="8502766" cy="4965029"/>
          </a:xfrm>
          <a:noFill/>
        </p:spPr>
        <p:txBody>
          <a:bodyPr/>
          <a:lstStyle/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</a:rPr>
              <a:t>It is important to have good partners (group members)</a:t>
            </a:r>
          </a:p>
          <a:p>
            <a:pPr marL="728663" lvl="1" indent="-271463">
              <a:spcBef>
                <a:spcPts val="600"/>
              </a:spcBef>
            </a:pPr>
            <a:r>
              <a:rPr lang="en-GB" altLang="da-DK" sz="1600" kern="1200" dirty="0">
                <a:latin typeface="Arial" pitchFamily="34" charset="0"/>
                <a:ea typeface="ＭＳ Ｐゴシック" pitchFamily="34" charset="-128"/>
              </a:rPr>
              <a:t>You should agree upon the level of ambition</a:t>
            </a:r>
          </a:p>
          <a:p>
            <a:pPr marL="728663" lvl="1" indent="-271463">
              <a:spcBef>
                <a:spcPts val="600"/>
              </a:spcBef>
            </a:pPr>
            <a:r>
              <a:rPr lang="en-GB" altLang="da-DK" sz="1600" kern="1200" dirty="0">
                <a:latin typeface="Arial" pitchFamily="34" charset="0"/>
                <a:ea typeface="ＭＳ Ｐゴシック" pitchFamily="34" charset="-128"/>
              </a:rPr>
              <a:t>Your time schedules should allow you to meet and work together many hours each week (this is not trivial, so it should be checked/planned)</a:t>
            </a:r>
          </a:p>
          <a:p>
            <a:pPr marL="728663" lvl="1" indent="-271463">
              <a:spcBef>
                <a:spcPts val="600"/>
              </a:spcBef>
            </a:pPr>
            <a:r>
              <a:rPr lang="en-GB" altLang="da-DK" sz="1600" kern="1200" dirty="0">
                <a:latin typeface="Arial" pitchFamily="34" charset="0"/>
                <a:ea typeface="ＭＳ Ｐゴシック" pitchFamily="34" charset="-128"/>
              </a:rPr>
              <a:t>It is fruitful that group members span different backgrounds and knowledge</a:t>
            </a:r>
          </a:p>
          <a:p>
            <a:pPr marL="728663" lvl="1" indent="-271463">
              <a:spcBef>
                <a:spcPts val="600"/>
              </a:spcBef>
            </a:pPr>
            <a:r>
              <a:rPr lang="en-GB" sz="1600" kern="1200" dirty="0">
                <a:latin typeface="Arial" pitchFamily="34" charset="0"/>
                <a:ea typeface="ＭＳ Ｐゴシック" pitchFamily="34" charset="-128"/>
              </a:rPr>
              <a:t>The discussion forum (on the Brightspace page) has a topic, where you can advertise for students who may want to join you for a particular project</a:t>
            </a:r>
          </a:p>
          <a:p>
            <a:pPr marL="271463" lvl="1" indent="-271463">
              <a:spcBef>
                <a:spcPts val="18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</a:rPr>
              <a:t>It is much more important to choose good partners than to choose a</a:t>
            </a:r>
            <a:br>
              <a:rPr lang="en-GB" altLang="da-DK" sz="1800" b="1" dirty="0">
                <a:solidFill>
                  <a:srgbClr val="A50021"/>
                </a:solidFill>
              </a:rPr>
            </a:br>
            <a:r>
              <a:rPr lang="en-GB" altLang="da-DK" sz="1800" b="1" dirty="0">
                <a:solidFill>
                  <a:srgbClr val="A50021"/>
                </a:solidFill>
              </a:rPr>
              <a:t>particular project</a:t>
            </a:r>
          </a:p>
          <a:p>
            <a:pPr marL="728663" lvl="1" indent="-271463">
              <a:spcBef>
                <a:spcPts val="600"/>
              </a:spcBef>
            </a:pPr>
            <a:r>
              <a:rPr lang="en-GB" altLang="da-DK" sz="1600" kern="1200" dirty="0">
                <a:latin typeface="Arial" pitchFamily="34" charset="0"/>
                <a:ea typeface="ＭＳ Ｐゴシック" pitchFamily="34" charset="-128"/>
              </a:rPr>
              <a:t>Many projects within a research area (or even neighbouring areas) require and train the same skills and competences</a:t>
            </a:r>
          </a:p>
          <a:p>
            <a:pPr marL="728663" lvl="1" indent="-271463">
              <a:spcBef>
                <a:spcPts val="600"/>
              </a:spcBef>
            </a:pPr>
            <a:r>
              <a:rPr lang="en-GB" altLang="da-DK" sz="1600" kern="1200" dirty="0">
                <a:latin typeface="Arial" pitchFamily="34" charset="0"/>
                <a:ea typeface="ＭＳ Ｐゴシック" pitchFamily="34" charset="-128"/>
              </a:rPr>
              <a:t>The choice of section may be important, but the choice of the actual project within that section is often of much less importance</a:t>
            </a:r>
          </a:p>
          <a:p>
            <a:pPr marL="728663" lvl="1" indent="-271463">
              <a:spcBef>
                <a:spcPts val="300"/>
              </a:spcBef>
            </a:pPr>
            <a:endParaRPr lang="en-GB" altLang="da-DK" sz="1600" kern="1200" dirty="0">
              <a:latin typeface="Arial" pitchFamily="34" charset="0"/>
              <a:ea typeface="ＭＳ Ｐゴシック" pitchFamily="34" charset="-128"/>
            </a:endParaRPr>
          </a:p>
          <a:p>
            <a:pPr marL="728663" lvl="1" indent="-271463">
              <a:spcBef>
                <a:spcPts val="300"/>
              </a:spcBef>
            </a:pPr>
            <a:endParaRPr lang="en-GB" altLang="da-DK" sz="1600" kern="1200" dirty="0">
              <a:latin typeface="Arial" pitchFamily="34" charset="0"/>
              <a:ea typeface="ＭＳ Ｐゴシック" pitchFamily="34" charset="-128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8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3172758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784207" cy="6096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da-DK" sz="2800" dirty="0"/>
              <a:t>Registration of groups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1722" y="1128267"/>
            <a:ext cx="8358750" cy="5272533"/>
          </a:xfrm>
          <a:noFill/>
        </p:spPr>
        <p:txBody>
          <a:bodyPr/>
          <a:lstStyle/>
          <a:p>
            <a:pPr marL="271463" lvl="1" indent="-271463">
              <a:spcBef>
                <a:spcPts val="1200"/>
              </a:spcBef>
              <a:buChar char="•"/>
            </a:pPr>
            <a:r>
              <a:rPr lang="en-GB" sz="1800" b="1" dirty="0">
                <a:solidFill>
                  <a:srgbClr val="A50021"/>
                </a:solidFill>
              </a:rPr>
              <a:t>When you have formed a group and chosen the section with which you want to do your bachelor project, you must register your group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sz="1600" dirty="0"/>
              <a:t>Registration will be open on </a:t>
            </a:r>
            <a:r>
              <a:rPr lang="en-GB" sz="1600" b="1" dirty="0">
                <a:solidFill>
                  <a:srgbClr val="008000"/>
                </a:solidFill>
              </a:rPr>
              <a:t>Monday December 8 </a:t>
            </a:r>
            <a:r>
              <a:rPr lang="en-GB" sz="1600" dirty="0"/>
              <a:t>and the registration must be done before</a:t>
            </a:r>
            <a:r>
              <a:rPr lang="en-GB" sz="1600" b="1" dirty="0">
                <a:solidFill>
                  <a:srgbClr val="008000"/>
                </a:solidFill>
              </a:rPr>
              <a:t> Sunday January 11.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sz="1600" dirty="0"/>
              <a:t>For more details see the Brightspace page </a:t>
            </a:r>
            <a:r>
              <a:rPr lang="en-GB" sz="1600" b="1" dirty="0">
                <a:solidFill>
                  <a:srgbClr val="008000"/>
                </a:solidFill>
              </a:rPr>
              <a:t>Registration of bachelor project groups</a:t>
            </a:r>
            <a:r>
              <a:rPr lang="en-GB" sz="1600" dirty="0"/>
              <a:t> which will become available on Monday December 8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sz="1600" dirty="0"/>
              <a:t>To register you do </a:t>
            </a:r>
            <a:r>
              <a:rPr lang="en-GB" sz="1600" b="1" dirty="0">
                <a:solidFill>
                  <a:srgbClr val="008000"/>
                </a:solidFill>
              </a:rPr>
              <a:t>not</a:t>
            </a:r>
            <a:r>
              <a:rPr lang="en-GB" sz="1600" dirty="0"/>
              <a:t> need to have chosen a concrete bachelor project, but you need to have formed a group of 1-3 persons and decided which </a:t>
            </a:r>
            <a:r>
              <a:rPr lang="en-GB" sz="1600" b="1" dirty="0">
                <a:solidFill>
                  <a:srgbClr val="008000"/>
                </a:solidFill>
              </a:rPr>
              <a:t>section</a:t>
            </a:r>
            <a:r>
              <a:rPr lang="en-GB" sz="1600" dirty="0"/>
              <a:t> you want to work with</a:t>
            </a:r>
            <a:endParaRPr lang="en-GB" sz="1600" b="1" dirty="0">
              <a:solidFill>
                <a:srgbClr val="008000"/>
              </a:solidFill>
            </a:endParaRPr>
          </a:p>
          <a:p>
            <a:pPr marL="271463" lvl="1" indent="-271463">
              <a:spcBef>
                <a:spcPts val="1200"/>
              </a:spcBef>
              <a:buChar char="•"/>
            </a:pPr>
            <a:r>
              <a:rPr lang="en-GB" sz="1800" b="1" dirty="0">
                <a:solidFill>
                  <a:srgbClr val="A50021"/>
                </a:solidFill>
              </a:rPr>
              <a:t>Each section has a limited number of groups that they will be able to supervise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sz="1600" dirty="0"/>
              <a:t>Groups are accepted on a first come first served basis, and hence it is strongly </a:t>
            </a:r>
            <a:r>
              <a:rPr lang="en-GB" sz="1600" b="1" dirty="0">
                <a:solidFill>
                  <a:srgbClr val="008000"/>
                </a:solidFill>
              </a:rPr>
              <a:t>recommended to register as early as possible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sz="1600" dirty="0"/>
              <a:t>The </a:t>
            </a:r>
            <a:r>
              <a:rPr lang="en-GB" sz="1600" b="1" dirty="0">
                <a:solidFill>
                  <a:srgbClr val="008000"/>
                </a:solidFill>
              </a:rPr>
              <a:t>maximal number</a:t>
            </a:r>
            <a:r>
              <a:rPr lang="en-GB" sz="1600" dirty="0"/>
              <a:t> of groups for each section is 20, except for the CC section where it is 12</a:t>
            </a:r>
            <a:endParaRPr lang="en-GB" sz="1600" b="1" dirty="0">
              <a:solidFill>
                <a:srgbClr val="008000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9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3803037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784207" cy="6096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da-DK" sz="2800" dirty="0"/>
              <a:t>Bachelor project "contract"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052736"/>
            <a:ext cx="8496175" cy="5688632"/>
          </a:xfrm>
          <a:noFill/>
        </p:spPr>
        <p:txBody>
          <a:bodyPr/>
          <a:lstStyle/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Within the first week of the semester each group makes a bachelor project contract, which is a 1-3 page document containing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Provisional title, advisor, group members, language, word processing tool and other tools to be used in the project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A short description of your project (10-20 lines, which may be a slightly modified version of the project proposal)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Provisional table of contents with a number of sections (corresponding to work tasks), and the proposed number of pages for each section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A time plan describing when the different work tasks should be finished</a:t>
            </a:r>
          </a:p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The contract helps you to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organise your work in a suitable way, so that you achieve a good final result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adjust expectations between individual group members, and between the group and the advisor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make an informed judgement of how much you will be able to do within your project</a:t>
            </a:r>
          </a:p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Having 4½ months may seem as "infinite time"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But with 4 work tasks and time to write the introduction and summary, plus time to collect existing drafts of sections into the final report, you actually have at most</a:t>
            </a:r>
            <a:br>
              <a:rPr lang="en-GB" altLang="da-DK" sz="1600" dirty="0"/>
            </a:br>
            <a:r>
              <a:rPr lang="en-GB" altLang="da-DK" sz="1600" dirty="0"/>
              <a:t>2 full time weeks per work task</a:t>
            </a:r>
          </a:p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spc="-100" dirty="0">
                <a:solidFill>
                  <a:srgbClr val="A50021"/>
                </a:solidFill>
                <a:cs typeface="ＭＳ Ｐゴシック" charset="0"/>
              </a:rPr>
              <a:t>It is a good idea to update the contract with regular intervals during your project</a:t>
            </a:r>
          </a:p>
          <a:p>
            <a:pPr marL="728663" lvl="1" indent="-271463">
              <a:spcBef>
                <a:spcPts val="300"/>
              </a:spcBef>
            </a:pPr>
            <a:endParaRPr lang="en-GB" altLang="da-DK" sz="1600" dirty="0"/>
          </a:p>
          <a:p>
            <a:pPr marL="728663" lvl="1" indent="-271463">
              <a:spcBef>
                <a:spcPts val="300"/>
              </a:spcBef>
            </a:pPr>
            <a:endParaRPr lang="en-GB" altLang="da-DK" sz="1600" dirty="0"/>
          </a:p>
          <a:p>
            <a:pPr marL="728663" lvl="1" indent="-271463">
              <a:spcBef>
                <a:spcPts val="300"/>
              </a:spcBef>
            </a:pPr>
            <a:endParaRPr lang="en-GB" altLang="da-DK" sz="1600" dirty="0"/>
          </a:p>
          <a:p>
            <a:pPr marL="728663" lvl="1" indent="-271463">
              <a:spcBef>
                <a:spcPts val="300"/>
              </a:spcBef>
            </a:pPr>
            <a:endParaRPr lang="en-GB" altLang="da-DK" sz="1600" b="1" dirty="0">
              <a:solidFill>
                <a:srgbClr val="A50021"/>
              </a:solidFill>
              <a:cs typeface="ＭＳ Ｐゴシック" charset="0"/>
            </a:endParaRPr>
          </a:p>
          <a:p>
            <a:pPr marL="728663" lvl="1" indent="-271463">
              <a:spcBef>
                <a:spcPts val="300"/>
              </a:spcBef>
            </a:pPr>
            <a:endParaRPr lang="en-GB" altLang="da-DK" sz="1800" b="1" dirty="0">
              <a:solidFill>
                <a:srgbClr val="A50021"/>
              </a:solidFill>
              <a:cs typeface="ＭＳ Ｐゴシック" charset="0"/>
            </a:endParaRPr>
          </a:p>
          <a:p>
            <a:pPr marL="728663" lvl="1" indent="-271463">
              <a:spcBef>
                <a:spcPts val="300"/>
              </a:spcBef>
            </a:pPr>
            <a:endParaRPr lang="en-GB" altLang="da-DK" sz="16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10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2975768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208143" cy="6096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da-DK" sz="2800" dirty="0"/>
              <a:t>Lectures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2" y="1052736"/>
            <a:ext cx="8675688" cy="5184576"/>
          </a:xfrm>
          <a:noFill/>
        </p:spPr>
        <p:txBody>
          <a:bodyPr/>
          <a:lstStyle/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Week 5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b="1" dirty="0"/>
              <a:t>How to make a useful bachelor project contract</a:t>
            </a:r>
            <a:r>
              <a:rPr lang="en-GB" altLang="da-DK" sz="1600" dirty="0"/>
              <a:t> (by Kurt Jensen)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Followed by a meeting with the advisors from your section</a:t>
            </a:r>
          </a:p>
          <a:p>
            <a:pPr marL="271463" lvl="1" indent="-271463">
              <a:spcBef>
                <a:spcPts val="1200"/>
              </a:spcBef>
              <a:buChar char="•"/>
            </a:pPr>
            <a:r>
              <a:rPr lang="en-US" altLang="da-DK" sz="1800" b="1" dirty="0">
                <a:solidFill>
                  <a:srgbClr val="A50021"/>
                </a:solidFill>
                <a:cs typeface="ＭＳ Ｐゴシック" charset="0"/>
              </a:rPr>
              <a:t>Week 7</a:t>
            </a:r>
          </a:p>
          <a:p>
            <a:pPr marL="728663" lvl="1" indent="-271463">
              <a:spcBef>
                <a:spcPts val="300"/>
              </a:spcBef>
            </a:pPr>
            <a:r>
              <a:rPr lang="en-US" altLang="da-DK" sz="1600" b="1" spc="-30" dirty="0"/>
              <a:t>How to write an academic paper and make an oral presentation of it</a:t>
            </a:r>
            <a:r>
              <a:rPr lang="en-US" altLang="da-DK" sz="1600" spc="-30" dirty="0"/>
              <a:t> </a:t>
            </a:r>
            <a:r>
              <a:rPr lang="en-US" altLang="da-DK" sz="1600" spc="-50" dirty="0"/>
              <a:t>(by Kurt Jensen)</a:t>
            </a:r>
          </a:p>
          <a:p>
            <a:pPr marL="271463" lvl="1" indent="-271463">
              <a:spcBef>
                <a:spcPts val="1200"/>
              </a:spcBef>
              <a:buChar char="•"/>
            </a:pPr>
            <a:r>
              <a:rPr lang="en-US" altLang="da-DK" sz="1800" b="1" dirty="0">
                <a:solidFill>
                  <a:srgbClr val="A50021"/>
                </a:solidFill>
                <a:cs typeface="ＭＳ Ｐゴシック" charset="0"/>
              </a:rPr>
              <a:t>Week 9</a:t>
            </a:r>
          </a:p>
          <a:p>
            <a:pPr marL="728663" lvl="1" indent="-271463">
              <a:spcBef>
                <a:spcPts val="300"/>
              </a:spcBef>
            </a:pPr>
            <a:r>
              <a:rPr lang="en-US" altLang="da-DK" sz="1600" b="1" dirty="0"/>
              <a:t>Publication traditions and literature search</a:t>
            </a:r>
            <a:r>
              <a:rPr lang="en-US" altLang="da-DK" sz="1600" dirty="0"/>
              <a:t> (by Kurt Jensen)</a:t>
            </a:r>
          </a:p>
          <a:p>
            <a:pPr marL="271463" lvl="1" indent="-271463">
              <a:spcBef>
                <a:spcPts val="1200"/>
              </a:spcBef>
              <a:buChar char="•"/>
            </a:pPr>
            <a:r>
              <a:rPr lang="en-US" altLang="da-DK" sz="1800" b="1" dirty="0">
                <a:solidFill>
                  <a:srgbClr val="A50021"/>
                </a:solidFill>
                <a:cs typeface="ＭＳ Ｐゴシック" charset="0"/>
              </a:rPr>
              <a:t>Week 11</a:t>
            </a:r>
          </a:p>
          <a:p>
            <a:pPr marL="728663" lvl="1" indent="-271463">
              <a:spcBef>
                <a:spcPts val="300"/>
              </a:spcBef>
            </a:pPr>
            <a:r>
              <a:rPr lang="en-US" altLang="da-DK" sz="1600" b="1" dirty="0"/>
              <a:t>Generative AI in bachelor projects (rules and possibilities)</a:t>
            </a:r>
            <a:br>
              <a:rPr lang="en-US" altLang="da-DK" sz="1600" dirty="0"/>
            </a:br>
            <a:r>
              <a:rPr lang="en-US" altLang="da-DK" sz="1600" dirty="0"/>
              <a:t>(by Clemens Nylandsted Klokmose)</a:t>
            </a:r>
          </a:p>
          <a:p>
            <a:pPr marL="271463" lvl="1" indent="-271463">
              <a:spcBef>
                <a:spcPts val="1200"/>
              </a:spcBef>
              <a:buChar char="•"/>
            </a:pPr>
            <a:r>
              <a:rPr lang="en-US" altLang="da-DK" sz="1800" b="1" dirty="0">
                <a:solidFill>
                  <a:srgbClr val="A50021"/>
                </a:solidFill>
                <a:cs typeface="ＭＳ Ｐゴシック" charset="0"/>
              </a:rPr>
              <a:t>Week 13</a:t>
            </a:r>
          </a:p>
          <a:p>
            <a:pPr marL="728663" lvl="1" indent="-271463">
              <a:spcBef>
                <a:spcPts val="300"/>
              </a:spcBef>
            </a:pPr>
            <a:r>
              <a:rPr lang="en-US" altLang="da-DK" sz="1600" b="1" dirty="0"/>
              <a:t>How to make proper charts and graphs</a:t>
            </a:r>
            <a:r>
              <a:rPr lang="en-US" altLang="da-DK" sz="1600" dirty="0"/>
              <a:t> (by Hans-Jörg Schulz)</a:t>
            </a:r>
          </a:p>
          <a:p>
            <a:pPr marL="271463" lvl="1" indent="-271463">
              <a:spcBef>
                <a:spcPts val="1800"/>
              </a:spcBef>
              <a:buFontTx/>
              <a:buChar char="•"/>
            </a:pPr>
            <a:r>
              <a:rPr lang="en-GB" altLang="da-DK" sz="1800" b="1" spc="-20" dirty="0">
                <a:solidFill>
                  <a:srgbClr val="A50021"/>
                </a:solidFill>
                <a:cs typeface="ＭＳ Ｐゴシック" charset="0"/>
              </a:rPr>
              <a:t>If you have proposals for additional lectures (or other common activities), please send me a mail or make a posting on the </a:t>
            </a:r>
            <a:r>
              <a:rPr lang="en-US" altLang="da-DK" sz="1800" b="1" spc="-20" dirty="0">
                <a:solidFill>
                  <a:srgbClr val="A50021"/>
                </a:solidFill>
                <a:cs typeface="ＭＳ Ｐゴシック" charset="0"/>
              </a:rPr>
              <a:t>discussion forum</a:t>
            </a:r>
            <a:endParaRPr lang="en-US" altLang="da-DK" sz="1600" spc="-20" dirty="0"/>
          </a:p>
          <a:p>
            <a:pPr marL="728663" lvl="1" indent="-271463">
              <a:spcBef>
                <a:spcPts val="300"/>
              </a:spcBef>
            </a:pPr>
            <a:endParaRPr lang="en-US" altLang="da-DK" sz="16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11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4189121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4" y="333375"/>
            <a:ext cx="8430758" cy="6096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da-DK" sz="2800" dirty="0"/>
              <a:t>Brightspace page for the course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2" y="1052736"/>
            <a:ext cx="8568184" cy="3744416"/>
          </a:xfrm>
          <a:noFill/>
        </p:spPr>
        <p:txBody>
          <a:bodyPr/>
          <a:lstStyle/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You should on a daily basis read (and react to)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Postings on </a:t>
            </a:r>
            <a:r>
              <a:rPr lang="en-GB" altLang="da-DK" sz="1600" b="1" i="1" dirty="0"/>
              <a:t>Announcements</a:t>
            </a:r>
            <a:r>
              <a:rPr lang="en-GB" altLang="da-DK" sz="1600" dirty="0"/>
              <a:t> which contain important information from me about things you must remember to do (or avoid)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Postings on the </a:t>
            </a:r>
            <a:r>
              <a:rPr lang="en-GB" altLang="da-DK" sz="1600" b="1" i="1" dirty="0"/>
              <a:t>Discussions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Mails which I send to you via Brightspace (to your AU mail account)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If you miss some of this information for a longer period of time, you may get into serious problems (or loose valuable efforts/time) </a:t>
            </a:r>
          </a:p>
          <a:p>
            <a:pPr marL="271463" lvl="1" indent="-271463">
              <a:spcBef>
                <a:spcPts val="18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Each section has a separate Brightspace subpage where </a:t>
            </a:r>
            <a:r>
              <a:rPr lang="en-US" altLang="da-DK" sz="1800" b="1" dirty="0">
                <a:solidFill>
                  <a:srgbClr val="A50021"/>
                </a:solidFill>
                <a:cs typeface="ＭＳ Ｐゴシック" charset="0"/>
              </a:rPr>
              <a:t>you can find different kinds of material from the section</a:t>
            </a:r>
            <a:endParaRPr lang="en-GB" altLang="da-DK" sz="1800" b="1" dirty="0">
              <a:solidFill>
                <a:srgbClr val="A50021"/>
              </a:solidFill>
              <a:cs typeface="ＭＳ Ｐゴシック" charset="0"/>
            </a:endParaRP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You will find these pages under "</a:t>
            </a:r>
            <a:r>
              <a:rPr lang="en-GB" altLang="da-DK" sz="1600" b="1" dirty="0"/>
              <a:t>Material from the individual sections</a:t>
            </a:r>
            <a:r>
              <a:rPr lang="en-GB" altLang="da-DK" sz="1600" dirty="0"/>
              <a:t>“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Not all sections use </a:t>
            </a:r>
            <a:r>
              <a:rPr lang="en-GB" altLang="da-DK" sz="1600"/>
              <a:t>these subpages</a:t>
            </a:r>
            <a:endParaRPr lang="en-GB" altLang="da-DK" sz="16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12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2489968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352159" cy="609600"/>
          </a:xfrm>
        </p:spPr>
        <p:txBody>
          <a:bodyPr/>
          <a:lstStyle/>
          <a:p>
            <a:pPr eaLnBrk="1" hangingPunct="1"/>
            <a:r>
              <a:rPr lang="en-GB" altLang="da-DK" sz="2800" dirty="0">
                <a:ea typeface="ＭＳ Ｐゴシック" pitchFamily="34" charset="-128"/>
              </a:rPr>
              <a:t>That's</a:t>
            </a:r>
            <a:r>
              <a:rPr lang="en-GB" altLang="da-DK" sz="3200" noProof="0" dirty="0">
                <a:ea typeface="ＭＳ Ｐゴシック" pitchFamily="34" charset="-128"/>
              </a:rPr>
              <a:t> all for now…                 … questions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13</a:t>
            </a:fld>
            <a:endParaRPr lang="da-DK" altLang="da-DK" dirty="0"/>
          </a:p>
        </p:txBody>
      </p:sp>
      <p:pic>
        <p:nvPicPr>
          <p:cNvPr id="16" name="Picture 2" descr="j0404263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1916831"/>
            <a:ext cx="4213225" cy="3589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8548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tandarddesign">
  <a:themeElements>
    <a:clrScheme name="Standard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desig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000066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a-DK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000066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a-DK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8996</TotalTime>
  <Words>1905</Words>
  <Application>Microsoft Office PowerPoint</Application>
  <PresentationFormat>On-screen Show (4:3)</PresentationFormat>
  <Paragraphs>170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ＭＳ Ｐゴシック</vt:lpstr>
      <vt:lpstr>Arial</vt:lpstr>
      <vt:lpstr>Times New Roman</vt:lpstr>
      <vt:lpstr>Standarddesign</vt:lpstr>
      <vt:lpstr>PowerPoint Presentation</vt:lpstr>
      <vt:lpstr>PowerPoint Presentation</vt:lpstr>
      <vt:lpstr>Advisors</vt:lpstr>
      <vt:lpstr>Learning goals (from official course descriptions)</vt:lpstr>
      <vt:lpstr>Report and oral exam</vt:lpstr>
      <vt:lpstr>Proposals for bachelor projects</vt:lpstr>
      <vt:lpstr>We strongly recommend groups with 2-3 persons</vt:lpstr>
      <vt:lpstr>Choice of partners and projects</vt:lpstr>
      <vt:lpstr>Registration of groups</vt:lpstr>
      <vt:lpstr>Bachelor project "contract"</vt:lpstr>
      <vt:lpstr>Lectures</vt:lpstr>
      <vt:lpstr>Brightspace page for the course</vt:lpstr>
      <vt:lpstr>That's all for now…                 … questions</vt:lpstr>
    </vt:vector>
  </TitlesOfParts>
  <Company>DAIMI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Programmering  – fra instruktion til modellering</dc:title>
  <dc:creator>Michael E. Caspersen</dc:creator>
  <cp:lastModifiedBy>Kurt Jensen</cp:lastModifiedBy>
  <cp:revision>714</cp:revision>
  <cp:lastPrinted>2017-08-15T08:16:54Z</cp:lastPrinted>
  <dcterms:created xsi:type="dcterms:W3CDTF">2000-02-22T02:31:40Z</dcterms:created>
  <dcterms:modified xsi:type="dcterms:W3CDTF">2025-11-24T07:13:03Z</dcterms:modified>
</cp:coreProperties>
</file>