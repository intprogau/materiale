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44"/>
  </p:notesMasterIdLst>
  <p:handoutMasterIdLst>
    <p:handoutMasterId r:id="rId45"/>
  </p:handoutMasterIdLst>
  <p:sldIdLst>
    <p:sldId id="375" r:id="rId5"/>
    <p:sldId id="456" r:id="rId6"/>
    <p:sldId id="411" r:id="rId7"/>
    <p:sldId id="417" r:id="rId8"/>
    <p:sldId id="421" r:id="rId9"/>
    <p:sldId id="427" r:id="rId10"/>
    <p:sldId id="420" r:id="rId11"/>
    <p:sldId id="428" r:id="rId12"/>
    <p:sldId id="429" r:id="rId13"/>
    <p:sldId id="430" r:id="rId14"/>
    <p:sldId id="438" r:id="rId15"/>
    <p:sldId id="413" r:id="rId16"/>
    <p:sldId id="431" r:id="rId17"/>
    <p:sldId id="432" r:id="rId18"/>
    <p:sldId id="434" r:id="rId19"/>
    <p:sldId id="437" r:id="rId20"/>
    <p:sldId id="435" r:id="rId21"/>
    <p:sldId id="436" r:id="rId22"/>
    <p:sldId id="439" r:id="rId23"/>
    <p:sldId id="443" r:id="rId24"/>
    <p:sldId id="444" r:id="rId25"/>
    <p:sldId id="433" r:id="rId26"/>
    <p:sldId id="440" r:id="rId27"/>
    <p:sldId id="424" r:id="rId28"/>
    <p:sldId id="425" r:id="rId29"/>
    <p:sldId id="426" r:id="rId30"/>
    <p:sldId id="441" r:id="rId31"/>
    <p:sldId id="442" r:id="rId32"/>
    <p:sldId id="446" r:id="rId33"/>
    <p:sldId id="447" r:id="rId34"/>
    <p:sldId id="448" r:id="rId35"/>
    <p:sldId id="449" r:id="rId36"/>
    <p:sldId id="450" r:id="rId37"/>
    <p:sldId id="451" r:id="rId38"/>
    <p:sldId id="452" r:id="rId39"/>
    <p:sldId id="453" r:id="rId40"/>
    <p:sldId id="454" r:id="rId41"/>
    <p:sldId id="445" r:id="rId42"/>
    <p:sldId id="455" r:id="rId43"/>
  </p:sldIdLst>
  <p:sldSz cx="9144000" cy="6858000" type="screen4x3"/>
  <p:notesSz cx="7099300" cy="10234613"/>
  <p:defaultTextStyle>
    <a:defPPr>
      <a:defRPr lang="da-DK"/>
    </a:defPPr>
    <a:lvl1pPr algn="l" rtl="0" fontAlgn="base">
      <a:spcBef>
        <a:spcPct val="0"/>
      </a:spcBef>
      <a:spcAft>
        <a:spcPct val="0"/>
      </a:spcAft>
      <a:defRPr sz="2000" kern="1200">
        <a:solidFill>
          <a:srgbClr val="A50021"/>
        </a:solidFill>
        <a:latin typeface="Arial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rgbClr val="A50021"/>
        </a:solidFill>
        <a:latin typeface="Arial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rgbClr val="A50021"/>
        </a:solidFill>
        <a:latin typeface="Arial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rgbClr val="A50021"/>
        </a:solidFill>
        <a:latin typeface="Arial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rgbClr val="A5002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000" kern="1200">
        <a:solidFill>
          <a:srgbClr val="A5002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000" kern="1200">
        <a:solidFill>
          <a:srgbClr val="A5002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000" kern="1200">
        <a:solidFill>
          <a:srgbClr val="A5002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000" kern="1200">
        <a:solidFill>
          <a:srgbClr val="A5002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DAA713F-5F37-409B-BE0B-0BDA6802FF5C}">
          <p14:sldIdLst>
            <p14:sldId id="375"/>
            <p14:sldId id="456"/>
            <p14:sldId id="411"/>
            <p14:sldId id="417"/>
            <p14:sldId id="421"/>
            <p14:sldId id="427"/>
            <p14:sldId id="420"/>
            <p14:sldId id="428"/>
            <p14:sldId id="429"/>
            <p14:sldId id="430"/>
            <p14:sldId id="438"/>
            <p14:sldId id="413"/>
            <p14:sldId id="431"/>
            <p14:sldId id="432"/>
            <p14:sldId id="434"/>
            <p14:sldId id="437"/>
            <p14:sldId id="435"/>
            <p14:sldId id="436"/>
            <p14:sldId id="439"/>
            <p14:sldId id="443"/>
            <p14:sldId id="444"/>
            <p14:sldId id="433"/>
            <p14:sldId id="440"/>
            <p14:sldId id="424"/>
            <p14:sldId id="425"/>
            <p14:sldId id="426"/>
            <p14:sldId id="441"/>
            <p14:sldId id="442"/>
            <p14:sldId id="446"/>
            <p14:sldId id="447"/>
            <p14:sldId id="448"/>
            <p14:sldId id="449"/>
            <p14:sldId id="450"/>
            <p14:sldId id="451"/>
            <p14:sldId id="452"/>
            <p14:sldId id="453"/>
            <p14:sldId id="454"/>
            <p14:sldId id="445"/>
            <p14:sldId id="45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FF0000"/>
    <a:srgbClr val="000066"/>
    <a:srgbClr val="CCECFF"/>
    <a:srgbClr val="A50021"/>
    <a:srgbClr val="FFFFCC"/>
    <a:srgbClr val="92D050"/>
    <a:srgbClr val="0000CC"/>
    <a:srgbClr val="CCFFCC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52ADF5-FB49-401E-94CE-0A588BECFB60}" v="1" dt="2026-02-09T16:40:26.6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5" autoAdjust="0"/>
    <p:restoredTop sz="94726" autoAdjust="0"/>
  </p:normalViewPr>
  <p:slideViewPr>
    <p:cSldViewPr>
      <p:cViewPr varScale="1">
        <p:scale>
          <a:sx n="119" d="100"/>
          <a:sy n="119" d="100"/>
        </p:scale>
        <p:origin x="114" y="2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472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-4374"/>
    </p:cViewPr>
  </p:sorterViewPr>
  <p:notesViewPr>
    <p:cSldViewPr>
      <p:cViewPr varScale="1">
        <p:scale>
          <a:sx n="88" d="100"/>
          <a:sy n="88" d="100"/>
        </p:scale>
        <p:origin x="-2220" y="-102"/>
      </p:cViewPr>
      <p:guideLst>
        <p:guide orient="horz" pos="3224"/>
        <p:guide pos="223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rt Jensen" userId="536d7847-4321-45c6-997a-4b9f60543789" providerId="ADAL" clId="{E17C5AF6-11E3-421A-B6F2-416B0C981305}"/>
    <pc:docChg chg="custSel modSld">
      <pc:chgData name="Kurt Jensen" userId="536d7847-4321-45c6-997a-4b9f60543789" providerId="ADAL" clId="{E17C5AF6-11E3-421A-B6F2-416B0C981305}" dt="2026-02-09T16:49:46.792" v="11" actId="14100"/>
      <pc:docMkLst>
        <pc:docMk/>
      </pc:docMkLst>
      <pc:sldChg chg="modSp mod">
        <pc:chgData name="Kurt Jensen" userId="536d7847-4321-45c6-997a-4b9f60543789" providerId="ADAL" clId="{E17C5AF6-11E3-421A-B6F2-416B0C981305}" dt="2026-02-09T16:18:47.555" v="3" actId="20577"/>
        <pc:sldMkLst>
          <pc:docMk/>
          <pc:sldMk cId="3778175519" sldId="411"/>
        </pc:sldMkLst>
        <pc:spChg chg="mod">
          <ac:chgData name="Kurt Jensen" userId="536d7847-4321-45c6-997a-4b9f60543789" providerId="ADAL" clId="{E17C5AF6-11E3-421A-B6F2-416B0C981305}" dt="2026-02-09T16:18:47.555" v="3" actId="20577"/>
          <ac:spMkLst>
            <pc:docMk/>
            <pc:sldMk cId="3778175519" sldId="411"/>
            <ac:spMk id="6" creationId="{00000000-0000-0000-0000-000000000000}"/>
          </ac:spMkLst>
        </pc:spChg>
      </pc:sldChg>
      <pc:sldChg chg="addSp delSp modSp mod">
        <pc:chgData name="Kurt Jensen" userId="536d7847-4321-45c6-997a-4b9f60543789" providerId="ADAL" clId="{E17C5AF6-11E3-421A-B6F2-416B0C981305}" dt="2026-02-09T16:49:46.792" v="11" actId="14100"/>
        <pc:sldMkLst>
          <pc:docMk/>
          <pc:sldMk cId="477105343" sldId="445"/>
        </pc:sldMkLst>
        <pc:picChg chg="del">
          <ac:chgData name="Kurt Jensen" userId="536d7847-4321-45c6-997a-4b9f60543789" providerId="ADAL" clId="{E17C5AF6-11E3-421A-B6F2-416B0C981305}" dt="2026-02-09T16:49:31.763" v="7" actId="478"/>
          <ac:picMkLst>
            <pc:docMk/>
            <pc:sldMk cId="477105343" sldId="445"/>
            <ac:picMk id="6" creationId="{00000000-0000-0000-0000-000000000000}"/>
          </ac:picMkLst>
        </pc:picChg>
        <pc:picChg chg="add mod">
          <ac:chgData name="Kurt Jensen" userId="536d7847-4321-45c6-997a-4b9f60543789" providerId="ADAL" clId="{E17C5AF6-11E3-421A-B6F2-416B0C981305}" dt="2026-02-09T16:49:46.792" v="11" actId="14100"/>
          <ac:picMkLst>
            <pc:docMk/>
            <pc:sldMk cId="477105343" sldId="445"/>
            <ac:picMk id="7" creationId="{38F9CAFD-F734-A62B-044A-C1CFCD236531}"/>
          </ac:picMkLst>
        </pc:picChg>
      </pc:sldChg>
      <pc:sldChg chg="addSp modSp mod">
        <pc:chgData name="Kurt Jensen" userId="536d7847-4321-45c6-997a-4b9f60543789" providerId="ADAL" clId="{E17C5AF6-11E3-421A-B6F2-416B0C981305}" dt="2026-02-09T16:41:10.865" v="6" actId="120"/>
        <pc:sldMkLst>
          <pc:docMk/>
          <pc:sldMk cId="108957319" sldId="446"/>
        </pc:sldMkLst>
        <pc:spChg chg="add mod">
          <ac:chgData name="Kurt Jensen" userId="536d7847-4321-45c6-997a-4b9f60543789" providerId="ADAL" clId="{E17C5AF6-11E3-421A-B6F2-416B0C981305}" dt="2026-02-09T16:41:10.865" v="6" actId="120"/>
          <ac:spMkLst>
            <pc:docMk/>
            <pc:sldMk cId="108957319" sldId="446"/>
            <ac:spMk id="2" creationId="{1D717F3A-2462-AD31-7DFB-3D2D887F8D5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77085" cy="511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9041" tIns="49520" rIns="99041" bIns="49520" numCol="1" anchor="t" anchorCtr="0" compatLnSpc="1">
            <a:prstTxWarp prst="textNoShape">
              <a:avLst/>
            </a:prstTxWarp>
          </a:bodyPr>
          <a:lstStyle>
            <a:lvl1pPr defTabSz="990528">
              <a:defRPr sz="1300">
                <a:solidFill>
                  <a:schemeClr val="tx1"/>
                </a:solidFill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0548" y="0"/>
            <a:ext cx="3077085" cy="511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9041" tIns="49520" rIns="99041" bIns="49520" numCol="1" anchor="t" anchorCtr="0" compatLnSpc="1">
            <a:prstTxWarp prst="textNoShape">
              <a:avLst/>
            </a:prstTxWarp>
          </a:bodyPr>
          <a:lstStyle>
            <a:lvl1pPr algn="r" defTabSz="990528">
              <a:defRPr sz="1300">
                <a:solidFill>
                  <a:schemeClr val="tx1"/>
                </a:solidFill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614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721494"/>
            <a:ext cx="3077085" cy="511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9041" tIns="49520" rIns="99041" bIns="49520" numCol="1" anchor="b" anchorCtr="0" compatLnSpc="1">
            <a:prstTxWarp prst="textNoShape">
              <a:avLst/>
            </a:prstTxWarp>
          </a:bodyPr>
          <a:lstStyle>
            <a:lvl1pPr defTabSz="990528">
              <a:defRPr sz="1300">
                <a:solidFill>
                  <a:schemeClr val="tx1"/>
                </a:solidFill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614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0548" y="9721494"/>
            <a:ext cx="3077085" cy="511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9041" tIns="49520" rIns="99041" bIns="49520" numCol="1" anchor="b" anchorCtr="0" compatLnSpc="1">
            <a:prstTxWarp prst="textNoShape">
              <a:avLst/>
            </a:prstTxWarp>
          </a:bodyPr>
          <a:lstStyle>
            <a:lvl1pPr algn="r" defTabSz="990528">
              <a:defRPr sz="13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39B72E09-9C15-4F53-91FA-378928BEE7AC}" type="slidenum">
              <a:rPr lang="da-DK" altLang="da-DK"/>
              <a:pPr>
                <a:defRPr/>
              </a:pPr>
              <a:t>‹#›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90174962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77085" cy="511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9041" tIns="49520" rIns="99041" bIns="49520" numCol="1" anchor="t" anchorCtr="0" compatLnSpc="1">
            <a:prstTxWarp prst="textNoShape">
              <a:avLst/>
            </a:prstTxWarp>
          </a:bodyPr>
          <a:lstStyle>
            <a:lvl1pPr defTabSz="990528">
              <a:defRPr sz="1300" b="1">
                <a:solidFill>
                  <a:srgbClr val="CC0000"/>
                </a:solidFill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215" y="0"/>
            <a:ext cx="3077085" cy="511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9041" tIns="49520" rIns="99041" bIns="49520" numCol="1" anchor="t" anchorCtr="0" compatLnSpc="1">
            <a:prstTxWarp prst="textNoShape">
              <a:avLst/>
            </a:prstTxWarp>
          </a:bodyPr>
          <a:lstStyle>
            <a:lvl1pPr algn="r" defTabSz="990528">
              <a:defRPr sz="1300" b="1">
                <a:solidFill>
                  <a:srgbClr val="CC0000"/>
                </a:solidFill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796" y="4861564"/>
            <a:ext cx="5205709" cy="46050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9041" tIns="49520" rIns="99041" bIns="495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noProof="0"/>
              <a:t>Klik for at redigere teksttypografierne i masteren</a:t>
            </a:r>
          </a:p>
          <a:p>
            <a:pPr lvl="1"/>
            <a:r>
              <a:rPr lang="da-DK" noProof="0"/>
              <a:t>Andet niveau</a:t>
            </a:r>
          </a:p>
          <a:p>
            <a:pPr lvl="2"/>
            <a:r>
              <a:rPr lang="da-DK" noProof="0"/>
              <a:t>Tredje niveau</a:t>
            </a:r>
          </a:p>
          <a:p>
            <a:pPr lvl="3"/>
            <a:r>
              <a:rPr lang="da-DK" noProof="0"/>
              <a:t>Fjerde niveau</a:t>
            </a:r>
          </a:p>
          <a:p>
            <a:pPr lvl="4"/>
            <a:r>
              <a:rPr lang="da-DK" noProof="0"/>
              <a:t>Femte niveau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723127"/>
            <a:ext cx="3077085" cy="511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9041" tIns="49520" rIns="99041" bIns="49520" numCol="1" anchor="b" anchorCtr="0" compatLnSpc="1">
            <a:prstTxWarp prst="textNoShape">
              <a:avLst/>
            </a:prstTxWarp>
          </a:bodyPr>
          <a:lstStyle>
            <a:lvl1pPr defTabSz="990528">
              <a:defRPr sz="1300" b="1">
                <a:solidFill>
                  <a:srgbClr val="CC0000"/>
                </a:solidFill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215" y="9723127"/>
            <a:ext cx="3077085" cy="511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9041" tIns="49520" rIns="99041" bIns="49520" numCol="1" anchor="b" anchorCtr="0" compatLnSpc="1">
            <a:prstTxWarp prst="textNoShape">
              <a:avLst/>
            </a:prstTxWarp>
          </a:bodyPr>
          <a:lstStyle>
            <a:lvl1pPr algn="r" defTabSz="990528">
              <a:defRPr sz="1300" b="1">
                <a:solidFill>
                  <a:srgbClr val="CC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E392DC24-3004-4372-BE92-7F24D50BA456}" type="slidenum">
              <a:rPr lang="da-DK" altLang="da-DK"/>
              <a:pPr>
                <a:defRPr/>
              </a:pPr>
              <a:t>‹#›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71282625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52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897" indent="-285730" defTabSz="99052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2918" indent="-228584" defTabSz="99052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085" indent="-228584" defTabSz="99052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252" indent="-228584" defTabSz="99052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419" indent="-228584" defTabSz="99052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585" indent="-228584" defTabSz="99052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8752" indent="-228584" defTabSz="99052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5919" indent="-228584" defTabSz="99052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392CB419-FA32-4238-A473-EBED58FF00DE}" type="slidenum">
              <a:rPr lang="da-DK" altLang="da-DK" sz="1300">
                <a:solidFill>
                  <a:srgbClr val="CC0000"/>
                </a:solidFill>
              </a:rPr>
              <a:pPr eaLnBrk="1" hangingPunct="1">
                <a:spcBef>
                  <a:spcPct val="0"/>
                </a:spcBef>
              </a:pPr>
              <a:t>1</a:t>
            </a:fld>
            <a:endParaRPr lang="da-DK" altLang="da-DK" sz="1300">
              <a:solidFill>
                <a:srgbClr val="CC0000"/>
              </a:solidFill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da-DK" dirty="0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523127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52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897" indent="-285730" defTabSz="99052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2918" indent="-228584" defTabSz="99052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085" indent="-228584" defTabSz="99052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252" indent="-228584" defTabSz="99052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419" indent="-228584" defTabSz="99052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585" indent="-228584" defTabSz="99052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8752" indent="-228584" defTabSz="99052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5919" indent="-228584" defTabSz="99052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392CB419-FA32-4238-A473-EBED58FF00DE}" type="slidenum">
              <a:rPr lang="da-DK" altLang="da-DK" sz="1300">
                <a:solidFill>
                  <a:srgbClr val="CC0000"/>
                </a:solidFill>
              </a:rPr>
              <a:pPr eaLnBrk="1" hangingPunct="1">
                <a:spcBef>
                  <a:spcPct val="0"/>
                </a:spcBef>
              </a:pPr>
              <a:t>2</a:t>
            </a:fld>
            <a:endParaRPr lang="da-DK" altLang="da-DK" sz="1300">
              <a:solidFill>
                <a:srgbClr val="CC0000"/>
              </a:solidFill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da-DK" dirty="0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519206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2DC24-3004-4372-BE92-7F24D50BA456}" type="slidenum">
              <a:rPr lang="da-DK" altLang="da-DK" smtClean="0"/>
              <a:pPr>
                <a:defRPr/>
              </a:pPr>
              <a:t>3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17403700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2DC24-3004-4372-BE92-7F24D50BA456}" type="slidenum">
              <a:rPr lang="da-DK" altLang="da-DK" smtClean="0"/>
              <a:pPr>
                <a:defRPr/>
              </a:pPr>
              <a:t>4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18930148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2DC24-3004-4372-BE92-7F24D50BA456}" type="slidenum">
              <a:rPr lang="da-DK" altLang="da-DK" smtClean="0"/>
              <a:pPr>
                <a:defRPr/>
              </a:pPr>
              <a:t>5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32028334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2DC24-3004-4372-BE92-7F24D50BA456}" type="slidenum">
              <a:rPr lang="da-DK" altLang="da-DK" smtClean="0"/>
              <a:pPr>
                <a:defRPr/>
              </a:pPr>
              <a:t>6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34460082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2DC24-3004-4372-BE92-7F24D50BA456}" type="slidenum">
              <a:rPr lang="da-DK" altLang="da-DK" smtClean="0"/>
              <a:pPr>
                <a:defRPr/>
              </a:pPr>
              <a:t>7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21533842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2DC24-3004-4372-BE92-7F24D50BA456}" type="slidenum">
              <a:rPr lang="da-DK" altLang="da-DK" smtClean="0"/>
              <a:pPr>
                <a:defRPr/>
              </a:pPr>
              <a:t>8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33633850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2DC24-3004-4372-BE92-7F24D50BA456}" type="slidenum">
              <a:rPr lang="da-DK" altLang="da-DK" smtClean="0"/>
              <a:pPr>
                <a:defRPr/>
              </a:pPr>
              <a:t>9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6432889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2DC24-3004-4372-BE92-7F24D50BA456}" type="slidenum">
              <a:rPr lang="da-DK" altLang="da-DK" smtClean="0"/>
              <a:pPr>
                <a:defRPr/>
              </a:pPr>
              <a:t>10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34891145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2DC24-3004-4372-BE92-7F24D50BA456}" type="slidenum">
              <a:rPr lang="da-DK" altLang="da-DK" smtClean="0"/>
              <a:pPr>
                <a:defRPr/>
              </a:pPr>
              <a:t>11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37213972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2DC24-3004-4372-BE92-7F24D50BA456}" type="slidenum">
              <a:rPr lang="da-DK" altLang="da-DK" smtClean="0"/>
              <a:pPr>
                <a:defRPr/>
              </a:pPr>
              <a:t>12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40700953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2DC24-3004-4372-BE92-7F24D50BA456}" type="slidenum">
              <a:rPr lang="da-DK" altLang="da-DK" smtClean="0"/>
              <a:pPr>
                <a:defRPr/>
              </a:pPr>
              <a:t>13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42346900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2DC24-3004-4372-BE92-7F24D50BA456}" type="slidenum">
              <a:rPr lang="da-DK" altLang="da-DK" smtClean="0"/>
              <a:pPr>
                <a:defRPr/>
              </a:pPr>
              <a:t>14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6237295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2DC24-3004-4372-BE92-7F24D50BA456}" type="slidenum">
              <a:rPr lang="da-DK" altLang="da-DK" smtClean="0"/>
              <a:pPr>
                <a:defRPr/>
              </a:pPr>
              <a:t>15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5637256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2DC24-3004-4372-BE92-7F24D50BA456}" type="slidenum">
              <a:rPr lang="da-DK" altLang="da-DK" smtClean="0"/>
              <a:pPr>
                <a:defRPr/>
              </a:pPr>
              <a:t>16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34120563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2DC24-3004-4372-BE92-7F24D50BA456}" type="slidenum">
              <a:rPr lang="da-DK" altLang="da-DK" smtClean="0"/>
              <a:pPr>
                <a:defRPr/>
              </a:pPr>
              <a:t>17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15405805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2DC24-3004-4372-BE92-7F24D50BA456}" type="slidenum">
              <a:rPr lang="da-DK" altLang="da-DK" smtClean="0"/>
              <a:pPr>
                <a:defRPr/>
              </a:pPr>
              <a:t>18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37649782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2DC24-3004-4372-BE92-7F24D50BA456}" type="slidenum">
              <a:rPr lang="da-DK" altLang="da-DK" smtClean="0"/>
              <a:pPr>
                <a:defRPr/>
              </a:pPr>
              <a:t>19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8894152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2DC24-3004-4372-BE92-7F24D50BA456}" type="slidenum">
              <a:rPr lang="da-DK" altLang="da-DK" smtClean="0"/>
              <a:pPr>
                <a:defRPr/>
              </a:pPr>
              <a:t>20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21663259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2DC24-3004-4372-BE92-7F24D50BA456}" type="slidenum">
              <a:rPr lang="da-DK" altLang="da-DK" smtClean="0"/>
              <a:pPr>
                <a:defRPr/>
              </a:pPr>
              <a:t>21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1995702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2DC24-3004-4372-BE92-7F24D50BA456}" type="slidenum">
              <a:rPr lang="da-DK" altLang="da-DK" smtClean="0"/>
              <a:pPr>
                <a:defRPr/>
              </a:pPr>
              <a:t>22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8991023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2DC24-3004-4372-BE92-7F24D50BA456}" type="slidenum">
              <a:rPr lang="da-DK" altLang="da-DK" smtClean="0"/>
              <a:pPr>
                <a:defRPr/>
              </a:pPr>
              <a:t>23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36607420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2DC24-3004-4372-BE92-7F24D50BA456}" type="slidenum">
              <a:rPr lang="da-DK" altLang="da-DK" smtClean="0"/>
              <a:pPr>
                <a:defRPr/>
              </a:pPr>
              <a:t>24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44814875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2DC24-3004-4372-BE92-7F24D50BA456}" type="slidenum">
              <a:rPr lang="da-DK" altLang="da-DK" smtClean="0"/>
              <a:pPr>
                <a:defRPr/>
              </a:pPr>
              <a:t>25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155535895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2DC24-3004-4372-BE92-7F24D50BA456}" type="slidenum">
              <a:rPr lang="da-DK" altLang="da-DK" smtClean="0"/>
              <a:pPr>
                <a:defRPr/>
              </a:pPr>
              <a:t>26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33874131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2DC24-3004-4372-BE92-7F24D50BA456}" type="slidenum">
              <a:rPr lang="da-DK" altLang="da-DK" smtClean="0"/>
              <a:pPr>
                <a:defRPr/>
              </a:pPr>
              <a:t>27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309179566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92DC24-3004-4372-BE92-7F24D50BA456}" type="slidenum">
              <a:rPr lang="da-DK" altLang="da-DK" smtClean="0"/>
              <a:pPr>
                <a:defRPr/>
              </a:pPr>
              <a:t>28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255030450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52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897" indent="-285730" defTabSz="99052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2918" indent="-228584" defTabSz="99052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085" indent="-228584" defTabSz="99052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252" indent="-228584" defTabSz="99052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419" indent="-228584" defTabSz="99052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585" indent="-228584" defTabSz="99052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8752" indent="-228584" defTabSz="99052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5919" indent="-228584" defTabSz="99052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392CB419-FA32-4238-A473-EBED58FF00DE}" type="slidenum">
              <a:rPr lang="da-DK" altLang="da-DK" sz="1300">
                <a:solidFill>
                  <a:srgbClr val="CC0000"/>
                </a:solidFill>
              </a:rPr>
              <a:pPr eaLnBrk="1" hangingPunct="1">
                <a:spcBef>
                  <a:spcPct val="0"/>
                </a:spcBef>
              </a:pPr>
              <a:t>29</a:t>
            </a:fld>
            <a:endParaRPr lang="da-DK" altLang="da-DK" sz="1300">
              <a:solidFill>
                <a:srgbClr val="CC0000"/>
              </a:solidFill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da-DK" dirty="0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426497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96938" y="746125"/>
            <a:ext cx="4967287" cy="3727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CBDC66-5FD4-4D91-9FD7-3639CA8D149D}" type="slidenum">
              <a:rPr lang="da-DK" altLang="da-DK" smtClean="0"/>
              <a:pPr/>
              <a:t>30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128231836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96938" y="746125"/>
            <a:ext cx="4967287" cy="3727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CBDC66-5FD4-4D91-9FD7-3639CA8D149D}" type="slidenum">
              <a:rPr lang="da-DK" altLang="da-DK" smtClean="0"/>
              <a:pPr/>
              <a:t>31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263572284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96938" y="746125"/>
            <a:ext cx="4967287" cy="3727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CBDC66-5FD4-4D91-9FD7-3639CA8D149D}" type="slidenum">
              <a:rPr lang="da-DK" altLang="da-DK" smtClean="0"/>
              <a:pPr/>
              <a:t>32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190663296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96938" y="746125"/>
            <a:ext cx="4967287" cy="3727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CBDC66-5FD4-4D91-9FD7-3639CA8D149D}" type="slidenum">
              <a:rPr lang="da-DK" altLang="da-DK" smtClean="0"/>
              <a:pPr/>
              <a:t>33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130459076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96938" y="746125"/>
            <a:ext cx="4967287" cy="3727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CBDC66-5FD4-4D91-9FD7-3639CA8D149D}" type="slidenum">
              <a:rPr lang="da-DK" altLang="da-DK" smtClean="0"/>
              <a:pPr/>
              <a:t>34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422386336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96938" y="746125"/>
            <a:ext cx="4967287" cy="3727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CBDC66-5FD4-4D91-9FD7-3639CA8D149D}" type="slidenum">
              <a:rPr lang="da-DK" altLang="da-DK" smtClean="0"/>
              <a:pPr/>
              <a:t>35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401925142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96938" y="746125"/>
            <a:ext cx="4967287" cy="3727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CBDC66-5FD4-4D91-9FD7-3639CA8D149D}" type="slidenum">
              <a:rPr lang="da-DK" altLang="da-DK" smtClean="0"/>
              <a:pPr/>
              <a:t>36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377576112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96938" y="746125"/>
            <a:ext cx="4967287" cy="3727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CBDC66-5FD4-4D91-9FD7-3639CA8D149D}" type="slidenum">
              <a:rPr lang="da-DK" altLang="da-DK" smtClean="0"/>
              <a:pPr/>
              <a:t>37</a:t>
            </a:fld>
            <a:endParaRPr lang="da-DK" altLang="da-DK"/>
          </a:p>
        </p:txBody>
      </p:sp>
    </p:spTree>
    <p:extLst>
      <p:ext uri="{BB962C8B-B14F-4D97-AF65-F5344CB8AC3E}">
        <p14:creationId xmlns:p14="http://schemas.microsoft.com/office/powerpoint/2010/main" val="333293001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52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897" indent="-285730" defTabSz="99052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2918" indent="-228584" defTabSz="99052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085" indent="-228584" defTabSz="99052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252" indent="-228584" defTabSz="99052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419" indent="-228584" defTabSz="99052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585" indent="-228584" defTabSz="99052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8752" indent="-228584" defTabSz="99052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5919" indent="-228584" defTabSz="99052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0A7C83F2-97F6-4FF2-A03C-029400408B2C}" type="slidenum">
              <a:rPr lang="da-DK" altLang="da-DK" sz="1300">
                <a:solidFill>
                  <a:srgbClr val="CC0000"/>
                </a:solidFill>
              </a:rPr>
              <a:pPr eaLnBrk="1" hangingPunct="1">
                <a:spcBef>
                  <a:spcPct val="0"/>
                </a:spcBef>
              </a:pPr>
              <a:t>39</a:t>
            </a:fld>
            <a:endParaRPr lang="da-DK" altLang="da-DK" sz="1300">
              <a:solidFill>
                <a:srgbClr val="CC0000"/>
              </a:solidFill>
            </a:endParaRPr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da-DK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94270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a-DK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a-DK"/>
              <a:t>Click to edit Master subtitle style</a:t>
            </a:r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532440" y="6400800"/>
            <a:ext cx="611560" cy="457200"/>
          </a:xfrm>
          <a:prstGeom prst="rect">
            <a:avLst/>
          </a:prstGeom>
          <a:ln/>
        </p:spPr>
        <p:txBody>
          <a:bodyPr/>
          <a:lstStyle>
            <a:lvl1pPr algn="l">
              <a:defRPr sz="1800" b="1">
                <a:solidFill>
                  <a:srgbClr val="003399"/>
                </a:solidFill>
                <a:latin typeface="+mn-lt"/>
              </a:defRPr>
            </a:lvl1pPr>
          </a:lstStyle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‹#›</a:t>
            </a:fld>
            <a:endParaRPr lang="da-DK" altLang="da-DK" dirty="0"/>
          </a:p>
        </p:txBody>
      </p:sp>
    </p:spTree>
    <p:extLst>
      <p:ext uri="{BB962C8B-B14F-4D97-AF65-F5344CB8AC3E}">
        <p14:creationId xmlns:p14="http://schemas.microsoft.com/office/powerpoint/2010/main" val="2519836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Master </a:t>
            </a:r>
            <a:r>
              <a:rPr lang="da-DK" dirty="0" err="1"/>
              <a:t>text</a:t>
            </a:r>
            <a:r>
              <a:rPr lang="da-DK" dirty="0"/>
              <a:t> </a:t>
            </a:r>
            <a:r>
              <a:rPr lang="da-DK" dirty="0" err="1"/>
              <a:t>styles</a:t>
            </a:r>
            <a:endParaRPr lang="da-DK" dirty="0"/>
          </a:p>
          <a:p>
            <a:pPr lvl="1"/>
            <a:r>
              <a:rPr lang="da-DK" dirty="0"/>
              <a:t>Second </a:t>
            </a:r>
            <a:r>
              <a:rPr lang="da-DK" dirty="0" err="1"/>
              <a:t>level</a:t>
            </a:r>
            <a:endParaRPr lang="da-DK" dirty="0"/>
          </a:p>
          <a:p>
            <a:pPr lvl="2"/>
            <a:r>
              <a:rPr lang="da-DK" dirty="0"/>
              <a:t>Third </a:t>
            </a:r>
            <a:r>
              <a:rPr lang="da-DK" dirty="0" err="1"/>
              <a:t>level</a:t>
            </a:r>
            <a:endParaRPr lang="da-DK" dirty="0"/>
          </a:p>
          <a:p>
            <a:pPr lvl="3"/>
            <a:r>
              <a:rPr lang="da-DK" dirty="0" err="1"/>
              <a:t>Fourth</a:t>
            </a:r>
            <a:r>
              <a:rPr lang="da-DK" dirty="0"/>
              <a:t> </a:t>
            </a:r>
            <a:r>
              <a:rPr lang="da-DK" dirty="0" err="1"/>
              <a:t>level</a:t>
            </a:r>
            <a:endParaRPr lang="da-DK" dirty="0"/>
          </a:p>
          <a:p>
            <a:pPr lvl="4"/>
            <a:r>
              <a:rPr lang="da-DK" dirty="0"/>
              <a:t>Fifth </a:t>
            </a:r>
            <a:r>
              <a:rPr lang="da-DK" dirty="0" err="1"/>
              <a:t>level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460432" y="6400800"/>
            <a:ext cx="683568" cy="457200"/>
          </a:xfrm>
          <a:prstGeom prst="rect">
            <a:avLst/>
          </a:prstGeom>
          <a:ln>
            <a:noFill/>
          </a:ln>
        </p:spPr>
        <p:txBody>
          <a:bodyPr/>
          <a:lstStyle>
            <a:lvl1pPr algn="ctr">
              <a:defRPr sz="1800" b="1">
                <a:solidFill>
                  <a:srgbClr val="003399"/>
                </a:solidFill>
                <a:latin typeface="+mn-lt"/>
              </a:defRPr>
            </a:lvl1pPr>
          </a:lstStyle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‹#›</a:t>
            </a:fld>
            <a:endParaRPr lang="da-DK" altLang="da-DK" dirty="0"/>
          </a:p>
        </p:txBody>
      </p:sp>
    </p:spTree>
    <p:extLst>
      <p:ext uri="{BB962C8B-B14F-4D97-AF65-F5344CB8AC3E}">
        <p14:creationId xmlns:p14="http://schemas.microsoft.com/office/powerpoint/2010/main" val="3094675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3" y="1052513"/>
            <a:ext cx="4027487" cy="51958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Master </a:t>
            </a:r>
            <a:r>
              <a:rPr lang="da-DK" dirty="0" err="1"/>
              <a:t>text</a:t>
            </a:r>
            <a:r>
              <a:rPr lang="da-DK" dirty="0"/>
              <a:t> </a:t>
            </a:r>
            <a:r>
              <a:rPr lang="da-DK" dirty="0" err="1"/>
              <a:t>styles</a:t>
            </a:r>
            <a:endParaRPr lang="da-DK" dirty="0"/>
          </a:p>
          <a:p>
            <a:pPr lvl="1"/>
            <a:r>
              <a:rPr lang="da-DK" dirty="0"/>
              <a:t>Second </a:t>
            </a:r>
            <a:r>
              <a:rPr lang="da-DK" dirty="0" err="1"/>
              <a:t>level</a:t>
            </a:r>
            <a:endParaRPr lang="da-DK" dirty="0"/>
          </a:p>
          <a:p>
            <a:pPr lvl="2"/>
            <a:r>
              <a:rPr lang="da-DK" dirty="0"/>
              <a:t>Third </a:t>
            </a:r>
            <a:r>
              <a:rPr lang="da-DK" dirty="0" err="1"/>
              <a:t>level</a:t>
            </a:r>
            <a:endParaRPr lang="da-DK" dirty="0"/>
          </a:p>
          <a:p>
            <a:pPr lvl="3"/>
            <a:r>
              <a:rPr lang="da-DK" dirty="0" err="1"/>
              <a:t>Fourth</a:t>
            </a:r>
            <a:r>
              <a:rPr lang="da-DK" dirty="0"/>
              <a:t> </a:t>
            </a:r>
            <a:r>
              <a:rPr lang="da-DK" dirty="0" err="1"/>
              <a:t>level</a:t>
            </a:r>
            <a:endParaRPr lang="da-DK" dirty="0"/>
          </a:p>
          <a:p>
            <a:pPr lvl="4"/>
            <a:r>
              <a:rPr lang="da-DK" dirty="0"/>
              <a:t>Fifth </a:t>
            </a:r>
            <a:r>
              <a:rPr lang="da-DK" dirty="0" err="1"/>
              <a:t>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52513"/>
            <a:ext cx="4027488" cy="51958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Click to edit Master text styles</a:t>
            </a:r>
          </a:p>
          <a:p>
            <a:pPr lvl="1"/>
            <a:r>
              <a:rPr lang="da-DK"/>
              <a:t>Second level</a:t>
            </a:r>
          </a:p>
          <a:p>
            <a:pPr lvl="2"/>
            <a:r>
              <a:rPr lang="da-DK"/>
              <a:t>Third level</a:t>
            </a:r>
          </a:p>
          <a:p>
            <a:pPr lvl="3"/>
            <a:r>
              <a:rPr lang="da-DK"/>
              <a:t>Fourth level</a:t>
            </a:r>
          </a:p>
          <a:p>
            <a:pPr lvl="4"/>
            <a:r>
              <a:rPr lang="da-DK"/>
              <a:t>Fifth level</a:t>
            </a: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532440" y="6400800"/>
            <a:ext cx="611560" cy="457200"/>
          </a:xfrm>
          <a:ln/>
        </p:spPr>
        <p:txBody>
          <a:bodyPr/>
          <a:lstStyle>
            <a:lvl1pPr algn="l">
              <a:defRPr sz="1800" b="1">
                <a:solidFill>
                  <a:srgbClr val="003399"/>
                </a:solidFill>
                <a:latin typeface="+mn-lt"/>
              </a:defRPr>
            </a:lvl1pPr>
          </a:lstStyle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‹#›</a:t>
            </a:fld>
            <a:endParaRPr lang="da-DK" altLang="da-DK" dirty="0"/>
          </a:p>
        </p:txBody>
      </p:sp>
    </p:spTree>
    <p:extLst>
      <p:ext uri="{BB962C8B-B14F-4D97-AF65-F5344CB8AC3E}">
        <p14:creationId xmlns:p14="http://schemas.microsoft.com/office/powerpoint/2010/main" val="204871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Click to edit Master title style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532440" y="6400800"/>
            <a:ext cx="611560" cy="457200"/>
          </a:xfrm>
          <a:ln/>
        </p:spPr>
        <p:txBody>
          <a:bodyPr/>
          <a:lstStyle>
            <a:lvl1pPr algn="l">
              <a:defRPr sz="1800" b="1">
                <a:solidFill>
                  <a:srgbClr val="003399"/>
                </a:solidFill>
                <a:latin typeface="+mn-lt"/>
              </a:defRPr>
            </a:lvl1pPr>
          </a:lstStyle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‹#›</a:t>
            </a:fld>
            <a:endParaRPr lang="da-DK" altLang="da-DK" dirty="0"/>
          </a:p>
        </p:txBody>
      </p:sp>
    </p:spTree>
    <p:extLst>
      <p:ext uri="{BB962C8B-B14F-4D97-AF65-F5344CB8AC3E}">
        <p14:creationId xmlns:p14="http://schemas.microsoft.com/office/powerpoint/2010/main" val="4260232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333375"/>
            <a:ext cx="820737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a-DK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052513"/>
            <a:ext cx="8207375" cy="5195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Master </a:t>
            </a:r>
            <a:r>
              <a:rPr lang="da-DK" dirty="0" err="1"/>
              <a:t>text</a:t>
            </a:r>
            <a:r>
              <a:rPr lang="da-DK" dirty="0"/>
              <a:t> </a:t>
            </a:r>
            <a:r>
              <a:rPr lang="da-DK" dirty="0" err="1"/>
              <a:t>styles</a:t>
            </a:r>
            <a:endParaRPr lang="da-DK" dirty="0"/>
          </a:p>
          <a:p>
            <a:pPr lvl="1"/>
            <a:r>
              <a:rPr lang="da-DK" dirty="0"/>
              <a:t>Second </a:t>
            </a:r>
            <a:r>
              <a:rPr lang="da-DK" dirty="0" err="1"/>
              <a:t>level</a:t>
            </a:r>
            <a:endParaRPr lang="da-DK" dirty="0"/>
          </a:p>
          <a:p>
            <a:pPr lvl="2"/>
            <a:r>
              <a:rPr lang="da-DK" dirty="0"/>
              <a:t>Third </a:t>
            </a:r>
            <a:r>
              <a:rPr lang="da-DK" dirty="0" err="1"/>
              <a:t>level</a:t>
            </a:r>
            <a:endParaRPr lang="da-DK" dirty="0"/>
          </a:p>
          <a:p>
            <a:pPr lvl="3"/>
            <a:r>
              <a:rPr lang="da-DK" dirty="0" err="1"/>
              <a:t>Fourth</a:t>
            </a:r>
            <a:r>
              <a:rPr lang="da-DK" dirty="0"/>
              <a:t> </a:t>
            </a:r>
            <a:r>
              <a:rPr lang="da-DK" dirty="0" err="1"/>
              <a:t>level</a:t>
            </a:r>
            <a:endParaRPr lang="da-DK" dirty="0"/>
          </a:p>
          <a:p>
            <a:pPr lvl="4"/>
            <a:r>
              <a:rPr lang="da-DK" dirty="0"/>
              <a:t>Fifth </a:t>
            </a:r>
            <a:r>
              <a:rPr lang="da-DK" dirty="0" err="1"/>
              <a:t>level</a:t>
            </a:r>
            <a:endParaRPr lang="da-DK" dirty="0"/>
          </a:p>
        </p:txBody>
      </p:sp>
      <p:sp>
        <p:nvSpPr>
          <p:cNvPr id="1033" name="Line 9"/>
          <p:cNvSpPr>
            <a:spLocks noChangeShapeType="1"/>
          </p:cNvSpPr>
          <p:nvPr userDrawn="1"/>
        </p:nvSpPr>
        <p:spPr bwMode="auto">
          <a:xfrm flipV="1">
            <a:off x="468313" y="981075"/>
            <a:ext cx="8207375" cy="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ea typeface="ＭＳ Ｐゴシック" charset="0"/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532440" y="6400800"/>
            <a:ext cx="611560" cy="457200"/>
          </a:xfrm>
          <a:prstGeom prst="rect">
            <a:avLst/>
          </a:prstGeom>
          <a:ln/>
        </p:spPr>
        <p:txBody>
          <a:bodyPr/>
          <a:lstStyle>
            <a:lvl1pPr algn="l">
              <a:defRPr sz="1800" b="1">
                <a:solidFill>
                  <a:srgbClr val="003399"/>
                </a:solidFill>
                <a:latin typeface="+mn-lt"/>
              </a:defRPr>
            </a:lvl1pPr>
          </a:lstStyle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‹#›</a:t>
            </a:fld>
            <a:endParaRPr lang="da-DK" altLang="da-DK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+mj-lt"/>
          <a:ea typeface="+mj-ea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Arial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Arial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Arial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Arial" charset="0"/>
          <a:ea typeface="ＭＳ Ｐゴシック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Arial" charset="0"/>
          <a:ea typeface="ＭＳ Ｐゴシック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Arial" charset="0"/>
          <a:ea typeface="ＭＳ Ｐゴシック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000066"/>
          </a:solidFill>
          <a:latin typeface="Arial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A5002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000066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rgbClr val="000066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Times New Roman" charset="0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Times New Roman" charset="0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Times New Roman" charset="0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Times New Roman" charset="0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Times New Roman" charset="0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Times New Roman" charset="0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library.au.dk/en/students/plagiarism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ribbr.dk/akademisk-engelsk/us-engelsk-eller-britisk-engelsk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735006" y="1593583"/>
            <a:ext cx="3744416" cy="2769493"/>
            <a:chOff x="737385" y="1138779"/>
            <a:chExt cx="3744416" cy="3046442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1402" y="1138779"/>
              <a:ext cx="3456384" cy="2902426"/>
            </a:xfrm>
            <a:prstGeom prst="rect">
              <a:avLst/>
            </a:prstGeom>
          </p:spPr>
        </p:pic>
        <p:sp>
          <p:nvSpPr>
            <p:cNvPr id="4" name="Rounded Rectangle 3"/>
            <p:cNvSpPr/>
            <p:nvPr/>
          </p:nvSpPr>
          <p:spPr bwMode="auto">
            <a:xfrm>
              <a:off x="737385" y="1138779"/>
              <a:ext cx="3744416" cy="3046442"/>
            </a:xfrm>
            <a:prstGeom prst="roundRect">
              <a:avLst/>
            </a:prstGeom>
            <a:noFill/>
            <a:ln w="285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ＭＳ Ｐゴシック" charset="0"/>
              </a:endParaRPr>
            </a:p>
          </p:txBody>
        </p:sp>
        <p:sp>
          <p:nvSpPr>
            <p:cNvPr id="10" name="Rectangle 9"/>
            <p:cNvSpPr/>
            <p:nvPr/>
          </p:nvSpPr>
          <p:spPr bwMode="auto">
            <a:xfrm>
              <a:off x="1962807" y="1196901"/>
              <a:ext cx="953009" cy="482127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ＭＳ Ｐゴシック" charset="0"/>
              </a:endParaRPr>
            </a:p>
          </p:txBody>
        </p:sp>
        <p:sp>
          <p:nvSpPr>
            <p:cNvPr id="12" name="Rectangle 11"/>
            <p:cNvSpPr/>
            <p:nvPr/>
          </p:nvSpPr>
          <p:spPr bwMode="auto">
            <a:xfrm>
              <a:off x="1909867" y="1628948"/>
              <a:ext cx="578994" cy="292493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14709" y="444717"/>
            <a:ext cx="8529426" cy="91444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FAA26D3D-D897-4be2-8F04-BA451C77F1D7}"/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+mj-lt"/>
                <a:ea typeface="+mj-ea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charset="0"/>
                <a:ea typeface="ＭＳ Ｐゴシック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charset="0"/>
                <a:ea typeface="ＭＳ Ｐゴシック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charset="0"/>
                <a:ea typeface="ＭＳ Ｐゴシック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charset="0"/>
                <a:ea typeface="ＭＳ Ｐゴシック" charset="0"/>
              </a:defRPr>
            </a:lvl9pPr>
          </a:lstStyle>
          <a:p>
            <a:pPr lvl="1">
              <a:spcBef>
                <a:spcPts val="1200"/>
              </a:spcBef>
            </a:pPr>
            <a:r>
              <a:rPr lang="en-GB" altLang="da-DK" sz="3200" dirty="0"/>
              <a:t>How to write an academic paper and make an oral presentation of it?</a:t>
            </a: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690129" y="4560605"/>
            <a:ext cx="8280151" cy="1244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 b="1">
                <a:solidFill>
                  <a:srgbClr val="A50021"/>
                </a:solidFill>
                <a:latin typeface="+mn-lt"/>
                <a:ea typeface="+mn-ea"/>
                <a:cs typeface="ＭＳ Ｐゴシック" charset="0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rgbClr val="000066"/>
                </a:solidFill>
                <a:latin typeface="+mn-lt"/>
                <a:ea typeface="+mn-ea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rgbClr val="000066"/>
                </a:solidFill>
                <a:latin typeface="+mn-lt"/>
                <a:ea typeface="+mn-ea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Times New Roman" charset="0"/>
                <a:ea typeface="+mn-ea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9pPr>
          </a:lstStyle>
          <a:p>
            <a:pPr marL="271463" lvl="1" indent="-271463" algn="l">
              <a:spcBef>
                <a:spcPts val="1200"/>
              </a:spcBef>
              <a:buFontTx/>
              <a:buChar char="•"/>
            </a:pPr>
            <a:r>
              <a:rPr lang="en-GB" altLang="da-DK" sz="1600" b="1" dirty="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rPr>
              <a:t>DISCLAIMER: Traditions and work methods vary a lot from research area to research area (and from advisor to advisor)</a:t>
            </a:r>
          </a:p>
          <a:p>
            <a:pPr marL="728663" lvl="1" indent="-271463" algn="l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GB" altLang="da-DK" sz="1400" dirty="0"/>
              <a:t>If there is a conflict between the </a:t>
            </a:r>
            <a:r>
              <a:rPr lang="en-GB" altLang="da-DK" sz="1400" b="1" dirty="0">
                <a:solidFill>
                  <a:srgbClr val="008000"/>
                </a:solidFill>
              </a:rPr>
              <a:t>general</a:t>
            </a:r>
            <a:r>
              <a:rPr lang="en-GB" altLang="da-DK" sz="1400" dirty="0"/>
              <a:t> advise and directions in this talk, and the more </a:t>
            </a:r>
            <a:r>
              <a:rPr lang="en-GB" altLang="da-DK" sz="1400" b="1" dirty="0">
                <a:solidFill>
                  <a:srgbClr val="008000"/>
                </a:solidFill>
              </a:rPr>
              <a:t>specific</a:t>
            </a:r>
            <a:r>
              <a:rPr lang="en-GB" altLang="da-DK" sz="1400" dirty="0"/>
              <a:t> advise and directions given by your advisor, you should always do as your advisor tells you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83568" y="5805264"/>
            <a:ext cx="8280151" cy="936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 b="1">
                <a:solidFill>
                  <a:srgbClr val="A50021"/>
                </a:solidFill>
                <a:latin typeface="+mn-lt"/>
                <a:ea typeface="+mn-ea"/>
                <a:cs typeface="ＭＳ Ｐゴシック" charset="0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rgbClr val="000066"/>
                </a:solidFill>
                <a:latin typeface="+mn-lt"/>
                <a:ea typeface="+mn-ea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rgbClr val="000066"/>
                </a:solidFill>
                <a:latin typeface="+mn-lt"/>
                <a:ea typeface="+mn-ea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Times New Roman" charset="0"/>
                <a:ea typeface="+mn-ea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9pPr>
          </a:lstStyle>
          <a:p>
            <a:pPr marL="271463" lvl="1" indent="-271463" algn="l">
              <a:spcBef>
                <a:spcPts val="1200"/>
              </a:spcBef>
              <a:buFontTx/>
              <a:buChar char="•"/>
            </a:pPr>
            <a:r>
              <a:rPr lang="en-GB" altLang="da-DK" sz="1600" b="1" dirty="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rPr>
              <a:t>Acknowledgements</a:t>
            </a:r>
          </a:p>
          <a:p>
            <a:pPr marL="728663" lvl="1" indent="-271463" algn="l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GB" altLang="da-DK" sz="1400" spc="-30" dirty="0"/>
              <a:t>Some of the material in Part 1 of this talk is inspired by a similar presentation by Henrik Korsgaard and by a note on bachelor projects in physics written by Peter Balling and Hans Kjeldsen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4716016" y="1595611"/>
            <a:ext cx="3744416" cy="2769493"/>
            <a:chOff x="4718395" y="1140807"/>
            <a:chExt cx="3744416" cy="3046442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32040" y="1264299"/>
              <a:ext cx="3317126" cy="2799457"/>
            </a:xfrm>
            <a:prstGeom prst="rect">
              <a:avLst/>
            </a:prstGeom>
          </p:spPr>
        </p:pic>
        <p:sp>
          <p:nvSpPr>
            <p:cNvPr id="9" name="Rounded Rectangle 8"/>
            <p:cNvSpPr/>
            <p:nvPr/>
          </p:nvSpPr>
          <p:spPr bwMode="auto">
            <a:xfrm>
              <a:off x="4718395" y="1140807"/>
              <a:ext cx="3744416" cy="3046442"/>
            </a:xfrm>
            <a:prstGeom prst="roundRect">
              <a:avLst/>
            </a:prstGeom>
            <a:noFill/>
            <a:ln w="285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28024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716819" y="1052736"/>
            <a:ext cx="7200800" cy="3312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400" b="1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eaLnBrk="0" hangingPunct="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itchFamily="34" charset="0"/>
                <a:ea typeface="ＭＳ Ｐゴシック" pitchFamily="34" charset="-128"/>
              </a:defRPr>
            </a:lvl2pPr>
            <a:lvl3pPr eaLnBrk="0" hangingPunct="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eaLnBrk="0" hangingPunct="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eaLnBrk="0" hangingPunct="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 marL="271463" lvl="1" indent="-271463">
              <a:spcBef>
                <a:spcPts val="12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</a:rPr>
              <a:t>Writing a good scientific paper is difficult</a:t>
            </a:r>
          </a:p>
          <a:p>
            <a:pPr marL="728663" lvl="1" indent="-271463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GB" altLang="da-DK" sz="1600" dirty="0">
                <a:latin typeface="+mn-lt"/>
                <a:ea typeface="+mn-ea"/>
              </a:rPr>
              <a:t>It requires a lot of skills and patience</a:t>
            </a:r>
          </a:p>
          <a:p>
            <a:pPr marL="728663" lvl="1" indent="-271463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GB" altLang="da-DK" sz="1600" dirty="0">
                <a:latin typeface="+mn-lt"/>
                <a:ea typeface="+mn-ea"/>
              </a:rPr>
              <a:t>It can be </a:t>
            </a:r>
            <a:r>
              <a:rPr lang="en-GB" altLang="da-DK" sz="1600" b="1" dirty="0">
                <a:solidFill>
                  <a:srgbClr val="008000"/>
                </a:solidFill>
                <a:latin typeface="+mn-lt"/>
                <a:ea typeface="+mn-ea"/>
              </a:rPr>
              <a:t>learned</a:t>
            </a:r>
            <a:r>
              <a:rPr lang="en-GB" altLang="da-DK" sz="1600" dirty="0">
                <a:latin typeface="+mn-lt"/>
                <a:ea typeface="+mn-ea"/>
              </a:rPr>
              <a:t> (if you invest the necessary time and energy)</a:t>
            </a:r>
          </a:p>
          <a:p>
            <a:pPr marL="271463" lvl="1" indent="-271463">
              <a:spcBef>
                <a:spcPts val="12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</a:rPr>
              <a:t>The first time is </a:t>
            </a:r>
            <a:r>
              <a:rPr lang="en-GB" altLang="da-DK" sz="1800" b="1" dirty="0">
                <a:solidFill>
                  <a:srgbClr val="008000"/>
                </a:solidFill>
              </a:rPr>
              <a:t>by far</a:t>
            </a:r>
            <a:r>
              <a:rPr lang="en-GB" altLang="da-DK" sz="1800" b="1" dirty="0">
                <a:solidFill>
                  <a:srgbClr val="A50021"/>
                </a:solidFill>
              </a:rPr>
              <a:t> the most difficult one</a:t>
            </a:r>
          </a:p>
          <a:p>
            <a:pPr marL="728663" lvl="1" indent="-271463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GB" altLang="da-DK" sz="1600" dirty="0">
                <a:latin typeface="+mn-lt"/>
                <a:ea typeface="+mn-ea"/>
              </a:rPr>
              <a:t>Gradually, you will develop your own </a:t>
            </a:r>
            <a:r>
              <a:rPr lang="en-GB" altLang="da-DK" sz="1600" b="1" dirty="0">
                <a:solidFill>
                  <a:srgbClr val="008000"/>
                </a:solidFill>
                <a:latin typeface="+mn-lt"/>
                <a:ea typeface="+mn-ea"/>
              </a:rPr>
              <a:t>writing style</a:t>
            </a:r>
            <a:r>
              <a:rPr lang="en-GB" altLang="da-DK" sz="1600" dirty="0">
                <a:latin typeface="+mn-lt"/>
                <a:ea typeface="+mn-ea"/>
              </a:rPr>
              <a:t> (suitable for your research / work area)</a:t>
            </a:r>
          </a:p>
          <a:p>
            <a:pPr marL="271463" lvl="1" indent="-271463">
              <a:spcBef>
                <a:spcPts val="12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Template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A LaTeX template for the bachelor report can be found on</a:t>
            </a:r>
            <a:br>
              <a:rPr lang="en-GB" altLang="da-DK" sz="1600" dirty="0"/>
            </a:br>
            <a:r>
              <a:rPr lang="en-GB" altLang="da-DK" sz="1600" dirty="0"/>
              <a:t>https://cs.au.dk/~amoeller/bsc-thesis-template/ 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It is up to you whether you want to use the template</a:t>
            </a:r>
          </a:p>
          <a:p>
            <a:pPr marL="728663" lvl="1" indent="-271463">
              <a:spcBef>
                <a:spcPts val="300"/>
              </a:spcBef>
              <a:buFont typeface="Arial" panose="020B0604020202020204" pitchFamily="34" charset="0"/>
              <a:buChar char="–"/>
            </a:pPr>
            <a:endParaRPr lang="en-GB" altLang="da-DK" sz="1600" dirty="0">
              <a:latin typeface="+mn-lt"/>
              <a:ea typeface="+mn-ea"/>
            </a:endParaRPr>
          </a:p>
          <a:p>
            <a:pPr marL="728663" lvl="1" indent="-271463">
              <a:spcBef>
                <a:spcPts val="300"/>
              </a:spcBef>
            </a:pPr>
            <a:endParaRPr lang="en-US" altLang="da-DK" sz="1600" dirty="0">
              <a:latin typeface="+mn-lt"/>
              <a:ea typeface="+mn-ea"/>
            </a:endParaRPr>
          </a:p>
          <a:p>
            <a:pPr marL="728663" lvl="1" indent="-271463">
              <a:spcBef>
                <a:spcPts val="300"/>
              </a:spcBef>
            </a:pPr>
            <a:endParaRPr lang="en-GB" altLang="da-DK" sz="1600" dirty="0">
              <a:latin typeface="+mn-lt"/>
              <a:ea typeface="+mn-ea"/>
            </a:endParaRPr>
          </a:p>
          <a:p>
            <a:pPr marL="1185863" lvl="2" indent="-271463">
              <a:spcBef>
                <a:spcPts val="300"/>
              </a:spcBef>
            </a:pPr>
            <a:endParaRPr lang="en-GB" altLang="da-DK" sz="1400" dirty="0">
              <a:solidFill>
                <a:srgbClr val="002060"/>
              </a:solidFill>
            </a:endParaRPr>
          </a:p>
          <a:p>
            <a:pPr marL="728663" lvl="1" indent="-271463">
              <a:spcBef>
                <a:spcPts val="300"/>
              </a:spcBef>
            </a:pPr>
            <a:endParaRPr lang="da-DK" altLang="da-DK" sz="2000" dirty="0"/>
          </a:p>
          <a:p>
            <a:pPr>
              <a:buFontTx/>
              <a:buNone/>
            </a:pPr>
            <a:endParaRPr lang="da-DK" altLang="da-DK" sz="2000" dirty="0"/>
          </a:p>
          <a:p>
            <a:pPr>
              <a:buFontTx/>
              <a:buNone/>
            </a:pPr>
            <a:endParaRPr lang="da-DK" altLang="da-DK" sz="2000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66040" y="188640"/>
            <a:ext cx="8529426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+mj-lt"/>
                <a:ea typeface="+mj-ea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charset="0"/>
                <a:ea typeface="ＭＳ Ｐゴシック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charset="0"/>
                <a:ea typeface="ＭＳ Ｐゴシック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charset="0"/>
                <a:ea typeface="ＭＳ Ｐゴシック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ts val="1200"/>
              </a:spcBef>
            </a:pPr>
            <a:r>
              <a:rPr lang="da-DK" altLang="da-DK" sz="2800" dirty="0">
                <a:solidFill>
                  <a:srgbClr val="C00000"/>
                </a:solidFill>
                <a:cs typeface="Arial"/>
              </a:rPr>
              <a:t>●</a:t>
            </a:r>
            <a:r>
              <a:rPr lang="da-DK" altLang="da-DK" sz="2800" dirty="0">
                <a:cs typeface="Arial"/>
              </a:rPr>
              <a:t> </a:t>
            </a:r>
            <a:r>
              <a:rPr lang="da-DK" altLang="da-DK" sz="2800" dirty="0"/>
              <a:t>Part 1: </a:t>
            </a:r>
            <a:r>
              <a:rPr lang="en-GB" altLang="da-DK" sz="2800" dirty="0"/>
              <a:t>How to write an academic paper</a:t>
            </a:r>
          </a:p>
        </p:txBody>
      </p:sp>
    </p:spTree>
    <p:extLst>
      <p:ext uri="{BB962C8B-B14F-4D97-AF65-F5344CB8AC3E}">
        <p14:creationId xmlns:p14="http://schemas.microsoft.com/office/powerpoint/2010/main" val="2593414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568183" cy="609600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da-DK" sz="2800" dirty="0"/>
              <a:t>Formal requirements for the bachelor report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3</a:t>
            </a:fld>
            <a:endParaRPr lang="da-DK" altLang="da-DK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68313" y="1011635"/>
            <a:ext cx="8640191" cy="5729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+mn-ea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rgbClr val="000066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9pPr>
          </a:lstStyle>
          <a:p>
            <a:pPr marL="271463" indent="-271463" eaLnBrk="1" hangingPunct="1">
              <a:defRPr/>
            </a:pPr>
            <a:r>
              <a:rPr lang="en-GB" altLang="da-DK" sz="1800" kern="0" dirty="0"/>
              <a:t>Bachelor report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sz="1500" kern="1200" dirty="0">
                <a:latin typeface="Arial" pitchFamily="34" charset="0"/>
                <a:ea typeface="ＭＳ Ｐゴシック" pitchFamily="34" charset="-128"/>
              </a:rPr>
              <a:t>The bachelor report must be handed in no later than </a:t>
            </a:r>
            <a:r>
              <a:rPr lang="en-GB" sz="1500" b="1" kern="1200" dirty="0">
                <a:solidFill>
                  <a:srgbClr val="FF0000"/>
                </a:solidFill>
                <a:latin typeface="Arial" pitchFamily="34" charset="0"/>
                <a:ea typeface="ＭＳ Ｐゴシック" pitchFamily="34" charset="-128"/>
              </a:rPr>
              <a:t>Monday June 8 at 13.00</a:t>
            </a:r>
            <a:endParaRPr lang="en-GB" sz="1500" kern="1200" dirty="0">
              <a:solidFill>
                <a:srgbClr val="FF0000"/>
              </a:solidFill>
              <a:latin typeface="Arial" pitchFamily="34" charset="0"/>
              <a:ea typeface="ＭＳ Ｐゴシック" pitchFamily="34" charset="-128"/>
            </a:endParaRPr>
          </a:p>
          <a:p>
            <a:pPr marL="728663" lvl="1" indent="-271463">
              <a:spcBef>
                <a:spcPts val="300"/>
              </a:spcBef>
            </a:pPr>
            <a:r>
              <a:rPr lang="en-GB" sz="1500" kern="1200" dirty="0">
                <a:latin typeface="Arial" pitchFamily="34" charset="0"/>
                <a:ea typeface="ＭＳ Ｐゴシック" pitchFamily="34" charset="-128"/>
              </a:rPr>
              <a:t>Size of report</a:t>
            </a:r>
          </a:p>
          <a:p>
            <a:pPr marL="1128713" lvl="2" indent="-271463">
              <a:spcBef>
                <a:spcPts val="300"/>
              </a:spcBef>
            </a:pPr>
            <a:r>
              <a:rPr lang="en-GB" sz="1500" b="1" spc="-70" dirty="0">
                <a:solidFill>
                  <a:srgbClr val="008000"/>
                </a:solidFill>
                <a:latin typeface="Arial" pitchFamily="34" charset="0"/>
                <a:ea typeface="ＭＳ Ｐゴシック" pitchFamily="34" charset="-128"/>
              </a:rPr>
              <a:t>Maximum 30 pages</a:t>
            </a:r>
            <a:r>
              <a:rPr lang="en-GB" sz="1500" spc="-70" dirty="0">
                <a:latin typeface="Arial" pitchFamily="34" charset="0"/>
                <a:ea typeface="ＭＳ Ｐゴシック" pitchFamily="34" charset="-128"/>
              </a:rPr>
              <a:t> (excluding front page, abstract, table of contents, appendix and references)</a:t>
            </a:r>
          </a:p>
          <a:p>
            <a:pPr marL="1128713" lvl="2" indent="-271463">
              <a:spcBef>
                <a:spcPts val="300"/>
              </a:spcBef>
            </a:pPr>
            <a:r>
              <a:rPr lang="en-GB" sz="1500" spc="-70" dirty="0">
                <a:latin typeface="Arial" pitchFamily="34" charset="0"/>
                <a:ea typeface="ＭＳ Ｐゴシック" pitchFamily="34" charset="-128"/>
              </a:rPr>
              <a:t>A standard page is 2.400 characters (including white space, special characters and footnotes)</a:t>
            </a:r>
          </a:p>
          <a:p>
            <a:pPr marL="1128713" lvl="2" indent="-271463">
              <a:spcBef>
                <a:spcPts val="300"/>
              </a:spcBef>
            </a:pPr>
            <a:r>
              <a:rPr lang="en-US" sz="1500" dirty="0"/>
              <a:t>Graphs, tables and other figures also count (if you, e.g., use half a page for one of these, you can only have 1200 characters on the rest of the page).</a:t>
            </a:r>
            <a:endParaRPr lang="en-GB" sz="1500" dirty="0">
              <a:latin typeface="Arial" pitchFamily="34" charset="0"/>
              <a:ea typeface="ＭＳ Ｐゴシック" pitchFamily="34" charset="-128"/>
            </a:endParaRPr>
          </a:p>
          <a:p>
            <a:pPr marL="1128713" lvl="2" indent="-271463">
              <a:spcBef>
                <a:spcPts val="300"/>
              </a:spcBef>
            </a:pPr>
            <a:r>
              <a:rPr lang="en-GB" sz="1500" spc="-30" dirty="0">
                <a:latin typeface="Arial" pitchFamily="34" charset="0"/>
                <a:ea typeface="ＭＳ Ｐゴシック" pitchFamily="34" charset="-128"/>
              </a:rPr>
              <a:t>Use an 11 or 12 point font, e.g. Times New Roman with 1,25 line spacing</a:t>
            </a:r>
          </a:p>
          <a:p>
            <a:pPr marL="1128713" lvl="2" indent="-271463">
              <a:spcBef>
                <a:spcPts val="300"/>
              </a:spcBef>
            </a:pPr>
            <a:r>
              <a:rPr lang="en-GB" sz="1500" spc="-30" dirty="0">
                <a:latin typeface="Arial" pitchFamily="34" charset="0"/>
                <a:ea typeface="ＭＳ Ｐゴシック" pitchFamily="34" charset="-128"/>
              </a:rPr>
              <a:t>Use a </a:t>
            </a:r>
            <a:r>
              <a:rPr lang="en-GB" sz="1500" b="1" spc="-30" dirty="0">
                <a:latin typeface="Arial" pitchFamily="34" charset="0"/>
                <a:ea typeface="ＭＳ Ｐゴシック" pitchFamily="34" charset="-128"/>
              </a:rPr>
              <a:t>single</a:t>
            </a:r>
            <a:r>
              <a:rPr lang="en-GB" sz="1500" spc="-30" dirty="0">
                <a:latin typeface="Arial" pitchFamily="34" charset="0"/>
                <a:ea typeface="ＭＳ Ｐゴシック" pitchFamily="34" charset="-128"/>
              </a:rPr>
              <a:t> column (not two as some journals demand)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sz="1500" dirty="0">
                <a:latin typeface="Arial" pitchFamily="34" charset="0"/>
                <a:ea typeface="ＭＳ Ｐゴシック" pitchFamily="34" charset="-128"/>
              </a:rPr>
              <a:t>Language</a:t>
            </a:r>
          </a:p>
          <a:p>
            <a:pPr marL="1128713" lvl="2" indent="-271463">
              <a:spcBef>
                <a:spcPts val="200"/>
              </a:spcBef>
            </a:pPr>
            <a:r>
              <a:rPr lang="en-GB" sz="1500" dirty="0">
                <a:latin typeface="Arial" pitchFamily="34" charset="0"/>
                <a:ea typeface="ＭＳ Ｐゴシック" pitchFamily="34" charset="-128"/>
              </a:rPr>
              <a:t>The report may be written in Danish or English</a:t>
            </a:r>
          </a:p>
          <a:p>
            <a:pPr marL="1128713" lvl="2" indent="-271463">
              <a:spcBef>
                <a:spcPts val="200"/>
              </a:spcBef>
            </a:pPr>
            <a:r>
              <a:rPr lang="en-GB" sz="1500" dirty="0">
                <a:latin typeface="Arial" pitchFamily="34" charset="0"/>
                <a:ea typeface="ＭＳ Ｐゴシック" pitchFamily="34" charset="-128"/>
              </a:rPr>
              <a:t>There must be both a Danish and English title – but the Danish title (or part of it) may be identical to the English title</a:t>
            </a:r>
          </a:p>
          <a:p>
            <a:pPr marL="1128713" lvl="2" indent="-271463">
              <a:spcBef>
                <a:spcPts val="200"/>
              </a:spcBef>
            </a:pPr>
            <a:r>
              <a:rPr lang="en-GB" sz="1500" spc="-40" dirty="0">
                <a:latin typeface="Arial" pitchFamily="34" charset="0"/>
                <a:ea typeface="ＭＳ Ｐゴシック" pitchFamily="34" charset="-128"/>
              </a:rPr>
              <a:t>If the report is in Danish, there must be both a Danish and English abstract (summary)</a:t>
            </a:r>
          </a:p>
          <a:p>
            <a:pPr marL="271463" lvl="1" indent="-271463" eaLnBrk="1" hangingPunct="1">
              <a:spcBef>
                <a:spcPts val="600"/>
              </a:spcBef>
              <a:buFontTx/>
              <a:buChar char="•"/>
              <a:defRPr/>
            </a:pPr>
            <a:r>
              <a:rPr lang="en-GB" sz="1800" b="1" kern="0" dirty="0">
                <a:solidFill>
                  <a:srgbClr val="A50021"/>
                </a:solidFill>
                <a:cs typeface="ＭＳ Ｐゴシック" charset="0"/>
              </a:rPr>
              <a:t>Oral exam in the second half of June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sz="1500" kern="1200" dirty="0">
                <a:latin typeface="Arial" pitchFamily="34" charset="0"/>
                <a:ea typeface="ＭＳ Ｐゴシック" pitchFamily="34" charset="-128"/>
              </a:rPr>
              <a:t>The report is the basis for an </a:t>
            </a:r>
            <a:r>
              <a:rPr lang="en-GB" sz="1500" b="1" kern="1200" dirty="0">
                <a:solidFill>
                  <a:srgbClr val="008000"/>
                </a:solidFill>
                <a:latin typeface="Arial" pitchFamily="34" charset="0"/>
                <a:ea typeface="ＭＳ Ｐゴシック" pitchFamily="34" charset="-128"/>
              </a:rPr>
              <a:t>individual 30 minutes' oral exam</a:t>
            </a:r>
            <a:r>
              <a:rPr lang="en-GB" sz="1500" kern="1200" dirty="0">
                <a:latin typeface="Arial" pitchFamily="34" charset="0"/>
                <a:ea typeface="ＭＳ Ｐゴシック" pitchFamily="34" charset="-128"/>
              </a:rPr>
              <a:t>, where you </a:t>
            </a:r>
            <a:r>
              <a:rPr lang="en-GB" sz="1500" b="1" kern="1200" dirty="0">
                <a:solidFill>
                  <a:srgbClr val="008000"/>
                </a:solidFill>
                <a:latin typeface="Arial" pitchFamily="34" charset="0"/>
                <a:ea typeface="ＭＳ Ｐゴシック" pitchFamily="34" charset="-128"/>
              </a:rPr>
              <a:t>present</a:t>
            </a:r>
            <a:r>
              <a:rPr lang="en-GB" sz="1500" kern="1200" dirty="0">
                <a:latin typeface="Arial" pitchFamily="34" charset="0"/>
                <a:ea typeface="ＭＳ Ｐゴシック" pitchFamily="34" charset="-128"/>
              </a:rPr>
              <a:t> the findings of your bachelor project </a:t>
            </a:r>
            <a:r>
              <a:rPr lang="en-GB" sz="1500" b="1" kern="1200" dirty="0">
                <a:solidFill>
                  <a:srgbClr val="008000"/>
                </a:solidFill>
                <a:latin typeface="Arial" pitchFamily="34" charset="0"/>
                <a:ea typeface="ＭＳ Ｐゴシック" pitchFamily="34" charset="-128"/>
              </a:rPr>
              <a:t>followed by a discussion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sz="1500" kern="1200" dirty="0">
                <a:latin typeface="Arial" pitchFamily="34" charset="0"/>
                <a:ea typeface="ＭＳ Ｐゴシック" pitchFamily="34" charset="-128"/>
              </a:rPr>
              <a:t>A </a:t>
            </a:r>
            <a:r>
              <a:rPr lang="en-GB" sz="1500" b="1" kern="1200" dirty="0">
                <a:solidFill>
                  <a:srgbClr val="008000"/>
                </a:solidFill>
                <a:latin typeface="Arial" pitchFamily="34" charset="0"/>
                <a:ea typeface="ＭＳ Ｐゴシック" pitchFamily="34" charset="-128"/>
              </a:rPr>
              <a:t>common grade</a:t>
            </a:r>
            <a:r>
              <a:rPr lang="en-GB" sz="1500" kern="1200" dirty="0">
                <a:latin typeface="Arial" pitchFamily="34" charset="0"/>
                <a:ea typeface="ＭＳ Ｐゴシック" pitchFamily="34" charset="-128"/>
              </a:rPr>
              <a:t> is given for the written report and the oral exam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sz="1500" kern="1200" spc="-60" dirty="0">
                <a:latin typeface="Arial" pitchFamily="34" charset="0"/>
                <a:ea typeface="ＭＳ Ｐゴシック" pitchFamily="34" charset="-128"/>
              </a:rPr>
              <a:t>An external examiner (censor) participates in the evaluation of the report and the oral exam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sz="1500" kern="1200" dirty="0">
                <a:latin typeface="Arial" pitchFamily="34" charset="0"/>
                <a:ea typeface="ＭＳ Ｐゴシック" pitchFamily="34" charset="-128"/>
              </a:rPr>
              <a:t>If you do not pass, it is possible to resubmit a revised version of the report no</a:t>
            </a:r>
            <a:br>
              <a:rPr lang="en-GB" sz="1500" kern="1200" dirty="0">
                <a:latin typeface="Arial" pitchFamily="34" charset="0"/>
                <a:ea typeface="ＭＳ Ｐゴシック" pitchFamily="34" charset="-128"/>
              </a:rPr>
            </a:br>
            <a:r>
              <a:rPr lang="en-GB" sz="1500" kern="1200" dirty="0">
                <a:latin typeface="Arial" pitchFamily="34" charset="0"/>
                <a:ea typeface="ＭＳ Ｐゴシック" pitchFamily="34" charset="-128"/>
              </a:rPr>
              <a:t>later than August 15</a:t>
            </a:r>
          </a:p>
        </p:txBody>
      </p:sp>
    </p:spTree>
    <p:extLst>
      <p:ext uri="{BB962C8B-B14F-4D97-AF65-F5344CB8AC3E}">
        <p14:creationId xmlns:p14="http://schemas.microsoft.com/office/powerpoint/2010/main" val="3778175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424167" cy="609600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da-DK" sz="2800" dirty="0"/>
              <a:t>The bachelor report is extremely important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0321" y="1090499"/>
            <a:ext cx="8208143" cy="2698541"/>
          </a:xfrm>
          <a:noFill/>
        </p:spPr>
        <p:txBody>
          <a:bodyPr/>
          <a:lstStyle/>
          <a:p>
            <a:pPr marL="271463" lvl="1" indent="-271463">
              <a:spcBef>
                <a:spcPts val="1200"/>
              </a:spcBef>
              <a:buFontTx/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Together with your oral presentation at the exam, the bachelor report is the </a:t>
            </a:r>
            <a:r>
              <a:rPr lang="en-GB" altLang="da-DK" sz="1800" b="1" dirty="0">
                <a:solidFill>
                  <a:srgbClr val="008000"/>
                </a:solidFill>
                <a:cs typeface="ＭＳ Ｐゴシック" charset="0"/>
              </a:rPr>
              <a:t>only thing</a:t>
            </a: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 that censor sees and evaluates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Hence, you should be sure to have </a:t>
            </a:r>
            <a:r>
              <a:rPr lang="en-GB" altLang="da-DK" sz="1600" b="1" dirty="0">
                <a:solidFill>
                  <a:srgbClr val="008000"/>
                </a:solidFill>
              </a:rPr>
              <a:t>plenty of time</a:t>
            </a:r>
            <a:r>
              <a:rPr lang="en-GB" altLang="da-DK" sz="1600" dirty="0"/>
              <a:t> to write a good report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To have </a:t>
            </a:r>
            <a:r>
              <a:rPr lang="en-GB" altLang="da-DK" sz="1600" b="1" dirty="0">
                <a:solidFill>
                  <a:srgbClr val="008000"/>
                </a:solidFill>
              </a:rPr>
              <a:t>sufficient time</a:t>
            </a:r>
            <a:r>
              <a:rPr lang="en-GB" altLang="da-DK" sz="1600" dirty="0"/>
              <a:t>, you may need to </a:t>
            </a:r>
            <a:r>
              <a:rPr lang="en-GB" altLang="da-DK" sz="1600" b="1" dirty="0">
                <a:solidFill>
                  <a:srgbClr val="008000"/>
                </a:solidFill>
              </a:rPr>
              <a:t>skip</a:t>
            </a:r>
            <a:r>
              <a:rPr lang="en-GB" altLang="da-DK" sz="1600" dirty="0"/>
              <a:t> part of your data collection, restrict your experiments, make a simplified implementation/prototype or develop less theory/proofs</a:t>
            </a:r>
          </a:p>
          <a:p>
            <a:pPr marL="271463" lvl="1" indent="-271463">
              <a:spcBef>
                <a:spcPts val="1200"/>
              </a:spcBef>
              <a:buFontTx/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It can be very hard to give up parts of your project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But not doing it may turn out to be catastrophic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Be timely: one or two weeks before the final deadline is far too late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Use your bachelor project contract to measure your progress</a:t>
            </a:r>
          </a:p>
          <a:p>
            <a:pPr marL="457200" lvl="1" indent="0">
              <a:spcBef>
                <a:spcPts val="300"/>
              </a:spcBef>
              <a:buNone/>
            </a:pPr>
            <a:endParaRPr lang="en-GB" altLang="da-DK" sz="16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4</a:t>
            </a:fld>
            <a:endParaRPr lang="da-DK" altLang="da-DK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4150754"/>
            <a:ext cx="2160239" cy="2374589"/>
          </a:xfrm>
          <a:prstGeom prst="rect">
            <a:avLst/>
          </a:prstGeom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971600" y="4150754"/>
            <a:ext cx="2774376" cy="684803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CC"/>
            </a:solidFill>
          </a:ln>
          <a:extLst>
            <a:ext uri="{FAA26D3D-D897-4be2-8F04-BA451C77F1D7}"/>
          </a:extLst>
        </p:spPr>
        <p:txBody>
          <a:bodyPr wrap="square" rtlCol="0">
            <a:spAutoFit/>
          </a:bodyPr>
          <a:lstStyle>
            <a:defPPr>
              <a:defRPr lang="da-DK"/>
            </a:defPPr>
            <a:lvl1pPr marL="171450" indent="-171450">
              <a:spcBef>
                <a:spcPts val="300"/>
              </a:spcBef>
              <a:buFont typeface="Arial" panose="020B0604020202020204" pitchFamily="34" charset="0"/>
              <a:buChar char="•"/>
              <a:defRPr sz="1200" b="1">
                <a:solidFill>
                  <a:srgbClr val="0000CC"/>
                </a:solidFill>
              </a:defRPr>
            </a:lvl1pPr>
          </a:lstStyle>
          <a:p>
            <a:pPr marL="171450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altLang="da-DK" sz="1200" b="1" dirty="0">
                <a:solidFill>
                  <a:srgbClr val="0000CC"/>
                </a:solidFill>
              </a:rPr>
              <a:t>Don't be an ostrich</a:t>
            </a:r>
          </a:p>
          <a:p>
            <a:pPr marL="171450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altLang="da-DK" sz="1200" b="1" dirty="0">
                <a:solidFill>
                  <a:srgbClr val="0000CC"/>
                </a:solidFill>
              </a:rPr>
              <a:t>Waiting and hoping for a miracle is a dangerous strategy</a:t>
            </a:r>
            <a:endParaRPr lang="en-GB" altLang="da-DK" dirty="0"/>
          </a:p>
        </p:txBody>
      </p:sp>
    </p:spTree>
    <p:extLst>
      <p:ext uri="{BB962C8B-B14F-4D97-AF65-F5344CB8AC3E}">
        <p14:creationId xmlns:p14="http://schemas.microsoft.com/office/powerpoint/2010/main" val="1907471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424167" cy="609600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da-DK" sz="2800" dirty="0"/>
              <a:t>You need to write things down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0321" y="1049823"/>
            <a:ext cx="8424167" cy="5691545"/>
          </a:xfrm>
          <a:noFill/>
        </p:spPr>
        <p:txBody>
          <a:bodyPr/>
          <a:lstStyle/>
          <a:p>
            <a:pPr marL="271463" lvl="1" indent="-271463">
              <a:spcBef>
                <a:spcPts val="900"/>
              </a:spcBef>
              <a:buFontTx/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The production of the bachelor report should start </a:t>
            </a:r>
            <a:r>
              <a:rPr lang="en-GB" altLang="da-DK" sz="1800" b="1" dirty="0">
                <a:solidFill>
                  <a:srgbClr val="008000"/>
                </a:solidFill>
                <a:cs typeface="ＭＳ Ｐゴシック" charset="0"/>
              </a:rPr>
              <a:t>immediately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When you read literature, write </a:t>
            </a:r>
            <a:r>
              <a:rPr lang="en-GB" altLang="da-DK" sz="1600" b="1" dirty="0">
                <a:solidFill>
                  <a:srgbClr val="008000"/>
                </a:solidFill>
              </a:rPr>
              <a:t>working notes</a:t>
            </a:r>
            <a:r>
              <a:rPr lang="en-GB" altLang="da-DK" sz="1600" dirty="0"/>
              <a:t> about the papers you study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When you make experiments and write programs/prototypes, make </a:t>
            </a:r>
            <a:r>
              <a:rPr lang="en-GB" altLang="da-DK" sz="1600" b="1" dirty="0">
                <a:solidFill>
                  <a:srgbClr val="008000"/>
                </a:solidFill>
              </a:rPr>
              <a:t>section drafts </a:t>
            </a:r>
            <a:r>
              <a:rPr lang="en-GB" altLang="da-DK" sz="1600" spc="-50" dirty="0"/>
              <a:t>describing your efforts </a:t>
            </a:r>
            <a:r>
              <a:rPr lang="en-GB" altLang="da-DK" sz="1600" dirty="0"/>
              <a:t>– </a:t>
            </a:r>
            <a:r>
              <a:rPr lang="en-GB" altLang="da-DK" sz="1600" spc="-50" dirty="0"/>
              <a:t>remember to include arguments for major choices/decisions)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When you formulate definitions, lemmas and theorems, make them as </a:t>
            </a:r>
            <a:r>
              <a:rPr lang="en-GB" altLang="da-DK" sz="1600" b="1" dirty="0">
                <a:solidFill>
                  <a:srgbClr val="008000"/>
                </a:solidFill>
              </a:rPr>
              <a:t>clear and comprehensive</a:t>
            </a:r>
            <a:r>
              <a:rPr lang="en-GB" altLang="da-DK" sz="1600" dirty="0"/>
              <a:t> as possible (this includes the proofs)</a:t>
            </a:r>
          </a:p>
          <a:p>
            <a:pPr marL="271463" lvl="1" indent="-271463">
              <a:spcBef>
                <a:spcPts val="1200"/>
              </a:spcBef>
              <a:buFontTx/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The importance of written notes cannot be overestimated</a:t>
            </a:r>
          </a:p>
          <a:p>
            <a:pPr marL="728663" lvl="1" indent="-271463">
              <a:spcBef>
                <a:spcPts val="300"/>
              </a:spcBef>
              <a:buFontTx/>
              <a:buChar char="–"/>
            </a:pPr>
            <a:r>
              <a:rPr lang="en-GB" altLang="da-DK" sz="1600" dirty="0"/>
              <a:t>Our memory is </a:t>
            </a:r>
            <a:r>
              <a:rPr lang="en-GB" altLang="da-DK" sz="1600" b="1" dirty="0">
                <a:solidFill>
                  <a:srgbClr val="008000"/>
                </a:solidFill>
              </a:rPr>
              <a:t>extremely limited</a:t>
            </a:r>
            <a:endParaRPr lang="en-GB" altLang="da-DK" sz="1600" dirty="0"/>
          </a:p>
          <a:p>
            <a:pPr marL="728663" lvl="1" indent="-271463">
              <a:spcBef>
                <a:spcPts val="300"/>
              </a:spcBef>
              <a:buFontTx/>
              <a:buChar char="–"/>
            </a:pPr>
            <a:r>
              <a:rPr lang="en-GB" altLang="da-DK" sz="1600" dirty="0"/>
              <a:t>Make </a:t>
            </a:r>
            <a:r>
              <a:rPr lang="en-GB" altLang="da-DK" sz="1600" b="1" dirty="0">
                <a:solidFill>
                  <a:srgbClr val="008000"/>
                </a:solidFill>
              </a:rPr>
              <a:t>written notes</a:t>
            </a:r>
            <a:r>
              <a:rPr lang="en-GB" altLang="da-DK" sz="1600" dirty="0"/>
              <a:t> of all ideas, decisions, insights, etc.</a:t>
            </a:r>
          </a:p>
          <a:p>
            <a:pPr marL="728663" lvl="1" indent="-271463">
              <a:spcBef>
                <a:spcPts val="300"/>
              </a:spcBef>
              <a:buFontTx/>
              <a:buChar char="–"/>
            </a:pPr>
            <a:r>
              <a:rPr lang="en-GB" altLang="da-DK" sz="1600" dirty="0"/>
              <a:t>In a few minutes, many of them will be forgotten – or it will take considerable time to reconstruct them</a:t>
            </a:r>
          </a:p>
          <a:p>
            <a:pPr marL="271463" lvl="1" indent="-271463">
              <a:spcBef>
                <a:spcPts val="1200"/>
              </a:spcBef>
              <a:buFontTx/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Other ways to remember things</a:t>
            </a:r>
          </a:p>
          <a:p>
            <a:pPr marL="728663" lvl="1" indent="-271463">
              <a:spcBef>
                <a:spcPts val="300"/>
              </a:spcBef>
              <a:buFontTx/>
              <a:buChar char="–"/>
            </a:pPr>
            <a:r>
              <a:rPr lang="en-GB" altLang="da-DK" sz="1600" dirty="0"/>
              <a:t>If you have a whiteboard full of ideas, take a photo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If you are walking or biking, send an </a:t>
            </a:r>
            <a:r>
              <a:rPr lang="en-GB" altLang="da-DK" sz="1600" dirty="0" err="1"/>
              <a:t>sms</a:t>
            </a:r>
            <a:r>
              <a:rPr lang="en-GB" altLang="da-DK" sz="1600" dirty="0"/>
              <a:t> or voice message to yourself</a:t>
            </a:r>
          </a:p>
          <a:p>
            <a:pPr marL="728663" lvl="1" indent="-271463">
              <a:spcBef>
                <a:spcPts val="300"/>
              </a:spcBef>
              <a:buFontTx/>
              <a:buChar char="–"/>
            </a:pPr>
            <a:r>
              <a:rPr lang="en-GB" altLang="da-DK" sz="1600" dirty="0"/>
              <a:t>If you wake up in the middle of the night and have a bright idea, write a few words on a piece of paper so that you can investigate further next day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5</a:t>
            </a:fld>
            <a:endParaRPr lang="da-DK" altLang="da-DK" dirty="0"/>
          </a:p>
        </p:txBody>
      </p:sp>
    </p:spTree>
    <p:extLst>
      <p:ext uri="{BB962C8B-B14F-4D97-AF65-F5344CB8AC3E}">
        <p14:creationId xmlns:p14="http://schemas.microsoft.com/office/powerpoint/2010/main" val="976391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424167" cy="609600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da-DK" sz="2800" dirty="0"/>
              <a:t>Finishing your report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0321" y="1049823"/>
            <a:ext cx="8352159" cy="2019137"/>
          </a:xfrm>
          <a:noFill/>
        </p:spPr>
        <p:txBody>
          <a:bodyPr/>
          <a:lstStyle/>
          <a:p>
            <a:pPr marL="271463" lvl="1" indent="-271463">
              <a:spcBef>
                <a:spcPts val="900"/>
              </a:spcBef>
              <a:buFontTx/>
              <a:buChar char="•"/>
            </a:pPr>
            <a:r>
              <a:rPr lang="en-GB" altLang="da-DK" sz="1800" b="1" spc="-50" dirty="0">
                <a:solidFill>
                  <a:srgbClr val="A50021"/>
                </a:solidFill>
                <a:cs typeface="ＭＳ Ｐゴシック" charset="0"/>
              </a:rPr>
              <a:t>When you have finished your experiments / programming / theoretical work, </a:t>
            </a:r>
            <a:r>
              <a:rPr lang="en-GB" altLang="da-DK" sz="1800" b="1" spc="-50" dirty="0">
                <a:solidFill>
                  <a:srgbClr val="008000"/>
                </a:solidFill>
                <a:cs typeface="ＭＳ Ｐゴシック" charset="0"/>
              </a:rPr>
              <a:t>everything</a:t>
            </a:r>
            <a:r>
              <a:rPr lang="en-GB" altLang="da-DK" sz="1800" b="1" spc="-50" dirty="0">
                <a:solidFill>
                  <a:srgbClr val="A50021"/>
                </a:solidFill>
                <a:cs typeface="ＭＳ Ｐゴシック" charset="0"/>
              </a:rPr>
              <a:t> should be documented in </a:t>
            </a:r>
            <a:r>
              <a:rPr lang="en-GB" altLang="da-DK" sz="1800" b="1" spc="-50" dirty="0">
                <a:solidFill>
                  <a:srgbClr val="008000"/>
                </a:solidFill>
                <a:cs typeface="ＭＳ Ｐゴシック" charset="0"/>
              </a:rPr>
              <a:t>working notes</a:t>
            </a:r>
            <a:r>
              <a:rPr lang="en-GB" altLang="da-DK" sz="1800" b="1" spc="-50" dirty="0">
                <a:solidFill>
                  <a:srgbClr val="A50021"/>
                </a:solidFill>
                <a:cs typeface="ＭＳ Ｐゴシック" charset="0"/>
              </a:rPr>
              <a:t> and </a:t>
            </a:r>
            <a:r>
              <a:rPr lang="en-GB" altLang="da-DK" sz="1800" b="1" spc="-50" dirty="0">
                <a:solidFill>
                  <a:srgbClr val="008000"/>
                </a:solidFill>
                <a:cs typeface="ＭＳ Ｐゴシック" charset="0"/>
              </a:rPr>
              <a:t>section drafts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Then it is "easy" to finish the report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Write the missing parts (abstract, introduction, comparison to other approaches, ideas for future work, conclusions, acknowledgements, etc.)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spc="-50" dirty="0"/>
              <a:t>Put the working notes and drafts together to form the report and make things consistent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Proof read to find logical and grammatical errors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6</a:t>
            </a:fld>
            <a:endParaRPr lang="da-DK" altLang="da-DK" dirty="0"/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468313" y="3236988"/>
            <a:ext cx="8378218" cy="1464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+mn-ea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rgbClr val="000066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9pPr>
          </a:lstStyle>
          <a:p>
            <a:pPr marL="271463" lvl="1" indent="-271463">
              <a:spcBef>
                <a:spcPts val="1200"/>
              </a:spcBef>
              <a:buFontTx/>
              <a:buChar char="•"/>
            </a:pPr>
            <a:r>
              <a:rPr lang="en-GB" altLang="da-DK" sz="1800" b="1" kern="0" spc="-50" dirty="0">
                <a:solidFill>
                  <a:srgbClr val="A50021"/>
                </a:solidFill>
                <a:cs typeface="ＭＳ Ｐゴシック" charset="0"/>
              </a:rPr>
              <a:t>Plan at least 90 hours to finish the report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kern="0" dirty="0"/>
              <a:t>Three weeks of 30 hours or two weeks of 45 hours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kern="0" dirty="0"/>
              <a:t>If you do not have adequate drafts and working notes, you will need </a:t>
            </a:r>
            <a:r>
              <a:rPr lang="en-GB" altLang="da-DK" sz="1600" b="1" kern="0" dirty="0">
                <a:solidFill>
                  <a:srgbClr val="008000"/>
                </a:solidFill>
              </a:rPr>
              <a:t>much more</a:t>
            </a:r>
            <a:r>
              <a:rPr lang="en-GB" altLang="da-DK" sz="1600" kern="0" dirty="0"/>
              <a:t> time for this part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kern="0" dirty="0"/>
              <a:t>Less than 2 weeks is a </a:t>
            </a:r>
            <a:r>
              <a:rPr lang="en-GB" altLang="da-DK" sz="1600" b="1" kern="0" dirty="0">
                <a:solidFill>
                  <a:srgbClr val="008000"/>
                </a:solidFill>
              </a:rPr>
              <a:t>NO GO</a:t>
            </a:r>
            <a:r>
              <a:rPr lang="en-GB" altLang="da-DK" sz="1600" kern="0" dirty="0"/>
              <a:t> (unless you hope for a miracle)</a:t>
            </a:r>
          </a:p>
          <a:p>
            <a:pPr marL="728663" lvl="1" indent="-271463">
              <a:spcBef>
                <a:spcPts val="300"/>
              </a:spcBef>
            </a:pPr>
            <a:endParaRPr lang="en-GB" altLang="da-DK" sz="1600" kern="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4797152"/>
            <a:ext cx="2678418" cy="177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771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424167" cy="609600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da-DK" sz="2800" dirty="0"/>
              <a:t>Typical table of contents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0321" y="987299"/>
            <a:ext cx="8424167" cy="5808177"/>
          </a:xfrm>
          <a:noFill/>
        </p:spPr>
        <p:txBody>
          <a:bodyPr/>
          <a:lstStyle/>
          <a:p>
            <a:pPr marL="271463" lvl="1" indent="-271463">
              <a:spcBef>
                <a:spcPts val="1200"/>
              </a:spcBef>
              <a:buFontTx/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Initial part (2-5 pages)</a:t>
            </a:r>
          </a:p>
          <a:p>
            <a:pPr marL="728663" lvl="1" indent="-271463">
              <a:spcBef>
                <a:spcPts val="300"/>
              </a:spcBef>
              <a:buFontTx/>
              <a:buChar char="–"/>
            </a:pPr>
            <a:r>
              <a:rPr lang="en-GB" altLang="da-DK" sz="1600" dirty="0"/>
              <a:t>Abstract (summary)</a:t>
            </a:r>
          </a:p>
          <a:p>
            <a:pPr marL="728663" lvl="1" indent="-271463">
              <a:spcBef>
                <a:spcPts val="300"/>
              </a:spcBef>
              <a:buFontTx/>
              <a:buChar char="–"/>
            </a:pPr>
            <a:r>
              <a:rPr lang="en-GB" altLang="da-DK" sz="1600" dirty="0"/>
              <a:t>Introduction</a:t>
            </a:r>
          </a:p>
          <a:p>
            <a:pPr marL="271463" lvl="1" indent="-271463">
              <a:spcBef>
                <a:spcPts val="900"/>
              </a:spcBef>
              <a:buFontTx/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Central part (approx. 20 pages)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Review of literature (may also be part of the introduction)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Description of your experiments, programming, prototyping, theories, proofs etc.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Description of your analysis and results</a:t>
            </a:r>
          </a:p>
          <a:p>
            <a:pPr marL="271463" lvl="1" indent="-271463">
              <a:spcBef>
                <a:spcPts val="900"/>
              </a:spcBef>
              <a:buFontTx/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Final part (5-10 pages)</a:t>
            </a:r>
          </a:p>
          <a:p>
            <a:pPr marL="728663" lvl="1" indent="-271463">
              <a:spcBef>
                <a:spcPts val="300"/>
              </a:spcBef>
              <a:buFontTx/>
              <a:buChar char="–"/>
            </a:pPr>
            <a:r>
              <a:rPr lang="en-GB" altLang="da-DK" sz="1600" dirty="0"/>
              <a:t>Summary of your results, comparison to other work, and ideas for future work</a:t>
            </a:r>
          </a:p>
          <a:p>
            <a:pPr marL="728663" lvl="1" indent="-271463">
              <a:spcBef>
                <a:spcPts val="300"/>
              </a:spcBef>
              <a:buFontTx/>
              <a:buChar char="–"/>
            </a:pPr>
            <a:r>
              <a:rPr lang="en-GB" altLang="da-DK" sz="1600" dirty="0"/>
              <a:t>Conclusions / perspectives / contextualisation</a:t>
            </a:r>
          </a:p>
          <a:p>
            <a:pPr marL="728663" lvl="1" indent="-271463">
              <a:spcBef>
                <a:spcPts val="300"/>
              </a:spcBef>
              <a:buFontTx/>
              <a:buChar char="–"/>
            </a:pPr>
            <a:r>
              <a:rPr lang="en-GB" altLang="da-DK" sz="1600" dirty="0"/>
              <a:t>Acknowledgements</a:t>
            </a:r>
          </a:p>
          <a:p>
            <a:pPr marL="728663" lvl="1" indent="-271463">
              <a:spcBef>
                <a:spcPts val="300"/>
              </a:spcBef>
              <a:buFontTx/>
              <a:buChar char="–"/>
            </a:pPr>
            <a:r>
              <a:rPr lang="en-GB" altLang="da-DK" sz="1600" dirty="0"/>
              <a:t>References</a:t>
            </a:r>
          </a:p>
          <a:p>
            <a:pPr marL="271463" lvl="1" indent="-271463">
              <a:spcBef>
                <a:spcPts val="900"/>
              </a:spcBef>
              <a:buFontTx/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Appendix with programming code, tables, full proofs, etc. (5-20 pages)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spc="-50" dirty="0"/>
              <a:t>It </a:t>
            </a:r>
            <a:r>
              <a:rPr lang="en-GB" altLang="da-DK" sz="1600" b="1" spc="-50" dirty="0">
                <a:solidFill>
                  <a:srgbClr val="008000"/>
                </a:solidFill>
              </a:rPr>
              <a:t>must</a:t>
            </a:r>
            <a:r>
              <a:rPr lang="en-GB" altLang="da-DK" sz="1600" spc="-50" dirty="0"/>
              <a:t> be possible to read and understand your report </a:t>
            </a:r>
            <a:r>
              <a:rPr lang="en-GB" altLang="da-DK" sz="1600" b="1" spc="-50" dirty="0">
                <a:solidFill>
                  <a:srgbClr val="008000"/>
                </a:solidFill>
              </a:rPr>
              <a:t>without</a:t>
            </a:r>
            <a:r>
              <a:rPr lang="en-GB" altLang="da-DK" sz="1600" spc="-50" dirty="0"/>
              <a:t> reading the appendix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Critical things </a:t>
            </a:r>
            <a:r>
              <a:rPr lang="en-GB" altLang="da-DK" sz="1600" b="1" dirty="0">
                <a:solidFill>
                  <a:srgbClr val="008000"/>
                </a:solidFill>
              </a:rPr>
              <a:t>must</a:t>
            </a:r>
            <a:r>
              <a:rPr lang="en-GB" altLang="da-DK" sz="1600" dirty="0"/>
              <a:t> be in the </a:t>
            </a:r>
            <a:r>
              <a:rPr lang="en-GB" altLang="da-DK" sz="1600" b="1" dirty="0">
                <a:solidFill>
                  <a:srgbClr val="008000"/>
                </a:solidFill>
              </a:rPr>
              <a:t>main part</a:t>
            </a:r>
            <a:r>
              <a:rPr lang="en-GB" altLang="da-DK" sz="1600" dirty="0"/>
              <a:t> of your report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The appendix is for readers who want to study additional details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Censor will probably only take a quick glance at the appendix</a:t>
            </a:r>
          </a:p>
          <a:p>
            <a:pPr marL="271463" lvl="1" indent="-271463">
              <a:spcBef>
                <a:spcPts val="600"/>
              </a:spcBef>
              <a:buFontTx/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Figures, program code, etc. should be in a size which is readable for ordinary people – without magnifying glass</a:t>
            </a:r>
            <a:endParaRPr lang="en-GB" altLang="da-DK" sz="16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7</a:t>
            </a:fld>
            <a:endParaRPr lang="da-DK" altLang="da-DK" dirty="0"/>
          </a:p>
        </p:txBody>
      </p:sp>
      <p:sp>
        <p:nvSpPr>
          <p:cNvPr id="2" name="Oval 1"/>
          <p:cNvSpPr/>
          <p:nvPr/>
        </p:nvSpPr>
        <p:spPr bwMode="auto">
          <a:xfrm>
            <a:off x="983570" y="2253896"/>
            <a:ext cx="304813" cy="302955"/>
          </a:xfrm>
          <a:prstGeom prst="ellipse">
            <a:avLst/>
          </a:prstGeom>
          <a:solidFill>
            <a:srgbClr val="FF00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a-DK" sz="1400" b="1" dirty="0">
                <a:solidFill>
                  <a:schemeClr val="bg1"/>
                </a:solidFill>
                <a:ea typeface="ＭＳ Ｐゴシック" charset="0"/>
              </a:rPr>
              <a:t>1</a:t>
            </a:r>
            <a:endParaRPr kumimoji="0" lang="da-DK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ea typeface="ＭＳ Ｐゴシック" charset="0"/>
            </a:endParaRPr>
          </a:p>
        </p:txBody>
      </p:sp>
      <p:sp>
        <p:nvSpPr>
          <p:cNvPr id="6" name="Oval 5"/>
          <p:cNvSpPr/>
          <p:nvPr/>
        </p:nvSpPr>
        <p:spPr bwMode="auto">
          <a:xfrm>
            <a:off x="520901" y="4730906"/>
            <a:ext cx="304813" cy="302955"/>
          </a:xfrm>
          <a:prstGeom prst="ellipse">
            <a:avLst/>
          </a:prstGeom>
          <a:solidFill>
            <a:srgbClr val="FF00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a-DK" sz="1400" b="1" dirty="0">
                <a:solidFill>
                  <a:schemeClr val="bg1"/>
                </a:solidFill>
                <a:ea typeface="ＭＳ Ｐゴシック" charset="0"/>
              </a:rPr>
              <a:t>1</a:t>
            </a:r>
            <a:endParaRPr kumimoji="0" lang="da-DK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ea typeface="ＭＳ Ｐゴシック" charset="0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960518" y="3506770"/>
            <a:ext cx="304813" cy="302955"/>
          </a:xfrm>
          <a:prstGeom prst="ellipse">
            <a:avLst/>
          </a:prstGeom>
          <a:solidFill>
            <a:srgbClr val="7030A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a-DK" sz="1400" b="1" dirty="0">
                <a:solidFill>
                  <a:schemeClr val="bg1"/>
                </a:solidFill>
                <a:ea typeface="ＭＳ Ｐゴシック" charset="0"/>
              </a:rPr>
              <a:t>2</a:t>
            </a:r>
            <a:endParaRPr kumimoji="0" lang="da-DK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ea typeface="ＭＳ Ｐゴシック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983570" y="1281148"/>
            <a:ext cx="304813" cy="302955"/>
          </a:xfrm>
          <a:prstGeom prst="ellipse">
            <a:avLst/>
          </a:prstGeom>
          <a:solidFill>
            <a:srgbClr val="0080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a-DK" sz="1400" b="1" dirty="0">
                <a:solidFill>
                  <a:schemeClr val="bg1"/>
                </a:solidFill>
                <a:ea typeface="ＭＳ Ｐゴシック" charset="0"/>
              </a:rPr>
              <a:t>3</a:t>
            </a:r>
            <a:endParaRPr kumimoji="0" lang="da-DK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ea typeface="ＭＳ Ｐゴシック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983570" y="1601368"/>
            <a:ext cx="304813" cy="302955"/>
          </a:xfrm>
          <a:prstGeom prst="ellipse">
            <a:avLst/>
          </a:prstGeom>
          <a:solidFill>
            <a:srgbClr val="7030A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a-DK" sz="1400" b="1" dirty="0">
                <a:solidFill>
                  <a:schemeClr val="bg1"/>
                </a:solidFill>
                <a:ea typeface="ＭＳ Ｐゴシック" charset="0"/>
              </a:rPr>
              <a:t>2</a:t>
            </a:r>
            <a:endParaRPr kumimoji="0" lang="da-DK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ea typeface="ＭＳ Ｐゴシック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960518" y="4084542"/>
            <a:ext cx="304813" cy="302955"/>
          </a:xfrm>
          <a:prstGeom prst="ellipse">
            <a:avLst/>
          </a:prstGeom>
          <a:solidFill>
            <a:srgbClr val="0080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a-DK" sz="1400" b="1" dirty="0">
                <a:solidFill>
                  <a:schemeClr val="bg1"/>
                </a:solidFill>
                <a:ea typeface="ＭＳ Ｐゴシック" charset="0"/>
              </a:rPr>
              <a:t>3</a:t>
            </a:r>
            <a:endParaRPr kumimoji="0" lang="da-DK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ea typeface="ＭＳ Ｐゴシック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960518" y="3798952"/>
            <a:ext cx="304813" cy="302955"/>
          </a:xfrm>
          <a:prstGeom prst="ellipse">
            <a:avLst/>
          </a:prstGeom>
          <a:solidFill>
            <a:srgbClr val="0080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a-DK" sz="1400" b="1" dirty="0">
                <a:solidFill>
                  <a:schemeClr val="bg1"/>
                </a:solidFill>
                <a:ea typeface="ＭＳ Ｐゴシック" charset="0"/>
              </a:rPr>
              <a:t>3</a:t>
            </a:r>
            <a:endParaRPr kumimoji="0" lang="da-DK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ea typeface="ＭＳ Ｐゴシック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960518" y="4353107"/>
            <a:ext cx="304813" cy="302955"/>
          </a:xfrm>
          <a:prstGeom prst="ellipse">
            <a:avLst/>
          </a:prstGeom>
          <a:solidFill>
            <a:srgbClr val="FF00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a-DK" sz="1400" b="1" dirty="0">
                <a:solidFill>
                  <a:schemeClr val="bg1"/>
                </a:solidFill>
                <a:ea typeface="ＭＳ Ｐゴシック" charset="0"/>
              </a:rPr>
              <a:t>1</a:t>
            </a:r>
            <a:endParaRPr kumimoji="0" lang="da-DK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ea typeface="ＭＳ Ｐゴシック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983570" y="2575345"/>
            <a:ext cx="304813" cy="302955"/>
          </a:xfrm>
          <a:prstGeom prst="ellipse">
            <a:avLst/>
          </a:prstGeom>
          <a:solidFill>
            <a:srgbClr val="FF00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a-DK" sz="1400" b="1" dirty="0">
                <a:solidFill>
                  <a:schemeClr val="bg1"/>
                </a:solidFill>
                <a:ea typeface="ＭＳ Ｐゴシック" charset="0"/>
              </a:rPr>
              <a:t>1</a:t>
            </a:r>
            <a:endParaRPr kumimoji="0" lang="da-DK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ea typeface="ＭＳ Ｐゴシック" charset="0"/>
            </a:endParaRPr>
          </a:p>
        </p:txBody>
      </p:sp>
      <p:sp>
        <p:nvSpPr>
          <p:cNvPr id="15" name="Oval 14"/>
          <p:cNvSpPr/>
          <p:nvPr/>
        </p:nvSpPr>
        <p:spPr bwMode="auto">
          <a:xfrm>
            <a:off x="966921" y="2889110"/>
            <a:ext cx="304813" cy="302955"/>
          </a:xfrm>
          <a:prstGeom prst="ellipse">
            <a:avLst/>
          </a:prstGeom>
          <a:solidFill>
            <a:srgbClr val="FF00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a-DK" sz="1400" b="1" dirty="0">
                <a:solidFill>
                  <a:schemeClr val="bg1"/>
                </a:solidFill>
                <a:ea typeface="ＭＳ Ｐゴシック" charset="0"/>
              </a:rPr>
              <a:t>1</a:t>
            </a:r>
            <a:endParaRPr kumimoji="0" lang="da-DK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193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424167" cy="609600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da-DK" sz="2800" dirty="0"/>
              <a:t>Bloom's taxonomy for </a:t>
            </a:r>
            <a:r>
              <a:rPr lang="en-GB" altLang="da-DK" sz="2800" dirty="0" err="1"/>
              <a:t>læringsmål</a:t>
            </a:r>
            <a:endParaRPr lang="en-GB" altLang="da-DK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02"/>
          <a:stretch/>
        </p:blipFill>
        <p:spPr>
          <a:xfrm>
            <a:off x="107504" y="1196752"/>
            <a:ext cx="8856983" cy="5661248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8</a:t>
            </a:fld>
            <a:endParaRPr lang="da-DK" altLang="da-DK" dirty="0"/>
          </a:p>
        </p:txBody>
      </p:sp>
    </p:spTree>
    <p:extLst>
      <p:ext uri="{BB962C8B-B14F-4D97-AF65-F5344CB8AC3E}">
        <p14:creationId xmlns:p14="http://schemas.microsoft.com/office/powerpoint/2010/main" val="2787427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424167" cy="609600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da-DK" sz="2800" dirty="0"/>
              <a:t>Academic paper "reverses" the taxonomy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9</a:t>
            </a:fld>
            <a:endParaRPr lang="da-DK" altLang="da-DK" dirty="0"/>
          </a:p>
        </p:txBody>
      </p:sp>
      <p:grpSp>
        <p:nvGrpSpPr>
          <p:cNvPr id="14" name="Group 13"/>
          <p:cNvGrpSpPr/>
          <p:nvPr/>
        </p:nvGrpSpPr>
        <p:grpSpPr>
          <a:xfrm>
            <a:off x="3851921" y="1196752"/>
            <a:ext cx="5328591" cy="5301208"/>
            <a:chOff x="3635894" y="1484784"/>
            <a:chExt cx="5328591" cy="5301208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002" r="39837" b="5469"/>
            <a:stretch/>
          </p:blipFill>
          <p:spPr>
            <a:xfrm rot="10800000">
              <a:off x="3635895" y="1484784"/>
              <a:ext cx="5328590" cy="5301208"/>
            </a:xfrm>
            <a:prstGeom prst="rect">
              <a:avLst/>
            </a:prstGeom>
          </p:spPr>
        </p:pic>
        <p:sp>
          <p:nvSpPr>
            <p:cNvPr id="3" name="Right Triangle 2"/>
            <p:cNvSpPr/>
            <p:nvPr/>
          </p:nvSpPr>
          <p:spPr bwMode="auto">
            <a:xfrm>
              <a:off x="3635894" y="1628799"/>
              <a:ext cx="2448274" cy="5040561"/>
            </a:xfrm>
            <a:prstGeom prst="rtTriangl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ＭＳ Ｐゴシック" charset="0"/>
              </a:endParaRPr>
            </a:p>
          </p:txBody>
        </p:sp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0800000">
              <a:off x="5277852" y="1800249"/>
              <a:ext cx="1828800" cy="409575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10800000">
              <a:off x="5173553" y="2492550"/>
              <a:ext cx="2019300" cy="504825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10800000">
              <a:off x="5583528" y="3335287"/>
              <a:ext cx="1219200" cy="628650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10800000">
              <a:off x="5617064" y="4209331"/>
              <a:ext cx="1333500" cy="561975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10800000">
              <a:off x="5618635" y="5223743"/>
              <a:ext cx="1257300" cy="352425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10800000">
              <a:off x="5721362" y="6101880"/>
              <a:ext cx="1009650" cy="323850"/>
            </a:xfrm>
            <a:prstGeom prst="rect">
              <a:avLst/>
            </a:prstGeom>
          </p:spPr>
        </p:pic>
      </p:grpSp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2344171" y="2223831"/>
            <a:ext cx="2833602" cy="6960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+mn-ea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rgbClr val="000066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9pPr>
          </a:lstStyle>
          <a:p>
            <a:pPr marL="0" lvl="1" indent="0">
              <a:spcBef>
                <a:spcPts val="1200"/>
              </a:spcBef>
              <a:buNone/>
            </a:pPr>
            <a:r>
              <a:rPr lang="en-GB" altLang="da-DK" sz="1800" b="1" kern="0" dirty="0">
                <a:solidFill>
                  <a:srgbClr val="A50021"/>
                </a:solidFill>
                <a:cs typeface="ＭＳ Ｐゴシック" charset="0"/>
              </a:rPr>
              <a:t>Introduction</a:t>
            </a:r>
          </a:p>
          <a:p>
            <a:pPr marL="0" lvl="1" indent="0">
              <a:spcBef>
                <a:spcPts val="300"/>
              </a:spcBef>
              <a:buNone/>
            </a:pPr>
            <a:r>
              <a:rPr lang="en-GB" altLang="da-DK" sz="1800" b="1" kern="0" dirty="0">
                <a:solidFill>
                  <a:srgbClr val="A50021"/>
                </a:solidFill>
              </a:rPr>
              <a:t>Review of literature</a:t>
            </a:r>
            <a:endParaRPr lang="en-GB" altLang="da-DK" sz="1600" kern="0" dirty="0"/>
          </a:p>
        </p:txBody>
      </p:sp>
      <p:sp>
        <p:nvSpPr>
          <p:cNvPr id="17" name="Rectangle 3"/>
          <p:cNvSpPr txBox="1">
            <a:spLocks noChangeArrowheads="1"/>
          </p:cNvSpPr>
          <p:nvPr/>
        </p:nvSpPr>
        <p:spPr bwMode="auto">
          <a:xfrm>
            <a:off x="3332898" y="3082603"/>
            <a:ext cx="2027415" cy="722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+mn-ea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rgbClr val="000066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9pPr>
          </a:lstStyle>
          <a:p>
            <a:pPr marL="0" lvl="1" indent="0">
              <a:spcBef>
                <a:spcPts val="1200"/>
              </a:spcBef>
              <a:buNone/>
            </a:pPr>
            <a:r>
              <a:rPr lang="en-GB" altLang="da-DK" sz="1800" b="1" kern="0" dirty="0">
                <a:solidFill>
                  <a:srgbClr val="A50021"/>
                </a:solidFill>
                <a:cs typeface="ＭＳ Ｐゴシック" charset="0"/>
              </a:rPr>
              <a:t>Experiments</a:t>
            </a:r>
          </a:p>
          <a:p>
            <a:pPr marL="0" lvl="1" indent="0">
              <a:spcBef>
                <a:spcPts val="300"/>
              </a:spcBef>
              <a:buNone/>
            </a:pPr>
            <a:r>
              <a:rPr lang="en-GB" altLang="da-DK" sz="1800" b="1" kern="0" dirty="0">
                <a:solidFill>
                  <a:srgbClr val="A50021"/>
                </a:solidFill>
              </a:rPr>
              <a:t>Programming</a:t>
            </a:r>
            <a:endParaRPr lang="en-GB" altLang="da-DK" sz="1600" kern="0" dirty="0"/>
          </a:p>
        </p:txBody>
      </p:sp>
      <p:sp>
        <p:nvSpPr>
          <p:cNvPr id="18" name="Rectangle 3"/>
          <p:cNvSpPr txBox="1">
            <a:spLocks noChangeArrowheads="1"/>
          </p:cNvSpPr>
          <p:nvPr/>
        </p:nvSpPr>
        <p:spPr bwMode="auto">
          <a:xfrm>
            <a:off x="4323665" y="4105645"/>
            <a:ext cx="1950403" cy="3702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+mn-ea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rgbClr val="000066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9pPr>
          </a:lstStyle>
          <a:p>
            <a:pPr marL="0" lvl="1" indent="0">
              <a:spcBef>
                <a:spcPts val="1200"/>
              </a:spcBef>
              <a:buNone/>
            </a:pPr>
            <a:r>
              <a:rPr lang="en-GB" altLang="da-DK" sz="1800" b="1" kern="0" dirty="0">
                <a:solidFill>
                  <a:srgbClr val="A50021"/>
                </a:solidFill>
                <a:cs typeface="ＭＳ Ｐゴシック" charset="0"/>
              </a:rPr>
              <a:t>Results</a:t>
            </a:r>
          </a:p>
        </p:txBody>
      </p:sp>
      <p:sp>
        <p:nvSpPr>
          <p:cNvPr id="19" name="Rectangle 3"/>
          <p:cNvSpPr txBox="1">
            <a:spLocks noChangeArrowheads="1"/>
          </p:cNvSpPr>
          <p:nvPr/>
        </p:nvSpPr>
        <p:spPr bwMode="auto">
          <a:xfrm>
            <a:off x="2464388" y="4852727"/>
            <a:ext cx="3838911" cy="695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+mn-ea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rgbClr val="000066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9pPr>
          </a:lstStyle>
          <a:p>
            <a:pPr marL="0" lvl="1" indent="0">
              <a:spcBef>
                <a:spcPts val="300"/>
              </a:spcBef>
              <a:buNone/>
            </a:pPr>
            <a:r>
              <a:rPr lang="en-GB" altLang="da-DK" sz="1800" b="1" kern="0" dirty="0">
                <a:solidFill>
                  <a:srgbClr val="A50021"/>
                </a:solidFill>
                <a:cs typeface="ＭＳ Ｐゴシック" charset="0"/>
              </a:rPr>
              <a:t>Comparison to other work</a:t>
            </a:r>
          </a:p>
          <a:p>
            <a:pPr marL="0" lvl="1" indent="0">
              <a:spcBef>
                <a:spcPts val="300"/>
              </a:spcBef>
              <a:buNone/>
            </a:pPr>
            <a:r>
              <a:rPr lang="en-GB" altLang="da-DK" sz="1800" b="1" kern="0" spc="-80" dirty="0">
                <a:solidFill>
                  <a:srgbClr val="A50021"/>
                </a:solidFill>
                <a:cs typeface="ＭＳ Ｐゴシック" charset="0"/>
              </a:rPr>
              <a:t>Perspectives / Contextualisation</a:t>
            </a:r>
          </a:p>
        </p:txBody>
      </p:sp>
      <p:sp>
        <p:nvSpPr>
          <p:cNvPr id="20" name="Rectangle 3"/>
          <p:cNvSpPr txBox="1">
            <a:spLocks noChangeArrowheads="1"/>
          </p:cNvSpPr>
          <p:nvPr/>
        </p:nvSpPr>
        <p:spPr bwMode="auto">
          <a:xfrm>
            <a:off x="3467993" y="5883739"/>
            <a:ext cx="2836111" cy="3702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+mn-ea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rgbClr val="000066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9pPr>
          </a:lstStyle>
          <a:p>
            <a:pPr marL="0" lvl="1" indent="0">
              <a:spcBef>
                <a:spcPts val="1200"/>
              </a:spcBef>
              <a:buNone/>
            </a:pPr>
            <a:r>
              <a:rPr lang="en-GB" altLang="da-DK" sz="1800" b="1" kern="0" dirty="0">
                <a:solidFill>
                  <a:srgbClr val="A50021"/>
                </a:solidFill>
                <a:cs typeface="ＭＳ Ｐゴシック" charset="0"/>
              </a:rPr>
              <a:t>"Exceptional" results</a:t>
            </a:r>
          </a:p>
        </p:txBody>
      </p:sp>
      <p:sp>
        <p:nvSpPr>
          <p:cNvPr id="21" name="Rectangle 3"/>
          <p:cNvSpPr txBox="1">
            <a:spLocks noChangeArrowheads="1"/>
          </p:cNvSpPr>
          <p:nvPr/>
        </p:nvSpPr>
        <p:spPr bwMode="auto">
          <a:xfrm>
            <a:off x="209262" y="3082603"/>
            <a:ext cx="3119727" cy="1685077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CC"/>
            </a:solidFill>
          </a:ln>
          <a:extLst>
            <a:ext uri="{FAA26D3D-D897-4be2-8F04-BA451C77F1D7}"/>
          </a:extLst>
        </p:spPr>
        <p:txBody>
          <a:bodyPr wrap="square" rtlCol="0">
            <a:spAutoFit/>
          </a:bodyPr>
          <a:lstStyle>
            <a:defPPr>
              <a:defRPr lang="da-DK"/>
            </a:defPPr>
            <a:lvl1pPr marL="171450" indent="-171450">
              <a:spcBef>
                <a:spcPts val="300"/>
              </a:spcBef>
              <a:buFont typeface="Arial" panose="020B0604020202020204" pitchFamily="34" charset="0"/>
              <a:buChar char="•"/>
              <a:defRPr sz="1200" b="1">
                <a:solidFill>
                  <a:srgbClr val="0000CC"/>
                </a:solidFill>
              </a:defRPr>
            </a:lvl1pPr>
          </a:lstStyle>
          <a:p>
            <a:pPr marL="171450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altLang="da-DK" sz="1200" b="1" dirty="0">
                <a:solidFill>
                  <a:srgbClr val="0000CC"/>
                </a:solidFill>
              </a:rPr>
              <a:t>Do </a:t>
            </a:r>
            <a:r>
              <a:rPr lang="en-GB" altLang="da-DK" sz="1200" b="1" dirty="0">
                <a:solidFill>
                  <a:srgbClr val="008000"/>
                </a:solidFill>
              </a:rPr>
              <a:t>not</a:t>
            </a:r>
            <a:r>
              <a:rPr lang="en-GB" altLang="da-DK" sz="1200" b="1" dirty="0">
                <a:solidFill>
                  <a:srgbClr val="0000CC"/>
                </a:solidFill>
              </a:rPr>
              <a:t> write you report as a crime novel revealing the exciting stuff at the very end</a:t>
            </a:r>
          </a:p>
          <a:p>
            <a:pPr marL="171450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altLang="da-DK" sz="1200" b="1" dirty="0">
                <a:solidFill>
                  <a:srgbClr val="0000CC"/>
                </a:solidFill>
              </a:rPr>
              <a:t>Describe your results in the abstract (summary) and in the introduction</a:t>
            </a:r>
          </a:p>
          <a:p>
            <a:pPr marL="171450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altLang="da-DK" sz="1200" b="1" dirty="0">
                <a:solidFill>
                  <a:srgbClr val="0000CC"/>
                </a:solidFill>
              </a:rPr>
              <a:t>Put the details of your results as early as possible in the main part</a:t>
            </a:r>
          </a:p>
          <a:p>
            <a:pPr marL="171450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altLang="da-DK" sz="1200" b="1" dirty="0">
                <a:solidFill>
                  <a:srgbClr val="0000CC"/>
                </a:solidFill>
              </a:rPr>
              <a:t>Repeat the results in the conclusion</a:t>
            </a:r>
          </a:p>
        </p:txBody>
      </p:sp>
      <p:sp>
        <p:nvSpPr>
          <p:cNvPr id="22" name="Rectangle 3"/>
          <p:cNvSpPr txBox="1">
            <a:spLocks noChangeArrowheads="1"/>
          </p:cNvSpPr>
          <p:nvPr/>
        </p:nvSpPr>
        <p:spPr bwMode="auto">
          <a:xfrm>
            <a:off x="464921" y="1225786"/>
            <a:ext cx="4382114" cy="6960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+mn-ea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rgbClr val="000066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9pPr>
          </a:lstStyle>
          <a:p>
            <a:pPr marL="0" lvl="1" indent="0">
              <a:spcBef>
                <a:spcPts val="1200"/>
              </a:spcBef>
              <a:buNone/>
            </a:pPr>
            <a:r>
              <a:rPr lang="en-GB" altLang="da-DK" sz="1800" b="1" kern="0" dirty="0">
                <a:cs typeface="ＭＳ Ｐゴシック" charset="0"/>
              </a:rPr>
              <a:t>Let us for a moment ignore</a:t>
            </a:r>
            <a:br>
              <a:rPr lang="en-GB" altLang="da-DK" sz="1800" b="1" kern="0" dirty="0">
                <a:cs typeface="ＭＳ Ｐゴシック" charset="0"/>
              </a:rPr>
            </a:br>
            <a:r>
              <a:rPr lang="en-GB" altLang="da-DK" sz="1800" b="1" kern="0" dirty="0">
                <a:cs typeface="ＭＳ Ｐゴシック" charset="0"/>
              </a:rPr>
              <a:t>Abstract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714418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424167" cy="609600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da-DK" sz="2800" dirty="0"/>
              <a:t>Front page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052736"/>
            <a:ext cx="8424167" cy="5256584"/>
          </a:xfrm>
          <a:noFill/>
        </p:spPr>
        <p:txBody>
          <a:bodyPr/>
          <a:lstStyle/>
          <a:p>
            <a:pPr marL="271463" lvl="1" indent="-271463">
              <a:spcBef>
                <a:spcPts val="12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The front page of your report must contain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Danish title and English title </a:t>
            </a:r>
            <a:endParaRPr lang="en-GB" altLang="da-DK" sz="1600" b="1" dirty="0"/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Names and study numbers (</a:t>
            </a:r>
            <a:r>
              <a:rPr lang="en-GB" altLang="da-DK" sz="1600" dirty="0" err="1"/>
              <a:t>studienumre</a:t>
            </a:r>
            <a:r>
              <a:rPr lang="en-GB" altLang="da-DK" sz="1600" dirty="0"/>
              <a:t>) for all participants in the group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Name of advisor(s)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The following three lines (in Danish or English)</a:t>
            </a:r>
          </a:p>
          <a:p>
            <a:pPr marL="1128713" lvl="2" indent="-271463">
              <a:spcBef>
                <a:spcPts val="300"/>
              </a:spcBef>
            </a:pPr>
            <a:r>
              <a:rPr lang="en-GB" altLang="da-DK" dirty="0"/>
              <a:t>Bachelor report (15 ECTS) in Computer Science [or IT product development]</a:t>
            </a:r>
          </a:p>
          <a:p>
            <a:pPr marL="1128713" lvl="2" indent="-271463">
              <a:spcBef>
                <a:spcPts val="300"/>
              </a:spcBef>
            </a:pPr>
            <a:r>
              <a:rPr lang="en-GB" altLang="da-DK" dirty="0"/>
              <a:t>Department of Computer Science, Aarhus University</a:t>
            </a:r>
          </a:p>
          <a:p>
            <a:pPr marL="1128713" lvl="2" indent="-271463">
              <a:spcBef>
                <a:spcPts val="300"/>
              </a:spcBef>
            </a:pPr>
            <a:r>
              <a:rPr lang="en-GB" altLang="da-DK" dirty="0"/>
              <a:t>June XX, 20XX</a:t>
            </a:r>
          </a:p>
          <a:p>
            <a:pPr marL="271463" lvl="1" indent="-271463">
              <a:spcBef>
                <a:spcPts val="1200"/>
              </a:spcBef>
              <a:buChar char="•"/>
            </a:pPr>
            <a:r>
              <a:rPr lang="en-GB" altLang="da-DK" sz="1800" b="1" spc="-30" dirty="0">
                <a:solidFill>
                  <a:srgbClr val="A50021"/>
                </a:solidFill>
                <a:cs typeface="ＭＳ Ｐゴシック" charset="0"/>
              </a:rPr>
              <a:t>You may insert a nice, illustrative figure from your report as a kind of logo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10</a:t>
            </a:fld>
            <a:endParaRPr lang="da-DK" altLang="da-DK" dirty="0"/>
          </a:p>
        </p:txBody>
      </p:sp>
    </p:spTree>
    <p:extLst>
      <p:ext uri="{BB962C8B-B14F-4D97-AF65-F5344CB8AC3E}">
        <p14:creationId xmlns:p14="http://schemas.microsoft.com/office/powerpoint/2010/main" val="2830083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568183" cy="609600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da-DK" sz="2800" dirty="0"/>
              <a:t>Title for the bachelor project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052736"/>
            <a:ext cx="8424167" cy="5256584"/>
          </a:xfrm>
          <a:noFill/>
        </p:spPr>
        <p:txBody>
          <a:bodyPr/>
          <a:lstStyle/>
          <a:p>
            <a:pPr marL="271463" lvl="1" indent="-271463">
              <a:spcBef>
                <a:spcPts val="12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It is important to choose a good, informative title for your report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When searching for literature, many potential readers only see your title (and the names of the authors)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Based on the title, they decide whether they want to read the abstract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Based on that, they decide whether to read the introduction / summary, and so on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If the title does not catch their attention, they will never see your brilliant work</a:t>
            </a:r>
          </a:p>
          <a:p>
            <a:pPr marL="271463" lvl="1" indent="-271463">
              <a:spcBef>
                <a:spcPts val="12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The title should describe the content of your work as precisely as possible without being extremely long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Some authors like to make a catchy or fun title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This is seldom a good idea (because information of the contents may be lost)</a:t>
            </a:r>
          </a:p>
          <a:p>
            <a:pPr marL="271463" lvl="1" indent="-271463">
              <a:spcBef>
                <a:spcPts val="1200"/>
              </a:spcBef>
              <a:buChar char="•"/>
            </a:pPr>
            <a:r>
              <a:rPr lang="en-GB" altLang="da-DK" sz="1800" b="1" spc="-30" dirty="0">
                <a:solidFill>
                  <a:srgbClr val="A50021"/>
                </a:solidFill>
                <a:cs typeface="ＭＳ Ｐゴシック" charset="0"/>
              </a:rPr>
              <a:t>For your bachelor project, there must be both a Danish and an English title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To avoid confusion, they should be identical (straightforward translations of</a:t>
            </a:r>
            <a:br>
              <a:rPr lang="en-GB" altLang="da-DK" sz="1600" dirty="0"/>
            </a:br>
            <a:r>
              <a:rPr lang="en-GB" altLang="da-DK" sz="1600" dirty="0"/>
              <a:t>each other)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>
                <a:cs typeface="ＭＳ Ｐゴシック" charset="0"/>
              </a:rPr>
              <a:t>The Danish title (or part of it) may be identical to the English title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>
                <a:cs typeface="ＭＳ Ｐゴシック" charset="0"/>
              </a:rPr>
              <a:t>The titles will appear on your diploma (</a:t>
            </a:r>
            <a:r>
              <a:rPr lang="en-GB" altLang="da-DK" sz="1600" dirty="0" err="1">
                <a:cs typeface="ＭＳ Ｐゴシック" charset="0"/>
              </a:rPr>
              <a:t>eksamensbevis</a:t>
            </a:r>
            <a:r>
              <a:rPr lang="en-GB" altLang="da-DK" sz="1600" dirty="0">
                <a:cs typeface="ＭＳ Ｐゴシック" charset="0"/>
              </a:rPr>
              <a:t>)</a:t>
            </a:r>
            <a:endParaRPr lang="en-GB" altLang="da-DK" sz="1600" b="1" dirty="0">
              <a:solidFill>
                <a:srgbClr val="A50021"/>
              </a:solidFill>
              <a:cs typeface="ＭＳ Ｐゴシック" charset="0"/>
            </a:endParaRPr>
          </a:p>
          <a:p>
            <a:pPr marL="728663" lvl="1" indent="-271463">
              <a:spcBef>
                <a:spcPts val="300"/>
              </a:spcBef>
            </a:pPr>
            <a:endParaRPr lang="en-GB" altLang="da-DK" sz="1800" b="1" dirty="0">
              <a:solidFill>
                <a:srgbClr val="A50021"/>
              </a:solidFill>
              <a:cs typeface="ＭＳ Ｐゴシック" charset="0"/>
            </a:endParaRPr>
          </a:p>
          <a:p>
            <a:pPr marL="728663" lvl="1" indent="-271463">
              <a:spcBef>
                <a:spcPts val="300"/>
              </a:spcBef>
            </a:pPr>
            <a:endParaRPr lang="en-GB" altLang="da-DK" sz="16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11</a:t>
            </a:fld>
            <a:endParaRPr lang="da-DK" altLang="da-DK" dirty="0"/>
          </a:p>
        </p:txBody>
      </p:sp>
    </p:spTree>
    <p:extLst>
      <p:ext uri="{BB962C8B-B14F-4D97-AF65-F5344CB8AC3E}">
        <p14:creationId xmlns:p14="http://schemas.microsoft.com/office/powerpoint/2010/main" val="15398357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568183" cy="609600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da-DK" sz="2800" dirty="0"/>
              <a:t>The initial part of your report contains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124744"/>
            <a:ext cx="8064127" cy="4824536"/>
          </a:xfrm>
          <a:noFill/>
        </p:spPr>
        <p:txBody>
          <a:bodyPr/>
          <a:lstStyle/>
          <a:p>
            <a:pPr marL="271463" lvl="1" indent="-271463">
              <a:spcBef>
                <a:spcPts val="12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Abstract (summary)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Short summary of</a:t>
            </a:r>
          </a:p>
          <a:p>
            <a:pPr marL="1128713" lvl="2" indent="-271463">
              <a:spcBef>
                <a:spcPts val="100"/>
              </a:spcBef>
            </a:pPr>
            <a:r>
              <a:rPr lang="en-GB" altLang="da-DK" dirty="0"/>
              <a:t>topic and central issues</a:t>
            </a:r>
          </a:p>
          <a:p>
            <a:pPr marL="1128713" lvl="2" indent="-271463">
              <a:spcBef>
                <a:spcPts val="100"/>
              </a:spcBef>
            </a:pPr>
            <a:r>
              <a:rPr lang="en-GB" altLang="da-DK" dirty="0"/>
              <a:t>approach and theory</a:t>
            </a:r>
          </a:p>
          <a:p>
            <a:pPr marL="1128713" lvl="2" indent="-271463">
              <a:spcBef>
                <a:spcPts val="100"/>
              </a:spcBef>
            </a:pPr>
            <a:r>
              <a:rPr lang="en-GB" altLang="da-DK" b="1" dirty="0">
                <a:solidFill>
                  <a:srgbClr val="008000"/>
                </a:solidFill>
              </a:rPr>
              <a:t>main results</a:t>
            </a:r>
          </a:p>
          <a:p>
            <a:pPr marL="728663" lvl="1" indent="-271463">
              <a:spcBef>
                <a:spcPts val="600"/>
              </a:spcBef>
            </a:pPr>
            <a:r>
              <a:rPr lang="en-GB" altLang="da-DK" sz="1600" dirty="0"/>
              <a:t>Should be comprehensible without reading the rest of the paper</a:t>
            </a:r>
          </a:p>
          <a:p>
            <a:pPr marL="728663" lvl="1" indent="-271463">
              <a:spcBef>
                <a:spcPts val="600"/>
              </a:spcBef>
            </a:pPr>
            <a:r>
              <a:rPr lang="en-GB" altLang="da-DK" sz="1600" dirty="0"/>
              <a:t>If you write in Danish, there must be </a:t>
            </a:r>
            <a:r>
              <a:rPr lang="en-GB" altLang="da-DK" sz="1600" b="1" dirty="0">
                <a:solidFill>
                  <a:srgbClr val="008000"/>
                </a:solidFill>
              </a:rPr>
              <a:t>both</a:t>
            </a:r>
            <a:r>
              <a:rPr lang="en-GB" altLang="da-DK" sz="1600" dirty="0"/>
              <a:t> a Danish and an English abstract (summary) with the same content</a:t>
            </a:r>
          </a:p>
          <a:p>
            <a:pPr marL="728663" lvl="1" indent="-271463">
              <a:spcBef>
                <a:spcPts val="600"/>
              </a:spcBef>
            </a:pPr>
            <a:r>
              <a:rPr lang="en-GB" altLang="da-DK" sz="1600" dirty="0"/>
              <a:t>To avoid confusion, they should be identical (straightforward translations of</a:t>
            </a:r>
            <a:br>
              <a:rPr lang="en-GB" altLang="da-DK" sz="1600" dirty="0"/>
            </a:br>
            <a:r>
              <a:rPr lang="en-GB" altLang="da-DK" sz="1600" dirty="0"/>
              <a:t>each other)</a:t>
            </a:r>
          </a:p>
          <a:p>
            <a:pPr marL="271463" lvl="1" indent="-271463">
              <a:spcBef>
                <a:spcPts val="12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Introduction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Introduce the subject area and the "gap" addressed in your work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Describe your</a:t>
            </a:r>
          </a:p>
          <a:p>
            <a:pPr marL="1128713" lvl="2" indent="-271463">
              <a:spcBef>
                <a:spcPts val="100"/>
              </a:spcBef>
            </a:pPr>
            <a:r>
              <a:rPr lang="en-GB" altLang="da-DK" b="1" dirty="0">
                <a:solidFill>
                  <a:srgbClr val="008000"/>
                </a:solidFill>
              </a:rPr>
              <a:t>starting point</a:t>
            </a:r>
            <a:r>
              <a:rPr lang="en-GB" altLang="da-DK" dirty="0"/>
              <a:t> (work by other persons)</a:t>
            </a:r>
          </a:p>
          <a:p>
            <a:pPr marL="1128713" lvl="2" indent="-271463">
              <a:spcBef>
                <a:spcPts val="100"/>
              </a:spcBef>
            </a:pPr>
            <a:r>
              <a:rPr lang="en-GB" altLang="da-DK" dirty="0"/>
              <a:t>the </a:t>
            </a:r>
            <a:r>
              <a:rPr lang="en-GB" altLang="da-DK" b="1" dirty="0">
                <a:solidFill>
                  <a:srgbClr val="008000"/>
                </a:solidFill>
              </a:rPr>
              <a:t>results</a:t>
            </a:r>
            <a:r>
              <a:rPr lang="en-GB" altLang="da-DK" dirty="0"/>
              <a:t> you obtained</a:t>
            </a:r>
          </a:p>
          <a:p>
            <a:pPr marL="1128713" lvl="2" indent="-271463">
              <a:spcBef>
                <a:spcPts val="100"/>
              </a:spcBef>
            </a:pPr>
            <a:r>
              <a:rPr lang="en-GB" altLang="da-DK" dirty="0"/>
              <a:t>the</a:t>
            </a:r>
            <a:r>
              <a:rPr lang="en-GB" altLang="da-DK" b="1" dirty="0">
                <a:solidFill>
                  <a:srgbClr val="008000"/>
                </a:solidFill>
              </a:rPr>
              <a:t> limitations</a:t>
            </a:r>
            <a:r>
              <a:rPr lang="en-GB" altLang="da-DK" dirty="0"/>
              <a:t> of your work</a:t>
            </a:r>
          </a:p>
          <a:p>
            <a:pPr marL="457200" lvl="1" indent="0">
              <a:spcBef>
                <a:spcPts val="300"/>
              </a:spcBef>
              <a:buNone/>
            </a:pPr>
            <a:endParaRPr lang="en-GB" altLang="da-DK" sz="1600" dirty="0"/>
          </a:p>
          <a:p>
            <a:pPr marL="728663" lvl="1" indent="-271463">
              <a:spcBef>
                <a:spcPts val="300"/>
              </a:spcBef>
            </a:pPr>
            <a:endParaRPr lang="en-GB" altLang="da-DK" sz="1600" dirty="0"/>
          </a:p>
          <a:p>
            <a:pPr marL="728663" lvl="1" indent="-271463">
              <a:spcBef>
                <a:spcPts val="300"/>
              </a:spcBef>
            </a:pPr>
            <a:endParaRPr lang="en-GB" altLang="da-DK" sz="1600" dirty="0"/>
          </a:p>
          <a:p>
            <a:pPr marL="728663" lvl="1" indent="-271463">
              <a:spcBef>
                <a:spcPts val="300"/>
              </a:spcBef>
            </a:pPr>
            <a:endParaRPr lang="en-GB" altLang="da-DK" sz="1600" dirty="0"/>
          </a:p>
          <a:p>
            <a:pPr marL="728663" lvl="1" indent="-271463">
              <a:spcBef>
                <a:spcPts val="300"/>
              </a:spcBef>
            </a:pPr>
            <a:endParaRPr lang="en-GB" altLang="da-DK" sz="1600" dirty="0"/>
          </a:p>
          <a:p>
            <a:pPr marL="728663" lvl="1" indent="-271463">
              <a:spcBef>
                <a:spcPts val="300"/>
              </a:spcBef>
            </a:pPr>
            <a:endParaRPr lang="en-GB" altLang="da-DK" sz="16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12</a:t>
            </a:fld>
            <a:endParaRPr lang="da-DK" altLang="da-DK" dirty="0"/>
          </a:p>
        </p:txBody>
      </p:sp>
    </p:spTree>
    <p:extLst>
      <p:ext uri="{BB962C8B-B14F-4D97-AF65-F5344CB8AC3E}">
        <p14:creationId xmlns:p14="http://schemas.microsoft.com/office/powerpoint/2010/main" val="3553314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568183" cy="609600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da-DK" sz="2800" dirty="0"/>
              <a:t>The central part of your report contains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9461" y="1144216"/>
            <a:ext cx="8424167" cy="5256584"/>
          </a:xfrm>
          <a:noFill/>
        </p:spPr>
        <p:txBody>
          <a:bodyPr/>
          <a:lstStyle/>
          <a:p>
            <a:pPr marL="271463" lvl="1" indent="-271463">
              <a:spcBef>
                <a:spcPts val="12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Related work (may also be part of introduction)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Work that you build upon or take inspiration from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Clearly show how your work contributes / extends / differs</a:t>
            </a:r>
          </a:p>
          <a:p>
            <a:pPr marL="271463" lvl="1" indent="-271463">
              <a:spcBef>
                <a:spcPts val="12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Theories, methods and techniques to be used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Theorems, data collection techniques, prototyping, programming techniques, analysis techniques, use of test persons, etc.</a:t>
            </a:r>
          </a:p>
          <a:p>
            <a:pPr marL="271463" lvl="1" indent="-271463">
              <a:spcBef>
                <a:spcPts val="12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Experiments and development by you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Collection of data, construction of prototypes, new theorems, new proofs, etc.</a:t>
            </a:r>
          </a:p>
          <a:p>
            <a:pPr marL="271463" lvl="1" indent="-271463">
              <a:spcBef>
                <a:spcPts val="12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Analysis and results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The findings that your work supports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b="1" dirty="0">
                <a:solidFill>
                  <a:srgbClr val="008000"/>
                </a:solidFill>
              </a:rPr>
              <a:t>Detailed arguments</a:t>
            </a:r>
            <a:r>
              <a:rPr lang="en-GB" altLang="da-DK" sz="1600" dirty="0"/>
              <a:t>, logical reasoning</a:t>
            </a:r>
          </a:p>
          <a:p>
            <a:pPr marL="728663" lvl="1" indent="-271463">
              <a:spcBef>
                <a:spcPts val="300"/>
              </a:spcBef>
            </a:pPr>
            <a:endParaRPr lang="en-GB" altLang="da-DK" sz="1600" dirty="0"/>
          </a:p>
          <a:p>
            <a:pPr marL="728663" lvl="1" indent="-271463">
              <a:spcBef>
                <a:spcPts val="300"/>
              </a:spcBef>
            </a:pPr>
            <a:endParaRPr lang="en-GB" altLang="da-DK" sz="1600" dirty="0"/>
          </a:p>
          <a:p>
            <a:pPr marL="728663" lvl="1" indent="-271463">
              <a:spcBef>
                <a:spcPts val="300"/>
              </a:spcBef>
            </a:pPr>
            <a:endParaRPr lang="en-GB" altLang="da-DK" sz="1600" dirty="0"/>
          </a:p>
          <a:p>
            <a:pPr marL="728663" lvl="1" indent="-271463">
              <a:spcBef>
                <a:spcPts val="300"/>
              </a:spcBef>
            </a:pPr>
            <a:endParaRPr lang="en-GB" altLang="da-DK" sz="1600" dirty="0"/>
          </a:p>
          <a:p>
            <a:pPr marL="728663" lvl="1" indent="-271463">
              <a:spcBef>
                <a:spcPts val="300"/>
              </a:spcBef>
            </a:pPr>
            <a:endParaRPr lang="en-GB" altLang="da-DK" sz="16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13</a:t>
            </a:fld>
            <a:endParaRPr lang="da-DK" altLang="da-DK" dirty="0"/>
          </a:p>
        </p:txBody>
      </p:sp>
    </p:spTree>
    <p:extLst>
      <p:ext uri="{BB962C8B-B14F-4D97-AF65-F5344CB8AC3E}">
        <p14:creationId xmlns:p14="http://schemas.microsoft.com/office/powerpoint/2010/main" val="30652924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568183" cy="609600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da-DK" sz="2800" dirty="0"/>
              <a:t>The final part of your report contains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052736"/>
            <a:ext cx="8424167" cy="5760640"/>
          </a:xfrm>
          <a:noFill/>
        </p:spPr>
        <p:txBody>
          <a:bodyPr/>
          <a:lstStyle/>
          <a:p>
            <a:pPr marL="271463" lvl="1" indent="-271463">
              <a:spcBef>
                <a:spcPts val="12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Conclusion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Similar to abstract but now with more details and </a:t>
            </a:r>
            <a:r>
              <a:rPr lang="en-GB" altLang="da-DK" sz="1600" b="1" dirty="0">
                <a:solidFill>
                  <a:srgbClr val="008000"/>
                </a:solidFill>
              </a:rPr>
              <a:t>arguments</a:t>
            </a:r>
          </a:p>
          <a:p>
            <a:pPr marL="1128713" lvl="2" indent="-271463">
              <a:spcBef>
                <a:spcPts val="100"/>
              </a:spcBef>
            </a:pPr>
            <a:r>
              <a:rPr lang="en-GB" altLang="da-DK" dirty="0"/>
              <a:t>topic and central issues,</a:t>
            </a:r>
          </a:p>
          <a:p>
            <a:pPr marL="1128713" lvl="2" indent="-271463">
              <a:spcBef>
                <a:spcPts val="100"/>
              </a:spcBef>
            </a:pPr>
            <a:r>
              <a:rPr lang="en-GB" altLang="da-DK" dirty="0"/>
              <a:t>approach and theory,</a:t>
            </a:r>
          </a:p>
          <a:p>
            <a:pPr marL="1128713" lvl="2" indent="-271463">
              <a:spcBef>
                <a:spcPts val="100"/>
              </a:spcBef>
            </a:pPr>
            <a:r>
              <a:rPr lang="en-GB" altLang="da-DK" b="1" dirty="0">
                <a:solidFill>
                  <a:srgbClr val="008000"/>
                </a:solidFill>
              </a:rPr>
              <a:t>main results</a:t>
            </a:r>
            <a:endParaRPr lang="en-GB" altLang="da-DK" sz="1600" dirty="0"/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Should be comprehensible after reading the introduction (or by someone who knows the subject area well) – to make a full judgement of the validity, the entire report must be read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Also describe</a:t>
            </a:r>
          </a:p>
          <a:p>
            <a:pPr marL="1128713" lvl="2" indent="-271463">
              <a:spcBef>
                <a:spcPts val="100"/>
              </a:spcBef>
            </a:pPr>
            <a:r>
              <a:rPr lang="en-GB" altLang="da-DK" dirty="0"/>
              <a:t>interesting future work,</a:t>
            </a:r>
          </a:p>
          <a:p>
            <a:pPr marL="1128713" lvl="2" indent="-271463">
              <a:spcBef>
                <a:spcPts val="100"/>
              </a:spcBef>
            </a:pPr>
            <a:r>
              <a:rPr lang="en-GB" altLang="da-DK" dirty="0"/>
              <a:t>possible impact of your work – on theory / practice / life conditions,</a:t>
            </a:r>
          </a:p>
          <a:p>
            <a:pPr marL="1128713" lvl="2" indent="-271463">
              <a:spcBef>
                <a:spcPts val="100"/>
              </a:spcBef>
            </a:pPr>
            <a:r>
              <a:rPr lang="en-GB" altLang="da-DK" dirty="0"/>
              <a:t>possible use in other areas (broader perspective)</a:t>
            </a:r>
          </a:p>
          <a:p>
            <a:pPr marL="271463" lvl="1" indent="-271463">
              <a:spcBef>
                <a:spcPts val="9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References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List of the papers you have read during the bachelor project</a:t>
            </a:r>
          </a:p>
          <a:p>
            <a:pPr marL="271463" lvl="1" indent="-271463">
              <a:spcBef>
                <a:spcPts val="9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Appendix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The appendix is for readers who want to study "all details", e.g. to be able to reproduce your experiments, apply your prototypes, check your proofs, etc.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Censor will probably only take a quick glance at the appendix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spc="-50" dirty="0"/>
              <a:t>It </a:t>
            </a:r>
            <a:r>
              <a:rPr lang="en-GB" altLang="da-DK" sz="1600" b="1" spc="-50" dirty="0">
                <a:solidFill>
                  <a:srgbClr val="008000"/>
                </a:solidFill>
              </a:rPr>
              <a:t>must</a:t>
            </a:r>
            <a:r>
              <a:rPr lang="en-GB" altLang="da-DK" sz="1600" spc="-50" dirty="0"/>
              <a:t> be possible to read and understand your report </a:t>
            </a:r>
            <a:r>
              <a:rPr lang="en-GB" altLang="da-DK" sz="1600" b="1" spc="-50" dirty="0">
                <a:solidFill>
                  <a:srgbClr val="008000"/>
                </a:solidFill>
              </a:rPr>
              <a:t>without</a:t>
            </a:r>
            <a:r>
              <a:rPr lang="en-GB" altLang="da-DK" sz="1600" spc="-50" dirty="0"/>
              <a:t> reading the appendix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Critical things </a:t>
            </a:r>
            <a:r>
              <a:rPr lang="en-GB" altLang="da-DK" sz="1600" b="1" dirty="0">
                <a:solidFill>
                  <a:srgbClr val="008000"/>
                </a:solidFill>
              </a:rPr>
              <a:t>must</a:t>
            </a:r>
            <a:r>
              <a:rPr lang="en-GB" altLang="da-DK" sz="1600" dirty="0"/>
              <a:t> be in the </a:t>
            </a:r>
            <a:r>
              <a:rPr lang="en-GB" altLang="da-DK" sz="1600" b="1" dirty="0">
                <a:solidFill>
                  <a:srgbClr val="008000"/>
                </a:solidFill>
              </a:rPr>
              <a:t>main part</a:t>
            </a:r>
            <a:r>
              <a:rPr lang="en-GB" altLang="da-DK" sz="1600" dirty="0"/>
              <a:t> of your report</a:t>
            </a:r>
          </a:p>
          <a:p>
            <a:pPr marL="728663" lvl="1" indent="-271463">
              <a:spcBef>
                <a:spcPts val="300"/>
              </a:spcBef>
            </a:pPr>
            <a:endParaRPr lang="en-GB" altLang="da-DK" sz="1600" dirty="0"/>
          </a:p>
          <a:p>
            <a:pPr marL="1128713" lvl="2" indent="-271463">
              <a:spcBef>
                <a:spcPts val="300"/>
              </a:spcBef>
            </a:pPr>
            <a:endParaRPr lang="en-GB" altLang="da-DK" dirty="0"/>
          </a:p>
          <a:p>
            <a:pPr marL="728663" lvl="1" indent="-271463">
              <a:spcBef>
                <a:spcPts val="300"/>
              </a:spcBef>
            </a:pPr>
            <a:endParaRPr lang="en-GB" altLang="da-DK" sz="1600" dirty="0"/>
          </a:p>
          <a:p>
            <a:pPr marL="728663" lvl="1" indent="-271463">
              <a:spcBef>
                <a:spcPts val="300"/>
              </a:spcBef>
            </a:pPr>
            <a:endParaRPr lang="en-GB" altLang="da-DK" sz="1600" dirty="0"/>
          </a:p>
          <a:p>
            <a:pPr marL="728663" lvl="1" indent="-271463">
              <a:spcBef>
                <a:spcPts val="300"/>
              </a:spcBef>
            </a:pPr>
            <a:endParaRPr lang="en-GB" altLang="da-DK" sz="1600" dirty="0"/>
          </a:p>
          <a:p>
            <a:pPr marL="728663" lvl="1" indent="-271463">
              <a:spcBef>
                <a:spcPts val="300"/>
              </a:spcBef>
            </a:pPr>
            <a:endParaRPr lang="en-GB" altLang="da-DK" sz="1600" dirty="0"/>
          </a:p>
          <a:p>
            <a:pPr marL="728663" lvl="1" indent="-271463">
              <a:spcBef>
                <a:spcPts val="300"/>
              </a:spcBef>
            </a:pPr>
            <a:endParaRPr lang="en-GB" altLang="da-DK" sz="16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14</a:t>
            </a:fld>
            <a:endParaRPr lang="da-DK" altLang="da-DK" dirty="0"/>
          </a:p>
        </p:txBody>
      </p:sp>
    </p:spTree>
    <p:extLst>
      <p:ext uri="{BB962C8B-B14F-4D97-AF65-F5344CB8AC3E}">
        <p14:creationId xmlns:p14="http://schemas.microsoft.com/office/powerpoint/2010/main" val="14449940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568183" cy="609600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da-DK" sz="2800" dirty="0"/>
              <a:t>References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052736"/>
            <a:ext cx="8568183" cy="4968552"/>
          </a:xfrm>
          <a:noFill/>
        </p:spPr>
        <p:txBody>
          <a:bodyPr/>
          <a:lstStyle/>
          <a:p>
            <a:pPr marL="271463" indent="-271463" defTabSz="560831">
              <a:spcBef>
                <a:spcPts val="2800"/>
              </a:spcBef>
              <a:defRPr sz="3072"/>
            </a:pPr>
            <a:r>
              <a:rPr lang="en-US" sz="1800" dirty="0"/>
              <a:t>We use references to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US" sz="1600" dirty="0"/>
              <a:t>indicate that we are familiar with and have surveyed the topic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US" sz="1600" dirty="0"/>
              <a:t>give credit where credit is due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US" sz="1600" dirty="0"/>
              <a:t>indicate a source, specific position and/or related argument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US" sz="1600" dirty="0"/>
              <a:t>support/warrant arguments and claims</a:t>
            </a:r>
          </a:p>
          <a:p>
            <a:pPr marL="271463" indent="-271463" defTabSz="560831">
              <a:spcBef>
                <a:spcPts val="1200"/>
              </a:spcBef>
              <a:defRPr sz="3072" b="1"/>
            </a:pPr>
            <a:r>
              <a:rPr lang="en-US" sz="1800" dirty="0"/>
              <a:t>Always cite sources, always 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US" sz="1600" dirty="0"/>
              <a:t>Failing to cite a source may be seen as an attempt to plagiarize the work of others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US" sz="1600" dirty="0"/>
              <a:t>This may have serious consequences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US" sz="1600" dirty="0">
                <a:solidFill>
                  <a:srgbClr val="000066"/>
                </a:solidFill>
              </a:rPr>
              <a:t>More information about plagiarism</a:t>
            </a:r>
            <a:br>
              <a:rPr lang="en-US" sz="1600" dirty="0"/>
            </a:br>
            <a:r>
              <a:rPr lang="da-DK" sz="1400" dirty="0"/>
              <a:t>http://library.au.dk/en/students/plagiarism/   </a:t>
            </a:r>
            <a:r>
              <a:rPr lang="da-DK" sz="1400" dirty="0">
                <a:hlinkClick r:id="rId3"/>
              </a:rPr>
              <a:t>Link</a:t>
            </a:r>
            <a:endParaRPr lang="en-US" sz="1400" dirty="0"/>
          </a:p>
          <a:p>
            <a:pPr marL="271463" lvl="1" indent="-271463" defTabSz="560831">
              <a:spcBef>
                <a:spcPts val="1200"/>
              </a:spcBef>
              <a:buChar char="•"/>
              <a:defRPr sz="3072" b="1"/>
            </a:pPr>
            <a:r>
              <a:rPr lang="en-US" sz="1800" b="1" dirty="0">
                <a:solidFill>
                  <a:srgbClr val="A50021"/>
                </a:solidFill>
                <a:cs typeface="ＭＳ Ｐゴシック" charset="0"/>
              </a:rPr>
              <a:t>Always read the papers you reference</a:t>
            </a:r>
          </a:p>
          <a:p>
            <a:pPr marL="271463" lvl="1" indent="-271463" defTabSz="560831">
              <a:spcBef>
                <a:spcPts val="1200"/>
              </a:spcBef>
              <a:buChar char="•"/>
              <a:defRPr sz="3072" b="1"/>
            </a:pPr>
            <a:r>
              <a:rPr lang="en-US" sz="1800" b="1" dirty="0">
                <a:solidFill>
                  <a:srgbClr val="A50021"/>
                </a:solidFill>
                <a:cs typeface="ＭＳ Ｐゴシック" charset="0"/>
              </a:rPr>
              <a:t>Format of citations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US" sz="1600" spc="-40" dirty="0"/>
              <a:t>Use </a:t>
            </a:r>
            <a:r>
              <a:rPr lang="en-US" sz="1600" spc="-40" dirty="0" err="1"/>
              <a:t>BibTeX</a:t>
            </a:r>
            <a:r>
              <a:rPr lang="en-US" sz="1600" spc="-40" dirty="0"/>
              <a:t>, EndNote (or similar systems) and manage references as you find the papers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US" sz="1600" dirty="0"/>
              <a:t>Try to get the citation from the original source (check for accuracy if copy-pasting from Google Scholar)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US" sz="1600" dirty="0"/>
              <a:t>Use number or </a:t>
            </a:r>
            <a:r>
              <a:rPr lang="en-US" sz="1600" dirty="0" err="1"/>
              <a:t>name+year</a:t>
            </a:r>
            <a:r>
              <a:rPr lang="en-US" sz="1600" dirty="0"/>
              <a:t>, e.g., [12] or (Jensen 2007)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US" sz="1600" spc="-20" dirty="0"/>
              <a:t>Include page number for quotes, e.g. [12, p. 23] or (Jensen 2007, p. 23)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US" sz="1600" spc="-20" dirty="0"/>
              <a:t>The reference list can be sorted alphabetically (by the surname of the first author) or by the order in which the references appear in the text (first time)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15</a:t>
            </a:fld>
            <a:endParaRPr lang="da-DK" altLang="da-DK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444208" y="5517232"/>
            <a:ext cx="2418522" cy="276999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CC"/>
            </a:solidFill>
          </a:ln>
          <a:extLst>
            <a:ext uri="{FAA26D3D-D897-4be2-8F04-BA451C77F1D7}"/>
          </a:extLst>
        </p:spPr>
        <p:txBody>
          <a:bodyPr wrap="square" rtlCol="0">
            <a:spAutoFit/>
          </a:bodyPr>
          <a:lstStyle>
            <a:defPPr>
              <a:defRPr lang="da-DK"/>
            </a:defPPr>
            <a:lvl1pPr marL="171450" indent="-171450">
              <a:spcBef>
                <a:spcPts val="300"/>
              </a:spcBef>
              <a:buFont typeface="Arial" panose="020B0604020202020204" pitchFamily="34" charset="0"/>
              <a:buChar char="•"/>
              <a:defRPr sz="1200" b="1">
                <a:solidFill>
                  <a:srgbClr val="0000CC"/>
                </a:solidFill>
              </a:defRPr>
            </a:lvl1pPr>
          </a:lstStyle>
          <a:p>
            <a:pPr marL="0" lvl="1">
              <a:spcBef>
                <a:spcPts val="300"/>
              </a:spcBef>
            </a:pPr>
            <a:r>
              <a:rPr lang="en-GB" altLang="da-DK" sz="1200" b="1" dirty="0">
                <a:solidFill>
                  <a:srgbClr val="0000CC"/>
                </a:solidFill>
              </a:rPr>
              <a:t>Ask your supervisor for advice</a:t>
            </a:r>
          </a:p>
        </p:txBody>
      </p:sp>
    </p:spTree>
    <p:extLst>
      <p:ext uri="{BB962C8B-B14F-4D97-AF65-F5344CB8AC3E}">
        <p14:creationId xmlns:p14="http://schemas.microsoft.com/office/powerpoint/2010/main" val="16914613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568183" cy="609600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da-DK" sz="2800" dirty="0"/>
              <a:t>Your contributions must be clear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052736"/>
            <a:ext cx="8260844" cy="4968552"/>
          </a:xfrm>
          <a:noFill/>
        </p:spPr>
        <p:txBody>
          <a:bodyPr/>
          <a:lstStyle/>
          <a:p>
            <a:pPr marL="271463" indent="-271463" defTabSz="560831">
              <a:spcBef>
                <a:spcPts val="1200"/>
              </a:spcBef>
              <a:defRPr sz="3072" b="1"/>
            </a:pPr>
            <a:r>
              <a:rPr lang="en-US" sz="1800" dirty="0"/>
              <a:t>It is a </a:t>
            </a:r>
            <a:r>
              <a:rPr lang="en-US" sz="1800" dirty="0">
                <a:solidFill>
                  <a:srgbClr val="008000"/>
                </a:solidFill>
              </a:rPr>
              <a:t>very common</a:t>
            </a:r>
            <a:r>
              <a:rPr lang="en-US" sz="1800" dirty="0"/>
              <a:t> error to be vague about the origin of things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US" sz="1600" dirty="0"/>
              <a:t>It is obvious for you, what you have done – but the reader must also be told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US" sz="1600" dirty="0"/>
              <a:t>For </a:t>
            </a:r>
            <a:r>
              <a:rPr lang="en-US" sz="1600" b="1" dirty="0">
                <a:solidFill>
                  <a:srgbClr val="008000"/>
                </a:solidFill>
              </a:rPr>
              <a:t>everything</a:t>
            </a:r>
            <a:r>
              <a:rPr lang="en-US" sz="1600" dirty="0"/>
              <a:t> that you describe, it must be </a:t>
            </a:r>
            <a:r>
              <a:rPr lang="en-US" sz="1600" b="1" dirty="0">
                <a:solidFill>
                  <a:srgbClr val="008000"/>
                </a:solidFill>
              </a:rPr>
              <a:t>crystal clear</a:t>
            </a:r>
            <a:r>
              <a:rPr lang="en-US" sz="1600" dirty="0"/>
              <a:t> for the reader whether this is the work of other researchers or your own work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US" sz="1600" dirty="0"/>
              <a:t>"XX introduced…" versus "We introduced…"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US" sz="1600" b="1" dirty="0">
                <a:solidFill>
                  <a:srgbClr val="008000"/>
                </a:solidFill>
              </a:rPr>
              <a:t>Check</a:t>
            </a:r>
            <a:r>
              <a:rPr lang="en-US" sz="1600" dirty="0"/>
              <a:t> this for all parts of your report</a:t>
            </a:r>
          </a:p>
          <a:p>
            <a:pPr marL="271463" lvl="1" indent="-271463" defTabSz="560831">
              <a:spcBef>
                <a:spcPts val="1200"/>
              </a:spcBef>
              <a:buChar char="•"/>
              <a:defRPr sz="3072" b="1"/>
            </a:pPr>
            <a:r>
              <a:rPr lang="en-US" sz="1800" b="1" dirty="0">
                <a:solidFill>
                  <a:srgbClr val="A50021"/>
                </a:solidFill>
                <a:cs typeface="ＭＳ Ｐゴシック" charset="0"/>
              </a:rPr>
              <a:t>Compare to the work of other researchers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US" sz="1600" dirty="0"/>
              <a:t>How does your work differ from others'?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US" sz="1600" dirty="0"/>
              <a:t>How do your results differ from earlier results?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US" sz="1600" dirty="0"/>
              <a:t>How did you use the work of other researchers?</a:t>
            </a:r>
          </a:p>
          <a:p>
            <a:pPr marL="271463" lvl="1" indent="-271463" defTabSz="560831">
              <a:spcBef>
                <a:spcPts val="1200"/>
              </a:spcBef>
              <a:buChar char="•"/>
              <a:defRPr sz="3072" b="1"/>
            </a:pPr>
            <a:r>
              <a:rPr lang="en-US" sz="1800" b="1" dirty="0">
                <a:solidFill>
                  <a:srgbClr val="A50021"/>
                </a:solidFill>
                <a:cs typeface="ＭＳ Ｐゴシック" charset="0"/>
              </a:rPr>
              <a:t>What are your main contributions?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US" sz="1600" dirty="0"/>
              <a:t>Before writing the abstract and the conclusion list the most important contributions / findings from your bachelor project (2-5 things)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US" sz="1600" dirty="0"/>
              <a:t>Be sure to present these in the abstract and in the conclusion – in such a way that it is crystal clear how you contributed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US" sz="1600" dirty="0"/>
              <a:t>Later, you should do the same in the oral presentation at the exam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16</a:t>
            </a:fld>
            <a:endParaRPr lang="da-DK" altLang="da-DK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192" y="2132856"/>
            <a:ext cx="1800200" cy="1714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1025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568183" cy="609600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da-DK" sz="2800" dirty="0"/>
              <a:t>Language and grammar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7620" y="1052736"/>
            <a:ext cx="8476867" cy="5040560"/>
          </a:xfrm>
          <a:noFill/>
        </p:spPr>
        <p:txBody>
          <a:bodyPr/>
          <a:lstStyle/>
          <a:p>
            <a:pPr marL="271463" lvl="1" indent="-271463" defTabSz="560831">
              <a:spcBef>
                <a:spcPts val="1200"/>
              </a:spcBef>
              <a:buChar char="•"/>
              <a:defRPr sz="3072" b="1"/>
            </a:pPr>
            <a:r>
              <a:rPr lang="en-US" sz="1800" b="1" dirty="0">
                <a:solidFill>
                  <a:srgbClr val="A50021"/>
                </a:solidFill>
                <a:cs typeface="ＭＳ Ｐゴシック" charset="0"/>
              </a:rPr>
              <a:t>Forget what you learned from your Danish teacher in high-school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US" sz="1600" dirty="0"/>
              <a:t>When writing an essay, you were probably told to vary your language as much as possible – using synonyms and different construction of sentences</a:t>
            </a:r>
          </a:p>
          <a:p>
            <a:pPr marL="271463" lvl="1" indent="-271463" defTabSz="560831">
              <a:spcBef>
                <a:spcPts val="1200"/>
              </a:spcBef>
              <a:buChar char="•"/>
              <a:defRPr sz="3072" b="1"/>
            </a:pPr>
            <a:r>
              <a:rPr lang="en-US" sz="1800" b="1" dirty="0">
                <a:solidFill>
                  <a:srgbClr val="A50021"/>
                </a:solidFill>
                <a:cs typeface="ＭＳ Ｐゴシック" charset="0"/>
              </a:rPr>
              <a:t>Try to be as consistent as possible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US" sz="1600" dirty="0"/>
              <a:t>In science, we define a concept and name it. Then we use that name whenever we talk about that concept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US" sz="1600" dirty="0"/>
              <a:t>If you describe two or more similar things, the descriptions should be as identical</a:t>
            </a:r>
            <a:br>
              <a:rPr lang="en-US" sz="1600" dirty="0"/>
            </a:br>
            <a:r>
              <a:rPr lang="en-US" sz="1600" dirty="0"/>
              <a:t>as possible, so that it is clear which differences are intended (not accidental) </a:t>
            </a:r>
          </a:p>
          <a:p>
            <a:pPr marL="271463" lvl="1" indent="-271463" defTabSz="560831">
              <a:spcBef>
                <a:spcPts val="1200"/>
              </a:spcBef>
              <a:buChar char="•"/>
              <a:defRPr sz="3072" b="1"/>
            </a:pPr>
            <a:r>
              <a:rPr lang="en-US" sz="1800" b="1" dirty="0">
                <a:solidFill>
                  <a:srgbClr val="A50021"/>
                </a:solidFill>
                <a:cs typeface="ＭＳ Ｐゴシック" charset="0"/>
              </a:rPr>
              <a:t>Simplify the language and structure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US" sz="1600" spc="-20" dirty="0"/>
              <a:t>Use </a:t>
            </a:r>
            <a:r>
              <a:rPr lang="en-US" sz="1600" b="1" spc="-20" dirty="0">
                <a:solidFill>
                  <a:srgbClr val="008000"/>
                </a:solidFill>
              </a:rPr>
              <a:t>short</a:t>
            </a:r>
            <a:r>
              <a:rPr lang="en-US" sz="1600" spc="-20" dirty="0"/>
              <a:t> sentences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US" sz="1600" dirty="0"/>
              <a:t>With little effort you can often simplify a sentence and make it shorter and more </a:t>
            </a:r>
            <a:r>
              <a:rPr lang="en-US" sz="1600" dirty="0" err="1"/>
              <a:t>comperhensible</a:t>
            </a:r>
            <a:endParaRPr lang="en-US" sz="1600" dirty="0"/>
          </a:p>
          <a:p>
            <a:pPr marL="271463" lvl="1" indent="-271463" defTabSz="560831">
              <a:spcBef>
                <a:spcPts val="1200"/>
              </a:spcBef>
              <a:buChar char="•"/>
              <a:defRPr sz="3072" b="1"/>
            </a:pPr>
            <a:r>
              <a:rPr lang="en-US" sz="1800" b="1" dirty="0">
                <a:solidFill>
                  <a:srgbClr val="A50021"/>
                </a:solidFill>
                <a:cs typeface="ＭＳ Ｐゴシック" charset="0"/>
              </a:rPr>
              <a:t>Your responsibility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US" sz="1600" spc="-20" dirty="0"/>
              <a:t>It is </a:t>
            </a:r>
            <a:r>
              <a:rPr lang="en-US" sz="1600" b="1" spc="-20" dirty="0">
                <a:solidFill>
                  <a:srgbClr val="008000"/>
                </a:solidFill>
              </a:rPr>
              <a:t>your responsibility</a:t>
            </a:r>
            <a:r>
              <a:rPr lang="en-US" sz="1600" spc="-20" dirty="0"/>
              <a:t> to make the text easy to understand, with clear arguments and few chances of misconception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US" sz="1600" dirty="0"/>
              <a:t>A good template, basic structure and spellcheck can do a lot for readability</a:t>
            </a:r>
            <a:endParaRPr lang="en-US" sz="1600" spc="-2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57ADD0-007F-4610-9D7D-5E5ADEAA50E0}" type="slidenum">
              <a:rPr lang="da-DK" altLang="da-DK" smtClean="0">
                <a:solidFill>
                  <a:srgbClr val="008000"/>
                </a:solidFill>
              </a:rPr>
              <a:pPr>
                <a:defRPr/>
              </a:pPr>
              <a:t>17</a:t>
            </a:fld>
            <a:endParaRPr lang="da-DK" altLang="da-DK" dirty="0">
              <a:solidFill>
                <a:srgbClr val="008000"/>
              </a:solidFill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205479" y="2845663"/>
            <a:ext cx="7883056" cy="3157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+mn-ea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rgbClr val="000066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9pPr>
          </a:lstStyle>
          <a:p>
            <a:pPr marL="0" lvl="1" indent="0" defTabSz="560831">
              <a:spcBef>
                <a:spcPts val="300"/>
              </a:spcBef>
              <a:buNone/>
              <a:defRPr sz="3072"/>
            </a:pPr>
            <a:r>
              <a:rPr lang="en-US" sz="1600" dirty="0">
                <a:solidFill>
                  <a:srgbClr val="FF0000"/>
                </a:solidFill>
              </a:rPr>
              <a:t>If you describe two or more similar things, the descriptions should be as identical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167710" y="2854539"/>
            <a:ext cx="7417471" cy="3008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+mn-ea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rgbClr val="000066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9pPr>
          </a:lstStyle>
          <a:p>
            <a:pPr marL="0" lvl="1" indent="0" defTabSz="560831">
              <a:spcBef>
                <a:spcPts val="300"/>
              </a:spcBef>
              <a:buNone/>
              <a:defRPr sz="3072"/>
            </a:pPr>
            <a:r>
              <a:rPr lang="en-US" sz="1600" dirty="0">
                <a:solidFill>
                  <a:srgbClr val="FF0000"/>
                </a:solidFill>
              </a:rPr>
              <a:t>The descriptions of similar things should be as identical</a:t>
            </a:r>
          </a:p>
        </p:txBody>
      </p:sp>
    </p:spTree>
    <p:extLst>
      <p:ext uri="{BB962C8B-B14F-4D97-AF65-F5344CB8AC3E}">
        <p14:creationId xmlns:p14="http://schemas.microsoft.com/office/powerpoint/2010/main" val="1532148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568183" cy="609600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da-DK" sz="2800" dirty="0"/>
              <a:t>Language and grammar (continued)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7620" y="1052736"/>
            <a:ext cx="8476868" cy="5805264"/>
          </a:xfrm>
          <a:noFill/>
        </p:spPr>
        <p:txBody>
          <a:bodyPr/>
          <a:lstStyle/>
          <a:p>
            <a:pPr marL="271463" indent="-271463" defTabSz="560831">
              <a:spcBef>
                <a:spcPts val="1200"/>
              </a:spcBef>
              <a:defRPr sz="3072" b="1"/>
            </a:pPr>
            <a:r>
              <a:rPr lang="en-GB" altLang="da-DK" sz="1800" dirty="0"/>
              <a:t>A few grammatical errors are ok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GB" altLang="da-DK" sz="1600" dirty="0"/>
              <a:t>Too many grammatical errors will make the reading difficult and </a:t>
            </a:r>
            <a:r>
              <a:rPr lang="en-GB" altLang="da-DK" sz="1600" b="1" dirty="0">
                <a:solidFill>
                  <a:srgbClr val="008000"/>
                </a:solidFill>
              </a:rPr>
              <a:t>distract</a:t>
            </a:r>
            <a:r>
              <a:rPr lang="en-GB" altLang="da-DK" sz="1600" dirty="0"/>
              <a:t> the reader from the subject matter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GB" altLang="da-DK" sz="1600" dirty="0"/>
              <a:t>The threshold (for distraction) differs a lot from person to person</a:t>
            </a:r>
          </a:p>
          <a:p>
            <a:pPr marL="271463" indent="-271463" defTabSz="560831">
              <a:spcBef>
                <a:spcPts val="1200"/>
              </a:spcBef>
              <a:defRPr sz="3072" b="1"/>
            </a:pPr>
            <a:r>
              <a:rPr lang="en-US" sz="1800" dirty="0"/>
              <a:t>Translations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US" sz="1600" dirty="0"/>
              <a:t>A lot of Danish phrases cannot be directly translated to English – check in an </a:t>
            </a:r>
            <a:br>
              <a:rPr lang="en-US" sz="1600" dirty="0"/>
            </a:br>
            <a:r>
              <a:rPr lang="en-US" sz="1600" dirty="0"/>
              <a:t>on-line dictionary (not "word book")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GB" altLang="da-DK" sz="1600" dirty="0"/>
              <a:t>In Danish, many words are concatenated: "</a:t>
            </a:r>
            <a:r>
              <a:rPr lang="en-GB" altLang="da-DK" sz="1600" dirty="0" err="1"/>
              <a:t>juletræspynt</a:t>
            </a:r>
            <a:r>
              <a:rPr lang="en-GB" altLang="da-DK" sz="1600" dirty="0"/>
              <a:t>"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GB" altLang="da-DK" sz="1600" dirty="0"/>
              <a:t>In English, you seldom do this: "Christmas tree decorations"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GB" altLang="da-DK" sz="1600" dirty="0"/>
              <a:t>Construction of sentences and punctuation is different in English (consider getting help to check this in the final proof reading)</a:t>
            </a:r>
          </a:p>
          <a:p>
            <a:pPr marL="271463" lvl="1" indent="-271463" defTabSz="560831">
              <a:spcBef>
                <a:spcPts val="1200"/>
              </a:spcBef>
              <a:buChar char="•"/>
              <a:defRPr sz="3072" b="1"/>
            </a:pPr>
            <a:r>
              <a:rPr lang="en-US" sz="1800" b="1" dirty="0">
                <a:solidFill>
                  <a:srgbClr val="A50021"/>
                </a:solidFill>
                <a:cs typeface="ＭＳ Ｐゴシック" charset="0"/>
              </a:rPr>
              <a:t>Different kinds of English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US" sz="1600" dirty="0"/>
              <a:t>British English ≠ US English (</a:t>
            </a:r>
            <a:r>
              <a:rPr lang="en-GB" sz="1600" dirty="0"/>
              <a:t>analyse and modelling</a:t>
            </a:r>
            <a:r>
              <a:rPr lang="en-US" sz="1600" dirty="0"/>
              <a:t> / analyze and modeling)  </a:t>
            </a:r>
            <a:r>
              <a:rPr lang="en-US" sz="1600" b="1" dirty="0">
                <a:hlinkClick r:id="rId3"/>
              </a:rPr>
              <a:t>Link</a:t>
            </a:r>
            <a:endParaRPr lang="en-US" sz="1600" b="1" dirty="0"/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US" sz="1600" dirty="0"/>
              <a:t>You have to decide which one you use – ask your advisor</a:t>
            </a:r>
          </a:p>
          <a:p>
            <a:pPr marL="271463" lvl="1" indent="-271463" defTabSz="560831">
              <a:spcBef>
                <a:spcPts val="1200"/>
              </a:spcBef>
              <a:buChar char="•"/>
              <a:defRPr sz="3072" b="1"/>
            </a:pPr>
            <a:r>
              <a:rPr lang="en-US" sz="1800" b="1" dirty="0">
                <a:solidFill>
                  <a:srgbClr val="A50021"/>
                </a:solidFill>
                <a:cs typeface="ＭＳ Ｐゴシック" charset="0"/>
              </a:rPr>
              <a:t>Typo's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US" sz="1600" dirty="0"/>
              <a:t>Remember </a:t>
            </a:r>
            <a:r>
              <a:rPr lang="en-US" sz="1600" dirty="0" err="1"/>
              <a:t>splelchekc</a:t>
            </a:r>
            <a:r>
              <a:rPr lang="en-US" sz="1600" dirty="0"/>
              <a:t> (British English ≠ US English)</a:t>
            </a:r>
          </a:p>
          <a:p>
            <a:pPr marL="271463" indent="-271463" defTabSz="560831">
              <a:spcBef>
                <a:spcPts val="1200"/>
              </a:spcBef>
              <a:defRPr sz="3072" b="1"/>
            </a:pPr>
            <a:r>
              <a:rPr lang="en-US" sz="1800" dirty="0"/>
              <a:t>Special problems, e.g. dyslexia (Danish: </a:t>
            </a:r>
            <a:r>
              <a:rPr lang="en-US" sz="1800" dirty="0" err="1"/>
              <a:t>ordblindhed</a:t>
            </a:r>
            <a:r>
              <a:rPr lang="en-US" sz="1800" dirty="0"/>
              <a:t>)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US" sz="1600" dirty="0"/>
              <a:t>Tell your advisor as early as possible / consider whether you need special help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endParaRPr lang="en-US" sz="16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18</a:t>
            </a:fld>
            <a:endParaRPr lang="da-DK" altLang="da-DK" dirty="0"/>
          </a:p>
        </p:txBody>
      </p:sp>
    </p:spTree>
    <p:extLst>
      <p:ext uri="{BB962C8B-B14F-4D97-AF65-F5344CB8AC3E}">
        <p14:creationId xmlns:p14="http://schemas.microsoft.com/office/powerpoint/2010/main" val="3935423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568183" cy="609600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da-DK" sz="2800" dirty="0"/>
              <a:t>Make tables and graphs as clear as possible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19</a:t>
            </a:fld>
            <a:endParaRPr lang="da-DK" altLang="da-DK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527405"/>
              </p:ext>
            </p:extLst>
          </p:nvPr>
        </p:nvGraphicFramePr>
        <p:xfrm>
          <a:off x="4320738" y="2577730"/>
          <a:ext cx="1143827" cy="12334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424">
                  <a:extLst>
                    <a:ext uri="{9D8B030D-6E8A-4147-A177-3AD203B41FA5}">
                      <a16:colId xmlns:a16="http://schemas.microsoft.com/office/drawing/2014/main" val="1630101919"/>
                    </a:ext>
                  </a:extLst>
                </a:gridCol>
                <a:gridCol w="643403">
                  <a:extLst>
                    <a:ext uri="{9D8B030D-6E8A-4147-A177-3AD203B41FA5}">
                      <a16:colId xmlns:a16="http://schemas.microsoft.com/office/drawing/2014/main" val="1120977029"/>
                    </a:ext>
                  </a:extLst>
                </a:gridCol>
              </a:tblGrid>
              <a:tr h="335733">
                <a:tc>
                  <a:txBody>
                    <a:bodyPr/>
                    <a:lstStyle/>
                    <a:p>
                      <a:r>
                        <a:rPr lang="da-DK" sz="1050" dirty="0">
                          <a:solidFill>
                            <a:schemeClr val="tx1"/>
                          </a:solidFill>
                        </a:rPr>
                        <a:t>Time</a:t>
                      </a:r>
                      <a:br>
                        <a:rPr lang="da-DK" sz="1050" dirty="0">
                          <a:solidFill>
                            <a:schemeClr val="tx1"/>
                          </a:solidFill>
                        </a:rPr>
                      </a:br>
                      <a:r>
                        <a:rPr lang="da-DK" sz="1050" dirty="0" err="1">
                          <a:solidFill>
                            <a:schemeClr val="tx1"/>
                          </a:solidFill>
                        </a:rPr>
                        <a:t>mins</a:t>
                      </a:r>
                      <a:endParaRPr lang="da-DK" sz="105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050" dirty="0" err="1">
                          <a:solidFill>
                            <a:schemeClr val="tx1"/>
                          </a:solidFill>
                        </a:rPr>
                        <a:t>Temp</a:t>
                      </a:r>
                      <a:br>
                        <a:rPr lang="da-DK" sz="1050" dirty="0">
                          <a:solidFill>
                            <a:schemeClr val="tx1"/>
                          </a:solidFill>
                        </a:rPr>
                      </a:br>
                      <a:r>
                        <a:rPr lang="da-DK" sz="1050" dirty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da-DK" sz="1050" baseline="30000" dirty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da-DK" sz="105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63640"/>
                  </a:ext>
                </a:extLst>
              </a:tr>
              <a:tr h="273995">
                <a:tc>
                  <a:txBody>
                    <a:bodyPr/>
                    <a:lstStyle/>
                    <a:p>
                      <a:pPr algn="ctr"/>
                      <a:r>
                        <a:rPr lang="da-DK" sz="105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050" dirty="0"/>
                        <a:t>13.6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4755533"/>
                  </a:ext>
                </a:extLst>
              </a:tr>
              <a:tr h="273995">
                <a:tc>
                  <a:txBody>
                    <a:bodyPr/>
                    <a:lstStyle/>
                    <a:p>
                      <a:pPr algn="ctr"/>
                      <a:r>
                        <a:rPr lang="da-DK" sz="105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050" dirty="0"/>
                        <a:t>24.7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32892"/>
                  </a:ext>
                </a:extLst>
              </a:tr>
              <a:tr h="273995">
                <a:tc>
                  <a:txBody>
                    <a:bodyPr/>
                    <a:lstStyle/>
                    <a:p>
                      <a:pPr algn="ctr"/>
                      <a:r>
                        <a:rPr lang="da-DK" sz="105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050" dirty="0"/>
                        <a:t>31.7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070283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2473200"/>
              </p:ext>
            </p:extLst>
          </p:nvPr>
        </p:nvGraphicFramePr>
        <p:xfrm>
          <a:off x="3026487" y="2581927"/>
          <a:ext cx="1119436" cy="12334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2969">
                  <a:extLst>
                    <a:ext uri="{9D8B030D-6E8A-4147-A177-3AD203B41FA5}">
                      <a16:colId xmlns:a16="http://schemas.microsoft.com/office/drawing/2014/main" val="250905753"/>
                    </a:ext>
                  </a:extLst>
                </a:gridCol>
                <a:gridCol w="516467">
                  <a:extLst>
                    <a:ext uri="{9D8B030D-6E8A-4147-A177-3AD203B41FA5}">
                      <a16:colId xmlns:a16="http://schemas.microsoft.com/office/drawing/2014/main" val="1630101919"/>
                    </a:ext>
                  </a:extLst>
                </a:gridCol>
              </a:tblGrid>
              <a:tr h="402151">
                <a:tc>
                  <a:txBody>
                    <a:bodyPr/>
                    <a:lstStyle/>
                    <a:p>
                      <a:r>
                        <a:rPr lang="da-DK" sz="1050" dirty="0" err="1">
                          <a:solidFill>
                            <a:schemeClr val="tx1"/>
                          </a:solidFill>
                        </a:rPr>
                        <a:t>Temp</a:t>
                      </a:r>
                      <a:br>
                        <a:rPr lang="da-DK" sz="1050" dirty="0">
                          <a:solidFill>
                            <a:schemeClr val="tx1"/>
                          </a:solidFill>
                        </a:rPr>
                      </a:br>
                      <a:r>
                        <a:rPr lang="da-DK" sz="1050" dirty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da-DK" sz="1050" baseline="30000" dirty="0">
                          <a:solidFill>
                            <a:schemeClr val="tx1"/>
                          </a:solidFill>
                        </a:rPr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050" dirty="0">
                          <a:solidFill>
                            <a:schemeClr val="tx1"/>
                          </a:solidFill>
                        </a:rPr>
                        <a:t>Time</a:t>
                      </a:r>
                      <a:br>
                        <a:rPr lang="da-DK" sz="1050" dirty="0">
                          <a:solidFill>
                            <a:schemeClr val="tx1"/>
                          </a:solidFill>
                        </a:rPr>
                      </a:br>
                      <a:r>
                        <a:rPr lang="da-DK" sz="1050" dirty="0" err="1">
                          <a:solidFill>
                            <a:schemeClr val="tx1"/>
                          </a:solidFill>
                        </a:rPr>
                        <a:t>mins</a:t>
                      </a:r>
                      <a:endParaRPr lang="da-DK" sz="105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63640"/>
                  </a:ext>
                </a:extLst>
              </a:tr>
              <a:tr h="273995">
                <a:tc>
                  <a:txBody>
                    <a:bodyPr/>
                    <a:lstStyle/>
                    <a:p>
                      <a:pPr algn="ctr"/>
                      <a:r>
                        <a:rPr lang="da-DK" sz="1050" dirty="0"/>
                        <a:t>13.6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05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4755533"/>
                  </a:ext>
                </a:extLst>
              </a:tr>
              <a:tr h="273995">
                <a:tc>
                  <a:txBody>
                    <a:bodyPr/>
                    <a:lstStyle/>
                    <a:p>
                      <a:pPr algn="ctr"/>
                      <a:r>
                        <a:rPr lang="da-DK" sz="1050" dirty="0"/>
                        <a:t>24.7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05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32892"/>
                  </a:ext>
                </a:extLst>
              </a:tr>
              <a:tr h="273995">
                <a:tc>
                  <a:txBody>
                    <a:bodyPr/>
                    <a:lstStyle/>
                    <a:p>
                      <a:pPr algn="ctr"/>
                      <a:r>
                        <a:rPr lang="da-DK" sz="1050" dirty="0"/>
                        <a:t>31.7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050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0702833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4981028"/>
              </p:ext>
            </p:extLst>
          </p:nvPr>
        </p:nvGraphicFramePr>
        <p:xfrm>
          <a:off x="5579912" y="2581927"/>
          <a:ext cx="2057079" cy="12334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9167">
                  <a:extLst>
                    <a:ext uri="{9D8B030D-6E8A-4147-A177-3AD203B41FA5}">
                      <a16:colId xmlns:a16="http://schemas.microsoft.com/office/drawing/2014/main" val="1630101919"/>
                    </a:ext>
                  </a:extLst>
                </a:gridCol>
                <a:gridCol w="680359">
                  <a:extLst>
                    <a:ext uri="{9D8B030D-6E8A-4147-A177-3AD203B41FA5}">
                      <a16:colId xmlns:a16="http://schemas.microsoft.com/office/drawing/2014/main" val="1120977029"/>
                    </a:ext>
                  </a:extLst>
                </a:gridCol>
                <a:gridCol w="847553">
                  <a:extLst>
                    <a:ext uri="{9D8B030D-6E8A-4147-A177-3AD203B41FA5}">
                      <a16:colId xmlns:a16="http://schemas.microsoft.com/office/drawing/2014/main" val="3049090079"/>
                    </a:ext>
                  </a:extLst>
                </a:gridCol>
              </a:tblGrid>
              <a:tr h="332285">
                <a:tc>
                  <a:txBody>
                    <a:bodyPr/>
                    <a:lstStyle/>
                    <a:p>
                      <a:r>
                        <a:rPr lang="da-DK" sz="1050" dirty="0">
                          <a:solidFill>
                            <a:schemeClr val="tx1"/>
                          </a:solidFill>
                        </a:rPr>
                        <a:t>Time</a:t>
                      </a:r>
                      <a:br>
                        <a:rPr lang="da-DK" sz="1050" dirty="0">
                          <a:solidFill>
                            <a:schemeClr val="tx1"/>
                          </a:solidFill>
                        </a:rPr>
                      </a:br>
                      <a:r>
                        <a:rPr lang="da-DK" sz="1050" dirty="0" err="1">
                          <a:solidFill>
                            <a:schemeClr val="tx1"/>
                          </a:solidFill>
                        </a:rPr>
                        <a:t>mins</a:t>
                      </a:r>
                      <a:endParaRPr lang="da-DK" sz="105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050" dirty="0" err="1">
                          <a:solidFill>
                            <a:schemeClr val="tx1"/>
                          </a:solidFill>
                        </a:rPr>
                        <a:t>Temp</a:t>
                      </a:r>
                      <a:br>
                        <a:rPr lang="da-DK" sz="1050" dirty="0">
                          <a:solidFill>
                            <a:schemeClr val="tx1"/>
                          </a:solidFill>
                        </a:rPr>
                      </a:br>
                      <a:r>
                        <a:rPr lang="da-DK" sz="1050" dirty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da-DK" sz="1050" baseline="30000" dirty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da-DK" sz="105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050" dirty="0" err="1">
                          <a:solidFill>
                            <a:schemeClr val="tx1"/>
                          </a:solidFill>
                        </a:rPr>
                        <a:t>Temp</a:t>
                      </a:r>
                      <a:r>
                        <a:rPr lang="da-DK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a-DK" sz="1050" dirty="0" err="1">
                          <a:solidFill>
                            <a:schemeClr val="tx1"/>
                          </a:solidFill>
                        </a:rPr>
                        <a:t>inc</a:t>
                      </a:r>
                      <a:br>
                        <a:rPr lang="da-DK" sz="1050" dirty="0">
                          <a:solidFill>
                            <a:schemeClr val="tx1"/>
                          </a:solidFill>
                        </a:rPr>
                      </a:br>
                      <a:r>
                        <a:rPr lang="da-DK" sz="1050" dirty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da-DK" sz="1050" baseline="30000" dirty="0">
                          <a:solidFill>
                            <a:schemeClr val="tx1"/>
                          </a:solidFill>
                        </a:rPr>
                        <a:t>o</a:t>
                      </a:r>
                      <a:r>
                        <a:rPr lang="da-DK" sz="1050" dirty="0">
                          <a:solidFill>
                            <a:schemeClr val="tx1"/>
                          </a:solidFill>
                        </a:rPr>
                        <a:t>/min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63640"/>
                  </a:ext>
                </a:extLst>
              </a:tr>
              <a:tr h="273995">
                <a:tc>
                  <a:txBody>
                    <a:bodyPr/>
                    <a:lstStyle/>
                    <a:p>
                      <a:pPr algn="ctr"/>
                      <a:r>
                        <a:rPr lang="da-DK" sz="105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050" dirty="0"/>
                        <a:t>13.6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050" dirty="0"/>
                        <a:t>2.72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4755533"/>
                  </a:ext>
                </a:extLst>
              </a:tr>
              <a:tr h="273995">
                <a:tc>
                  <a:txBody>
                    <a:bodyPr/>
                    <a:lstStyle/>
                    <a:p>
                      <a:pPr algn="ctr"/>
                      <a:r>
                        <a:rPr lang="da-DK" sz="105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050" dirty="0"/>
                        <a:t>24.7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050" dirty="0"/>
                        <a:t>2.47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32892"/>
                  </a:ext>
                </a:extLst>
              </a:tr>
              <a:tr h="273995">
                <a:tc>
                  <a:txBody>
                    <a:bodyPr/>
                    <a:lstStyle/>
                    <a:p>
                      <a:pPr algn="ctr"/>
                      <a:r>
                        <a:rPr lang="da-DK" sz="105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050" dirty="0"/>
                        <a:t>31.7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050" dirty="0"/>
                        <a:t>2.11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0702833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1545548"/>
              </p:ext>
            </p:extLst>
          </p:nvPr>
        </p:nvGraphicFramePr>
        <p:xfrm>
          <a:off x="1745325" y="2572001"/>
          <a:ext cx="1119436" cy="10734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2969">
                  <a:extLst>
                    <a:ext uri="{9D8B030D-6E8A-4147-A177-3AD203B41FA5}">
                      <a16:colId xmlns:a16="http://schemas.microsoft.com/office/drawing/2014/main" val="250905753"/>
                    </a:ext>
                  </a:extLst>
                </a:gridCol>
                <a:gridCol w="516467">
                  <a:extLst>
                    <a:ext uri="{9D8B030D-6E8A-4147-A177-3AD203B41FA5}">
                      <a16:colId xmlns:a16="http://schemas.microsoft.com/office/drawing/2014/main" val="1630101919"/>
                    </a:ext>
                  </a:extLst>
                </a:gridCol>
              </a:tblGrid>
              <a:tr h="234305">
                <a:tc>
                  <a:txBody>
                    <a:bodyPr/>
                    <a:lstStyle/>
                    <a:p>
                      <a:pPr algn="ctr"/>
                      <a:r>
                        <a:rPr lang="da-DK" sz="105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05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63640"/>
                  </a:ext>
                </a:extLst>
              </a:tr>
              <a:tr h="273995">
                <a:tc>
                  <a:txBody>
                    <a:bodyPr/>
                    <a:lstStyle/>
                    <a:p>
                      <a:pPr algn="ctr"/>
                      <a:r>
                        <a:rPr lang="da-DK" sz="1050" dirty="0"/>
                        <a:t>13.6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05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4755533"/>
                  </a:ext>
                </a:extLst>
              </a:tr>
              <a:tr h="273995">
                <a:tc>
                  <a:txBody>
                    <a:bodyPr/>
                    <a:lstStyle/>
                    <a:p>
                      <a:pPr algn="ctr"/>
                      <a:r>
                        <a:rPr lang="da-DK" sz="1050" dirty="0"/>
                        <a:t>24.7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05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32892"/>
                  </a:ext>
                </a:extLst>
              </a:tr>
              <a:tr h="273995">
                <a:tc>
                  <a:txBody>
                    <a:bodyPr/>
                    <a:lstStyle/>
                    <a:p>
                      <a:pPr algn="ctr"/>
                      <a:r>
                        <a:rPr lang="da-DK" sz="1050" dirty="0"/>
                        <a:t>31.7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050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070283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673101" y="3668582"/>
            <a:ext cx="12638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tx1"/>
                </a:solidFill>
              </a:rPr>
              <a:t>A = minutes used</a:t>
            </a:r>
          </a:p>
          <a:p>
            <a:r>
              <a:rPr lang="en-US" sz="1050" dirty="0">
                <a:solidFill>
                  <a:schemeClr val="tx1"/>
                </a:solidFill>
              </a:rPr>
              <a:t>B = temperature</a:t>
            </a: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476283" y="1044955"/>
            <a:ext cx="4895775" cy="1503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+mn-ea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rgbClr val="000066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9pPr>
          </a:lstStyle>
          <a:p>
            <a:pPr marL="271463" indent="-271463" defTabSz="560831">
              <a:spcBef>
                <a:spcPts val="2800"/>
              </a:spcBef>
              <a:defRPr sz="3072"/>
            </a:pPr>
            <a:r>
              <a:rPr lang="en-US" sz="1800" kern="0" spc="-20" dirty="0"/>
              <a:t>Tables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US" sz="1600" kern="0" dirty="0"/>
              <a:t>Make headings as descriptive as possible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US" sz="1600" kern="0" dirty="0"/>
              <a:t>We usually read from left to write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US" sz="1600" kern="0" dirty="0"/>
              <a:t>Help the user as much as possible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US" sz="1600" kern="0" dirty="0"/>
              <a:t>Remove unnecessary columns and rows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0801038"/>
              </p:ext>
            </p:extLst>
          </p:nvPr>
        </p:nvGraphicFramePr>
        <p:xfrm>
          <a:off x="7724763" y="2577728"/>
          <a:ext cx="1311733" cy="12334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9167">
                  <a:extLst>
                    <a:ext uri="{9D8B030D-6E8A-4147-A177-3AD203B41FA5}">
                      <a16:colId xmlns:a16="http://schemas.microsoft.com/office/drawing/2014/main" val="1630101919"/>
                    </a:ext>
                  </a:extLst>
                </a:gridCol>
                <a:gridCol w="782566">
                  <a:extLst>
                    <a:ext uri="{9D8B030D-6E8A-4147-A177-3AD203B41FA5}">
                      <a16:colId xmlns:a16="http://schemas.microsoft.com/office/drawing/2014/main" val="3049090079"/>
                    </a:ext>
                  </a:extLst>
                </a:gridCol>
              </a:tblGrid>
              <a:tr h="332285">
                <a:tc>
                  <a:txBody>
                    <a:bodyPr/>
                    <a:lstStyle/>
                    <a:p>
                      <a:r>
                        <a:rPr lang="da-DK" sz="1050" dirty="0">
                          <a:solidFill>
                            <a:schemeClr val="tx1"/>
                          </a:solidFill>
                        </a:rPr>
                        <a:t>Time</a:t>
                      </a:r>
                      <a:br>
                        <a:rPr lang="da-DK" sz="1050" dirty="0">
                          <a:solidFill>
                            <a:schemeClr val="tx1"/>
                          </a:solidFill>
                        </a:rPr>
                      </a:br>
                      <a:r>
                        <a:rPr lang="da-DK" sz="1050" dirty="0" err="1">
                          <a:solidFill>
                            <a:schemeClr val="tx1"/>
                          </a:solidFill>
                        </a:rPr>
                        <a:t>mins</a:t>
                      </a:r>
                      <a:endParaRPr lang="da-DK" sz="105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050" dirty="0" err="1">
                          <a:solidFill>
                            <a:schemeClr val="tx1"/>
                          </a:solidFill>
                        </a:rPr>
                        <a:t>Temp</a:t>
                      </a:r>
                      <a:r>
                        <a:rPr lang="da-DK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da-DK" sz="1050" dirty="0" err="1">
                          <a:solidFill>
                            <a:schemeClr val="tx1"/>
                          </a:solidFill>
                        </a:rPr>
                        <a:t>inc</a:t>
                      </a:r>
                      <a:br>
                        <a:rPr lang="da-DK" sz="1050" dirty="0">
                          <a:solidFill>
                            <a:schemeClr val="tx1"/>
                          </a:solidFill>
                        </a:rPr>
                      </a:br>
                      <a:r>
                        <a:rPr lang="da-DK" sz="1050" dirty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da-DK" sz="1050" baseline="30000" dirty="0">
                          <a:solidFill>
                            <a:schemeClr val="tx1"/>
                          </a:solidFill>
                        </a:rPr>
                        <a:t>o</a:t>
                      </a:r>
                      <a:r>
                        <a:rPr lang="da-DK" sz="1050" dirty="0">
                          <a:solidFill>
                            <a:schemeClr val="tx1"/>
                          </a:solidFill>
                        </a:rPr>
                        <a:t>/min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63640"/>
                  </a:ext>
                </a:extLst>
              </a:tr>
              <a:tr h="273995">
                <a:tc>
                  <a:txBody>
                    <a:bodyPr/>
                    <a:lstStyle/>
                    <a:p>
                      <a:pPr algn="ctr"/>
                      <a:r>
                        <a:rPr lang="da-DK" sz="105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050" dirty="0"/>
                        <a:t>2.72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4755533"/>
                  </a:ext>
                </a:extLst>
              </a:tr>
              <a:tr h="273995">
                <a:tc>
                  <a:txBody>
                    <a:bodyPr/>
                    <a:lstStyle/>
                    <a:p>
                      <a:pPr algn="ctr"/>
                      <a:r>
                        <a:rPr lang="da-DK" sz="105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050" dirty="0"/>
                        <a:t>2.47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32892"/>
                  </a:ext>
                </a:extLst>
              </a:tr>
              <a:tr h="273995">
                <a:tc>
                  <a:txBody>
                    <a:bodyPr/>
                    <a:lstStyle/>
                    <a:p>
                      <a:pPr algn="ctr"/>
                      <a:r>
                        <a:rPr lang="da-DK" sz="105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050" dirty="0"/>
                        <a:t>2.11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0702833"/>
                  </a:ext>
                </a:extLst>
              </a:tr>
            </a:tbl>
          </a:graphicData>
        </a:graphic>
      </p:graphicFrame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511513" y="3980420"/>
            <a:ext cx="7903398" cy="1207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+mn-ea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rgbClr val="000066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9pPr>
          </a:lstStyle>
          <a:p>
            <a:pPr marL="271463" indent="-271463" defTabSz="560831">
              <a:spcBef>
                <a:spcPts val="2800"/>
              </a:spcBef>
              <a:defRPr sz="3072"/>
            </a:pPr>
            <a:r>
              <a:rPr lang="en-US" sz="1800" kern="0" spc="-20" dirty="0"/>
              <a:t>Graphs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US" sz="1600" kern="0" dirty="0"/>
              <a:t>Place text close to nodes/arcs (or inside nodes)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US" sz="1600" kern="0" dirty="0"/>
              <a:t>Be careful with arrow heads, positions, directions and with forks/joins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US" sz="1600" kern="0" dirty="0"/>
              <a:t>Help the user as much as possible</a:t>
            </a:r>
          </a:p>
        </p:txBody>
      </p:sp>
      <p:grpSp>
        <p:nvGrpSpPr>
          <p:cNvPr id="10262" name="Group 10261"/>
          <p:cNvGrpSpPr/>
          <p:nvPr/>
        </p:nvGrpSpPr>
        <p:grpSpPr>
          <a:xfrm>
            <a:off x="2861362" y="5279411"/>
            <a:ext cx="1790634" cy="1102903"/>
            <a:chOff x="2333553" y="5340426"/>
            <a:chExt cx="1790634" cy="1102903"/>
          </a:xfrm>
        </p:grpSpPr>
        <p:sp>
          <p:nvSpPr>
            <p:cNvPr id="4" name="Oval 3"/>
            <p:cNvSpPr/>
            <p:nvPr/>
          </p:nvSpPr>
          <p:spPr bwMode="auto">
            <a:xfrm>
              <a:off x="2333553" y="5620834"/>
              <a:ext cx="377567" cy="259675"/>
            </a:xfrm>
            <a:prstGeom prst="ellipse">
              <a:avLst/>
            </a:prstGeom>
            <a:solidFill>
              <a:srgbClr val="CCEC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charset="0"/>
                  <a:ea typeface="ＭＳ Ｐゴシック" charset="0"/>
                </a:rPr>
                <a:t>A</a:t>
              </a:r>
            </a:p>
          </p:txBody>
        </p:sp>
        <p:sp>
          <p:nvSpPr>
            <p:cNvPr id="16" name="Oval 15"/>
            <p:cNvSpPr/>
            <p:nvPr/>
          </p:nvSpPr>
          <p:spPr bwMode="auto">
            <a:xfrm>
              <a:off x="3087404" y="5613934"/>
              <a:ext cx="250537" cy="259675"/>
            </a:xfrm>
            <a:prstGeom prst="ellipse">
              <a:avLst/>
            </a:prstGeom>
            <a:solidFill>
              <a:srgbClr val="CCEC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charset="0"/>
                  <a:ea typeface="ＭＳ Ｐゴシック" charset="0"/>
                </a:rPr>
                <a:t>D</a:t>
              </a:r>
            </a:p>
          </p:txBody>
        </p:sp>
        <p:sp>
          <p:nvSpPr>
            <p:cNvPr id="17" name="Oval 16"/>
            <p:cNvSpPr/>
            <p:nvPr/>
          </p:nvSpPr>
          <p:spPr bwMode="auto">
            <a:xfrm>
              <a:off x="3746620" y="5620861"/>
              <a:ext cx="377567" cy="259675"/>
            </a:xfrm>
            <a:prstGeom prst="ellipse">
              <a:avLst/>
            </a:prstGeom>
            <a:solidFill>
              <a:srgbClr val="CCEC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charset="0"/>
                  <a:ea typeface="ＭＳ Ｐゴシック" charset="0"/>
                </a:rPr>
                <a:t>C</a:t>
              </a:r>
            </a:p>
          </p:txBody>
        </p:sp>
        <p:sp>
          <p:nvSpPr>
            <p:cNvPr id="18" name="Oval 17"/>
            <p:cNvSpPr/>
            <p:nvPr/>
          </p:nvSpPr>
          <p:spPr bwMode="auto">
            <a:xfrm>
              <a:off x="2943057" y="6053816"/>
              <a:ext cx="377567" cy="389513"/>
            </a:xfrm>
            <a:prstGeom prst="ellipse">
              <a:avLst/>
            </a:prstGeom>
            <a:solidFill>
              <a:srgbClr val="CCEC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charset="0"/>
                  <a:ea typeface="ＭＳ Ｐゴシック" charset="0"/>
                </a:rPr>
                <a:t>B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ＭＳ Ｐゴシック" charset="0"/>
              </a:endParaRPr>
            </a:p>
          </p:txBody>
        </p:sp>
        <p:cxnSp>
          <p:nvCxnSpPr>
            <p:cNvPr id="15" name="Straight Arrow Connector 14"/>
            <p:cNvCxnSpPr>
              <a:endCxn id="4" idx="7"/>
            </p:cNvCxnSpPr>
            <p:nvPr/>
          </p:nvCxnSpPr>
          <p:spPr bwMode="auto">
            <a:xfrm flipH="1">
              <a:off x="2655827" y="5340426"/>
              <a:ext cx="476014" cy="318437"/>
            </a:xfrm>
            <a:prstGeom prst="straightConnector1">
              <a:avLst/>
            </a:prstGeom>
            <a:noFill/>
            <a:ln w="12700" cap="flat" cmpd="sng" algn="ctr">
              <a:solidFill>
                <a:srgbClr val="000066"/>
              </a:solidFill>
              <a:prstDash val="solid"/>
              <a:round/>
              <a:headEnd type="none" w="med" len="med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2" name="Straight Arrow Connector 21"/>
            <p:cNvCxnSpPr>
              <a:stCxn id="17" idx="2"/>
              <a:endCxn id="16" idx="6"/>
            </p:cNvCxnSpPr>
            <p:nvPr/>
          </p:nvCxnSpPr>
          <p:spPr bwMode="auto">
            <a:xfrm flipH="1" flipV="1">
              <a:off x="3337941" y="5743772"/>
              <a:ext cx="408679" cy="6927"/>
            </a:xfrm>
            <a:prstGeom prst="straightConnector1">
              <a:avLst/>
            </a:prstGeom>
            <a:noFill/>
            <a:ln w="12700" cap="flat" cmpd="sng" algn="ctr">
              <a:solidFill>
                <a:srgbClr val="000066"/>
              </a:solidFill>
              <a:prstDash val="solid"/>
              <a:round/>
              <a:headEnd type="none" w="med" len="med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3" name="Straight Arrow Connector 22"/>
            <p:cNvCxnSpPr>
              <a:stCxn id="17" idx="3"/>
              <a:endCxn id="18" idx="6"/>
            </p:cNvCxnSpPr>
            <p:nvPr/>
          </p:nvCxnSpPr>
          <p:spPr bwMode="auto">
            <a:xfrm flipH="1">
              <a:off x="3320624" y="5842507"/>
              <a:ext cx="481289" cy="406066"/>
            </a:xfrm>
            <a:prstGeom prst="straightConnector1">
              <a:avLst/>
            </a:prstGeom>
            <a:noFill/>
            <a:ln w="12700" cap="flat" cmpd="sng" algn="ctr">
              <a:solidFill>
                <a:srgbClr val="000066"/>
              </a:solidFill>
              <a:prstDash val="solid"/>
              <a:round/>
              <a:headEnd type="none" w="med" len="med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9" name="Straight Arrow Connector 28"/>
            <p:cNvCxnSpPr>
              <a:endCxn id="4" idx="5"/>
            </p:cNvCxnSpPr>
            <p:nvPr/>
          </p:nvCxnSpPr>
          <p:spPr bwMode="auto">
            <a:xfrm flipH="1" flipV="1">
              <a:off x="2655827" y="5842480"/>
              <a:ext cx="321702" cy="274729"/>
            </a:xfrm>
            <a:prstGeom prst="straightConnector1">
              <a:avLst/>
            </a:prstGeom>
            <a:noFill/>
            <a:ln w="12700" cap="flat" cmpd="sng" algn="ctr">
              <a:solidFill>
                <a:srgbClr val="000066"/>
              </a:solidFill>
              <a:prstDash val="solid"/>
              <a:round/>
              <a:headEnd type="none" w="med" len="med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35" name="Straight Arrow Connector 34"/>
            <p:cNvCxnSpPr/>
            <p:nvPr/>
          </p:nvCxnSpPr>
          <p:spPr bwMode="auto">
            <a:xfrm flipH="1" flipV="1">
              <a:off x="3131840" y="5340426"/>
              <a:ext cx="697745" cy="309192"/>
            </a:xfrm>
            <a:prstGeom prst="straightConnector1">
              <a:avLst/>
            </a:prstGeom>
            <a:noFill/>
            <a:ln w="12700" cap="flat" cmpd="sng" algn="ctr">
              <a:solidFill>
                <a:srgbClr val="000066"/>
              </a:solidFill>
              <a:prstDash val="solid"/>
              <a:round/>
              <a:headEnd type="none" w="med" len="med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grpSp>
        <p:nvGrpSpPr>
          <p:cNvPr id="10263" name="Group 10262"/>
          <p:cNvGrpSpPr/>
          <p:nvPr/>
        </p:nvGrpSpPr>
        <p:grpSpPr>
          <a:xfrm>
            <a:off x="5012582" y="5065195"/>
            <a:ext cx="1234461" cy="1277642"/>
            <a:chOff x="7036986" y="5178110"/>
            <a:chExt cx="1234461" cy="1277642"/>
          </a:xfrm>
        </p:grpSpPr>
        <p:sp>
          <p:nvSpPr>
            <p:cNvPr id="38" name="Oval 37"/>
            <p:cNvSpPr/>
            <p:nvPr/>
          </p:nvSpPr>
          <p:spPr bwMode="auto">
            <a:xfrm>
              <a:off x="7893879" y="5178110"/>
              <a:ext cx="377567" cy="259675"/>
            </a:xfrm>
            <a:prstGeom prst="ellipse">
              <a:avLst/>
            </a:prstGeom>
            <a:solidFill>
              <a:srgbClr val="CCEC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charset="0"/>
                  <a:ea typeface="ＭＳ Ｐゴシック" charset="0"/>
                </a:rPr>
                <a:t>A</a:t>
              </a:r>
            </a:p>
          </p:txBody>
        </p:sp>
        <p:sp>
          <p:nvSpPr>
            <p:cNvPr id="39" name="Oval 38"/>
            <p:cNvSpPr/>
            <p:nvPr/>
          </p:nvSpPr>
          <p:spPr bwMode="auto">
            <a:xfrm>
              <a:off x="7893880" y="5712143"/>
              <a:ext cx="377567" cy="259675"/>
            </a:xfrm>
            <a:prstGeom prst="ellipse">
              <a:avLst/>
            </a:prstGeom>
            <a:solidFill>
              <a:srgbClr val="CCEC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charset="0"/>
                  <a:ea typeface="ＭＳ Ｐゴシック" charset="0"/>
                </a:rPr>
                <a:t>B</a:t>
              </a:r>
            </a:p>
          </p:txBody>
        </p:sp>
        <p:sp>
          <p:nvSpPr>
            <p:cNvPr id="40" name="Oval 39"/>
            <p:cNvSpPr/>
            <p:nvPr/>
          </p:nvSpPr>
          <p:spPr bwMode="auto">
            <a:xfrm>
              <a:off x="7036986" y="5699730"/>
              <a:ext cx="377567" cy="259675"/>
            </a:xfrm>
            <a:prstGeom prst="ellipse">
              <a:avLst/>
            </a:prstGeom>
            <a:solidFill>
              <a:srgbClr val="CCEC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charset="0"/>
                  <a:ea typeface="ＭＳ Ｐゴシック" charset="0"/>
                </a:rPr>
                <a:t>C</a:t>
              </a:r>
            </a:p>
          </p:txBody>
        </p:sp>
        <p:sp>
          <p:nvSpPr>
            <p:cNvPr id="41" name="Oval 40"/>
            <p:cNvSpPr/>
            <p:nvPr/>
          </p:nvSpPr>
          <p:spPr bwMode="auto">
            <a:xfrm>
              <a:off x="7878414" y="6196077"/>
              <a:ext cx="377567" cy="259675"/>
            </a:xfrm>
            <a:prstGeom prst="ellipse">
              <a:avLst/>
            </a:prstGeom>
            <a:solidFill>
              <a:srgbClr val="CCEC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charset="0"/>
                  <a:ea typeface="ＭＳ Ｐゴシック" charset="0"/>
                </a:rPr>
                <a:t>D</a:t>
              </a:r>
            </a:p>
          </p:txBody>
        </p:sp>
        <p:cxnSp>
          <p:nvCxnSpPr>
            <p:cNvPr id="43" name="Straight Arrow Connector 42"/>
            <p:cNvCxnSpPr>
              <a:endCxn id="39" idx="2"/>
            </p:cNvCxnSpPr>
            <p:nvPr/>
          </p:nvCxnSpPr>
          <p:spPr bwMode="auto">
            <a:xfrm>
              <a:off x="7424797" y="5838812"/>
              <a:ext cx="469083" cy="3169"/>
            </a:xfrm>
            <a:prstGeom prst="straightConnector1">
              <a:avLst/>
            </a:prstGeom>
            <a:noFill/>
            <a:ln w="12700" cap="flat" cmpd="sng" algn="ctr">
              <a:solidFill>
                <a:srgbClr val="000066"/>
              </a:solidFill>
              <a:prstDash val="solid"/>
              <a:round/>
              <a:headEnd type="none" w="med" len="med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44" name="Straight Arrow Connector 43"/>
            <p:cNvCxnSpPr/>
            <p:nvPr/>
          </p:nvCxnSpPr>
          <p:spPr bwMode="auto">
            <a:xfrm>
              <a:off x="7353070" y="5921610"/>
              <a:ext cx="601893" cy="330866"/>
            </a:xfrm>
            <a:prstGeom prst="straightConnector1">
              <a:avLst/>
            </a:prstGeom>
            <a:noFill/>
            <a:ln w="12700" cap="flat" cmpd="sng" algn="ctr">
              <a:solidFill>
                <a:srgbClr val="000066"/>
              </a:solidFill>
              <a:prstDash val="solid"/>
              <a:round/>
              <a:headEnd type="none" w="med" len="med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45" name="Straight Arrow Connector 44"/>
            <p:cNvCxnSpPr>
              <a:stCxn id="39" idx="0"/>
            </p:cNvCxnSpPr>
            <p:nvPr/>
          </p:nvCxnSpPr>
          <p:spPr bwMode="auto">
            <a:xfrm flipH="1" flipV="1">
              <a:off x="8077515" y="5434844"/>
              <a:ext cx="5149" cy="277299"/>
            </a:xfrm>
            <a:prstGeom prst="straightConnector1">
              <a:avLst/>
            </a:prstGeom>
            <a:noFill/>
            <a:ln w="12700" cap="flat" cmpd="sng" algn="ctr">
              <a:solidFill>
                <a:srgbClr val="000066"/>
              </a:solidFill>
              <a:prstDash val="solid"/>
              <a:round/>
              <a:headEnd type="none" w="med" len="med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52" name="Straight Arrow Connector 51"/>
            <p:cNvCxnSpPr/>
            <p:nvPr/>
          </p:nvCxnSpPr>
          <p:spPr bwMode="auto">
            <a:xfrm flipV="1">
              <a:off x="7570650" y="5403273"/>
              <a:ext cx="357614" cy="435539"/>
            </a:xfrm>
            <a:prstGeom prst="straightConnector1">
              <a:avLst/>
            </a:prstGeom>
            <a:noFill/>
            <a:ln w="12700" cap="flat" cmpd="sng" algn="ctr">
              <a:solidFill>
                <a:srgbClr val="000066"/>
              </a:solidFill>
              <a:prstDash val="solid"/>
              <a:round/>
              <a:headEnd type="none" w="med" len="med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grpSp>
        <p:nvGrpSpPr>
          <p:cNvPr id="10261" name="Group 10260"/>
          <p:cNvGrpSpPr/>
          <p:nvPr/>
        </p:nvGrpSpPr>
        <p:grpSpPr>
          <a:xfrm>
            <a:off x="1248813" y="5268933"/>
            <a:ext cx="1198036" cy="1200116"/>
            <a:chOff x="677628" y="5430480"/>
            <a:chExt cx="1198036" cy="1200116"/>
          </a:xfrm>
        </p:grpSpPr>
        <p:sp>
          <p:nvSpPr>
            <p:cNvPr id="59" name="Oval 58"/>
            <p:cNvSpPr/>
            <p:nvPr/>
          </p:nvSpPr>
          <p:spPr bwMode="auto">
            <a:xfrm>
              <a:off x="677628" y="5724856"/>
              <a:ext cx="153820" cy="163698"/>
            </a:xfrm>
            <a:prstGeom prst="ellipse">
              <a:avLst/>
            </a:prstGeom>
            <a:solidFill>
              <a:srgbClr val="CCEC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ＭＳ Ｐゴシック" charset="0"/>
              </a:endParaRPr>
            </a:p>
          </p:txBody>
        </p:sp>
        <p:sp>
          <p:nvSpPr>
            <p:cNvPr id="60" name="Oval 59"/>
            <p:cNvSpPr/>
            <p:nvPr/>
          </p:nvSpPr>
          <p:spPr bwMode="auto">
            <a:xfrm>
              <a:off x="1101853" y="5704820"/>
              <a:ext cx="153820" cy="163698"/>
            </a:xfrm>
            <a:prstGeom prst="ellipse">
              <a:avLst/>
            </a:prstGeom>
            <a:solidFill>
              <a:srgbClr val="CCEC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ＭＳ Ｐゴシック" charset="0"/>
              </a:endParaRPr>
            </a:p>
          </p:txBody>
        </p:sp>
        <p:sp>
          <p:nvSpPr>
            <p:cNvPr id="61" name="Oval 60"/>
            <p:cNvSpPr/>
            <p:nvPr/>
          </p:nvSpPr>
          <p:spPr bwMode="auto">
            <a:xfrm>
              <a:off x="1721844" y="5704820"/>
              <a:ext cx="153820" cy="163698"/>
            </a:xfrm>
            <a:prstGeom prst="ellipse">
              <a:avLst/>
            </a:prstGeom>
            <a:solidFill>
              <a:srgbClr val="CCEC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ＭＳ Ｐゴシック" charset="0"/>
              </a:endParaRPr>
            </a:p>
          </p:txBody>
        </p:sp>
        <p:sp>
          <p:nvSpPr>
            <p:cNvPr id="62" name="Oval 61"/>
            <p:cNvSpPr/>
            <p:nvPr/>
          </p:nvSpPr>
          <p:spPr bwMode="auto">
            <a:xfrm>
              <a:off x="1105316" y="6129221"/>
              <a:ext cx="153820" cy="163698"/>
            </a:xfrm>
            <a:prstGeom prst="ellipse">
              <a:avLst/>
            </a:prstGeom>
            <a:solidFill>
              <a:srgbClr val="CCEC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da-DK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ＭＳ Ｐゴシック" charset="0"/>
              </a:endParaRPr>
            </a:p>
          </p:txBody>
        </p:sp>
        <p:cxnSp>
          <p:nvCxnSpPr>
            <p:cNvPr id="63" name="Straight Arrow Connector 62"/>
            <p:cNvCxnSpPr/>
            <p:nvPr/>
          </p:nvCxnSpPr>
          <p:spPr bwMode="auto">
            <a:xfrm flipH="1">
              <a:off x="1283225" y="5787736"/>
              <a:ext cx="410493" cy="3096"/>
            </a:xfrm>
            <a:prstGeom prst="straightConnector1">
              <a:avLst/>
            </a:prstGeom>
            <a:noFill/>
            <a:ln w="12700" cap="flat" cmpd="sng" algn="ctr">
              <a:solidFill>
                <a:srgbClr val="000066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7" name="Straight Arrow Connector 66"/>
            <p:cNvCxnSpPr/>
            <p:nvPr/>
          </p:nvCxnSpPr>
          <p:spPr bwMode="auto">
            <a:xfrm flipH="1">
              <a:off x="1279763" y="5850082"/>
              <a:ext cx="455519" cy="332141"/>
            </a:xfrm>
            <a:prstGeom prst="straightConnector1">
              <a:avLst/>
            </a:prstGeom>
            <a:noFill/>
            <a:ln w="12700" cap="flat" cmpd="sng" algn="ctr">
              <a:solidFill>
                <a:srgbClr val="000066"/>
              </a:solidFill>
              <a:prstDash val="solid"/>
              <a:round/>
              <a:headEnd type="none" w="med" len="med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69" name="Straight Arrow Connector 68"/>
            <p:cNvCxnSpPr/>
            <p:nvPr/>
          </p:nvCxnSpPr>
          <p:spPr bwMode="auto">
            <a:xfrm flipH="1">
              <a:off x="803484" y="5430480"/>
              <a:ext cx="476014" cy="318437"/>
            </a:xfrm>
            <a:prstGeom prst="straightConnector1">
              <a:avLst/>
            </a:prstGeom>
            <a:noFill/>
            <a:ln w="12700" cap="flat" cmpd="sng" algn="ctr">
              <a:solidFill>
                <a:srgbClr val="000066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70" name="Straight Arrow Connector 69"/>
            <p:cNvCxnSpPr/>
            <p:nvPr/>
          </p:nvCxnSpPr>
          <p:spPr bwMode="auto">
            <a:xfrm flipH="1" flipV="1">
              <a:off x="1283225" y="5437785"/>
              <a:ext cx="464715" cy="301887"/>
            </a:xfrm>
            <a:prstGeom prst="straightConnector1">
              <a:avLst/>
            </a:prstGeom>
            <a:noFill/>
            <a:ln w="12700" cap="flat" cmpd="sng" algn="ctr">
              <a:solidFill>
                <a:srgbClr val="000066"/>
              </a:solidFill>
              <a:prstDash val="solid"/>
              <a:round/>
              <a:headEnd type="none" w="med" len="med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71" name="Straight Arrow Connector 70"/>
            <p:cNvCxnSpPr/>
            <p:nvPr/>
          </p:nvCxnSpPr>
          <p:spPr bwMode="auto">
            <a:xfrm flipH="1" flipV="1">
              <a:off x="772918" y="5900385"/>
              <a:ext cx="321702" cy="274729"/>
            </a:xfrm>
            <a:prstGeom prst="straightConnector1">
              <a:avLst/>
            </a:prstGeom>
            <a:noFill/>
            <a:ln w="12700" cap="flat" cmpd="sng" algn="ctr">
              <a:solidFill>
                <a:srgbClr val="000066"/>
              </a:solidFill>
              <a:prstDash val="solid"/>
              <a:round/>
              <a:headEnd type="none" w="med" len="med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73" name="TextBox 72"/>
            <p:cNvSpPr txBox="1"/>
            <p:nvPr/>
          </p:nvSpPr>
          <p:spPr>
            <a:xfrm>
              <a:off x="852723" y="5687820"/>
              <a:ext cx="30514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1246172" y="6292042"/>
              <a:ext cx="30514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1385569" y="5588564"/>
              <a:ext cx="3051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1056011" y="5874580"/>
              <a:ext cx="3377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tx1"/>
                  </a:solidFill>
                </a:rPr>
                <a:t>D</a:t>
              </a:r>
            </a:p>
          </p:txBody>
        </p:sp>
      </p:grpSp>
      <p:grpSp>
        <p:nvGrpSpPr>
          <p:cNvPr id="80" name="Group 79"/>
          <p:cNvGrpSpPr/>
          <p:nvPr/>
        </p:nvGrpSpPr>
        <p:grpSpPr>
          <a:xfrm>
            <a:off x="6708162" y="5015337"/>
            <a:ext cx="2043073" cy="1348694"/>
            <a:chOff x="6577528" y="5107058"/>
            <a:chExt cx="2043073" cy="1348694"/>
          </a:xfrm>
        </p:grpSpPr>
        <p:sp>
          <p:nvSpPr>
            <p:cNvPr id="81" name="Oval 80"/>
            <p:cNvSpPr/>
            <p:nvPr/>
          </p:nvSpPr>
          <p:spPr bwMode="auto">
            <a:xfrm>
              <a:off x="7893880" y="5107058"/>
              <a:ext cx="726721" cy="259675"/>
            </a:xfrm>
            <a:prstGeom prst="ellipse">
              <a:avLst/>
            </a:prstGeom>
            <a:solidFill>
              <a:srgbClr val="CCEC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charset="0"/>
                  <a:ea typeface="ＭＳ Ｐゴシック" charset="0"/>
                </a:rPr>
                <a:t>Athens</a:t>
              </a:r>
            </a:p>
          </p:txBody>
        </p:sp>
        <p:sp>
          <p:nvSpPr>
            <p:cNvPr id="82" name="Oval 81"/>
            <p:cNvSpPr/>
            <p:nvPr/>
          </p:nvSpPr>
          <p:spPr bwMode="auto">
            <a:xfrm>
              <a:off x="7843722" y="5712143"/>
              <a:ext cx="762000" cy="259675"/>
            </a:xfrm>
            <a:prstGeom prst="ellipse">
              <a:avLst/>
            </a:prstGeom>
            <a:solidFill>
              <a:srgbClr val="CCEC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da-DK" sz="1200" dirty="0">
                  <a:solidFill>
                    <a:srgbClr val="000000"/>
                  </a:solidFill>
                  <a:ea typeface="ＭＳ Ｐゴシック" charset="0"/>
                </a:rPr>
                <a:t>Beirut</a:t>
              </a:r>
            </a:p>
          </p:txBody>
        </p:sp>
        <p:sp>
          <p:nvSpPr>
            <p:cNvPr id="83" name="Oval 82"/>
            <p:cNvSpPr/>
            <p:nvPr/>
          </p:nvSpPr>
          <p:spPr bwMode="auto">
            <a:xfrm>
              <a:off x="6577528" y="5699730"/>
              <a:ext cx="837026" cy="259675"/>
            </a:xfrm>
            <a:prstGeom prst="ellipse">
              <a:avLst/>
            </a:prstGeom>
            <a:solidFill>
              <a:srgbClr val="CCEC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charset="0"/>
                  <a:ea typeface="ＭＳ Ｐゴシック" charset="0"/>
                </a:rPr>
                <a:t>Chicago</a:t>
              </a:r>
            </a:p>
          </p:txBody>
        </p:sp>
        <p:sp>
          <p:nvSpPr>
            <p:cNvPr id="84" name="Oval 83"/>
            <p:cNvSpPr/>
            <p:nvPr/>
          </p:nvSpPr>
          <p:spPr bwMode="auto">
            <a:xfrm>
              <a:off x="7836081" y="6196077"/>
              <a:ext cx="742186" cy="259675"/>
            </a:xfrm>
            <a:prstGeom prst="ellipse">
              <a:avLst/>
            </a:prstGeom>
            <a:solidFill>
              <a:srgbClr val="CCEC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da-DK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charset="0"/>
                  <a:ea typeface="ＭＳ Ｐゴシック" charset="0"/>
                </a:rPr>
                <a:t>Dayton</a:t>
              </a:r>
            </a:p>
          </p:txBody>
        </p:sp>
        <p:cxnSp>
          <p:nvCxnSpPr>
            <p:cNvPr id="85" name="Straight Arrow Connector 84"/>
            <p:cNvCxnSpPr>
              <a:endCxn id="82" idx="2"/>
            </p:cNvCxnSpPr>
            <p:nvPr/>
          </p:nvCxnSpPr>
          <p:spPr bwMode="auto">
            <a:xfrm>
              <a:off x="7424797" y="5838812"/>
              <a:ext cx="418925" cy="3169"/>
            </a:xfrm>
            <a:prstGeom prst="straightConnector1">
              <a:avLst/>
            </a:prstGeom>
            <a:noFill/>
            <a:ln w="12700" cap="flat" cmpd="sng" algn="ctr">
              <a:solidFill>
                <a:srgbClr val="000066"/>
              </a:solidFill>
              <a:prstDash val="solid"/>
              <a:round/>
              <a:headEnd type="none" w="med" len="med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86" name="Straight Arrow Connector 85"/>
            <p:cNvCxnSpPr/>
            <p:nvPr/>
          </p:nvCxnSpPr>
          <p:spPr bwMode="auto">
            <a:xfrm>
              <a:off x="7353070" y="5921610"/>
              <a:ext cx="525763" cy="350778"/>
            </a:xfrm>
            <a:prstGeom prst="straightConnector1">
              <a:avLst/>
            </a:prstGeom>
            <a:noFill/>
            <a:ln w="12700" cap="flat" cmpd="sng" algn="ctr">
              <a:solidFill>
                <a:srgbClr val="000066"/>
              </a:solidFill>
              <a:prstDash val="solid"/>
              <a:round/>
              <a:headEnd type="none" w="med" len="med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87" name="Straight Arrow Connector 86"/>
            <p:cNvCxnSpPr/>
            <p:nvPr/>
          </p:nvCxnSpPr>
          <p:spPr bwMode="auto">
            <a:xfrm flipV="1">
              <a:off x="8233189" y="5379182"/>
              <a:ext cx="0" cy="338667"/>
            </a:xfrm>
            <a:prstGeom prst="straightConnector1">
              <a:avLst/>
            </a:prstGeom>
            <a:noFill/>
            <a:ln w="12700" cap="flat" cmpd="sng" algn="ctr">
              <a:solidFill>
                <a:srgbClr val="000066"/>
              </a:solidFill>
              <a:prstDash val="solid"/>
              <a:round/>
              <a:headEnd type="none" w="med" len="med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88" name="Straight Arrow Connector 87"/>
            <p:cNvCxnSpPr/>
            <p:nvPr/>
          </p:nvCxnSpPr>
          <p:spPr bwMode="auto">
            <a:xfrm flipV="1">
              <a:off x="7338247" y="5305537"/>
              <a:ext cx="629074" cy="441633"/>
            </a:xfrm>
            <a:prstGeom prst="straightConnector1">
              <a:avLst/>
            </a:prstGeom>
            <a:noFill/>
            <a:ln w="12700" cap="flat" cmpd="sng" algn="ctr">
              <a:solidFill>
                <a:srgbClr val="000066"/>
              </a:solidFill>
              <a:prstDash val="solid"/>
              <a:round/>
              <a:headEnd type="none" w="med" len="med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sp>
        <p:nvSpPr>
          <p:cNvPr id="54" name="Rectangle 3"/>
          <p:cNvSpPr txBox="1">
            <a:spLocks noChangeArrowheads="1"/>
          </p:cNvSpPr>
          <p:nvPr/>
        </p:nvSpPr>
        <p:spPr bwMode="auto">
          <a:xfrm>
            <a:off x="5616629" y="1333909"/>
            <a:ext cx="3119727" cy="869469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CC"/>
            </a:solidFill>
          </a:ln>
          <a:extLst>
            <a:ext uri="{FAA26D3D-D897-4be2-8F04-BA451C77F1D7}"/>
          </a:extLst>
        </p:spPr>
        <p:txBody>
          <a:bodyPr wrap="square" rtlCol="0">
            <a:spAutoFit/>
          </a:bodyPr>
          <a:lstStyle>
            <a:defPPr>
              <a:defRPr lang="da-DK"/>
            </a:defPPr>
            <a:lvl1pPr marL="171450" indent="-171450">
              <a:spcBef>
                <a:spcPts val="300"/>
              </a:spcBef>
              <a:buFont typeface="Arial" panose="020B0604020202020204" pitchFamily="34" charset="0"/>
              <a:buChar char="•"/>
              <a:defRPr sz="1200" b="1">
                <a:solidFill>
                  <a:srgbClr val="0000CC"/>
                </a:solidFill>
              </a:defRPr>
            </a:lvl1pPr>
          </a:lstStyle>
          <a:p>
            <a:pPr marL="171450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altLang="da-DK" sz="1200" b="1" dirty="0">
                <a:solidFill>
                  <a:srgbClr val="0000CC"/>
                </a:solidFill>
              </a:rPr>
              <a:t>You will also need good figures for your oral presentation</a:t>
            </a:r>
          </a:p>
          <a:p>
            <a:pPr marL="171450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altLang="da-DK" sz="1200" b="1" dirty="0">
                <a:solidFill>
                  <a:srgbClr val="0000CC"/>
                </a:solidFill>
              </a:rPr>
              <a:t>Make them early enough to put them in your report</a:t>
            </a:r>
          </a:p>
        </p:txBody>
      </p:sp>
      <p:sp>
        <p:nvSpPr>
          <p:cNvPr id="55" name="Rectangle 3"/>
          <p:cNvSpPr txBox="1">
            <a:spLocks noChangeArrowheads="1"/>
          </p:cNvSpPr>
          <p:nvPr/>
        </p:nvSpPr>
        <p:spPr bwMode="auto">
          <a:xfrm>
            <a:off x="6229883" y="4011284"/>
            <a:ext cx="2506473" cy="461665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CC"/>
            </a:solidFill>
          </a:ln>
          <a:extLst>
            <a:ext uri="{FAA26D3D-D897-4be2-8F04-BA451C77F1D7}"/>
          </a:extLst>
        </p:spPr>
        <p:txBody>
          <a:bodyPr wrap="square" rtlCol="0">
            <a:spAutoFit/>
          </a:bodyPr>
          <a:lstStyle>
            <a:defPPr>
              <a:defRPr lang="da-DK"/>
            </a:defPPr>
            <a:lvl1pPr marL="171450" indent="-171450">
              <a:spcBef>
                <a:spcPts val="300"/>
              </a:spcBef>
              <a:buFont typeface="Arial" panose="020B0604020202020204" pitchFamily="34" charset="0"/>
              <a:buChar char="•"/>
              <a:defRPr sz="1200" b="1">
                <a:solidFill>
                  <a:srgbClr val="0000CC"/>
                </a:solidFill>
              </a:defRPr>
            </a:lvl1pPr>
          </a:lstStyle>
          <a:p>
            <a:pPr marL="171450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altLang="da-DK" sz="1200" b="1" dirty="0">
                <a:solidFill>
                  <a:srgbClr val="0000CC"/>
                </a:solidFill>
              </a:rPr>
              <a:t>Much more information in the lecture by Hans-Jörg Schulz</a:t>
            </a:r>
          </a:p>
        </p:txBody>
      </p:sp>
    </p:spTree>
    <p:extLst>
      <p:ext uri="{BB962C8B-B14F-4D97-AF65-F5344CB8AC3E}">
        <p14:creationId xmlns:p14="http://schemas.microsoft.com/office/powerpoint/2010/main" val="147181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54" grpId="0" animBg="1"/>
      <p:bldP spid="5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568183" cy="609600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da-DK" sz="2800" dirty="0"/>
              <a:t>Proof reading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7621" y="1052736"/>
            <a:ext cx="8218390" cy="5805264"/>
          </a:xfrm>
          <a:noFill/>
        </p:spPr>
        <p:txBody>
          <a:bodyPr/>
          <a:lstStyle/>
          <a:p>
            <a:pPr marL="271463" indent="-271463" defTabSz="560831">
              <a:spcBef>
                <a:spcPts val="1200"/>
              </a:spcBef>
              <a:defRPr sz="3072" b="1"/>
            </a:pPr>
            <a:r>
              <a:rPr lang="en-GB" altLang="da-DK" sz="1800" dirty="0"/>
              <a:t>Divide and focus your checks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GB" altLang="da-DK" sz="1600" b="1" dirty="0"/>
              <a:t>In one round, you focus primarily on </a:t>
            </a:r>
            <a:r>
              <a:rPr lang="en-GB" altLang="da-DK" sz="1600" b="1" dirty="0">
                <a:solidFill>
                  <a:srgbClr val="008000"/>
                </a:solidFill>
              </a:rPr>
              <a:t>grammatical errors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GB" altLang="da-DK" sz="1600" b="1" dirty="0"/>
              <a:t>In one round, you focus om </a:t>
            </a:r>
            <a:r>
              <a:rPr lang="en-GB" altLang="da-DK" sz="1600" b="1" dirty="0">
                <a:solidFill>
                  <a:srgbClr val="008000"/>
                </a:solidFill>
              </a:rPr>
              <a:t>simplification</a:t>
            </a:r>
            <a:r>
              <a:rPr lang="en-GB" altLang="da-DK" sz="1600" b="1" dirty="0"/>
              <a:t> of the text (short sentences etc.)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GB" altLang="da-DK" sz="1600" b="1" dirty="0"/>
              <a:t>In one round, you check that you use the </a:t>
            </a:r>
            <a:r>
              <a:rPr lang="en-GB" altLang="da-DK" sz="1600" b="1" dirty="0">
                <a:solidFill>
                  <a:srgbClr val="008000"/>
                </a:solidFill>
              </a:rPr>
              <a:t>terminology</a:t>
            </a:r>
            <a:r>
              <a:rPr lang="en-GB" altLang="da-DK" sz="1600" b="1" dirty="0"/>
              <a:t>, you have introduced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GB" altLang="da-DK" sz="1600" b="1" dirty="0"/>
              <a:t>In one round, you check all your </a:t>
            </a:r>
            <a:r>
              <a:rPr lang="en-GB" altLang="da-DK" sz="1600" b="1" dirty="0">
                <a:solidFill>
                  <a:srgbClr val="008000"/>
                </a:solidFill>
              </a:rPr>
              <a:t>proofs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GB" altLang="da-DK" sz="1600" dirty="0"/>
              <a:t>In one round, you check the </a:t>
            </a:r>
            <a:r>
              <a:rPr lang="en-GB" altLang="da-DK" sz="1600" b="1" dirty="0">
                <a:solidFill>
                  <a:srgbClr val="008000"/>
                </a:solidFill>
              </a:rPr>
              <a:t>layout</a:t>
            </a:r>
            <a:r>
              <a:rPr lang="en-GB" altLang="da-DK" sz="1600" dirty="0"/>
              <a:t> of your paper, e.g. whether the tables and figures are positioned in such a way that you can see them, while you read the explanation of them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GB" altLang="da-DK" sz="1600" dirty="0"/>
              <a:t>In one round, you check all your </a:t>
            </a:r>
            <a:r>
              <a:rPr lang="en-GB" altLang="da-DK" sz="1600" b="1" dirty="0">
                <a:solidFill>
                  <a:srgbClr val="008000"/>
                </a:solidFill>
              </a:rPr>
              <a:t>tables</a:t>
            </a:r>
            <a:r>
              <a:rPr lang="en-GB" altLang="da-DK" sz="1600" dirty="0"/>
              <a:t> and </a:t>
            </a:r>
            <a:r>
              <a:rPr lang="en-GB" altLang="da-DK" sz="1600" b="1" dirty="0">
                <a:solidFill>
                  <a:srgbClr val="008000"/>
                </a:solidFill>
              </a:rPr>
              <a:t>figures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GB" altLang="da-DK" sz="1600" dirty="0"/>
              <a:t>In one round, you check that all </a:t>
            </a:r>
            <a:r>
              <a:rPr lang="en-GB" altLang="da-DK" sz="1600" b="1" dirty="0">
                <a:solidFill>
                  <a:srgbClr val="008000"/>
                </a:solidFill>
              </a:rPr>
              <a:t>section headings</a:t>
            </a:r>
            <a:r>
              <a:rPr lang="en-GB" altLang="da-DK" sz="1600" dirty="0"/>
              <a:t> are consistent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GB" altLang="da-DK" sz="1600" dirty="0"/>
              <a:t>In one round, you check all your </a:t>
            </a:r>
            <a:r>
              <a:rPr lang="en-GB" altLang="da-DK" sz="1600" b="1" dirty="0">
                <a:solidFill>
                  <a:srgbClr val="008000"/>
                </a:solidFill>
              </a:rPr>
              <a:t>references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GB" altLang="da-DK" sz="1600" dirty="0"/>
              <a:t>In one round, you focus on </a:t>
            </a:r>
            <a:r>
              <a:rPr lang="en-GB" altLang="da-DK" sz="1600" b="1" dirty="0">
                <a:solidFill>
                  <a:srgbClr val="008000"/>
                </a:solidFill>
              </a:rPr>
              <a:t>punctuation</a:t>
            </a:r>
            <a:r>
              <a:rPr lang="en-GB" altLang="da-DK" sz="1600" dirty="0"/>
              <a:t> (commas and full stops)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GB" altLang="da-DK" sz="1600" dirty="0"/>
              <a:t>………</a:t>
            </a:r>
          </a:p>
          <a:p>
            <a:pPr marL="271463" lvl="1" indent="-271463" defTabSz="560831">
              <a:spcBef>
                <a:spcPts val="1200"/>
              </a:spcBef>
              <a:buChar char="•"/>
              <a:defRPr sz="3072" b="1"/>
            </a:pPr>
            <a:r>
              <a:rPr lang="en-US" sz="1800" b="1" dirty="0">
                <a:solidFill>
                  <a:srgbClr val="A50021"/>
                </a:solidFill>
                <a:cs typeface="ＭＳ Ｐゴシック" charset="0"/>
              </a:rPr>
              <a:t>Proofread your drafts before you submit them to your advisor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US" sz="1600" dirty="0"/>
              <a:t>The quality of your text will influence the quality of the comments you get back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US" sz="1600" dirty="0"/>
              <a:t>If your draft is well-formulated with a clear logical structure without too many loose ends, it is much easier for your advisor to understand your ideas and make good proposals for improvements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US" sz="1600" dirty="0"/>
              <a:t>The higher quality you have in your drafts, the easier it will be to put things</a:t>
            </a:r>
            <a:br>
              <a:rPr lang="en-US" sz="1600" dirty="0"/>
            </a:br>
            <a:r>
              <a:rPr lang="en-US" sz="1600" dirty="0"/>
              <a:t>together at the very end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endParaRPr lang="en-GB" altLang="da-DK" sz="18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20</a:t>
            </a:fld>
            <a:endParaRPr lang="da-DK" altLang="da-DK" dirty="0"/>
          </a:p>
        </p:txBody>
      </p:sp>
    </p:spTree>
    <p:extLst>
      <p:ext uri="{BB962C8B-B14F-4D97-AF65-F5344CB8AC3E}">
        <p14:creationId xmlns:p14="http://schemas.microsoft.com/office/powerpoint/2010/main" val="21850594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568183" cy="609600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da-DK" sz="2800" dirty="0"/>
              <a:t>Proof reading (continued)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7620" y="1052736"/>
            <a:ext cx="8476868" cy="4176464"/>
          </a:xfrm>
          <a:noFill/>
        </p:spPr>
        <p:txBody>
          <a:bodyPr/>
          <a:lstStyle/>
          <a:p>
            <a:pPr marL="271463" indent="-271463" defTabSz="560831">
              <a:spcBef>
                <a:spcPts val="1200"/>
              </a:spcBef>
              <a:defRPr sz="3072" b="1"/>
            </a:pPr>
            <a:r>
              <a:rPr lang="en-GB" altLang="da-DK" sz="1800" dirty="0"/>
              <a:t>Enlist the help of other people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GB" altLang="da-DK" sz="1600" dirty="0"/>
              <a:t>Ask other students to read part of your text – perhaps you can make a deal with another group working on a similar topic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GB" altLang="da-DK" sz="1600" dirty="0"/>
              <a:t>Ask boyfriends / girlfriends and your mother to look for grammatical errors and clumsy language – and ask all kinds of "stupid” questions, which can help you clarify your text</a:t>
            </a:r>
            <a:endParaRPr lang="en-GB" altLang="da-DK" sz="1800" dirty="0"/>
          </a:p>
          <a:p>
            <a:pPr marL="271463" indent="-271463" defTabSz="560831">
              <a:spcBef>
                <a:spcPts val="1200"/>
              </a:spcBef>
              <a:defRPr sz="3072" b="1"/>
            </a:pPr>
            <a:r>
              <a:rPr lang="en-GB" altLang="da-DK" sz="1800" dirty="0"/>
              <a:t>Some “tricks”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GB" altLang="da-DK" sz="1600" dirty="0"/>
              <a:t>Use the facilities in </a:t>
            </a:r>
            <a:r>
              <a:rPr lang="en-GB" altLang="da-DK" sz="1600" dirty="0" err="1"/>
              <a:t>LaTeX</a:t>
            </a:r>
            <a:r>
              <a:rPr lang="en-GB" altLang="da-DK" sz="1600" dirty="0"/>
              <a:t> / Word to automate things (styles, references, table of contents, references to figures, other sections etc.)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GB" altLang="da-DK" sz="1600" dirty="0"/>
              <a:t>Make as many automatic checks as possible (it is easy to search for two adjacent spaces and replace them by one; analogously you can search for two adjacent full stops, two commas, or a space followed by a full stop)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GB" altLang="da-DK" sz="1600" dirty="0"/>
              <a:t>For many people, it is fruitful to read the text out loud </a:t>
            </a:r>
          </a:p>
          <a:p>
            <a:pPr marL="728663" lvl="1" indent="-271463" defTabSz="560831">
              <a:spcBef>
                <a:spcPts val="300"/>
              </a:spcBef>
              <a:defRPr sz="3072"/>
            </a:pPr>
            <a:r>
              <a:rPr lang="en-US" sz="1600" dirty="0"/>
              <a:t>Do not make your proofreading when you are too tired to do other things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21</a:t>
            </a:fld>
            <a:endParaRPr lang="da-DK" altLang="da-DK" dirty="0"/>
          </a:p>
        </p:txBody>
      </p:sp>
      <p:sp>
        <p:nvSpPr>
          <p:cNvPr id="5" name="Rectangle 4"/>
          <p:cNvSpPr/>
          <p:nvPr/>
        </p:nvSpPr>
        <p:spPr>
          <a:xfrm rot="21165640">
            <a:off x="2802601" y="5383481"/>
            <a:ext cx="2489509" cy="646331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>
            <a:defPPr>
              <a:defRPr lang="da-DK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charset="0"/>
                <a:ea typeface="ＭＳ Ｐゴシック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charset="0"/>
                <a:ea typeface="ＭＳ Ｐゴシック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charset="0"/>
                <a:ea typeface="ＭＳ Ｐゴシック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charset="0"/>
                <a:ea typeface="ＭＳ Ｐゴシック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A50021"/>
                </a:solidFill>
                <a:latin typeface="Arial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rgbClr val="A50021"/>
                </a:solidFill>
                <a:latin typeface="Arial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rgbClr val="A50021"/>
                </a:solidFill>
                <a:latin typeface="Arial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rgbClr val="A50021"/>
                </a:solidFill>
                <a:latin typeface="Arial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rgbClr val="A50021"/>
                </a:solidFill>
                <a:latin typeface="Arial" charset="0"/>
                <a:ea typeface="ＭＳ Ｐゴシック" pitchFamily="34" charset="-128"/>
                <a:cs typeface="+mn-cs"/>
              </a:defRPr>
            </a:lvl9pPr>
          </a:lstStyle>
          <a:p>
            <a:pPr algn="ctr">
              <a:defRPr/>
            </a:pPr>
            <a:r>
              <a:rPr lang="en-US" sz="3600" b="1" dirty="0">
                <a:ln w="11430"/>
                <a:solidFill>
                  <a:srgbClr val="CC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Pause</a:t>
            </a:r>
          </a:p>
        </p:txBody>
      </p:sp>
    </p:spTree>
    <p:extLst>
      <p:ext uri="{BB962C8B-B14F-4D97-AF65-F5344CB8AC3E}">
        <p14:creationId xmlns:p14="http://schemas.microsoft.com/office/powerpoint/2010/main" val="42454744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534507" cy="609600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da-DK" sz="2800" dirty="0"/>
              <a:t>Bachelor report  </a:t>
            </a:r>
            <a:r>
              <a:rPr lang="en-GB" altLang="da-DK" sz="2800" dirty="0">
                <a:sym typeface="Wingdings" panose="05000000000000000000" pitchFamily="2" charset="2"/>
              </a:rPr>
              <a:t></a:t>
            </a:r>
            <a:r>
              <a:rPr lang="en-GB" altLang="da-DK" sz="2800" dirty="0"/>
              <a:t>  Learning goals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3868" y="4293096"/>
            <a:ext cx="8568952" cy="1944216"/>
          </a:xfrm>
          <a:noFill/>
        </p:spPr>
        <p:txBody>
          <a:bodyPr/>
          <a:lstStyle/>
          <a:p>
            <a:pPr marL="271463" indent="-271463" eaLnBrk="1" hangingPunct="1">
              <a:defRPr/>
            </a:pPr>
            <a:r>
              <a:rPr lang="en-GB" sz="1800" kern="1200" dirty="0">
                <a:latin typeface="Arial" pitchFamily="34" charset="0"/>
                <a:ea typeface="ＭＳ Ｐゴシック" pitchFamily="34" charset="-128"/>
              </a:rPr>
              <a:t>Learning goals: After the course you will be able to</a:t>
            </a:r>
            <a:endParaRPr lang="en-GB" altLang="da-DK" sz="1800" noProof="0" dirty="0"/>
          </a:p>
          <a:p>
            <a:pPr marL="728663" lvl="1" indent="-271463">
              <a:spcBef>
                <a:spcPts val="400"/>
              </a:spcBef>
            </a:pPr>
            <a:r>
              <a:rPr lang="en-GB" sz="1600" b="1" kern="1200" dirty="0">
                <a:latin typeface="Arial" pitchFamily="34" charset="0"/>
                <a:ea typeface="ＭＳ Ｐゴシック" pitchFamily="34" charset="-128"/>
              </a:rPr>
              <a:t>formulate</a:t>
            </a:r>
            <a:r>
              <a:rPr lang="en-GB" sz="1600" kern="1200" dirty="0">
                <a:latin typeface="Arial" pitchFamily="34" charset="0"/>
                <a:ea typeface="ＭＳ Ｐゴシック" pitchFamily="34" charset="-128"/>
              </a:rPr>
              <a:t> a cs/it </a:t>
            </a:r>
            <a:r>
              <a:rPr lang="en-GB" sz="1600" b="1" kern="1200" dirty="0">
                <a:latin typeface="Arial" pitchFamily="34" charset="0"/>
                <a:ea typeface="ＭＳ Ｐゴシック" pitchFamily="34" charset="-128"/>
              </a:rPr>
              <a:t>academic problem</a:t>
            </a:r>
            <a:r>
              <a:rPr lang="en-GB" sz="1600" kern="1200" dirty="0">
                <a:latin typeface="Arial" pitchFamily="34" charset="0"/>
                <a:ea typeface="ＭＳ Ｐゴシック" pitchFamily="34" charset="-128"/>
              </a:rPr>
              <a:t> based on </a:t>
            </a:r>
            <a:r>
              <a:rPr lang="en-GB" sz="1600" b="1" kern="1200" dirty="0">
                <a:latin typeface="Arial" pitchFamily="34" charset="0"/>
                <a:ea typeface="ＭＳ Ｐゴシック" pitchFamily="34" charset="-128"/>
              </a:rPr>
              <a:t>relevant literature [1,2,3,8]</a:t>
            </a:r>
          </a:p>
          <a:p>
            <a:pPr marL="728663" lvl="1" indent="-271463">
              <a:spcBef>
                <a:spcPts val="400"/>
              </a:spcBef>
            </a:pPr>
            <a:r>
              <a:rPr lang="en-GB" sz="1600" b="1" kern="1200" dirty="0">
                <a:latin typeface="Arial" pitchFamily="34" charset="0"/>
                <a:ea typeface="ＭＳ Ｐゴシック" pitchFamily="34" charset="-128"/>
              </a:rPr>
              <a:t>implement</a:t>
            </a:r>
            <a:r>
              <a:rPr lang="en-GB" sz="1600" kern="1200" dirty="0">
                <a:latin typeface="Arial" pitchFamily="34" charset="0"/>
                <a:ea typeface="ＭＳ Ｐゴシック" pitchFamily="34" charset="-128"/>
              </a:rPr>
              <a:t> a </a:t>
            </a:r>
            <a:r>
              <a:rPr lang="en-GB" sz="1600" b="1" kern="1200" dirty="0">
                <a:latin typeface="Arial" pitchFamily="34" charset="0"/>
                <a:ea typeface="ＭＳ Ｐゴシック" pitchFamily="34" charset="-128"/>
              </a:rPr>
              <a:t>written assignment</a:t>
            </a:r>
            <a:r>
              <a:rPr lang="en-GB" sz="1600" kern="1200" dirty="0">
                <a:latin typeface="Arial" pitchFamily="34" charset="0"/>
                <a:ea typeface="ＭＳ Ｐゴシック" pitchFamily="34" charset="-128"/>
              </a:rPr>
              <a:t> during the use of cs/it academic </a:t>
            </a:r>
            <a:r>
              <a:rPr lang="en-GB" sz="1600" b="1" kern="1200" dirty="0">
                <a:latin typeface="Arial" pitchFamily="34" charset="0"/>
                <a:ea typeface="ＭＳ Ｐゴシック" pitchFamily="34" charset="-128"/>
              </a:rPr>
              <a:t>methods</a:t>
            </a:r>
            <a:r>
              <a:rPr lang="en-GB" sz="1600" kern="1200" dirty="0">
                <a:latin typeface="Arial" pitchFamily="34" charset="0"/>
                <a:ea typeface="ＭＳ Ｐゴシック" pitchFamily="34" charset="-128"/>
              </a:rPr>
              <a:t> </a:t>
            </a:r>
            <a:r>
              <a:rPr lang="en-GB" sz="1600" b="1" kern="1200" dirty="0">
                <a:latin typeface="Arial" pitchFamily="34" charset="0"/>
                <a:ea typeface="ＭＳ Ｐゴシック" pitchFamily="34" charset="-128"/>
              </a:rPr>
              <a:t>[4,5,6]</a:t>
            </a:r>
          </a:p>
          <a:p>
            <a:pPr marL="728663" lvl="1" indent="-271463">
              <a:spcBef>
                <a:spcPts val="400"/>
              </a:spcBef>
            </a:pPr>
            <a:r>
              <a:rPr lang="en-GB" sz="1600" b="1" kern="1200" dirty="0">
                <a:latin typeface="Arial" pitchFamily="34" charset="0"/>
                <a:ea typeface="ＭＳ Ｐゴシック" pitchFamily="34" charset="-128"/>
              </a:rPr>
              <a:t>apply</a:t>
            </a:r>
            <a:r>
              <a:rPr lang="en-GB" sz="1600" kern="1200" dirty="0">
                <a:latin typeface="Arial" pitchFamily="34" charset="0"/>
                <a:ea typeface="ＭＳ Ｐゴシック" pitchFamily="34" charset="-128"/>
              </a:rPr>
              <a:t> cs/it </a:t>
            </a:r>
            <a:r>
              <a:rPr lang="en-GB" sz="1600" b="1" kern="1200" dirty="0">
                <a:latin typeface="Arial" pitchFamily="34" charset="0"/>
                <a:ea typeface="ＭＳ Ｐゴシック" pitchFamily="34" charset="-128"/>
              </a:rPr>
              <a:t>theories</a:t>
            </a:r>
            <a:r>
              <a:rPr lang="en-GB" sz="1600" kern="1200" dirty="0">
                <a:latin typeface="Arial" pitchFamily="34" charset="0"/>
                <a:ea typeface="ＭＳ Ｐゴシック" pitchFamily="34" charset="-128"/>
              </a:rPr>
              <a:t> and </a:t>
            </a:r>
            <a:r>
              <a:rPr lang="en-GB" sz="1600" b="1" kern="1200" dirty="0">
                <a:latin typeface="Arial" pitchFamily="34" charset="0"/>
                <a:ea typeface="ＭＳ Ｐゴシック" pitchFamily="34" charset="-128"/>
              </a:rPr>
              <a:t>methods</a:t>
            </a:r>
            <a:r>
              <a:rPr lang="en-GB" sz="1600" kern="1200" dirty="0">
                <a:latin typeface="Arial" pitchFamily="34" charset="0"/>
                <a:ea typeface="ＭＳ Ｐゴシック" pitchFamily="34" charset="-128"/>
              </a:rPr>
              <a:t> to an academic problem </a:t>
            </a:r>
            <a:r>
              <a:rPr lang="en-GB" sz="1600" b="1" kern="1200" dirty="0">
                <a:latin typeface="Arial" pitchFamily="34" charset="0"/>
                <a:ea typeface="ＭＳ Ｐゴシック" pitchFamily="34" charset="-128"/>
              </a:rPr>
              <a:t>[4,5,6]</a:t>
            </a:r>
          </a:p>
          <a:p>
            <a:pPr marL="728663" lvl="1" indent="-271463">
              <a:spcBef>
                <a:spcPts val="400"/>
              </a:spcBef>
            </a:pPr>
            <a:r>
              <a:rPr lang="en-GB" sz="1600" b="1" kern="1200" dirty="0">
                <a:latin typeface="Arial" pitchFamily="34" charset="0"/>
                <a:ea typeface="ＭＳ Ｐゴシック" pitchFamily="34" charset="-128"/>
              </a:rPr>
              <a:t>analyse</a:t>
            </a:r>
            <a:r>
              <a:rPr lang="en-GB" sz="1600" kern="1200" dirty="0">
                <a:latin typeface="Arial" pitchFamily="34" charset="0"/>
                <a:ea typeface="ＭＳ Ｐゴシック" pitchFamily="34" charset="-128"/>
              </a:rPr>
              <a:t> a cs/it </a:t>
            </a:r>
            <a:r>
              <a:rPr lang="en-GB" sz="1600" b="1" kern="1200" dirty="0">
                <a:latin typeface="Arial" pitchFamily="34" charset="0"/>
                <a:ea typeface="ＭＳ Ｐゴシック" pitchFamily="34" charset="-128"/>
              </a:rPr>
              <a:t>academic problem</a:t>
            </a:r>
            <a:r>
              <a:rPr lang="en-GB" sz="1600" kern="1200" dirty="0">
                <a:latin typeface="Arial" pitchFamily="34" charset="0"/>
                <a:ea typeface="ＭＳ Ｐゴシック" pitchFamily="34" charset="-128"/>
              </a:rPr>
              <a:t> using </a:t>
            </a:r>
            <a:r>
              <a:rPr lang="en-GB" sz="1600" b="1" kern="1200" dirty="0">
                <a:latin typeface="Arial" pitchFamily="34" charset="0"/>
                <a:ea typeface="ＭＳ Ｐゴシック" pitchFamily="34" charset="-128"/>
              </a:rPr>
              <a:t>relevant literature [3,6,8]</a:t>
            </a:r>
          </a:p>
          <a:p>
            <a:pPr marL="728663" lvl="1" indent="-271463">
              <a:spcBef>
                <a:spcPts val="400"/>
              </a:spcBef>
            </a:pPr>
            <a:r>
              <a:rPr lang="en-GB" sz="1600" b="1" kern="1200" dirty="0">
                <a:latin typeface="Arial" pitchFamily="34" charset="0"/>
                <a:ea typeface="ＭＳ Ｐゴシック" pitchFamily="34" charset="-128"/>
              </a:rPr>
              <a:t>discuss</a:t>
            </a:r>
            <a:r>
              <a:rPr lang="en-GB" sz="1600" kern="1200" dirty="0">
                <a:latin typeface="Arial" pitchFamily="34" charset="0"/>
                <a:ea typeface="ＭＳ Ｐゴシック" pitchFamily="34" charset="-128"/>
              </a:rPr>
              <a:t> and put in </a:t>
            </a:r>
            <a:r>
              <a:rPr lang="en-GB" sz="1600" b="1" kern="1200" dirty="0">
                <a:latin typeface="Arial" pitchFamily="34" charset="0"/>
                <a:ea typeface="ＭＳ Ｐゴシック" pitchFamily="34" charset="-128"/>
              </a:rPr>
              <a:t>perspective</a:t>
            </a:r>
            <a:r>
              <a:rPr lang="en-GB" sz="1600" kern="1200" dirty="0">
                <a:latin typeface="Arial" pitchFamily="34" charset="0"/>
                <a:ea typeface="ＭＳ Ｐゴシック" pitchFamily="34" charset="-128"/>
              </a:rPr>
              <a:t> a cs/it academic problem</a:t>
            </a:r>
            <a:r>
              <a:rPr lang="en-GB" sz="1600" b="1" kern="1200" dirty="0">
                <a:latin typeface="Arial" pitchFamily="34" charset="0"/>
                <a:ea typeface="ＭＳ Ｐゴシック" pitchFamily="34" charset="-128"/>
              </a:rPr>
              <a:t> [6,7]</a:t>
            </a:r>
            <a:endParaRPr lang="en-GB" sz="1600" kern="1200" dirty="0">
              <a:latin typeface="Arial" pitchFamily="34" charset="0"/>
              <a:ea typeface="ＭＳ Ｐゴシック" pitchFamily="34" charset="-128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22</a:t>
            </a:fld>
            <a:endParaRPr lang="da-DK" altLang="da-DK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68313" y="1196752"/>
            <a:ext cx="4484577" cy="2376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+mn-ea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rgbClr val="000066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9pPr>
          </a:lstStyle>
          <a:p>
            <a:pPr marL="271463" indent="-271463" eaLnBrk="1" hangingPunct="1">
              <a:defRPr/>
            </a:pPr>
            <a:r>
              <a:rPr lang="en-GB" sz="1800" kern="1200" dirty="0">
                <a:latin typeface="Arial" pitchFamily="34" charset="0"/>
                <a:ea typeface="ＭＳ Ｐゴシック" pitchFamily="34" charset="-128"/>
              </a:rPr>
              <a:t>Bachelor report</a:t>
            </a:r>
            <a:endParaRPr lang="en-GB" altLang="da-DK" sz="1800" kern="0" dirty="0"/>
          </a:p>
          <a:p>
            <a:pPr marL="800100" lvl="1" indent="-342900">
              <a:spcBef>
                <a:spcPts val="400"/>
              </a:spcBef>
              <a:buFont typeface="+mj-lt"/>
              <a:buAutoNum type="arabicPeriod"/>
            </a:pPr>
            <a:r>
              <a:rPr lang="en-GB" sz="1600" b="1" kern="1200" dirty="0">
                <a:latin typeface="Arial" pitchFamily="34" charset="0"/>
                <a:ea typeface="ＭＳ Ｐゴシック" pitchFamily="34" charset="-128"/>
              </a:rPr>
              <a:t>Abstract</a:t>
            </a:r>
          </a:p>
          <a:p>
            <a:pPr marL="800100" lvl="1" indent="-342900">
              <a:spcBef>
                <a:spcPts val="400"/>
              </a:spcBef>
              <a:buFont typeface="+mj-lt"/>
              <a:buAutoNum type="arabicPeriod"/>
            </a:pPr>
            <a:r>
              <a:rPr lang="en-GB" sz="1600" b="1" dirty="0">
                <a:latin typeface="Arial" pitchFamily="34" charset="0"/>
                <a:ea typeface="ＭＳ Ｐゴシック" pitchFamily="34" charset="-128"/>
              </a:rPr>
              <a:t>Introduction</a:t>
            </a:r>
          </a:p>
          <a:p>
            <a:pPr marL="800100" lvl="1" indent="-342900">
              <a:spcBef>
                <a:spcPts val="400"/>
              </a:spcBef>
              <a:buFont typeface="+mj-lt"/>
              <a:buAutoNum type="arabicPeriod"/>
            </a:pPr>
            <a:r>
              <a:rPr lang="en-GB" sz="1600" b="1" dirty="0">
                <a:latin typeface="Arial" pitchFamily="34" charset="0"/>
                <a:ea typeface="ＭＳ Ｐゴシック" pitchFamily="34" charset="-128"/>
              </a:rPr>
              <a:t>Related work</a:t>
            </a:r>
          </a:p>
          <a:p>
            <a:pPr marL="800100" lvl="1" indent="-342900">
              <a:spcBef>
                <a:spcPts val="400"/>
              </a:spcBef>
              <a:buFont typeface="+mj-lt"/>
              <a:buAutoNum type="arabicPeriod"/>
            </a:pPr>
            <a:r>
              <a:rPr lang="en-GB" sz="1600" b="1" kern="1200" dirty="0">
                <a:latin typeface="Arial" pitchFamily="34" charset="0"/>
                <a:ea typeface="ＭＳ Ｐゴシック" pitchFamily="34" charset="-128"/>
              </a:rPr>
              <a:t>Theories, methods and techniques</a:t>
            </a:r>
          </a:p>
          <a:p>
            <a:pPr marL="800100" lvl="1" indent="-342900">
              <a:spcBef>
                <a:spcPts val="400"/>
              </a:spcBef>
              <a:buFont typeface="+mj-lt"/>
              <a:buAutoNum type="arabicPeriod"/>
            </a:pPr>
            <a:r>
              <a:rPr lang="en-GB" sz="1600" b="1" dirty="0">
                <a:latin typeface="Arial" pitchFamily="34" charset="0"/>
                <a:ea typeface="ＭＳ Ｐゴシック" pitchFamily="34" charset="-128"/>
              </a:rPr>
              <a:t>Experiments and development</a:t>
            </a:r>
          </a:p>
          <a:p>
            <a:pPr marL="800100" lvl="1" indent="-342900">
              <a:spcBef>
                <a:spcPts val="400"/>
              </a:spcBef>
              <a:buFont typeface="+mj-lt"/>
              <a:buAutoNum type="arabicPeriod"/>
            </a:pPr>
            <a:r>
              <a:rPr lang="en-GB" sz="1600" b="1" dirty="0">
                <a:latin typeface="Arial" pitchFamily="34" charset="0"/>
                <a:ea typeface="ＭＳ Ｐゴシック" pitchFamily="34" charset="-128"/>
              </a:rPr>
              <a:t>Analysis and results</a:t>
            </a:r>
          </a:p>
          <a:p>
            <a:pPr marL="800100" lvl="1" indent="-342900">
              <a:spcBef>
                <a:spcPts val="400"/>
              </a:spcBef>
              <a:buFont typeface="+mj-lt"/>
              <a:buAutoNum type="arabicPeriod"/>
            </a:pPr>
            <a:r>
              <a:rPr lang="en-GB" sz="1600" b="1" dirty="0">
                <a:latin typeface="Arial" pitchFamily="34" charset="0"/>
                <a:ea typeface="ＭＳ Ｐゴシック" pitchFamily="34" charset="-128"/>
              </a:rPr>
              <a:t>Conclusion</a:t>
            </a:r>
          </a:p>
          <a:p>
            <a:pPr marL="800100" lvl="1" indent="-342900">
              <a:spcBef>
                <a:spcPts val="400"/>
              </a:spcBef>
              <a:buFont typeface="+mj-lt"/>
              <a:buAutoNum type="arabicPeriod"/>
            </a:pPr>
            <a:r>
              <a:rPr lang="en-GB" sz="1600" b="1" dirty="0">
                <a:latin typeface="Arial" pitchFamily="34" charset="0"/>
                <a:ea typeface="ＭＳ Ｐゴシック" pitchFamily="34" charset="-128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6773444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568183" cy="609600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da-DK" sz="2800" dirty="0"/>
              <a:t>Writing process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23</a:t>
            </a:fld>
            <a:endParaRPr lang="da-DK" altLang="da-DK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68313" y="1052736"/>
            <a:ext cx="8568183" cy="5805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+mn-ea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rgbClr val="000066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+mn-ea"/>
              </a:defRPr>
            </a:lvl9pPr>
          </a:lstStyle>
          <a:p>
            <a:pPr marL="271463" lvl="1" indent="-271463" eaLnBrk="1" hangingPunct="1">
              <a:spcBef>
                <a:spcPts val="1200"/>
              </a:spcBef>
              <a:buFont typeface="+mj-lt"/>
              <a:buChar char="•"/>
              <a:defRPr/>
            </a:pPr>
            <a:r>
              <a:rPr lang="en-GB" sz="1800" b="1" dirty="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ＭＳ Ｐゴシック" charset="0"/>
              </a:rPr>
              <a:t>It is </a:t>
            </a:r>
            <a:r>
              <a:rPr lang="en-GB" sz="1800" b="1" dirty="0">
                <a:solidFill>
                  <a:srgbClr val="008000"/>
                </a:solidFill>
                <a:latin typeface="Arial" pitchFamily="34" charset="0"/>
                <a:ea typeface="ＭＳ Ｐゴシック" pitchFamily="34" charset="-128"/>
                <a:cs typeface="ＭＳ Ｐゴシック" charset="0"/>
              </a:rPr>
              <a:t>extremely important</a:t>
            </a:r>
            <a:r>
              <a:rPr lang="en-GB" sz="1800" b="1" dirty="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ＭＳ Ｐゴシック" charset="0"/>
              </a:rPr>
              <a:t> to work in an iterative way</a:t>
            </a:r>
          </a:p>
          <a:p>
            <a:pPr marL="728663" lvl="1" indent="-271463">
              <a:spcBef>
                <a:spcPts val="400"/>
              </a:spcBef>
              <a:buFont typeface="+mj-lt"/>
              <a:buChar char="–"/>
              <a:defRPr/>
            </a:pPr>
            <a:r>
              <a:rPr lang="en-GB" sz="1600" dirty="0">
                <a:latin typeface="Arial" pitchFamily="34" charset="0"/>
                <a:ea typeface="ＭＳ Ｐゴシック" pitchFamily="34" charset="-128"/>
              </a:rPr>
              <a:t>Don't throw out existing text – revise and improve it</a:t>
            </a:r>
          </a:p>
          <a:p>
            <a:pPr marL="728663" lvl="1" indent="-271463">
              <a:spcBef>
                <a:spcPts val="400"/>
              </a:spcBef>
              <a:buFont typeface="+mj-lt"/>
              <a:buChar char="–"/>
              <a:defRPr/>
            </a:pPr>
            <a:r>
              <a:rPr lang="en-GB" sz="1600" dirty="0">
                <a:latin typeface="Arial" pitchFamily="34" charset="0"/>
                <a:ea typeface="ＭＳ Ｐゴシック" pitchFamily="34" charset="-128"/>
                <a:sym typeface="Wingdings" panose="05000000000000000000" pitchFamily="2" charset="2"/>
              </a:rPr>
              <a:t>Keep notes about things which must be included / modified </a:t>
            </a:r>
            <a:r>
              <a:rPr lang="en-GB" sz="1600" dirty="0">
                <a:latin typeface="Arial" pitchFamily="34" charset="0"/>
                <a:ea typeface="ＭＳ Ｐゴシック" pitchFamily="34" charset="-128"/>
              </a:rPr>
              <a:t>–</a:t>
            </a:r>
            <a:r>
              <a:rPr lang="en-GB" sz="1600" dirty="0">
                <a:latin typeface="Arial" pitchFamily="34" charset="0"/>
                <a:ea typeface="ＭＳ Ｐゴシック" pitchFamily="34" charset="-128"/>
                <a:sym typeface="Wingdings" panose="05000000000000000000" pitchFamily="2" charset="2"/>
              </a:rPr>
              <a:t> but finish your present task before making the additions /changes (don't work like a stack)</a:t>
            </a:r>
          </a:p>
          <a:p>
            <a:pPr marL="728663" lvl="1" indent="-271463">
              <a:spcBef>
                <a:spcPts val="400"/>
              </a:spcBef>
              <a:buFont typeface="+mj-lt"/>
              <a:buChar char="–"/>
              <a:defRPr/>
            </a:pPr>
            <a:r>
              <a:rPr lang="en-GB" sz="1600" spc="-30" dirty="0">
                <a:latin typeface="Arial" pitchFamily="34" charset="0"/>
                <a:ea typeface="ＭＳ Ｐゴシック" pitchFamily="34" charset="-128"/>
                <a:sym typeface="Wingdings" panose="05000000000000000000" pitchFamily="2" charset="2"/>
              </a:rPr>
              <a:t>Don't be afraid of writing too much in the early phases – it is easy to throw things away</a:t>
            </a:r>
            <a:endParaRPr lang="en-GB" sz="1600" spc="-30" dirty="0">
              <a:latin typeface="Arial" pitchFamily="34" charset="0"/>
              <a:ea typeface="ＭＳ Ｐゴシック" pitchFamily="34" charset="-128"/>
            </a:endParaRPr>
          </a:p>
          <a:p>
            <a:pPr marL="271463" lvl="1" indent="-271463" eaLnBrk="1" hangingPunct="1">
              <a:spcBef>
                <a:spcPts val="800"/>
              </a:spcBef>
              <a:buFont typeface="+mj-lt"/>
              <a:buChar char="•"/>
              <a:defRPr/>
            </a:pPr>
            <a:r>
              <a:rPr lang="en-GB" sz="1800" b="1" dirty="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ＭＳ Ｐゴシック" charset="0"/>
              </a:rPr>
              <a:t>Writing is also </a:t>
            </a:r>
            <a:r>
              <a:rPr lang="en-GB" sz="1800" b="1" dirty="0">
                <a:solidFill>
                  <a:srgbClr val="008000"/>
                </a:solidFill>
                <a:latin typeface="Arial" pitchFamily="34" charset="0"/>
                <a:ea typeface="ＭＳ Ｐゴシック" pitchFamily="34" charset="-128"/>
                <a:cs typeface="ＭＳ Ｐゴシック" charset="0"/>
              </a:rPr>
              <a:t>thinking</a:t>
            </a:r>
          </a:p>
          <a:p>
            <a:pPr marL="728663" lvl="1" indent="-271463">
              <a:spcBef>
                <a:spcPts val="400"/>
              </a:spcBef>
              <a:buFont typeface="+mj-lt"/>
              <a:buChar char="–"/>
              <a:defRPr/>
            </a:pPr>
            <a:r>
              <a:rPr lang="en-GB" sz="1600" dirty="0">
                <a:latin typeface="Arial" pitchFamily="34" charset="0"/>
                <a:ea typeface="ＭＳ Ｐゴシック" pitchFamily="34" charset="-128"/>
              </a:rPr>
              <a:t>We get new insight when we write</a:t>
            </a:r>
          </a:p>
          <a:p>
            <a:pPr marL="728663" lvl="1" indent="-271463">
              <a:spcBef>
                <a:spcPts val="400"/>
              </a:spcBef>
              <a:buFont typeface="+mj-lt"/>
              <a:buChar char="–"/>
              <a:defRPr/>
            </a:pPr>
            <a:r>
              <a:rPr lang="en-GB" sz="1600" dirty="0">
                <a:latin typeface="Arial" pitchFamily="34" charset="0"/>
                <a:ea typeface="ＭＳ Ｐゴシック" pitchFamily="34" charset="-128"/>
              </a:rPr>
              <a:t>Simplifying a description may make it possible to see new patterns, which may lead to new simplifications revealing new patterns leading to further simplifications, etc.</a:t>
            </a:r>
          </a:p>
          <a:p>
            <a:pPr marL="271463" lvl="1" indent="-271463" eaLnBrk="1" hangingPunct="1">
              <a:spcBef>
                <a:spcPts val="800"/>
              </a:spcBef>
              <a:buFont typeface="+mj-lt"/>
              <a:buChar char="•"/>
              <a:defRPr/>
            </a:pPr>
            <a:r>
              <a:rPr lang="en-GB" sz="1800" b="1" dirty="0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  <a:cs typeface="ＭＳ Ｐゴシック" charset="0"/>
              </a:rPr>
              <a:t>Use each other</a:t>
            </a:r>
          </a:p>
          <a:p>
            <a:pPr marL="728663" lvl="1" indent="-271463">
              <a:spcBef>
                <a:spcPts val="400"/>
              </a:spcBef>
              <a:buFont typeface="+mj-lt"/>
              <a:buChar char="–"/>
              <a:defRPr/>
            </a:pPr>
            <a:r>
              <a:rPr lang="en-GB" sz="1600" dirty="0">
                <a:latin typeface="Arial" pitchFamily="34" charset="0"/>
                <a:ea typeface="ＭＳ Ｐゴシック" pitchFamily="34" charset="-128"/>
              </a:rPr>
              <a:t>When one of you has written the first draft of a text, it may be fruitful to let another group member revise it – improving / deleting things which are unclear / invalid</a:t>
            </a:r>
          </a:p>
          <a:p>
            <a:pPr marL="728663" lvl="1" indent="-271463">
              <a:spcBef>
                <a:spcPts val="400"/>
              </a:spcBef>
              <a:buFont typeface="+mj-lt"/>
              <a:buChar char="–"/>
              <a:defRPr/>
            </a:pPr>
            <a:r>
              <a:rPr lang="en-GB" sz="1600" dirty="0">
                <a:latin typeface="Arial" pitchFamily="34" charset="0"/>
                <a:ea typeface="ＭＳ Ｐゴシック" pitchFamily="34" charset="-128"/>
              </a:rPr>
              <a:t>If you get stuck, ask another group member for help / ideas</a:t>
            </a:r>
          </a:p>
          <a:p>
            <a:pPr marL="728663" lvl="1" indent="-271463">
              <a:spcBef>
                <a:spcPts val="400"/>
              </a:spcBef>
              <a:buFont typeface="+mj-lt"/>
              <a:buChar char="–"/>
              <a:defRPr/>
            </a:pPr>
            <a:r>
              <a:rPr lang="en-GB" sz="1600" dirty="0">
                <a:latin typeface="Arial" pitchFamily="34" charset="0"/>
                <a:ea typeface="ＭＳ Ｐゴシック" pitchFamily="34" charset="-128"/>
              </a:rPr>
              <a:t>Finish each day by making a common plan for the next</a:t>
            </a:r>
          </a:p>
          <a:p>
            <a:pPr marL="728663" lvl="1" indent="-271463">
              <a:spcBef>
                <a:spcPts val="400"/>
              </a:spcBef>
              <a:buFont typeface="+mj-lt"/>
              <a:buChar char="–"/>
              <a:defRPr/>
            </a:pPr>
            <a:r>
              <a:rPr lang="en-GB" sz="1600" dirty="0">
                <a:latin typeface="Arial" pitchFamily="34" charset="0"/>
                <a:ea typeface="ＭＳ Ｐゴシック" pitchFamily="34" charset="-128"/>
              </a:rPr>
              <a:t>If you work alone and get stuck: do something else, and return a few hours/days later</a:t>
            </a:r>
          </a:p>
          <a:p>
            <a:pPr marL="271463" indent="-271463" eaLnBrk="1" hangingPunct="1">
              <a:spcBef>
                <a:spcPts val="800"/>
              </a:spcBef>
              <a:defRPr/>
            </a:pPr>
            <a:r>
              <a:rPr lang="en-GB" sz="1800" kern="1200" dirty="0">
                <a:latin typeface="Arial" pitchFamily="34" charset="0"/>
                <a:ea typeface="ＭＳ Ｐゴシック" pitchFamily="34" charset="-128"/>
              </a:rPr>
              <a:t>You can write in a similar way as you program</a:t>
            </a:r>
            <a:endParaRPr lang="en-GB" altLang="da-DK" sz="1800" kern="0" dirty="0"/>
          </a:p>
          <a:p>
            <a:pPr marL="728663" lvl="1" indent="-271463">
              <a:spcBef>
                <a:spcPts val="300"/>
              </a:spcBef>
              <a:buFont typeface="+mj-lt"/>
              <a:buChar char="–"/>
            </a:pPr>
            <a:r>
              <a:rPr lang="en-GB" sz="1600" dirty="0">
                <a:latin typeface="Arial" pitchFamily="34" charset="0"/>
                <a:ea typeface="ＭＳ Ｐゴシック" pitchFamily="34" charset="-128"/>
              </a:rPr>
              <a:t>Programming:        design &amp;</a:t>
            </a:r>
            <a:r>
              <a:rPr lang="en-GB" sz="1600" dirty="0">
                <a:latin typeface="Arial" pitchFamily="34" charset="0"/>
                <a:ea typeface="ＭＳ Ｐゴシック" pitchFamily="34" charset="-128"/>
                <a:sym typeface="Wingdings" panose="05000000000000000000" pitchFamily="2" charset="2"/>
              </a:rPr>
              <a:t> analyse    implement    test &amp; debug</a:t>
            </a:r>
          </a:p>
          <a:p>
            <a:pPr marL="728663" lvl="1" indent="-271463">
              <a:spcBef>
                <a:spcPts val="300"/>
              </a:spcBef>
              <a:buFont typeface="+mj-lt"/>
              <a:buChar char="–"/>
            </a:pPr>
            <a:r>
              <a:rPr lang="en-GB" sz="1600" dirty="0">
                <a:latin typeface="Arial" pitchFamily="34" charset="0"/>
                <a:ea typeface="ＭＳ Ｐゴシック" pitchFamily="34" charset="-128"/>
              </a:rPr>
              <a:t>Writing:                  outline                   </a:t>
            </a:r>
            <a:r>
              <a:rPr lang="en-GB" sz="1600" dirty="0">
                <a:latin typeface="Arial" pitchFamily="34" charset="0"/>
                <a:ea typeface="ＭＳ Ｐゴシック" pitchFamily="34" charset="-128"/>
                <a:sym typeface="Wingdings" panose="05000000000000000000" pitchFamily="2" charset="2"/>
              </a:rPr>
              <a:t>  write             review</a:t>
            </a:r>
          </a:p>
          <a:p>
            <a:pPr marL="728663" lvl="1" indent="-271463">
              <a:spcBef>
                <a:spcPts val="300"/>
              </a:spcBef>
              <a:buFont typeface="+mj-lt"/>
              <a:buChar char="–"/>
              <a:defRPr/>
            </a:pPr>
            <a:r>
              <a:rPr lang="en-GB" sz="1600" dirty="0">
                <a:latin typeface="Arial" pitchFamily="34" charset="0"/>
                <a:ea typeface="ＭＳ Ｐゴシック" pitchFamily="34" charset="-128"/>
                <a:sym typeface="Wingdings" panose="05000000000000000000" pitchFamily="2" charset="2"/>
              </a:rPr>
              <a:t>Write "section stubs" where you only outline the contents</a:t>
            </a:r>
          </a:p>
          <a:p>
            <a:pPr marL="728663" lvl="1" indent="-271463">
              <a:spcBef>
                <a:spcPts val="400"/>
              </a:spcBef>
              <a:buFont typeface="+mj-lt"/>
              <a:buChar char="–"/>
              <a:defRPr/>
            </a:pPr>
            <a:endParaRPr lang="en-GB" sz="1600" dirty="0">
              <a:latin typeface="Arial" pitchFamily="34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260710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496175" cy="609600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da-DK" sz="2800" dirty="0"/>
              <a:t>Use of comments and critique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0321" y="1049823"/>
            <a:ext cx="8352159" cy="5691545"/>
          </a:xfrm>
          <a:noFill/>
        </p:spPr>
        <p:txBody>
          <a:bodyPr/>
          <a:lstStyle/>
          <a:p>
            <a:pPr marL="271463" lvl="1" indent="-271463">
              <a:spcBef>
                <a:spcPts val="1200"/>
              </a:spcBef>
              <a:buFontTx/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In your bachelor project you will work </a:t>
            </a:r>
            <a:r>
              <a:rPr lang="en-GB" altLang="da-DK" sz="1800" b="1" dirty="0">
                <a:solidFill>
                  <a:srgbClr val="008000"/>
                </a:solidFill>
                <a:cs typeface="ＭＳ Ｐゴシック" charset="0"/>
              </a:rPr>
              <a:t>intensively</a:t>
            </a: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 with a given subject</a:t>
            </a:r>
          </a:p>
          <a:p>
            <a:pPr marL="728663" lvl="1" indent="-271463">
              <a:spcBef>
                <a:spcPts val="300"/>
              </a:spcBef>
              <a:buFontTx/>
              <a:buChar char="–"/>
            </a:pPr>
            <a:r>
              <a:rPr lang="en-GB" altLang="da-DK" sz="1600" dirty="0"/>
              <a:t>Hopefully, you will take ownership of your work</a:t>
            </a:r>
          </a:p>
          <a:p>
            <a:pPr marL="728663" lvl="1" indent="-271463">
              <a:spcBef>
                <a:spcPts val="300"/>
              </a:spcBef>
              <a:buFontTx/>
              <a:buChar char="–"/>
            </a:pPr>
            <a:r>
              <a:rPr lang="en-GB" altLang="da-DK" sz="1600" dirty="0"/>
              <a:t>It will be your "baby"</a:t>
            </a:r>
          </a:p>
          <a:p>
            <a:pPr marL="271463" lvl="1" indent="-271463">
              <a:spcBef>
                <a:spcPts val="1200"/>
              </a:spcBef>
              <a:buFontTx/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In such a situation, it is very natural to be "defensive" towards critique and proposals for changes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This is, however, </a:t>
            </a:r>
            <a:r>
              <a:rPr lang="en-GB" altLang="da-DK" sz="1600" b="1" dirty="0">
                <a:solidFill>
                  <a:srgbClr val="008000"/>
                </a:solidFill>
              </a:rPr>
              <a:t>very stupid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Your advisor (and other people who look at your work) invests considerable time in making comments and proposals for improvements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They are not made to annoy you – but to </a:t>
            </a:r>
            <a:r>
              <a:rPr lang="en-GB" altLang="da-DK" sz="1600" b="1" dirty="0">
                <a:solidFill>
                  <a:srgbClr val="008000"/>
                </a:solidFill>
              </a:rPr>
              <a:t>help </a:t>
            </a:r>
            <a:r>
              <a:rPr lang="en-GB" altLang="da-DK" sz="1600" dirty="0"/>
              <a:t>you to </a:t>
            </a:r>
            <a:r>
              <a:rPr lang="en-GB" altLang="da-DK" sz="1600" b="1" dirty="0">
                <a:solidFill>
                  <a:srgbClr val="008000"/>
                </a:solidFill>
              </a:rPr>
              <a:t>improve</a:t>
            </a:r>
            <a:r>
              <a:rPr lang="en-GB" altLang="da-DK" sz="1600" dirty="0"/>
              <a:t> your project and hence your report (and your final grade)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24</a:t>
            </a:fld>
            <a:endParaRPr lang="da-DK" altLang="da-DK" dirty="0"/>
          </a:p>
        </p:txBody>
      </p:sp>
    </p:spTree>
    <p:extLst>
      <p:ext uri="{BB962C8B-B14F-4D97-AF65-F5344CB8AC3E}">
        <p14:creationId xmlns:p14="http://schemas.microsoft.com/office/powerpoint/2010/main" val="18760577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424167" cy="609600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da-DK" sz="2800" dirty="0"/>
              <a:t>Example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0321" y="1049823"/>
            <a:ext cx="8496175" cy="5350977"/>
          </a:xfrm>
          <a:noFill/>
        </p:spPr>
        <p:txBody>
          <a:bodyPr/>
          <a:lstStyle/>
          <a:p>
            <a:pPr marL="271463" lvl="1" indent="-271463">
              <a:spcBef>
                <a:spcPts val="1200"/>
              </a:spcBef>
              <a:buFontTx/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When reading a draft of one of the sections in your bachelor report,</a:t>
            </a:r>
            <a:b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</a:b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your advisor misunderstands one of your arguments</a:t>
            </a:r>
          </a:p>
          <a:p>
            <a:pPr marL="271463" lvl="1" indent="-271463">
              <a:spcBef>
                <a:spcPts val="1200"/>
              </a:spcBef>
              <a:buFontTx/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The straightforward / natural approach is the following</a:t>
            </a:r>
          </a:p>
          <a:p>
            <a:pPr marL="728663" lvl="1" indent="-271463">
              <a:spcBef>
                <a:spcPts val="300"/>
              </a:spcBef>
              <a:buFontTx/>
              <a:buChar char="–"/>
            </a:pPr>
            <a:r>
              <a:rPr lang="en-GB" altLang="da-DK" sz="1600" dirty="0"/>
              <a:t>You can see that this is because the advisor does not know your work well enough, or has read the corresponding paragraph too fast</a:t>
            </a:r>
          </a:p>
          <a:p>
            <a:pPr marL="728663" lvl="1" indent="-271463">
              <a:spcBef>
                <a:spcPts val="300"/>
              </a:spcBef>
              <a:buFontTx/>
              <a:buChar char="–"/>
            </a:pPr>
            <a:r>
              <a:rPr lang="en-GB" altLang="da-DK" sz="1600" dirty="0"/>
              <a:t>Hence, you tell this to your advisor, and do not change anything in your report</a:t>
            </a:r>
          </a:p>
          <a:p>
            <a:pPr marL="728663" lvl="1" indent="-271463">
              <a:spcBef>
                <a:spcPts val="300"/>
              </a:spcBef>
              <a:buFontTx/>
              <a:buChar char="–"/>
            </a:pPr>
            <a:r>
              <a:rPr lang="en-GB" altLang="da-DK" sz="1600" dirty="0"/>
              <a:t>The comment has </a:t>
            </a:r>
            <a:r>
              <a:rPr lang="en-GB" altLang="da-DK" sz="1600" b="1" dirty="0">
                <a:solidFill>
                  <a:srgbClr val="008000"/>
                </a:solidFill>
              </a:rPr>
              <a:t>not</a:t>
            </a:r>
            <a:r>
              <a:rPr lang="en-GB" altLang="da-DK" sz="1600" dirty="0"/>
              <a:t> helped you to improve your report</a:t>
            </a:r>
          </a:p>
          <a:p>
            <a:pPr marL="271463" lvl="1" indent="-271463">
              <a:spcBef>
                <a:spcPts val="1200"/>
              </a:spcBef>
              <a:buFontTx/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A much more fruitful approach is the following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A lot of your readers – </a:t>
            </a:r>
            <a:r>
              <a:rPr lang="en-GB" altLang="da-DK" sz="1600" b="1" dirty="0">
                <a:solidFill>
                  <a:srgbClr val="008000"/>
                </a:solidFill>
              </a:rPr>
              <a:t>including the censor</a:t>
            </a:r>
            <a:r>
              <a:rPr lang="en-GB" altLang="da-DK" sz="1600" dirty="0"/>
              <a:t> – will be in the same situation as your advisor (not knowing your work in detail, and reading parts of your report very fast)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spc="-20" dirty="0"/>
              <a:t>Hence, you should use the “stupid" comment made by your advisor to </a:t>
            </a:r>
            <a:r>
              <a:rPr lang="en-GB" altLang="da-DK" sz="1600" b="1" spc="-20" dirty="0">
                <a:solidFill>
                  <a:srgbClr val="008000"/>
                </a:solidFill>
              </a:rPr>
              <a:t>thoroughly </a:t>
            </a:r>
            <a:r>
              <a:rPr lang="en-GB" altLang="da-DK" sz="1600" b="1" dirty="0">
                <a:solidFill>
                  <a:srgbClr val="008000"/>
                </a:solidFill>
              </a:rPr>
              <a:t>investigate</a:t>
            </a:r>
            <a:r>
              <a:rPr lang="en-GB" altLang="da-DK" sz="1600" dirty="0"/>
              <a:t> whether you can reformulate the paragraph in such a way that it </a:t>
            </a:r>
            <a:r>
              <a:rPr lang="en-GB" altLang="da-DK" sz="1600" spc="-20" dirty="0"/>
              <a:t>becomes </a:t>
            </a:r>
            <a:r>
              <a:rPr lang="en-GB" altLang="da-DK" sz="1600" b="1" spc="-20" dirty="0">
                <a:solidFill>
                  <a:srgbClr val="008000"/>
                </a:solidFill>
              </a:rPr>
              <a:t>less likely</a:t>
            </a:r>
            <a:r>
              <a:rPr lang="en-GB" altLang="da-DK" sz="1600" spc="-20" dirty="0"/>
              <a:t> that a "stupid, too fast" reader may misunderstand your text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It is </a:t>
            </a:r>
            <a:r>
              <a:rPr lang="en-GB" altLang="da-DK" sz="1600" b="1" dirty="0">
                <a:solidFill>
                  <a:srgbClr val="008000"/>
                </a:solidFill>
              </a:rPr>
              <a:t>your responsibility</a:t>
            </a:r>
            <a:r>
              <a:rPr lang="en-GB" altLang="da-DK" sz="1600" dirty="0"/>
              <a:t> that your text is as clear and unambiguous as possible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Using this approach, you have </a:t>
            </a:r>
            <a:r>
              <a:rPr lang="en-GB" altLang="da-DK" sz="1600" b="1" dirty="0">
                <a:solidFill>
                  <a:srgbClr val="008000"/>
                </a:solidFill>
              </a:rPr>
              <a:t>improved</a:t>
            </a:r>
            <a:r>
              <a:rPr lang="en-GB" altLang="da-DK" sz="1600" dirty="0"/>
              <a:t> your report</a:t>
            </a:r>
          </a:p>
          <a:p>
            <a:pPr marL="271463" lvl="1" indent="-271463">
              <a:spcBef>
                <a:spcPts val="1200"/>
              </a:spcBef>
              <a:buFontTx/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By using </a:t>
            </a:r>
            <a:r>
              <a:rPr lang="en-GB" altLang="da-DK" sz="1800" b="1" dirty="0">
                <a:solidFill>
                  <a:srgbClr val="008000"/>
                </a:solidFill>
                <a:cs typeface="ＭＳ Ｐゴシック" charset="0"/>
              </a:rPr>
              <a:t>all</a:t>
            </a: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 comments and proposals in a </a:t>
            </a:r>
            <a:r>
              <a:rPr lang="en-GB" altLang="da-DK" sz="1800" b="1" dirty="0">
                <a:solidFill>
                  <a:srgbClr val="008000"/>
                </a:solidFill>
                <a:cs typeface="ＭＳ Ｐゴシック" charset="0"/>
              </a:rPr>
              <a:t>constructive</a:t>
            </a: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 way, you can </a:t>
            </a:r>
            <a:r>
              <a:rPr lang="en-GB" altLang="da-DK" sz="1800" b="1" dirty="0">
                <a:solidFill>
                  <a:srgbClr val="008000"/>
                </a:solidFill>
                <a:cs typeface="ＭＳ Ｐゴシック" charset="0"/>
              </a:rPr>
              <a:t>significantly</a:t>
            </a: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 improve the quality of your report</a:t>
            </a:r>
          </a:p>
          <a:p>
            <a:pPr marL="728663" lvl="1" indent="-271463">
              <a:spcBef>
                <a:spcPts val="300"/>
              </a:spcBef>
              <a:buFontTx/>
              <a:buChar char="–"/>
            </a:pPr>
            <a:endParaRPr lang="en-GB" altLang="da-DK" sz="1600" dirty="0"/>
          </a:p>
          <a:p>
            <a:pPr marL="728663" lvl="1" indent="-271463">
              <a:spcBef>
                <a:spcPts val="300"/>
              </a:spcBef>
            </a:pPr>
            <a:endParaRPr lang="en-GB" altLang="da-DK" sz="16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25</a:t>
            </a:fld>
            <a:endParaRPr lang="da-DK" altLang="da-DK" dirty="0"/>
          </a:p>
        </p:txBody>
      </p:sp>
    </p:spTree>
    <p:extLst>
      <p:ext uri="{BB962C8B-B14F-4D97-AF65-F5344CB8AC3E}">
        <p14:creationId xmlns:p14="http://schemas.microsoft.com/office/powerpoint/2010/main" val="41911233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424167" cy="609600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da-DK" sz="2800" dirty="0"/>
              <a:t>When you are stuck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0321" y="1049823"/>
            <a:ext cx="8424167" cy="3099257"/>
          </a:xfrm>
          <a:noFill/>
        </p:spPr>
        <p:txBody>
          <a:bodyPr/>
          <a:lstStyle/>
          <a:p>
            <a:pPr marL="271463" lvl="1" indent="-271463">
              <a:spcBef>
                <a:spcPts val="1200"/>
              </a:spcBef>
              <a:buFontTx/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Taking a break often helps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Take a run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Go for a walk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Get some sleep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Get coffee / food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altLang="da-DK" sz="1600" dirty="0"/>
              <a:t>Chat with some friends</a:t>
            </a:r>
          </a:p>
          <a:p>
            <a:pPr marL="271463" lvl="1" indent="-271463">
              <a:spcBef>
                <a:spcPts val="1200"/>
              </a:spcBef>
              <a:buFontTx/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Relaxing in some way is the catalyst for many great ideas</a:t>
            </a:r>
          </a:p>
          <a:p>
            <a:pPr marL="728663" lvl="1" indent="-271463">
              <a:spcBef>
                <a:spcPts val="300"/>
              </a:spcBef>
              <a:buFontTx/>
              <a:buChar char="–"/>
            </a:pPr>
            <a:r>
              <a:rPr lang="en-GB" altLang="da-DK" sz="1600" dirty="0"/>
              <a:t>They must be written down </a:t>
            </a:r>
            <a:r>
              <a:rPr lang="en-GB" altLang="da-DK" sz="1600" b="1" dirty="0">
                <a:solidFill>
                  <a:srgbClr val="008000"/>
                </a:solidFill>
              </a:rPr>
              <a:t>as soon as possible</a:t>
            </a:r>
          </a:p>
          <a:p>
            <a:pPr marL="728663" lvl="1" indent="-271463">
              <a:spcBef>
                <a:spcPts val="300"/>
              </a:spcBef>
              <a:buFontTx/>
              <a:buChar char="–"/>
            </a:pPr>
            <a:r>
              <a:rPr lang="en-GB" altLang="da-DK" sz="1600" dirty="0"/>
              <a:t>Otherwise, most of them will be forgotten</a:t>
            </a:r>
          </a:p>
          <a:p>
            <a:pPr marL="271463" lvl="1" indent="-271463">
              <a:spcBef>
                <a:spcPts val="1200"/>
              </a:spcBef>
              <a:buFontTx/>
              <a:buChar char="•"/>
            </a:pPr>
            <a:r>
              <a:rPr lang="en-GB" altLang="da-DK" sz="1800" b="1" dirty="0">
                <a:solidFill>
                  <a:srgbClr val="A50021"/>
                </a:solidFill>
                <a:cs typeface="ＭＳ Ｐゴシック" charset="0"/>
              </a:rPr>
              <a:t>Still stuck?</a:t>
            </a:r>
          </a:p>
          <a:p>
            <a:pPr marL="728663" lvl="1" indent="-271463">
              <a:spcBef>
                <a:spcPts val="300"/>
              </a:spcBef>
            </a:pPr>
            <a:r>
              <a:rPr lang="en-US" sz="1600" dirty="0"/>
              <a:t>Stop writing and review other sections</a:t>
            </a:r>
          </a:p>
          <a:p>
            <a:pPr marL="728663" lvl="1" indent="-271463">
              <a:spcBef>
                <a:spcPts val="300"/>
              </a:spcBef>
            </a:pPr>
            <a:r>
              <a:rPr lang="en-US" sz="1600" dirty="0"/>
              <a:t>Explain what you are trying to write to another group member (or a rubber duck)!</a:t>
            </a:r>
          </a:p>
          <a:p>
            <a:pPr marL="728663" lvl="1" indent="-271463">
              <a:spcBef>
                <a:spcPts val="300"/>
              </a:spcBef>
            </a:pPr>
            <a:r>
              <a:rPr lang="en-US" sz="1600" dirty="0"/>
              <a:t>Try writing it as an email to your advisor (perhaps never send it)</a:t>
            </a:r>
          </a:p>
          <a:p>
            <a:pPr marL="728663" lvl="1" indent="-271463">
              <a:spcBef>
                <a:spcPts val="300"/>
              </a:spcBef>
            </a:pPr>
            <a:r>
              <a:rPr lang="en-US" sz="1600" dirty="0"/>
              <a:t>Take some time off </a:t>
            </a:r>
          </a:p>
          <a:p>
            <a:pPr marL="271463" lvl="1" indent="-271463">
              <a:spcBef>
                <a:spcPts val="1200"/>
              </a:spcBef>
              <a:buFontTx/>
              <a:buChar char="•"/>
            </a:pPr>
            <a:endParaRPr lang="en-GB" altLang="da-DK" sz="1800" b="1" dirty="0">
              <a:solidFill>
                <a:srgbClr val="A50021"/>
              </a:solidFill>
              <a:cs typeface="ＭＳ Ｐゴシック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26</a:t>
            </a:fld>
            <a:endParaRPr lang="da-DK" altLang="da-DK" dirty="0"/>
          </a:p>
        </p:txBody>
      </p:sp>
      <p:pic>
        <p:nvPicPr>
          <p:cNvPr id="5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20" y="3164262"/>
            <a:ext cx="1279600" cy="12796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8871423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424167" cy="609600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da-DK" sz="2800" dirty="0"/>
              <a:t>Things to do and not to do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0321" y="1049823"/>
            <a:ext cx="8424167" cy="5808177"/>
          </a:xfrm>
          <a:noFill/>
        </p:spPr>
        <p:txBody>
          <a:bodyPr/>
          <a:lstStyle/>
          <a:p>
            <a:pPr marL="271463" lvl="1" indent="-271463">
              <a:spcBef>
                <a:spcPts val="1200"/>
              </a:spcBef>
              <a:buFontTx/>
              <a:buChar char="•"/>
            </a:pPr>
            <a:r>
              <a:rPr lang="da-DK" altLang="da-DK" sz="1800" b="1" dirty="0">
                <a:solidFill>
                  <a:srgbClr val="A50021"/>
                </a:solidFill>
                <a:cs typeface="ＭＳ Ｐゴシック" charset="0"/>
              </a:rPr>
              <a:t>Do</a:t>
            </a:r>
          </a:p>
          <a:p>
            <a:pPr marL="728663" lvl="1" indent="-271463" defTabSz="496570">
              <a:spcBef>
                <a:spcPts val="300"/>
              </a:spcBef>
              <a:buSzPct val="100000"/>
              <a:defRPr sz="2720"/>
            </a:pPr>
            <a:r>
              <a:rPr lang="en-US" sz="1600" dirty="0"/>
              <a:t>Write! You need lots of draft text to turn into finished text</a:t>
            </a:r>
          </a:p>
          <a:p>
            <a:pPr marL="728663" lvl="1" indent="-271463" defTabSz="496570">
              <a:spcBef>
                <a:spcPts val="300"/>
              </a:spcBef>
              <a:buSzPct val="100000"/>
              <a:defRPr sz="2720"/>
            </a:pPr>
            <a:r>
              <a:rPr lang="en-US" sz="1600" dirty="0"/>
              <a:t>Sketch tables and figures on paper and put them in ASAP</a:t>
            </a:r>
          </a:p>
          <a:p>
            <a:pPr marL="728663" lvl="1" indent="-271463" defTabSz="496570">
              <a:spcBef>
                <a:spcPts val="300"/>
              </a:spcBef>
              <a:buSzPct val="100000"/>
              <a:defRPr sz="2720"/>
            </a:pPr>
            <a:r>
              <a:rPr lang="en-US" sz="1600" dirty="0"/>
              <a:t>Insert references (in </a:t>
            </a:r>
            <a:r>
              <a:rPr lang="en-US" sz="1600" dirty="0" err="1"/>
              <a:t>BibTeX</a:t>
            </a:r>
            <a:r>
              <a:rPr lang="en-US" sz="1600" dirty="0"/>
              <a:t> or EndNote) when you find the papers</a:t>
            </a:r>
          </a:p>
          <a:p>
            <a:pPr marL="728663" lvl="1" indent="-271463" defTabSz="496570">
              <a:spcBef>
                <a:spcPts val="300"/>
              </a:spcBef>
              <a:buSzPct val="100000"/>
              <a:defRPr sz="2720"/>
            </a:pPr>
            <a:r>
              <a:rPr lang="en-US" sz="1600" dirty="0"/>
              <a:t>If something reads odd or you don’t fully understand it, change it</a:t>
            </a:r>
          </a:p>
          <a:p>
            <a:pPr marL="728663" lvl="1" indent="-271463" defTabSz="496570">
              <a:spcBef>
                <a:spcPts val="300"/>
              </a:spcBef>
              <a:buSzPct val="100000"/>
              <a:defRPr sz="2720"/>
            </a:pPr>
            <a:r>
              <a:rPr lang="en-US" sz="1600" dirty="0"/>
              <a:t>When you think the structure doesn't work; clone section/document and try another structure</a:t>
            </a:r>
          </a:p>
          <a:p>
            <a:pPr marL="271463" lvl="1" indent="-271463">
              <a:spcBef>
                <a:spcPts val="1200"/>
              </a:spcBef>
              <a:buFontTx/>
              <a:buChar char="•"/>
            </a:pPr>
            <a:r>
              <a:rPr lang="da-DK" altLang="da-DK" sz="1800" b="1" dirty="0" err="1">
                <a:solidFill>
                  <a:srgbClr val="A50021"/>
                </a:solidFill>
                <a:cs typeface="ＭＳ Ｐゴシック" charset="0"/>
              </a:rPr>
              <a:t>Don't</a:t>
            </a:r>
            <a:endParaRPr lang="da-DK" altLang="da-DK" sz="1800" b="1" dirty="0">
              <a:solidFill>
                <a:srgbClr val="A50021"/>
              </a:solidFill>
              <a:cs typeface="ＭＳ Ｐゴシック" charset="0"/>
            </a:endParaRPr>
          </a:p>
          <a:p>
            <a:pPr marL="728663" lvl="1" indent="-271463" defTabSz="496570">
              <a:spcBef>
                <a:spcPts val="300"/>
              </a:spcBef>
              <a:buSzPct val="100000"/>
              <a:defRPr sz="2720"/>
            </a:pPr>
            <a:r>
              <a:rPr lang="en-US" sz="1600" dirty="0"/>
              <a:t>Expect others to take charge and polish</a:t>
            </a:r>
          </a:p>
          <a:p>
            <a:pPr marL="728663" lvl="1" indent="-271463" defTabSz="496570">
              <a:spcBef>
                <a:spcPts val="300"/>
              </a:spcBef>
              <a:buSzPct val="100000"/>
              <a:defRPr sz="2720"/>
            </a:pPr>
            <a:r>
              <a:rPr lang="en-US" sz="1600" dirty="0"/>
              <a:t>Introduce too many ideas at the same time </a:t>
            </a:r>
          </a:p>
          <a:p>
            <a:pPr marL="728663" lvl="1" indent="-271463" defTabSz="496570">
              <a:spcBef>
                <a:spcPts val="300"/>
              </a:spcBef>
              <a:buSzPct val="100000"/>
              <a:defRPr sz="2720"/>
            </a:pPr>
            <a:r>
              <a:rPr lang="en-US" sz="1600" dirty="0"/>
              <a:t>Introduce new stuff in the conclusion</a:t>
            </a:r>
          </a:p>
          <a:p>
            <a:pPr marL="728663" lvl="1" indent="-271463" defTabSz="496570">
              <a:spcBef>
                <a:spcPts val="300"/>
              </a:spcBef>
              <a:buSzPct val="100000"/>
              <a:defRPr sz="2720"/>
            </a:pPr>
            <a:r>
              <a:rPr lang="en-US" sz="1600" dirty="0"/>
              <a:t>Do references and layout the night before the deadline</a:t>
            </a:r>
          </a:p>
          <a:p>
            <a:pPr marL="728663" lvl="1" indent="-271463" defTabSz="496570">
              <a:spcBef>
                <a:spcPts val="300"/>
              </a:spcBef>
              <a:buSzPct val="100000"/>
              <a:defRPr sz="2720"/>
            </a:pPr>
            <a:r>
              <a:rPr lang="en-US" sz="1600" dirty="0"/>
              <a:t>Use a lot of different fonts and styles</a:t>
            </a:r>
          </a:p>
          <a:p>
            <a:pPr marL="271463" lvl="1" indent="-271463">
              <a:spcBef>
                <a:spcPts val="1200"/>
              </a:spcBef>
              <a:buFontTx/>
              <a:buChar char="•"/>
            </a:pPr>
            <a:r>
              <a:rPr lang="en-US" sz="1800" b="1" dirty="0">
                <a:solidFill>
                  <a:srgbClr val="A50021"/>
                </a:solidFill>
                <a:cs typeface="ＭＳ Ｐゴシック" charset="0"/>
              </a:rPr>
              <a:t>Be honest about your work</a:t>
            </a:r>
          </a:p>
          <a:p>
            <a:pPr marL="728663" lvl="1" indent="-271463" defTabSz="496570">
              <a:spcBef>
                <a:spcPts val="300"/>
              </a:spcBef>
              <a:buSzPct val="100000"/>
              <a:defRPr sz="2720"/>
            </a:pPr>
            <a:r>
              <a:rPr lang="en-US" sz="1600" dirty="0"/>
              <a:t>Build on what you have and know — all of it</a:t>
            </a:r>
          </a:p>
          <a:p>
            <a:pPr marL="728663" lvl="1" indent="-271463" defTabSz="496570">
              <a:spcBef>
                <a:spcPts val="300"/>
              </a:spcBef>
              <a:buSzPct val="100000"/>
              <a:defRPr sz="2720"/>
            </a:pPr>
            <a:r>
              <a:rPr lang="en-US" sz="1600" dirty="0"/>
              <a:t>Identify the strengths and point them out</a:t>
            </a:r>
          </a:p>
          <a:p>
            <a:pPr marL="728663" lvl="1" indent="-271463" defTabSz="496570">
              <a:spcBef>
                <a:spcPts val="300"/>
              </a:spcBef>
              <a:buSzPct val="100000"/>
              <a:defRPr sz="2720"/>
            </a:pPr>
            <a:r>
              <a:rPr lang="en-US" sz="1600" dirty="0"/>
              <a:t>Identify the weaknesses and address them in the discussion</a:t>
            </a:r>
          </a:p>
          <a:p>
            <a:pPr marL="271463" lvl="1" indent="-271463">
              <a:spcBef>
                <a:spcPts val="1200"/>
              </a:spcBef>
              <a:buFontTx/>
              <a:buChar char="•"/>
            </a:pPr>
            <a:endParaRPr lang="en-GB" altLang="da-DK" sz="1800" b="1" dirty="0">
              <a:solidFill>
                <a:srgbClr val="A50021"/>
              </a:solidFill>
              <a:cs typeface="ＭＳ Ｐゴシック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27</a:t>
            </a:fld>
            <a:endParaRPr lang="da-DK" altLang="da-DK" dirty="0"/>
          </a:p>
        </p:txBody>
      </p:sp>
    </p:spTree>
    <p:extLst>
      <p:ext uri="{BB962C8B-B14F-4D97-AF65-F5344CB8AC3E}">
        <p14:creationId xmlns:p14="http://schemas.microsoft.com/office/powerpoint/2010/main" val="20032156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424167" cy="609600"/>
          </a:xfrm>
        </p:spPr>
        <p:txBody>
          <a:bodyPr/>
          <a:lstStyle/>
          <a:p>
            <a:pPr eaLnBrk="1" hangingPunct="1">
              <a:defRPr/>
            </a:pPr>
            <a:r>
              <a:rPr lang="en-GB" altLang="da-DK" sz="2800" dirty="0"/>
              <a:t>Summary: Important pieces of advice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081871"/>
            <a:ext cx="8496175" cy="5547529"/>
          </a:xfrm>
          <a:noFill/>
        </p:spPr>
        <p:txBody>
          <a:bodyPr/>
          <a:lstStyle/>
          <a:p>
            <a:pPr marL="447675" lvl="1" indent="-447675">
              <a:spcBef>
                <a:spcPts val="800"/>
              </a:spcBef>
              <a:buFont typeface="+mj-lt"/>
              <a:buAutoNum type="arabicParenR"/>
            </a:pPr>
            <a:r>
              <a:rPr lang="en-US" sz="1600" b="1" dirty="0">
                <a:solidFill>
                  <a:srgbClr val="A50021"/>
                </a:solidFill>
                <a:cs typeface="ＭＳ Ｐゴシック" charset="0"/>
              </a:rPr>
              <a:t>Make it very clear whether things are your contributions or others'</a:t>
            </a:r>
          </a:p>
          <a:p>
            <a:pPr marL="447675" lvl="1" indent="-447675">
              <a:spcBef>
                <a:spcPts val="800"/>
              </a:spcBef>
              <a:buFont typeface="+mj-lt"/>
              <a:buAutoNum type="arabicParenR"/>
            </a:pPr>
            <a:r>
              <a:rPr lang="en-GB" altLang="da-DK" sz="1600" b="1" dirty="0">
                <a:solidFill>
                  <a:srgbClr val="A50021"/>
                </a:solidFill>
                <a:cs typeface="ＭＳ Ｐゴシック" charset="0"/>
              </a:rPr>
              <a:t>Use the comments given to you – people want to help, not annoy you</a:t>
            </a:r>
          </a:p>
          <a:p>
            <a:pPr marL="447675" lvl="1" indent="-447675">
              <a:spcBef>
                <a:spcPts val="800"/>
              </a:spcBef>
              <a:buFont typeface="+mj-lt"/>
              <a:buAutoNum type="arabicParenR"/>
            </a:pPr>
            <a:r>
              <a:rPr lang="en-GB" altLang="da-DK" sz="1600" b="1" dirty="0">
                <a:solidFill>
                  <a:srgbClr val="A50021"/>
                </a:solidFill>
                <a:cs typeface="ＭＳ Ｐゴシック" charset="0"/>
              </a:rPr>
              <a:t>Do not make postulates – detailed arguments are needed</a:t>
            </a:r>
          </a:p>
          <a:p>
            <a:pPr marL="447675" lvl="1" indent="-447675">
              <a:spcBef>
                <a:spcPts val="800"/>
              </a:spcBef>
              <a:buFont typeface="+mj-lt"/>
              <a:buAutoNum type="arabicParenR"/>
            </a:pPr>
            <a:r>
              <a:rPr lang="en-GB" altLang="da-DK" sz="1600" b="1" dirty="0">
                <a:solidFill>
                  <a:srgbClr val="A50021"/>
                </a:solidFill>
                <a:cs typeface="ＭＳ Ｐゴシック" charset="0"/>
              </a:rPr>
              <a:t>Write everything down before you forget</a:t>
            </a:r>
          </a:p>
          <a:p>
            <a:pPr marL="447675" lvl="1" indent="-447675">
              <a:spcBef>
                <a:spcPts val="800"/>
              </a:spcBef>
              <a:buFont typeface="+mj-lt"/>
              <a:buAutoNum type="arabicParenR"/>
            </a:pPr>
            <a:r>
              <a:rPr lang="en-GB" altLang="da-DK" sz="1600" b="1" dirty="0">
                <a:solidFill>
                  <a:srgbClr val="A50021"/>
                </a:solidFill>
                <a:cs typeface="ＭＳ Ｐゴシック" charset="0"/>
              </a:rPr>
              <a:t>Have enough time to finish the report – language and grammar do count</a:t>
            </a:r>
          </a:p>
          <a:p>
            <a:pPr marL="447675" lvl="1" indent="-447675">
              <a:spcBef>
                <a:spcPts val="800"/>
              </a:spcBef>
              <a:buFont typeface="+mj-lt"/>
              <a:buAutoNum type="arabicParenR"/>
            </a:pPr>
            <a:r>
              <a:rPr lang="en-GB" altLang="da-DK" sz="1600" b="1" dirty="0">
                <a:solidFill>
                  <a:srgbClr val="A50021"/>
                </a:solidFill>
                <a:cs typeface="ＭＳ Ｐゴシック" charset="0"/>
              </a:rPr>
              <a:t>Do not postpone all proofreading to the end; your drafts should also be readable</a:t>
            </a:r>
          </a:p>
          <a:p>
            <a:pPr marL="447675" lvl="1" indent="-447675">
              <a:spcBef>
                <a:spcPts val="800"/>
              </a:spcBef>
              <a:buFont typeface="+mj-lt"/>
              <a:buAutoNum type="arabicParenR"/>
            </a:pPr>
            <a:r>
              <a:rPr lang="en-GB" altLang="da-DK" sz="1600" b="1" dirty="0">
                <a:solidFill>
                  <a:srgbClr val="A50021"/>
                </a:solidFill>
                <a:cs typeface="ＭＳ Ｐゴシック" charset="0"/>
              </a:rPr>
              <a:t>Two or three good results are better than 10 vague</a:t>
            </a:r>
          </a:p>
          <a:p>
            <a:pPr marL="447675" lvl="1" indent="-447675">
              <a:spcBef>
                <a:spcPts val="800"/>
              </a:spcBef>
              <a:buFont typeface="+mj-lt"/>
              <a:buAutoNum type="arabicParenR"/>
            </a:pPr>
            <a:r>
              <a:rPr lang="en-GB" altLang="da-DK" sz="1600" b="1" dirty="0">
                <a:solidFill>
                  <a:srgbClr val="A50021"/>
                </a:solidFill>
                <a:cs typeface="ＭＳ Ｐゴシック" charset="0"/>
              </a:rPr>
              <a:t>Do not keep the reader in suspense – describe your main results early</a:t>
            </a:r>
          </a:p>
          <a:p>
            <a:pPr marL="447675" lvl="1" indent="-447675">
              <a:spcBef>
                <a:spcPts val="800"/>
              </a:spcBef>
              <a:buFont typeface="+mj-lt"/>
              <a:buAutoNum type="arabicParenR"/>
            </a:pPr>
            <a:r>
              <a:rPr lang="en-GB" altLang="da-DK" sz="1600" b="1" dirty="0">
                <a:solidFill>
                  <a:srgbClr val="A50021"/>
                </a:solidFill>
                <a:cs typeface="ＭＳ Ｐゴシック" charset="0"/>
              </a:rPr>
              <a:t>Don't cheat – even with small things – remember to reference</a:t>
            </a:r>
          </a:p>
          <a:p>
            <a:pPr marL="447675" lvl="1" indent="-447675">
              <a:spcBef>
                <a:spcPts val="800"/>
              </a:spcBef>
              <a:buFont typeface="+mj-lt"/>
              <a:buAutoNum type="arabicParenR"/>
            </a:pPr>
            <a:r>
              <a:rPr lang="en-GB" altLang="da-DK" sz="1600" b="1" dirty="0">
                <a:solidFill>
                  <a:srgbClr val="A50021"/>
                </a:solidFill>
                <a:cs typeface="ＭＳ Ｐゴシック" charset="0"/>
              </a:rPr>
              <a:t>Do not write an essay – you are making an academic paper</a:t>
            </a:r>
          </a:p>
          <a:p>
            <a:pPr marL="447675" lvl="1" indent="-447675">
              <a:spcBef>
                <a:spcPts val="800"/>
              </a:spcBef>
              <a:buFont typeface="+mj-lt"/>
              <a:buAutoNum type="arabicParenR"/>
            </a:pPr>
            <a:r>
              <a:rPr lang="en-GB" altLang="da-DK" sz="1600" b="1" dirty="0">
                <a:solidFill>
                  <a:srgbClr val="A50021"/>
                </a:solidFill>
                <a:cs typeface="ＭＳ Ｐゴシック" charset="0"/>
              </a:rPr>
              <a:t>Simplify, simplify and simplify (language, tables, figures, structure, …)</a:t>
            </a:r>
          </a:p>
          <a:p>
            <a:pPr marL="447675" lvl="1" indent="-447675">
              <a:spcBef>
                <a:spcPts val="800"/>
              </a:spcBef>
              <a:buFont typeface="+mj-lt"/>
              <a:buAutoNum type="arabicParenR"/>
            </a:pPr>
            <a:r>
              <a:rPr lang="en-GB" altLang="da-DK" sz="1600" b="1" dirty="0">
                <a:solidFill>
                  <a:srgbClr val="A50021"/>
                </a:solidFill>
                <a:cs typeface="ＭＳ Ｐゴシック" charset="0"/>
              </a:rPr>
              <a:t>Help your reader as much as possible – with arguments, calculations, etc.</a:t>
            </a:r>
          </a:p>
          <a:p>
            <a:pPr marL="447675" lvl="1" indent="-447675">
              <a:spcBef>
                <a:spcPts val="800"/>
              </a:spcBef>
              <a:buFont typeface="+mj-lt"/>
              <a:buAutoNum type="arabicParenR"/>
            </a:pPr>
            <a:r>
              <a:rPr lang="en-GB" altLang="da-DK" sz="1600" b="1" dirty="0">
                <a:solidFill>
                  <a:srgbClr val="A50021"/>
                </a:solidFill>
                <a:cs typeface="ＭＳ Ｐゴシック" charset="0"/>
              </a:rPr>
              <a:t>Remember breaks – one efficient hour is better than two “slow” hours</a:t>
            </a:r>
          </a:p>
          <a:p>
            <a:pPr marL="447675" lvl="1" indent="-447675">
              <a:spcBef>
                <a:spcPts val="800"/>
              </a:spcBef>
              <a:buFont typeface="+mj-lt"/>
              <a:buAutoNum type="arabicParenR"/>
            </a:pPr>
            <a:r>
              <a:rPr lang="en-GB" altLang="da-DK" sz="1600" b="1" dirty="0">
                <a:solidFill>
                  <a:srgbClr val="A50021"/>
                </a:solidFill>
                <a:cs typeface="ＭＳ Ｐゴシック" charset="0"/>
              </a:rPr>
              <a:t>Remember that you are a group – use your different competencies</a:t>
            </a:r>
          </a:p>
          <a:p>
            <a:pPr marL="447675" lvl="1" indent="-447675">
              <a:spcBef>
                <a:spcPts val="800"/>
              </a:spcBef>
              <a:buFont typeface="+mj-lt"/>
              <a:buAutoNum type="arabicParenR"/>
            </a:pPr>
            <a:r>
              <a:rPr lang="en-GB" altLang="da-DK" sz="1600" b="1" dirty="0">
                <a:solidFill>
                  <a:srgbClr val="A50021"/>
                </a:solidFill>
                <a:cs typeface="ＭＳ Ｐゴシック" charset="0"/>
              </a:rPr>
              <a:t>Use your friends, family, other students, …</a:t>
            </a:r>
          </a:p>
          <a:p>
            <a:pPr marL="447675" lvl="1" indent="-447675">
              <a:spcBef>
                <a:spcPts val="800"/>
              </a:spcBef>
              <a:buFont typeface="+mj-lt"/>
              <a:buAutoNum type="arabicParenR"/>
            </a:pPr>
            <a:r>
              <a:rPr lang="en-GB" altLang="da-DK" sz="1600" b="1" dirty="0">
                <a:solidFill>
                  <a:srgbClr val="A50021"/>
                </a:solidFill>
                <a:cs typeface="ＭＳ Ｐゴシック" charset="0"/>
              </a:rPr>
              <a:t>Remember backup; keep old versions in a systematic way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28</a:t>
            </a:fld>
            <a:endParaRPr lang="da-DK" altLang="da-DK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20" y="5589240"/>
            <a:ext cx="1186728" cy="126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750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735813" y="1124744"/>
            <a:ext cx="7200800" cy="54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400" b="1">
                <a:solidFill>
                  <a:srgbClr val="A50021"/>
                </a:solidFill>
                <a:latin typeface="Arial" pitchFamily="34" charset="0"/>
                <a:ea typeface="ＭＳ Ｐゴシック" pitchFamily="34" charset="-128"/>
              </a:defRPr>
            </a:lvl1pPr>
            <a:lvl2pPr eaLnBrk="0" hangingPunct="0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itchFamily="34" charset="0"/>
                <a:ea typeface="ＭＳ Ｐゴシック" pitchFamily="34" charset="-128"/>
              </a:defRPr>
            </a:lvl2pPr>
            <a:lvl3pPr eaLnBrk="0" hangingPunct="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eaLnBrk="0" hangingPunct="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eaLnBrk="0" hangingPunct="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pPr marL="271463" lvl="1" indent="-271463">
              <a:spcBef>
                <a:spcPts val="12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</a:rPr>
              <a:t>Making a good oral presentation is difficult</a:t>
            </a:r>
          </a:p>
          <a:p>
            <a:pPr marL="728663" lvl="1" indent="-271463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GB" altLang="da-DK" sz="1600" dirty="0">
                <a:latin typeface="+mn-lt"/>
                <a:ea typeface="+mn-ea"/>
              </a:rPr>
              <a:t>It requires a lot of </a:t>
            </a:r>
            <a:r>
              <a:rPr lang="en-GB" altLang="da-DK" sz="1600" b="1" dirty="0">
                <a:solidFill>
                  <a:srgbClr val="008000"/>
                </a:solidFill>
                <a:latin typeface="+mn-lt"/>
                <a:ea typeface="+mn-ea"/>
              </a:rPr>
              <a:t>preparation</a:t>
            </a:r>
          </a:p>
          <a:p>
            <a:pPr marL="728663" lvl="1" indent="-271463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GB" altLang="da-DK" sz="1600" dirty="0">
                <a:latin typeface="+mn-lt"/>
                <a:ea typeface="+mn-ea"/>
              </a:rPr>
              <a:t>It can be </a:t>
            </a:r>
            <a:r>
              <a:rPr lang="en-GB" altLang="da-DK" sz="1600" b="1" dirty="0">
                <a:solidFill>
                  <a:srgbClr val="008000"/>
                </a:solidFill>
                <a:latin typeface="+mn-lt"/>
                <a:ea typeface="+mn-ea"/>
              </a:rPr>
              <a:t>learned</a:t>
            </a:r>
            <a:r>
              <a:rPr lang="en-GB" altLang="da-DK" sz="1600" dirty="0">
                <a:latin typeface="+mn-lt"/>
                <a:ea typeface="+mn-ea"/>
              </a:rPr>
              <a:t> (if you invest the necessary time and energy)</a:t>
            </a:r>
          </a:p>
          <a:p>
            <a:pPr marL="271463" lvl="1" indent="-271463">
              <a:spcBef>
                <a:spcPts val="1200"/>
              </a:spcBef>
              <a:buChar char="•"/>
            </a:pPr>
            <a:r>
              <a:rPr lang="en-GB" altLang="da-DK" sz="1800" b="1" dirty="0">
                <a:solidFill>
                  <a:srgbClr val="A50021"/>
                </a:solidFill>
              </a:rPr>
              <a:t>The first time is the most difficult one</a:t>
            </a:r>
          </a:p>
          <a:p>
            <a:pPr marL="728663" lvl="1" indent="-271463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GB" altLang="da-DK" sz="1600" dirty="0">
                <a:latin typeface="+mn-lt"/>
                <a:ea typeface="+mn-ea"/>
              </a:rPr>
              <a:t>Gradually, you will develop your own </a:t>
            </a:r>
            <a:r>
              <a:rPr lang="en-GB" altLang="da-DK" sz="1600" b="1" dirty="0">
                <a:solidFill>
                  <a:srgbClr val="008000"/>
                </a:solidFill>
                <a:latin typeface="+mn-lt"/>
                <a:ea typeface="+mn-ea"/>
              </a:rPr>
              <a:t>presentation style</a:t>
            </a:r>
            <a:r>
              <a:rPr lang="en-GB" altLang="da-DK" sz="1600" dirty="0">
                <a:latin typeface="+mn-lt"/>
                <a:ea typeface="+mn-ea"/>
              </a:rPr>
              <a:t> (suitable for your research / work area)</a:t>
            </a:r>
          </a:p>
          <a:p>
            <a:pPr marL="271463" lvl="1" indent="-271463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GB" altLang="da-DK" sz="1800" b="1" dirty="0">
                <a:solidFill>
                  <a:srgbClr val="A50021"/>
                </a:solidFill>
              </a:rPr>
              <a:t>Many of the guidelines given for the written report also apply to oral presentations</a:t>
            </a:r>
          </a:p>
          <a:p>
            <a:pPr marL="728663" lvl="1" indent="-271463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GB" altLang="da-DK" sz="1600" dirty="0">
                <a:latin typeface="+mn-lt"/>
                <a:ea typeface="+mn-ea"/>
              </a:rPr>
              <a:t>As an example, it is very important </a:t>
            </a:r>
            <a:r>
              <a:rPr lang="en-US" sz="1600" dirty="0"/>
              <a:t>be </a:t>
            </a:r>
            <a:r>
              <a:rPr lang="en-US" sz="1600" b="1" dirty="0">
                <a:solidFill>
                  <a:srgbClr val="008000"/>
                </a:solidFill>
              </a:rPr>
              <a:t>crystal clear</a:t>
            </a:r>
            <a:r>
              <a:rPr lang="en-US" sz="1600" dirty="0"/>
              <a:t> whether this is the work of other researchers or your own work</a:t>
            </a:r>
          </a:p>
          <a:p>
            <a:pPr marL="728663" lvl="1" indent="-271463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GB" altLang="da-DK" sz="1600" b="1" dirty="0">
                <a:solidFill>
                  <a:srgbClr val="008000"/>
                </a:solidFill>
                <a:latin typeface="+mn-lt"/>
                <a:ea typeface="+mn-ea"/>
              </a:rPr>
              <a:t>Provide arguments</a:t>
            </a:r>
            <a:r>
              <a:rPr lang="en-GB" altLang="da-DK" sz="1600" dirty="0">
                <a:latin typeface="+mn-lt"/>
                <a:ea typeface="+mn-ea"/>
              </a:rPr>
              <a:t> – not postulates</a:t>
            </a:r>
          </a:p>
          <a:p>
            <a:pPr marL="728663" lvl="1" indent="-271463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GB" altLang="da-DK" sz="1600" dirty="0">
                <a:latin typeface="+mn-lt"/>
                <a:ea typeface="+mn-ea"/>
              </a:rPr>
              <a:t>Use the </a:t>
            </a:r>
            <a:r>
              <a:rPr lang="en-GB" altLang="da-DK" sz="1600" b="1" dirty="0">
                <a:solidFill>
                  <a:srgbClr val="008000"/>
                </a:solidFill>
                <a:latin typeface="+mn-lt"/>
                <a:ea typeface="+mn-ea"/>
              </a:rPr>
              <a:t>correct terminology</a:t>
            </a:r>
          </a:p>
          <a:p>
            <a:pPr marL="728663" lvl="1" indent="-271463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GB" altLang="da-DK" sz="1600" dirty="0">
                <a:latin typeface="+mn-lt"/>
                <a:ea typeface="+mn-ea"/>
              </a:rPr>
              <a:t>Try to be as </a:t>
            </a:r>
            <a:r>
              <a:rPr lang="en-GB" altLang="da-DK" sz="1600" b="1" dirty="0">
                <a:solidFill>
                  <a:srgbClr val="008000"/>
                </a:solidFill>
                <a:latin typeface="+mn-lt"/>
                <a:ea typeface="+mn-ea"/>
              </a:rPr>
              <a:t>precise</a:t>
            </a:r>
            <a:r>
              <a:rPr lang="en-GB" altLang="da-DK" sz="1600" dirty="0">
                <a:latin typeface="+mn-lt"/>
                <a:ea typeface="+mn-ea"/>
              </a:rPr>
              <a:t> and </a:t>
            </a:r>
            <a:r>
              <a:rPr lang="en-GB" altLang="da-DK" sz="1600" b="1" dirty="0">
                <a:solidFill>
                  <a:srgbClr val="008000"/>
                </a:solidFill>
                <a:latin typeface="+mn-lt"/>
                <a:ea typeface="+mn-ea"/>
              </a:rPr>
              <a:t>consistent</a:t>
            </a:r>
            <a:r>
              <a:rPr lang="en-GB" altLang="da-DK" sz="1600" dirty="0">
                <a:latin typeface="+mn-lt"/>
                <a:ea typeface="+mn-ea"/>
              </a:rPr>
              <a:t> as possible without unnecessary repetitions</a:t>
            </a:r>
          </a:p>
          <a:p>
            <a:pPr marL="271463" lvl="1" indent="-271463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da-DK" sz="1800" b="1" dirty="0">
                <a:solidFill>
                  <a:srgbClr val="A50021"/>
                </a:solidFill>
              </a:rPr>
              <a:t>Do not put things on your slides that you are not prepared to explain</a:t>
            </a:r>
            <a:endParaRPr lang="en-GB" altLang="da-DK" sz="1800" b="1" dirty="0">
              <a:solidFill>
                <a:srgbClr val="A50021"/>
              </a:solidFill>
            </a:endParaRPr>
          </a:p>
          <a:p>
            <a:pPr marL="728663" lvl="1" indent="-271463">
              <a:spcBef>
                <a:spcPts val="300"/>
              </a:spcBef>
            </a:pPr>
            <a:endParaRPr lang="en-US" altLang="da-DK" sz="1600" dirty="0">
              <a:latin typeface="+mn-lt"/>
              <a:ea typeface="+mn-ea"/>
            </a:endParaRPr>
          </a:p>
          <a:p>
            <a:pPr marL="728663" lvl="1" indent="-271463">
              <a:spcBef>
                <a:spcPts val="300"/>
              </a:spcBef>
            </a:pPr>
            <a:endParaRPr lang="en-GB" altLang="da-DK" sz="1600" dirty="0">
              <a:latin typeface="+mn-lt"/>
              <a:ea typeface="+mn-ea"/>
            </a:endParaRPr>
          </a:p>
          <a:p>
            <a:pPr marL="1185863" lvl="2" indent="-271463">
              <a:spcBef>
                <a:spcPts val="300"/>
              </a:spcBef>
            </a:pPr>
            <a:endParaRPr lang="en-GB" altLang="da-DK" sz="1400" dirty="0">
              <a:solidFill>
                <a:srgbClr val="002060"/>
              </a:solidFill>
            </a:endParaRPr>
          </a:p>
          <a:p>
            <a:pPr marL="728663" lvl="1" indent="-271463">
              <a:spcBef>
                <a:spcPts val="300"/>
              </a:spcBef>
            </a:pPr>
            <a:endParaRPr lang="da-DK" altLang="da-DK" dirty="0"/>
          </a:p>
          <a:p>
            <a:pPr>
              <a:buFontTx/>
              <a:buNone/>
            </a:pPr>
            <a:endParaRPr lang="da-DK" altLang="da-DK" sz="2000" dirty="0"/>
          </a:p>
          <a:p>
            <a:pPr>
              <a:buFontTx/>
              <a:buNone/>
            </a:pPr>
            <a:endParaRPr lang="da-DK" altLang="da-DK" sz="2000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67544" y="260648"/>
            <a:ext cx="8529426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+mj-lt"/>
                <a:ea typeface="+mj-ea"/>
                <a:cs typeface="ＭＳ Ｐゴシック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charset="0"/>
                <a:ea typeface="ＭＳ Ｐゴシック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charset="0"/>
                <a:ea typeface="ＭＳ Ｐゴシック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charset="0"/>
                <a:ea typeface="ＭＳ Ｐゴシック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66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ts val="1200"/>
              </a:spcBef>
            </a:pPr>
            <a:r>
              <a:rPr lang="da-DK" altLang="da-DK" sz="2800" dirty="0">
                <a:solidFill>
                  <a:srgbClr val="C00000"/>
                </a:solidFill>
                <a:cs typeface="Arial"/>
              </a:rPr>
              <a:t>●</a:t>
            </a:r>
            <a:r>
              <a:rPr lang="da-DK" altLang="da-DK" sz="2800" dirty="0">
                <a:cs typeface="Arial"/>
              </a:rPr>
              <a:t> </a:t>
            </a:r>
            <a:r>
              <a:rPr lang="da-DK" altLang="da-DK" sz="2800" dirty="0"/>
              <a:t>Part 2: </a:t>
            </a:r>
            <a:r>
              <a:rPr lang="en-GB" altLang="da-DK" sz="2800" dirty="0"/>
              <a:t>How to make an oral presentation?</a:t>
            </a:r>
          </a:p>
        </p:txBody>
      </p:sp>
      <p:sp>
        <p:nvSpPr>
          <p:cNvPr id="2" name="Slide Number Placeholder 7">
            <a:extLst>
              <a:ext uri="{FF2B5EF4-FFF2-40B4-BE49-F238E27FC236}">
                <a16:creationId xmlns:a16="http://schemas.microsoft.com/office/drawing/2014/main" id="{1D717F3A-2462-AD31-7DFB-3D2D887F8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0432" y="6400800"/>
            <a:ext cx="683568" cy="457200"/>
          </a:xfrm>
        </p:spPr>
        <p:txBody>
          <a:bodyPr/>
          <a:lstStyle/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29</a:t>
            </a:fld>
            <a:endParaRPr lang="da-DK" altLang="da-DK" dirty="0"/>
          </a:p>
        </p:txBody>
      </p:sp>
    </p:spTree>
    <p:extLst>
      <p:ext uri="{BB962C8B-B14F-4D97-AF65-F5344CB8AC3E}">
        <p14:creationId xmlns:p14="http://schemas.microsoft.com/office/powerpoint/2010/main" val="1089573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568952" cy="682625"/>
          </a:xfrm>
        </p:spPr>
        <p:txBody>
          <a:bodyPr/>
          <a:lstStyle/>
          <a:p>
            <a:r>
              <a:rPr lang="en-GB" altLang="da-DK" sz="2800" noProof="0" dirty="0">
                <a:ea typeface="ＭＳ Ｐゴシック" pitchFamily="34" charset="-128"/>
                <a:cs typeface="Arial"/>
              </a:rPr>
              <a:t>Formal requirements for the oral presentation</a:t>
            </a:r>
            <a:endParaRPr lang="en-GB" altLang="da-DK" sz="2800" noProof="0" dirty="0">
              <a:ea typeface="ＭＳ Ｐゴシック" pitchFamily="34" charset="-128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8532440" y="6400800"/>
            <a:ext cx="611560" cy="457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CA5836E-6711-417F-AF48-31ACC3CF4030}" type="slidenum">
              <a:rPr lang="da-DK" altLang="da-DK" smtClean="0"/>
              <a:pPr>
                <a:defRPr/>
              </a:pPr>
              <a:t>30</a:t>
            </a:fld>
            <a:endParaRPr lang="da-DK" altLang="da-DK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67544" y="1052736"/>
            <a:ext cx="8424936" cy="4824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marL="271463" lvl="1" indent="-271463" eaLnBrk="1" hangingPunct="1">
              <a:spcBef>
                <a:spcPts val="900"/>
              </a:spcBef>
              <a:buFontTx/>
              <a:buChar char="•"/>
              <a:defRPr/>
            </a:pPr>
            <a:r>
              <a:rPr lang="en-GB" sz="1800" b="1" kern="0" dirty="0">
                <a:solidFill>
                  <a:srgbClr val="A50021"/>
                </a:solidFill>
                <a:cs typeface="ＭＳ Ｐゴシック" charset="0"/>
              </a:rPr>
              <a:t>Oral exam in June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sz="1600" dirty="0">
                <a:ea typeface="ＭＳ Ｐゴシック" pitchFamily="34" charset="-128"/>
              </a:rPr>
              <a:t>The report is the basis for an </a:t>
            </a:r>
            <a:r>
              <a:rPr lang="en-GB" sz="1600" b="1" dirty="0">
                <a:solidFill>
                  <a:srgbClr val="008000"/>
                </a:solidFill>
                <a:ea typeface="ＭＳ Ｐゴシック" pitchFamily="34" charset="-128"/>
              </a:rPr>
              <a:t>individual 30 minutes' oral exam</a:t>
            </a:r>
            <a:r>
              <a:rPr lang="en-GB" sz="1600" dirty="0">
                <a:ea typeface="ＭＳ Ｐゴシック" pitchFamily="34" charset="-128"/>
              </a:rPr>
              <a:t>, where you </a:t>
            </a:r>
            <a:r>
              <a:rPr lang="en-GB" sz="1600" b="1" dirty="0">
                <a:solidFill>
                  <a:srgbClr val="008000"/>
                </a:solidFill>
                <a:ea typeface="ＭＳ Ｐゴシック" pitchFamily="34" charset="-128"/>
              </a:rPr>
              <a:t>present</a:t>
            </a:r>
            <a:r>
              <a:rPr lang="en-GB" sz="1600" dirty="0">
                <a:ea typeface="ＭＳ Ｐゴシック" pitchFamily="34" charset="-128"/>
              </a:rPr>
              <a:t> the findings of your bachelor project </a:t>
            </a:r>
            <a:r>
              <a:rPr lang="en-GB" sz="1600" b="1" dirty="0">
                <a:solidFill>
                  <a:srgbClr val="008000"/>
                </a:solidFill>
                <a:ea typeface="ＭＳ Ｐゴシック" pitchFamily="34" charset="-128"/>
              </a:rPr>
              <a:t>followed by a discussion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sz="1600" dirty="0">
                <a:ea typeface="ＭＳ Ｐゴシック" pitchFamily="34" charset="-128"/>
              </a:rPr>
              <a:t>A </a:t>
            </a:r>
            <a:r>
              <a:rPr lang="en-GB" sz="1600" b="1" dirty="0">
                <a:solidFill>
                  <a:srgbClr val="008000"/>
                </a:solidFill>
                <a:ea typeface="ＭＳ Ｐゴシック" pitchFamily="34" charset="-128"/>
              </a:rPr>
              <a:t>common grade</a:t>
            </a:r>
            <a:r>
              <a:rPr lang="en-GB" sz="1600" dirty="0">
                <a:ea typeface="ＭＳ Ｐゴシック" pitchFamily="34" charset="-128"/>
              </a:rPr>
              <a:t> is given for the written report and the oral exam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sz="1600" spc="-60" dirty="0">
                <a:ea typeface="ＭＳ Ｐゴシック" pitchFamily="34" charset="-128"/>
              </a:rPr>
              <a:t>An external examiner (censor) participates in the evaluation of the report and the oral exam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sz="1600" spc="-60" dirty="0">
                <a:ea typeface="ＭＳ Ｐゴシック" pitchFamily="34" charset="-128"/>
              </a:rPr>
              <a:t>You get information about the date, time and place of the examination from your advisor</a:t>
            </a:r>
          </a:p>
          <a:p>
            <a:pPr marL="271463" lvl="1" indent="-271463" eaLnBrk="1" hangingPunct="1">
              <a:spcBef>
                <a:spcPts val="900"/>
              </a:spcBef>
              <a:buFontTx/>
              <a:buChar char="•"/>
              <a:defRPr/>
            </a:pPr>
            <a:r>
              <a:rPr lang="en-GB" sz="1800" b="1" kern="0" dirty="0">
                <a:solidFill>
                  <a:srgbClr val="A50021"/>
                </a:solidFill>
                <a:cs typeface="ＭＳ Ｐゴシック" charset="0"/>
              </a:rPr>
              <a:t>Language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sz="1600" dirty="0">
                <a:ea typeface="ＭＳ Ｐゴシック" pitchFamily="34" charset="-128"/>
              </a:rPr>
              <a:t>Your presentation and your slides may be in Danish or English – use the same language for both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sz="1600" dirty="0">
                <a:ea typeface="ＭＳ Ｐゴシック" pitchFamily="34" charset="-128"/>
              </a:rPr>
              <a:t>Using the same language as your report has some obvious advantages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sz="1600" dirty="0">
                <a:ea typeface="ＭＳ Ｐゴシック" pitchFamily="34" charset="-128"/>
              </a:rPr>
              <a:t>Check with your advisor whether the censor is able to understand Danish</a:t>
            </a:r>
          </a:p>
          <a:p>
            <a:pPr marL="271463" lvl="1" indent="-271463" eaLnBrk="1" hangingPunct="1">
              <a:spcBef>
                <a:spcPts val="900"/>
              </a:spcBef>
              <a:buFontTx/>
              <a:buChar char="•"/>
              <a:defRPr/>
            </a:pPr>
            <a:r>
              <a:rPr lang="en-GB" sz="1800" b="1" kern="0" dirty="0">
                <a:solidFill>
                  <a:srgbClr val="A50021"/>
                </a:solidFill>
                <a:cs typeface="ＭＳ Ｐゴシック" charset="0"/>
              </a:rPr>
              <a:t>Re-examination</a:t>
            </a:r>
          </a:p>
          <a:p>
            <a:pPr marL="728663" lvl="1" indent="-271463">
              <a:spcBef>
                <a:spcPts val="300"/>
              </a:spcBef>
            </a:pPr>
            <a:r>
              <a:rPr lang="en-GB" sz="1600" dirty="0">
                <a:ea typeface="ＭＳ Ｐゴシック" pitchFamily="34" charset="-128"/>
              </a:rPr>
              <a:t>If you do not pass, it is possible to resubmit a revised version of the report no later than August 15</a:t>
            </a:r>
          </a:p>
        </p:txBody>
      </p:sp>
    </p:spTree>
    <p:extLst>
      <p:ext uri="{BB962C8B-B14F-4D97-AF65-F5344CB8AC3E}">
        <p14:creationId xmlns:p14="http://schemas.microsoft.com/office/powerpoint/2010/main" val="31232097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568952" cy="682625"/>
          </a:xfrm>
        </p:spPr>
        <p:txBody>
          <a:bodyPr/>
          <a:lstStyle/>
          <a:p>
            <a:r>
              <a:rPr lang="en-GB" altLang="da-DK" sz="2800" noProof="0" dirty="0">
                <a:ea typeface="ＭＳ Ｐゴシック" pitchFamily="34" charset="-128"/>
                <a:cs typeface="Arial"/>
              </a:rPr>
              <a:t>Contents and duration</a:t>
            </a:r>
            <a:endParaRPr lang="en-GB" altLang="da-DK" sz="2800" noProof="0" dirty="0">
              <a:ea typeface="ＭＳ Ｐゴシック" pitchFamily="34" charset="-128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8532440" y="6400800"/>
            <a:ext cx="611560" cy="457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CA5836E-6711-417F-AF48-31ACC3CF4030}" type="slidenum">
              <a:rPr lang="da-DK" altLang="da-DK" smtClean="0"/>
              <a:pPr>
                <a:defRPr/>
              </a:pPr>
              <a:t>31</a:t>
            </a:fld>
            <a:endParaRPr lang="da-DK" altLang="da-DK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67544" y="1052736"/>
            <a:ext cx="8352928" cy="5472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ts val="1800"/>
              </a:spcBef>
            </a:pPr>
            <a:r>
              <a:rPr lang="en-GB" altLang="da-DK" sz="1800" kern="0" spc="-50" dirty="0">
                <a:ea typeface="ＭＳ Ｐゴシック" pitchFamily="34" charset="-128"/>
              </a:rPr>
              <a:t>At the oral presentation of your bachelor project, we expect you to</a:t>
            </a:r>
          </a:p>
          <a:p>
            <a:pPr lvl="1">
              <a:spcBef>
                <a:spcPts val="300"/>
              </a:spcBef>
            </a:pPr>
            <a:r>
              <a:rPr lang="en-GB" altLang="da-DK" sz="1600" kern="0" dirty="0">
                <a:ea typeface="ＭＳ Ｐゴシック" pitchFamily="34" charset="-128"/>
              </a:rPr>
              <a:t>present the most important</a:t>
            </a:r>
            <a:r>
              <a:rPr lang="en-GB" altLang="da-DK" sz="1600" b="1" kern="0" dirty="0">
                <a:solidFill>
                  <a:srgbClr val="008000"/>
                </a:solidFill>
                <a:ea typeface="ＭＳ Ｐゴシック" pitchFamily="34" charset="-128"/>
              </a:rPr>
              <a:t> concepts</a:t>
            </a:r>
            <a:r>
              <a:rPr lang="en-GB" altLang="da-DK" sz="1600" kern="0" dirty="0">
                <a:ea typeface="ＭＳ Ｐゴシック" pitchFamily="34" charset="-128"/>
              </a:rPr>
              <a:t> within the area/project you have been working with</a:t>
            </a:r>
          </a:p>
          <a:p>
            <a:pPr lvl="1">
              <a:spcBef>
                <a:spcPts val="300"/>
              </a:spcBef>
            </a:pPr>
            <a:r>
              <a:rPr lang="en-GB" altLang="da-DK" sz="1600" kern="0" dirty="0">
                <a:ea typeface="ＭＳ Ｐゴシック" pitchFamily="34" charset="-128"/>
              </a:rPr>
              <a:t>present the most important </a:t>
            </a:r>
            <a:r>
              <a:rPr lang="en-GB" altLang="da-DK" sz="1600" b="1" kern="0" dirty="0">
                <a:solidFill>
                  <a:srgbClr val="008000"/>
                </a:solidFill>
                <a:ea typeface="ＭＳ Ｐゴシック" pitchFamily="34" charset="-128"/>
              </a:rPr>
              <a:t>results</a:t>
            </a:r>
            <a:r>
              <a:rPr lang="en-GB" altLang="da-DK" sz="1600" kern="0" dirty="0">
                <a:ea typeface="ＭＳ Ｐゴシック" pitchFamily="34" charset="-128"/>
              </a:rPr>
              <a:t> of your work</a:t>
            </a:r>
          </a:p>
          <a:p>
            <a:pPr lvl="1">
              <a:spcBef>
                <a:spcPts val="300"/>
              </a:spcBef>
            </a:pPr>
            <a:r>
              <a:rPr lang="en-GB" altLang="da-DK" sz="1600" kern="0" dirty="0">
                <a:ea typeface="ＭＳ Ｐゴシック" pitchFamily="34" charset="-128"/>
              </a:rPr>
              <a:t>be able to answer detailed</a:t>
            </a:r>
            <a:r>
              <a:rPr lang="en-GB" altLang="da-DK" sz="1600" b="1" kern="0" dirty="0">
                <a:solidFill>
                  <a:srgbClr val="008000"/>
                </a:solidFill>
                <a:ea typeface="ＭＳ Ｐゴシック" pitchFamily="34" charset="-128"/>
              </a:rPr>
              <a:t> questions</a:t>
            </a:r>
            <a:r>
              <a:rPr lang="en-GB" altLang="da-DK" sz="1600" kern="0" dirty="0">
                <a:ea typeface="ＭＳ Ｐゴシック" pitchFamily="34" charset="-128"/>
              </a:rPr>
              <a:t> about your work</a:t>
            </a:r>
          </a:p>
          <a:p>
            <a:pPr>
              <a:spcBef>
                <a:spcPts val="1800"/>
              </a:spcBef>
            </a:pPr>
            <a:r>
              <a:rPr lang="en-GB" altLang="da-DK" sz="1800" kern="0" dirty="0">
                <a:ea typeface="ＭＳ Ｐゴシック" pitchFamily="34" charset="-128"/>
              </a:rPr>
              <a:t>Duration</a:t>
            </a:r>
          </a:p>
          <a:p>
            <a:pPr lvl="1">
              <a:spcBef>
                <a:spcPts val="300"/>
              </a:spcBef>
            </a:pPr>
            <a:r>
              <a:rPr lang="en-GB" altLang="da-DK" sz="1600" kern="0" dirty="0">
                <a:ea typeface="ＭＳ Ｐゴシック" pitchFamily="34" charset="-128"/>
              </a:rPr>
              <a:t>Your presentation should last approximately </a:t>
            </a:r>
            <a:r>
              <a:rPr lang="en-GB" altLang="da-DK" sz="1600" b="1" kern="0" dirty="0">
                <a:solidFill>
                  <a:srgbClr val="008000"/>
                </a:solidFill>
                <a:ea typeface="ＭＳ Ｐゴシック" pitchFamily="34" charset="-128"/>
              </a:rPr>
              <a:t>15 minutes</a:t>
            </a:r>
          </a:p>
          <a:p>
            <a:pPr lvl="1">
              <a:spcBef>
                <a:spcPts val="300"/>
              </a:spcBef>
            </a:pPr>
            <a:r>
              <a:rPr lang="en-GB" altLang="da-DK" sz="1600" kern="0" dirty="0">
                <a:ea typeface="ＭＳ Ｐゴシック" pitchFamily="34" charset="-128"/>
              </a:rPr>
              <a:t>The rest of the time is used for questions and discussion</a:t>
            </a:r>
          </a:p>
          <a:p>
            <a:pPr>
              <a:spcBef>
                <a:spcPts val="1800"/>
              </a:spcBef>
            </a:pPr>
            <a:r>
              <a:rPr lang="en-GB" altLang="da-DK" sz="1800" kern="0" spc="-50" dirty="0">
                <a:ea typeface="ＭＳ Ｐゴシック" pitchFamily="34" charset="-128"/>
              </a:rPr>
              <a:t>Bachelor groups</a:t>
            </a:r>
          </a:p>
          <a:p>
            <a:pPr lvl="1">
              <a:spcBef>
                <a:spcPts val="300"/>
              </a:spcBef>
            </a:pPr>
            <a:r>
              <a:rPr lang="en-GB" altLang="da-DK" sz="1600" kern="0" dirty="0">
                <a:ea typeface="ＭＳ Ｐゴシック" pitchFamily="34" charset="-128"/>
              </a:rPr>
              <a:t>Each student makes an </a:t>
            </a:r>
            <a:r>
              <a:rPr lang="en-GB" altLang="da-DK" sz="1600" b="1" kern="0" dirty="0">
                <a:solidFill>
                  <a:srgbClr val="008000"/>
                </a:solidFill>
                <a:ea typeface="ＭＳ Ｐゴシック" pitchFamily="34" charset="-128"/>
              </a:rPr>
              <a:t>individual</a:t>
            </a:r>
            <a:r>
              <a:rPr lang="en-GB" altLang="da-DK" sz="1600" kern="0" dirty="0">
                <a:ea typeface="ＭＳ Ｐゴシック" pitchFamily="34" charset="-128"/>
              </a:rPr>
              <a:t> presentation</a:t>
            </a:r>
          </a:p>
          <a:p>
            <a:pPr lvl="1">
              <a:spcBef>
                <a:spcPts val="300"/>
              </a:spcBef>
            </a:pPr>
            <a:r>
              <a:rPr lang="en-GB" altLang="da-DK" sz="1600" kern="0" dirty="0">
                <a:ea typeface="ＭＳ Ｐゴシック" pitchFamily="34" charset="-128"/>
              </a:rPr>
              <a:t>Discuss with your advisor, whether each presentation should give an overview of the </a:t>
            </a:r>
            <a:r>
              <a:rPr lang="en-GB" altLang="da-DK" sz="1600" b="1" kern="0" dirty="0">
                <a:solidFill>
                  <a:srgbClr val="008000"/>
                </a:solidFill>
                <a:ea typeface="ＭＳ Ｐゴシック" pitchFamily="34" charset="-128"/>
              </a:rPr>
              <a:t>entire project</a:t>
            </a:r>
            <a:r>
              <a:rPr lang="en-GB" altLang="da-DK" sz="1600" kern="0" dirty="0">
                <a:ea typeface="ＭＳ Ｐゴシック" pitchFamily="34" charset="-128"/>
              </a:rPr>
              <a:t> or the individual students in the group should focus on </a:t>
            </a:r>
            <a:r>
              <a:rPr lang="en-GB" altLang="da-DK" sz="1600" b="1" kern="0" dirty="0">
                <a:solidFill>
                  <a:srgbClr val="008000"/>
                </a:solidFill>
                <a:ea typeface="ＭＳ Ｐゴシック" pitchFamily="34" charset="-128"/>
              </a:rPr>
              <a:t>different parts / aspects</a:t>
            </a:r>
          </a:p>
        </p:txBody>
      </p:sp>
    </p:spTree>
    <p:extLst>
      <p:ext uri="{BB962C8B-B14F-4D97-AF65-F5344CB8AC3E}">
        <p14:creationId xmlns:p14="http://schemas.microsoft.com/office/powerpoint/2010/main" val="3138334874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568952" cy="682625"/>
          </a:xfrm>
        </p:spPr>
        <p:txBody>
          <a:bodyPr/>
          <a:lstStyle/>
          <a:p>
            <a:r>
              <a:rPr lang="en-GB" altLang="da-DK" sz="2800" noProof="0" dirty="0">
                <a:ea typeface="ＭＳ Ｐゴシック" pitchFamily="34" charset="-128"/>
                <a:cs typeface="Arial"/>
              </a:rPr>
              <a:t>General advice</a:t>
            </a:r>
            <a:endParaRPr lang="en-GB" altLang="da-DK" sz="2800" noProof="0" dirty="0">
              <a:ea typeface="ＭＳ Ｐゴシック" pitchFamily="34" charset="-128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8532440" y="6400800"/>
            <a:ext cx="611560" cy="457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CA5836E-6711-417F-AF48-31ACC3CF4030}" type="slidenum">
              <a:rPr lang="da-DK" altLang="da-DK" smtClean="0"/>
              <a:pPr>
                <a:defRPr/>
              </a:pPr>
              <a:t>32</a:t>
            </a:fld>
            <a:endParaRPr lang="da-DK" altLang="da-DK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67544" y="1052736"/>
            <a:ext cx="8352928" cy="5805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ts val="1200"/>
              </a:spcBef>
            </a:pPr>
            <a:r>
              <a:rPr lang="en-GB" altLang="da-DK" sz="1800" kern="0" spc="-30" dirty="0">
                <a:ea typeface="ＭＳ Ｐゴシック" pitchFamily="34" charset="-128"/>
              </a:rPr>
              <a:t>It should be possible to understand your talk without knowing the details of your report – but you can assume a general knowledge of the area</a:t>
            </a:r>
          </a:p>
          <a:p>
            <a:pPr lvl="1">
              <a:spcBef>
                <a:spcPts val="300"/>
              </a:spcBef>
            </a:pPr>
            <a:r>
              <a:rPr lang="en-GB" altLang="da-DK" sz="1600" kern="0" dirty="0">
                <a:ea typeface="ＭＳ Ｐゴシック" pitchFamily="34" charset="-128"/>
              </a:rPr>
              <a:t>Start the talk by giving an </a:t>
            </a:r>
            <a:r>
              <a:rPr lang="en-GB" altLang="da-DK" sz="1600" b="1" kern="0" dirty="0">
                <a:solidFill>
                  <a:srgbClr val="008000"/>
                </a:solidFill>
                <a:ea typeface="ＭＳ Ｐゴシック" pitchFamily="34" charset="-128"/>
              </a:rPr>
              <a:t>outline</a:t>
            </a:r>
            <a:r>
              <a:rPr lang="en-GB" altLang="da-DK" sz="1600" kern="0" dirty="0">
                <a:ea typeface="ＭＳ Ｐゴシック" pitchFamily="34" charset="-128"/>
              </a:rPr>
              <a:t> of your talk – and the </a:t>
            </a:r>
            <a:r>
              <a:rPr lang="en-GB" altLang="da-DK" sz="1600" b="1" kern="0" dirty="0">
                <a:solidFill>
                  <a:srgbClr val="008000"/>
                </a:solidFill>
                <a:ea typeface="ＭＳ Ｐゴシック" pitchFamily="34" charset="-128"/>
              </a:rPr>
              <a:t>motivation</a:t>
            </a:r>
            <a:r>
              <a:rPr lang="en-GB" altLang="da-DK" sz="1600" kern="0" dirty="0">
                <a:ea typeface="ＭＳ Ｐゴシック" pitchFamily="34" charset="-128"/>
              </a:rPr>
              <a:t> for your work</a:t>
            </a:r>
          </a:p>
          <a:p>
            <a:pPr lvl="1">
              <a:spcBef>
                <a:spcPts val="300"/>
              </a:spcBef>
            </a:pPr>
            <a:r>
              <a:rPr lang="en-GB" altLang="da-DK" sz="1600" kern="0" dirty="0">
                <a:ea typeface="ＭＳ Ｐゴシック" pitchFamily="34" charset="-128"/>
              </a:rPr>
              <a:t>It is better to concentrate on the </a:t>
            </a:r>
            <a:r>
              <a:rPr lang="en-GB" altLang="da-DK" sz="1600" b="1" kern="0" dirty="0">
                <a:solidFill>
                  <a:srgbClr val="008000"/>
                </a:solidFill>
                <a:ea typeface="ＭＳ Ｐゴシック" pitchFamily="34" charset="-128"/>
              </a:rPr>
              <a:t>most important results</a:t>
            </a:r>
            <a:r>
              <a:rPr lang="en-GB" altLang="da-DK" sz="1600" kern="0" dirty="0">
                <a:ea typeface="ＭＳ Ｐゴシック" pitchFamily="34" charset="-128"/>
              </a:rPr>
              <a:t> of your work than trying to cover a lot of different minor results</a:t>
            </a:r>
          </a:p>
          <a:p>
            <a:pPr lvl="1">
              <a:spcBef>
                <a:spcPts val="300"/>
              </a:spcBef>
            </a:pPr>
            <a:r>
              <a:rPr lang="en-GB" altLang="da-DK" sz="1600" kern="0" spc="-50" dirty="0">
                <a:ea typeface="ＭＳ Ｐゴシック" pitchFamily="34" charset="-128"/>
              </a:rPr>
              <a:t>Do </a:t>
            </a:r>
            <a:r>
              <a:rPr lang="en-GB" altLang="da-DK" sz="1600" b="1" kern="0" spc="-50" dirty="0">
                <a:solidFill>
                  <a:srgbClr val="008000"/>
                </a:solidFill>
                <a:ea typeface="ＭＳ Ｐゴシック" pitchFamily="34" charset="-128"/>
              </a:rPr>
              <a:t>not</a:t>
            </a:r>
            <a:r>
              <a:rPr lang="en-GB" altLang="da-DK" sz="1600" kern="0" spc="-50" dirty="0">
                <a:ea typeface="ＭＳ Ｐゴシック" pitchFamily="34" charset="-128"/>
              </a:rPr>
              <a:t> drown in details – remember to give the </a:t>
            </a:r>
            <a:r>
              <a:rPr lang="en-GB" altLang="da-DK" sz="1600" b="1" kern="0" spc="-50" dirty="0">
                <a:solidFill>
                  <a:srgbClr val="008000"/>
                </a:solidFill>
                <a:ea typeface="ＭＳ Ｐゴシック" pitchFamily="34" charset="-128"/>
              </a:rPr>
              <a:t>context</a:t>
            </a:r>
            <a:r>
              <a:rPr lang="en-GB" altLang="da-DK" sz="1600" kern="0" spc="-50" dirty="0">
                <a:ea typeface="ＭＳ Ｐゴシック" pitchFamily="34" charset="-128"/>
              </a:rPr>
              <a:t>, </a:t>
            </a:r>
            <a:r>
              <a:rPr lang="en-GB" altLang="da-DK" sz="1600" b="1" kern="0" spc="-50" dirty="0">
                <a:solidFill>
                  <a:srgbClr val="008000"/>
                </a:solidFill>
                <a:ea typeface="ＭＳ Ｐゴシック" pitchFamily="34" charset="-128"/>
              </a:rPr>
              <a:t>overviews</a:t>
            </a:r>
            <a:r>
              <a:rPr lang="en-GB" altLang="da-DK" sz="1600" kern="0" spc="-50" dirty="0">
                <a:ea typeface="ＭＳ Ｐゴシック" pitchFamily="34" charset="-128"/>
              </a:rPr>
              <a:t> and </a:t>
            </a:r>
            <a:r>
              <a:rPr lang="en-GB" altLang="da-DK" sz="1600" b="1" kern="0" spc="-50" dirty="0">
                <a:solidFill>
                  <a:srgbClr val="008000"/>
                </a:solidFill>
                <a:ea typeface="ＭＳ Ｐゴシック" pitchFamily="34" charset="-128"/>
              </a:rPr>
              <a:t>conclusions</a:t>
            </a:r>
          </a:p>
          <a:p>
            <a:pPr marL="342900" lvl="1" indent="-342900">
              <a:spcBef>
                <a:spcPts val="1200"/>
              </a:spcBef>
              <a:buChar char="•"/>
            </a:pPr>
            <a:r>
              <a:rPr lang="en-GB" altLang="da-DK" sz="1800" b="1" kern="0" spc="-30" dirty="0">
                <a:solidFill>
                  <a:srgbClr val="A50021"/>
                </a:solidFill>
                <a:ea typeface="ＭＳ Ｐゴシック" pitchFamily="34" charset="-128"/>
                <a:cs typeface="ＭＳ Ｐゴシック" pitchFamily="-106" charset="-128"/>
              </a:rPr>
              <a:t>Provide arguments – not postulates</a:t>
            </a:r>
          </a:p>
          <a:p>
            <a:pPr lvl="1">
              <a:spcBef>
                <a:spcPts val="300"/>
              </a:spcBef>
            </a:pPr>
            <a:r>
              <a:rPr lang="en-GB" altLang="da-DK" sz="1600" kern="0" dirty="0">
                <a:ea typeface="ＭＳ Ｐゴシック" pitchFamily="34" charset="-128"/>
              </a:rPr>
              <a:t>Try to be as </a:t>
            </a:r>
            <a:r>
              <a:rPr lang="en-GB" altLang="da-DK" sz="1600" b="1" kern="0" dirty="0">
                <a:solidFill>
                  <a:srgbClr val="008000"/>
                </a:solidFill>
                <a:ea typeface="ＭＳ Ｐゴシック" pitchFamily="34" charset="-128"/>
              </a:rPr>
              <a:t>precise</a:t>
            </a:r>
            <a:r>
              <a:rPr lang="en-GB" altLang="da-DK" sz="1600" kern="0" dirty="0">
                <a:ea typeface="ＭＳ Ｐゴシック" pitchFamily="34" charset="-128"/>
              </a:rPr>
              <a:t> and </a:t>
            </a:r>
            <a:r>
              <a:rPr lang="en-GB" altLang="da-DK" sz="1600" b="1" kern="0" dirty="0">
                <a:solidFill>
                  <a:srgbClr val="008000"/>
                </a:solidFill>
                <a:ea typeface="ＭＳ Ｐゴシック" pitchFamily="34" charset="-128"/>
              </a:rPr>
              <a:t>consistent</a:t>
            </a:r>
            <a:r>
              <a:rPr lang="en-GB" altLang="da-DK" sz="1600" kern="0" dirty="0">
                <a:ea typeface="ＭＳ Ｐゴシック" pitchFamily="34" charset="-128"/>
              </a:rPr>
              <a:t> as possible without unnecessary repetitions</a:t>
            </a:r>
          </a:p>
          <a:p>
            <a:pPr lvl="1">
              <a:spcBef>
                <a:spcPts val="300"/>
              </a:spcBef>
            </a:pPr>
            <a:r>
              <a:rPr lang="en-GB" altLang="da-DK" sz="1600" kern="0" dirty="0">
                <a:ea typeface="ＭＳ Ｐゴシック" pitchFamily="34" charset="-128"/>
              </a:rPr>
              <a:t>Use the correct</a:t>
            </a:r>
            <a:r>
              <a:rPr lang="en-GB" altLang="da-DK" sz="1600" b="1" kern="0" dirty="0">
                <a:solidFill>
                  <a:srgbClr val="008000"/>
                </a:solidFill>
                <a:ea typeface="ＭＳ Ｐゴシック" pitchFamily="34" charset="-128"/>
              </a:rPr>
              <a:t> terminology</a:t>
            </a:r>
            <a:endParaRPr lang="en-GB" altLang="da-DK" sz="1600" kern="0" dirty="0">
              <a:ea typeface="ＭＳ Ｐゴシック" pitchFamily="34" charset="-128"/>
            </a:endParaRPr>
          </a:p>
          <a:p>
            <a:pPr lvl="1">
              <a:spcBef>
                <a:spcPts val="300"/>
              </a:spcBef>
            </a:pPr>
            <a:r>
              <a:rPr lang="en-GB" altLang="da-DK" sz="1600" kern="0" dirty="0">
                <a:ea typeface="ＭＳ Ｐゴシック" pitchFamily="34" charset="-128"/>
              </a:rPr>
              <a:t>To save time, it may be useful to </a:t>
            </a:r>
            <a:r>
              <a:rPr lang="en-GB" altLang="da-DK" sz="1600" b="1" kern="0" dirty="0">
                <a:solidFill>
                  <a:srgbClr val="008000"/>
                </a:solidFill>
                <a:ea typeface="ＭＳ Ｐゴシック" pitchFamily="34" charset="-128"/>
              </a:rPr>
              <a:t>simplify</a:t>
            </a:r>
            <a:r>
              <a:rPr lang="en-GB" altLang="da-DK" sz="1600" kern="0" dirty="0">
                <a:ea typeface="ＭＳ Ｐゴシック" pitchFamily="34" charset="-128"/>
              </a:rPr>
              <a:t> some examples / figures / tables from the report – removing things which you do not need for the oral presentation</a:t>
            </a:r>
          </a:p>
          <a:p>
            <a:pPr lvl="1">
              <a:spcBef>
                <a:spcPts val="300"/>
              </a:spcBef>
            </a:pPr>
            <a:r>
              <a:rPr lang="en-GB" altLang="da-DK" sz="1600" kern="0" dirty="0">
                <a:ea typeface="ＭＳ Ｐゴシック" pitchFamily="34" charset="-128"/>
              </a:rPr>
              <a:t>Be </a:t>
            </a:r>
            <a:r>
              <a:rPr lang="en-GB" altLang="da-DK" sz="1600" b="1" kern="0" dirty="0">
                <a:solidFill>
                  <a:srgbClr val="008000"/>
                </a:solidFill>
                <a:ea typeface="ＭＳ Ｐゴシック" pitchFamily="34" charset="-128"/>
              </a:rPr>
              <a:t>realistic</a:t>
            </a:r>
            <a:r>
              <a:rPr lang="en-GB" altLang="da-DK" sz="1600" kern="0" dirty="0">
                <a:ea typeface="ＭＳ Ｐゴシック" pitchFamily="34" charset="-128"/>
              </a:rPr>
              <a:t> about how much you can cover – it gives a bad impression to have a large number of slides which you are unable to cover within your 15 minutes</a:t>
            </a:r>
          </a:p>
          <a:p>
            <a:pPr marL="342900" lvl="1" indent="-342900">
              <a:spcBef>
                <a:spcPts val="1200"/>
              </a:spcBef>
              <a:buChar char="•"/>
            </a:pPr>
            <a:r>
              <a:rPr lang="en-GB" altLang="da-DK" sz="1800" b="1" kern="0" spc="-30" dirty="0">
                <a:solidFill>
                  <a:srgbClr val="A50021"/>
                </a:solidFill>
                <a:ea typeface="ＭＳ Ｐゴシック" pitchFamily="34" charset="-128"/>
                <a:cs typeface="ＭＳ Ｐゴシック" pitchFamily="-106" charset="-128"/>
              </a:rPr>
              <a:t>It is extremely important that it is </a:t>
            </a:r>
            <a:r>
              <a:rPr lang="en-GB" altLang="da-DK" sz="1800" b="1" kern="0" spc="-30" dirty="0">
                <a:solidFill>
                  <a:srgbClr val="008000"/>
                </a:solidFill>
                <a:ea typeface="ＭＳ Ｐゴシック" pitchFamily="34" charset="-128"/>
                <a:cs typeface="ＭＳ Ｐゴシック" pitchFamily="-106" charset="-128"/>
              </a:rPr>
              <a:t>crystal clear</a:t>
            </a:r>
            <a:r>
              <a:rPr lang="en-GB" altLang="da-DK" sz="1800" b="1" kern="0" spc="-30" dirty="0">
                <a:solidFill>
                  <a:srgbClr val="A50021"/>
                </a:solidFill>
                <a:ea typeface="ＭＳ Ｐゴシック" pitchFamily="34" charset="-128"/>
                <a:cs typeface="ＭＳ Ｐゴシック" pitchFamily="-106" charset="-128"/>
              </a:rPr>
              <a:t> what is your work and what is the work of other people</a:t>
            </a:r>
          </a:p>
          <a:p>
            <a:pPr lvl="1">
              <a:spcBef>
                <a:spcPts val="300"/>
              </a:spcBef>
            </a:pPr>
            <a:r>
              <a:rPr lang="en-GB" altLang="da-DK" sz="1600" kern="0" dirty="0">
                <a:ea typeface="ＭＳ Ｐゴシック" pitchFamily="34" charset="-128"/>
              </a:rPr>
              <a:t>Remember references to the work of other people</a:t>
            </a:r>
          </a:p>
          <a:p>
            <a:pPr marL="342900" lvl="1" indent="-342900">
              <a:spcBef>
                <a:spcPts val="1200"/>
              </a:spcBef>
              <a:buChar char="•"/>
            </a:pPr>
            <a:r>
              <a:rPr lang="en-GB" altLang="da-DK" sz="1800" b="1" kern="0" spc="-30" dirty="0">
                <a:solidFill>
                  <a:srgbClr val="A50021"/>
                </a:solidFill>
                <a:ea typeface="ＭＳ Ｐゴシック" pitchFamily="34" charset="-128"/>
                <a:cs typeface="ＭＳ Ｐゴシック" pitchFamily="-106" charset="-128"/>
              </a:rPr>
              <a:t>Do </a:t>
            </a:r>
            <a:r>
              <a:rPr lang="en-GB" altLang="da-DK" sz="1800" b="1" kern="0" spc="-30" dirty="0">
                <a:solidFill>
                  <a:srgbClr val="008000"/>
                </a:solidFill>
                <a:ea typeface="ＭＳ Ｐゴシック" pitchFamily="34" charset="-128"/>
                <a:cs typeface="ＭＳ Ｐゴシック" pitchFamily="-106" charset="-128"/>
              </a:rPr>
              <a:t>not</a:t>
            </a:r>
            <a:r>
              <a:rPr lang="en-GB" altLang="da-DK" sz="1800" b="1" kern="0" spc="-30" dirty="0">
                <a:solidFill>
                  <a:srgbClr val="A50021"/>
                </a:solidFill>
                <a:ea typeface="ＭＳ Ｐゴシック" pitchFamily="34" charset="-128"/>
                <a:cs typeface="ＭＳ Ｐゴシック" pitchFamily="-106" charset="-128"/>
              </a:rPr>
              <a:t> make excuses</a:t>
            </a:r>
          </a:p>
          <a:p>
            <a:pPr lvl="1">
              <a:spcBef>
                <a:spcPts val="300"/>
              </a:spcBef>
            </a:pPr>
            <a:r>
              <a:rPr lang="en-GB" altLang="da-DK" sz="1600" kern="0" dirty="0">
                <a:ea typeface="ＭＳ Ｐゴシック" pitchFamily="34" charset="-128"/>
              </a:rPr>
              <a:t>If something is inappropriate you should change it </a:t>
            </a:r>
            <a:r>
              <a:rPr lang="en-GB" altLang="da-DK" sz="1600" b="1" kern="0" dirty="0">
                <a:solidFill>
                  <a:srgbClr val="008000"/>
                </a:solidFill>
                <a:ea typeface="ＭＳ Ｐゴシック" pitchFamily="34" charset="-128"/>
              </a:rPr>
              <a:t>before</a:t>
            </a:r>
            <a:r>
              <a:rPr lang="en-GB" altLang="da-DK" sz="1600" kern="0" dirty="0">
                <a:ea typeface="ＭＳ Ｐゴシック" pitchFamily="34" charset="-128"/>
              </a:rPr>
              <a:t> the presentation</a:t>
            </a:r>
          </a:p>
        </p:txBody>
      </p:sp>
    </p:spTree>
    <p:extLst>
      <p:ext uri="{BB962C8B-B14F-4D97-AF65-F5344CB8AC3E}">
        <p14:creationId xmlns:p14="http://schemas.microsoft.com/office/powerpoint/2010/main" val="1761054126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568952" cy="682625"/>
          </a:xfrm>
        </p:spPr>
        <p:txBody>
          <a:bodyPr/>
          <a:lstStyle/>
          <a:p>
            <a:r>
              <a:rPr lang="en-GB" altLang="da-DK" sz="2800" noProof="0" dirty="0">
                <a:ea typeface="ＭＳ Ｐゴシック" pitchFamily="34" charset="-128"/>
                <a:cs typeface="Arial"/>
              </a:rPr>
              <a:t>Contents of your slides</a:t>
            </a:r>
            <a:endParaRPr lang="en-GB" altLang="da-DK" sz="2800" noProof="0" dirty="0">
              <a:ea typeface="ＭＳ Ｐゴシック" pitchFamily="34" charset="-128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8532440" y="6400800"/>
            <a:ext cx="611560" cy="457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CA5836E-6711-417F-AF48-31ACC3CF4030}" type="slidenum">
              <a:rPr lang="da-DK" altLang="da-DK" smtClean="0"/>
              <a:pPr>
                <a:defRPr/>
              </a:pPr>
              <a:t>33</a:t>
            </a:fld>
            <a:endParaRPr lang="da-DK" altLang="da-DK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67544" y="1052736"/>
            <a:ext cx="8568952" cy="5688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marL="342900" lvl="1" indent="-342900">
              <a:spcBef>
                <a:spcPts val="1200"/>
              </a:spcBef>
              <a:buChar char="•"/>
            </a:pPr>
            <a:r>
              <a:rPr lang="en-GB" altLang="da-DK" sz="1800" b="1" kern="0" dirty="0">
                <a:solidFill>
                  <a:srgbClr val="A50021"/>
                </a:solidFill>
                <a:ea typeface="ＭＳ Ｐゴシック" pitchFamily="34" charset="-128"/>
                <a:cs typeface="ＭＳ Ｐゴシック" pitchFamily="-106" charset="-128"/>
              </a:rPr>
              <a:t>There are no rules about the number of slides and how detailed they are</a:t>
            </a:r>
          </a:p>
          <a:p>
            <a:pPr lvl="1">
              <a:spcBef>
                <a:spcPts val="300"/>
              </a:spcBef>
            </a:pPr>
            <a:r>
              <a:rPr lang="en-GB" altLang="da-DK" sz="1600" kern="0" dirty="0">
                <a:ea typeface="ＭＳ Ｐゴシック" pitchFamily="34" charset="-128"/>
              </a:rPr>
              <a:t>But you do not get much credit for things which you read up directly from your slides</a:t>
            </a:r>
          </a:p>
          <a:p>
            <a:pPr lvl="1">
              <a:spcBef>
                <a:spcPts val="300"/>
              </a:spcBef>
            </a:pPr>
            <a:r>
              <a:rPr lang="en-GB" altLang="da-DK" sz="1600" kern="0" dirty="0">
                <a:ea typeface="ＭＳ Ｐゴシック" pitchFamily="34" charset="-128"/>
              </a:rPr>
              <a:t>Hence the slides should </a:t>
            </a:r>
            <a:r>
              <a:rPr lang="en-GB" altLang="da-DK" sz="1600" b="1" kern="0" dirty="0">
                <a:solidFill>
                  <a:srgbClr val="008000"/>
                </a:solidFill>
                <a:ea typeface="ＭＳ Ｐゴシック" pitchFamily="34" charset="-128"/>
              </a:rPr>
              <a:t>not</a:t>
            </a:r>
            <a:r>
              <a:rPr lang="en-GB" altLang="da-DK" sz="1600" kern="0" dirty="0">
                <a:ea typeface="ＭＳ Ｐゴシック" pitchFamily="34" charset="-128"/>
              </a:rPr>
              <a:t> be </a:t>
            </a:r>
            <a:r>
              <a:rPr lang="en-GB" altLang="da-DK" sz="1600" b="1" kern="0" dirty="0">
                <a:solidFill>
                  <a:srgbClr val="008000"/>
                </a:solidFill>
                <a:ea typeface="ＭＳ Ｐゴシック" pitchFamily="34" charset="-128"/>
              </a:rPr>
              <a:t>too detailed</a:t>
            </a:r>
            <a:r>
              <a:rPr lang="en-GB" altLang="da-DK" sz="1600" kern="0" dirty="0">
                <a:ea typeface="ＭＳ Ｐゴシック" pitchFamily="34" charset="-128"/>
              </a:rPr>
              <a:t> – but they should help you to </a:t>
            </a:r>
            <a:r>
              <a:rPr lang="en-GB" altLang="da-DK" sz="1600" b="1" kern="0" dirty="0">
                <a:solidFill>
                  <a:srgbClr val="008000"/>
                </a:solidFill>
                <a:ea typeface="ＭＳ Ｐゴシック" pitchFamily="34" charset="-128"/>
              </a:rPr>
              <a:t>remember</a:t>
            </a:r>
            <a:r>
              <a:rPr lang="en-GB" altLang="da-DK" sz="1600" kern="0" dirty="0">
                <a:ea typeface="ＭＳ Ｐゴシック" pitchFamily="34" charset="-128"/>
              </a:rPr>
              <a:t> the most important details and to </a:t>
            </a:r>
            <a:r>
              <a:rPr lang="en-GB" altLang="da-DK" sz="1600" b="1" kern="0" dirty="0">
                <a:solidFill>
                  <a:srgbClr val="008000"/>
                </a:solidFill>
                <a:ea typeface="ＭＳ Ｐゴシック" pitchFamily="34" charset="-128"/>
              </a:rPr>
              <a:t>save time</a:t>
            </a:r>
            <a:r>
              <a:rPr lang="en-GB" altLang="da-DK" sz="1600" kern="0" dirty="0">
                <a:ea typeface="ＭＳ Ｐゴシック" pitchFamily="34" charset="-128"/>
              </a:rPr>
              <a:t> when you need to present complex things</a:t>
            </a:r>
          </a:p>
          <a:p>
            <a:pPr lvl="1">
              <a:spcBef>
                <a:spcPts val="300"/>
              </a:spcBef>
            </a:pPr>
            <a:r>
              <a:rPr lang="en-GB" altLang="da-DK" sz="1600" kern="0" dirty="0">
                <a:ea typeface="ＭＳ Ｐゴシック" pitchFamily="34" charset="-128"/>
              </a:rPr>
              <a:t>You can e.g. have some program code on the slide, which you </a:t>
            </a:r>
            <a:r>
              <a:rPr lang="en-GB" altLang="da-DK" sz="1600" b="1" kern="0" dirty="0">
                <a:solidFill>
                  <a:srgbClr val="008000"/>
                </a:solidFill>
                <a:ea typeface="ＭＳ Ｐゴシック" pitchFamily="34" charset="-128"/>
              </a:rPr>
              <a:t>explain</a:t>
            </a:r>
            <a:r>
              <a:rPr lang="en-GB" altLang="da-DK" sz="1600" kern="0" dirty="0">
                <a:ea typeface="ＭＳ Ｐゴシック" pitchFamily="34" charset="-128"/>
              </a:rPr>
              <a:t> orally during </a:t>
            </a:r>
            <a:r>
              <a:rPr lang="en-GB" altLang="da-DK" sz="1600" kern="0" spc="-30" dirty="0">
                <a:ea typeface="ＭＳ Ｐゴシック" pitchFamily="34" charset="-128"/>
              </a:rPr>
              <a:t>your presentation – or you can have a complex figure / table / graph which you explain</a:t>
            </a:r>
          </a:p>
          <a:p>
            <a:pPr lvl="1">
              <a:spcBef>
                <a:spcPts val="300"/>
              </a:spcBef>
            </a:pPr>
            <a:r>
              <a:rPr lang="en-GB" altLang="da-DK" sz="1600" kern="0" dirty="0">
                <a:ea typeface="ＭＳ Ｐゴシック" pitchFamily="34" charset="-128"/>
              </a:rPr>
              <a:t>Detailed references to papers can also go on your slides</a:t>
            </a:r>
          </a:p>
          <a:p>
            <a:pPr lvl="1">
              <a:spcBef>
                <a:spcPts val="300"/>
              </a:spcBef>
            </a:pPr>
            <a:r>
              <a:rPr lang="en-GB" altLang="da-DK" sz="1600" kern="0" dirty="0">
                <a:ea typeface="ＭＳ Ｐゴシック" pitchFamily="34" charset="-128"/>
              </a:rPr>
              <a:t>Put only things on your slides which</a:t>
            </a:r>
          </a:p>
          <a:p>
            <a:pPr lvl="2">
              <a:spcBef>
                <a:spcPts val="300"/>
              </a:spcBef>
            </a:pPr>
            <a:r>
              <a:rPr lang="en-GB" altLang="da-DK" kern="0" dirty="0">
                <a:solidFill>
                  <a:srgbClr val="000066"/>
                </a:solidFill>
                <a:ea typeface="ＭＳ Ｐゴシック" pitchFamily="34" charset="-128"/>
              </a:rPr>
              <a:t>are needed for your presentation</a:t>
            </a:r>
          </a:p>
          <a:p>
            <a:pPr lvl="2">
              <a:spcBef>
                <a:spcPts val="300"/>
              </a:spcBef>
            </a:pPr>
            <a:r>
              <a:rPr lang="en-GB" altLang="da-DK" kern="0" dirty="0">
                <a:solidFill>
                  <a:srgbClr val="000066"/>
                </a:solidFill>
                <a:ea typeface="ＭＳ Ｐゴシック" pitchFamily="34" charset="-128"/>
              </a:rPr>
              <a:t>you are prepared to answer detailed questions about</a:t>
            </a:r>
          </a:p>
          <a:p>
            <a:pPr lvl="1">
              <a:spcBef>
                <a:spcPts val="300"/>
              </a:spcBef>
            </a:pPr>
            <a:r>
              <a:rPr lang="en-GB" altLang="da-DK" sz="1600" kern="0" spc="-50" dirty="0">
                <a:ea typeface="ＭＳ Ｐゴシック" pitchFamily="34" charset="-128"/>
              </a:rPr>
              <a:t>Put page numbers on your slides (then it is easier for the examiner/censor to refer to them)</a:t>
            </a:r>
          </a:p>
          <a:p>
            <a:pPr marL="342900" lvl="1" indent="-342900">
              <a:spcBef>
                <a:spcPts val="600"/>
              </a:spcBef>
              <a:buChar char="•"/>
            </a:pPr>
            <a:r>
              <a:rPr lang="en-GB" altLang="da-DK" sz="1800" b="1" kern="0" dirty="0">
                <a:solidFill>
                  <a:srgbClr val="A50021"/>
                </a:solidFill>
                <a:ea typeface="ＭＳ Ｐゴシック" pitchFamily="34" charset="-128"/>
                <a:cs typeface="ＭＳ Ｐゴシック" pitchFamily="-106" charset="-128"/>
              </a:rPr>
              <a:t>Do </a:t>
            </a:r>
            <a:r>
              <a:rPr lang="en-GB" altLang="da-DK" sz="1800" b="1" kern="0" dirty="0">
                <a:solidFill>
                  <a:srgbClr val="008000"/>
                </a:solidFill>
                <a:ea typeface="ＭＳ Ｐゴシック" pitchFamily="34" charset="-128"/>
                <a:cs typeface="ＭＳ Ｐゴシック" pitchFamily="-106" charset="-128"/>
              </a:rPr>
              <a:t>not</a:t>
            </a:r>
          </a:p>
          <a:p>
            <a:pPr lvl="1">
              <a:spcBef>
                <a:spcPts val="300"/>
              </a:spcBef>
            </a:pPr>
            <a:r>
              <a:rPr lang="en-GB" altLang="da-DK" sz="1600" kern="0" dirty="0">
                <a:ea typeface="ＭＳ Ｐゴシック" pitchFamily="34" charset="-128"/>
              </a:rPr>
              <a:t>Read the text directly from your slides – use your own words</a:t>
            </a:r>
          </a:p>
          <a:p>
            <a:pPr lvl="1">
              <a:spcBef>
                <a:spcPts val="300"/>
              </a:spcBef>
            </a:pPr>
            <a:r>
              <a:rPr lang="en-GB" altLang="da-DK" sz="1600" kern="0" dirty="0">
                <a:ea typeface="ＭＳ Ｐゴシック" pitchFamily="34" charset="-128"/>
              </a:rPr>
              <a:t>Put large pieces of text on the slides in a small font (unless it is clear that you do not intend people to read it)</a:t>
            </a:r>
          </a:p>
          <a:p>
            <a:pPr marL="342900" lvl="1" indent="-342900">
              <a:spcBef>
                <a:spcPts val="1200"/>
              </a:spcBef>
              <a:buChar char="•"/>
            </a:pPr>
            <a:r>
              <a:rPr lang="en-GB" altLang="da-DK" sz="1800" b="1" kern="0" dirty="0">
                <a:solidFill>
                  <a:srgbClr val="A50021"/>
                </a:solidFill>
                <a:ea typeface="ＭＳ Ｐゴシック" pitchFamily="34" charset="-128"/>
                <a:cs typeface="ＭＳ Ｐゴシック" pitchFamily="-106" charset="-128"/>
              </a:rPr>
              <a:t>Proof read your slides </a:t>
            </a:r>
            <a:r>
              <a:rPr lang="en-GB" altLang="da-DK" sz="1800" b="1" kern="0" dirty="0">
                <a:solidFill>
                  <a:srgbClr val="008000"/>
                </a:solidFill>
                <a:ea typeface="ＭＳ Ｐゴシック" pitchFamily="34" charset="-128"/>
                <a:cs typeface="ＭＳ Ｐゴシック" pitchFamily="-106" charset="-128"/>
              </a:rPr>
              <a:t>thoroughly</a:t>
            </a:r>
            <a:r>
              <a:rPr lang="en-GB" altLang="da-DK" sz="1800" b="1" kern="0" dirty="0">
                <a:solidFill>
                  <a:srgbClr val="A50021"/>
                </a:solidFill>
                <a:ea typeface="ＭＳ Ｐゴシック" pitchFamily="34" charset="-128"/>
                <a:cs typeface="ＭＳ Ｐゴシック" pitchFamily="-106" charset="-128"/>
              </a:rPr>
              <a:t> – both for linguistic and logical errors</a:t>
            </a:r>
          </a:p>
          <a:p>
            <a:pPr lvl="1">
              <a:spcBef>
                <a:spcPts val="300"/>
              </a:spcBef>
            </a:pPr>
            <a:r>
              <a:rPr lang="en-GB" altLang="da-DK" sz="1600" kern="0" dirty="0">
                <a:ea typeface="ＭＳ Ｐゴシック" pitchFamily="34" charset="-128"/>
              </a:rPr>
              <a:t>Ask other people to help with the proof reading</a:t>
            </a:r>
          </a:p>
          <a:p>
            <a:pPr lvl="1">
              <a:spcBef>
                <a:spcPts val="300"/>
              </a:spcBef>
            </a:pPr>
            <a:r>
              <a:rPr lang="en-GB" altLang="da-DK" sz="1600" kern="0" dirty="0">
                <a:ea typeface="ＭＳ Ｐゴシック" pitchFamily="34" charset="-128"/>
              </a:rPr>
              <a:t>Some </a:t>
            </a:r>
            <a:r>
              <a:rPr lang="en-GB" altLang="da-DK" sz="1600" b="1" kern="0" dirty="0">
                <a:solidFill>
                  <a:srgbClr val="008000"/>
                </a:solidFill>
                <a:ea typeface="ＭＳ Ｐゴシック" pitchFamily="34" charset="-128"/>
              </a:rPr>
              <a:t>advisors</a:t>
            </a:r>
            <a:r>
              <a:rPr lang="en-GB" altLang="da-DK" sz="1600" kern="0" dirty="0">
                <a:ea typeface="ＭＳ Ｐゴシック" pitchFamily="34" charset="-128"/>
              </a:rPr>
              <a:t> are willing to give feedback on your slides before the exam</a:t>
            </a:r>
          </a:p>
          <a:p>
            <a:pPr lvl="1">
              <a:spcBef>
                <a:spcPts val="100"/>
              </a:spcBef>
            </a:pPr>
            <a:endParaRPr lang="en-GB" altLang="da-DK" sz="1600" kern="0" dirty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28473575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568952" cy="682625"/>
          </a:xfrm>
        </p:spPr>
        <p:txBody>
          <a:bodyPr/>
          <a:lstStyle/>
          <a:p>
            <a:r>
              <a:rPr lang="en-GB" altLang="da-DK" sz="2800" dirty="0">
                <a:ea typeface="ＭＳ Ｐゴシック" pitchFamily="34" charset="-128"/>
                <a:cs typeface="Arial"/>
              </a:rPr>
              <a:t>Use of other media</a:t>
            </a:r>
            <a:endParaRPr lang="en-GB" altLang="da-DK" sz="2800" noProof="0" dirty="0">
              <a:ea typeface="ＭＳ Ｐゴシック" pitchFamily="34" charset="-128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8532440" y="6400800"/>
            <a:ext cx="611560" cy="457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CA5836E-6711-417F-AF48-31ACC3CF4030}" type="slidenum">
              <a:rPr lang="da-DK" altLang="da-DK" smtClean="0"/>
              <a:pPr>
                <a:defRPr/>
              </a:pPr>
              <a:t>34</a:t>
            </a:fld>
            <a:endParaRPr lang="da-DK" altLang="da-DK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36816" y="1124744"/>
            <a:ext cx="8455664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marL="342900" lvl="1" indent="-342900">
              <a:spcBef>
                <a:spcPts val="1200"/>
              </a:spcBef>
              <a:buChar char="•"/>
            </a:pPr>
            <a:r>
              <a:rPr lang="en-GB" altLang="da-DK" sz="1800" b="1" kern="0" dirty="0">
                <a:solidFill>
                  <a:srgbClr val="A50021"/>
                </a:solidFill>
                <a:ea typeface="ＭＳ Ｐゴシック" pitchFamily="34" charset="-128"/>
                <a:cs typeface="ＭＳ Ｐゴシック" pitchFamily="-106" charset="-128"/>
              </a:rPr>
              <a:t>You are of course also allowed to use the </a:t>
            </a:r>
            <a:r>
              <a:rPr lang="en-GB" altLang="da-DK" sz="1800" b="1" kern="0" dirty="0">
                <a:solidFill>
                  <a:srgbClr val="008000"/>
                </a:solidFill>
                <a:ea typeface="ＭＳ Ｐゴシック" pitchFamily="34" charset="-128"/>
                <a:cs typeface="ＭＳ Ｐゴシック" pitchFamily="-106" charset="-128"/>
              </a:rPr>
              <a:t>whiteboard</a:t>
            </a:r>
          </a:p>
          <a:p>
            <a:pPr lvl="1">
              <a:spcBef>
                <a:spcPts val="300"/>
              </a:spcBef>
            </a:pPr>
            <a:r>
              <a:rPr lang="en-GB" altLang="da-DK" sz="1600" kern="0" dirty="0">
                <a:ea typeface="ＭＳ Ｐゴシック" pitchFamily="34" charset="-128"/>
              </a:rPr>
              <a:t>But this may use a considerable amount of your time and it is easy to make errors</a:t>
            </a:r>
          </a:p>
          <a:p>
            <a:pPr lvl="1">
              <a:spcBef>
                <a:spcPts val="300"/>
              </a:spcBef>
            </a:pPr>
            <a:r>
              <a:rPr lang="en-GB" altLang="da-DK" sz="1600" kern="0" dirty="0">
                <a:ea typeface="ＭＳ Ｐゴシック" pitchFamily="34" charset="-128"/>
              </a:rPr>
              <a:t>If you want to use the whiteboard practise this carefully (and bring your own pens)</a:t>
            </a:r>
          </a:p>
          <a:p>
            <a:pPr marL="342900" lvl="1" indent="-342900">
              <a:spcBef>
                <a:spcPts val="1200"/>
              </a:spcBef>
              <a:buChar char="•"/>
            </a:pPr>
            <a:r>
              <a:rPr lang="en-GB" altLang="da-DK" sz="1800" b="1" kern="0" dirty="0">
                <a:solidFill>
                  <a:srgbClr val="A50021"/>
                </a:solidFill>
                <a:ea typeface="ＭＳ Ｐゴシック" pitchFamily="34" charset="-128"/>
                <a:cs typeface="ＭＳ Ｐゴシック" pitchFamily="-106" charset="-128"/>
              </a:rPr>
              <a:t>You may also use </a:t>
            </a:r>
            <a:r>
              <a:rPr lang="en-GB" altLang="da-DK" sz="1800" b="1" kern="0" dirty="0">
                <a:solidFill>
                  <a:srgbClr val="008000"/>
                </a:solidFill>
                <a:ea typeface="ＭＳ Ｐゴシック" pitchFamily="34" charset="-128"/>
                <a:cs typeface="ＭＳ Ｐゴシック" pitchFamily="-106" charset="-128"/>
              </a:rPr>
              <a:t>photos</a:t>
            </a:r>
            <a:r>
              <a:rPr lang="en-GB" altLang="da-DK" sz="1800" b="1" kern="0" dirty="0">
                <a:solidFill>
                  <a:srgbClr val="A50021"/>
                </a:solidFill>
                <a:ea typeface="ＭＳ Ｐゴシック" pitchFamily="34" charset="-128"/>
                <a:cs typeface="ＭＳ Ｐゴシック" pitchFamily="-106" charset="-128"/>
              </a:rPr>
              <a:t> or </a:t>
            </a:r>
            <a:r>
              <a:rPr lang="en-GB" altLang="da-DK" sz="1800" b="1" kern="0" dirty="0">
                <a:solidFill>
                  <a:srgbClr val="008000"/>
                </a:solidFill>
                <a:ea typeface="ＭＳ Ｐゴシック" pitchFamily="34" charset="-128"/>
                <a:cs typeface="ＭＳ Ｐゴシック" pitchFamily="-106" charset="-128"/>
              </a:rPr>
              <a:t>short videos</a:t>
            </a:r>
          </a:p>
          <a:p>
            <a:pPr lvl="1">
              <a:spcBef>
                <a:spcPts val="300"/>
              </a:spcBef>
            </a:pPr>
            <a:r>
              <a:rPr lang="en-GB" altLang="da-DK" sz="1600" kern="0" dirty="0">
                <a:ea typeface="ＭＳ Ｐゴシック" pitchFamily="34" charset="-128"/>
              </a:rPr>
              <a:t>This may sometimes be a good idea</a:t>
            </a:r>
          </a:p>
          <a:p>
            <a:pPr lvl="1">
              <a:spcBef>
                <a:spcPts val="300"/>
              </a:spcBef>
            </a:pPr>
            <a:r>
              <a:rPr lang="en-GB" altLang="da-DK" sz="1600" kern="0" dirty="0">
                <a:ea typeface="ＭＳ Ｐゴシック" pitchFamily="34" charset="-128"/>
              </a:rPr>
              <a:t>But consider whether it really helps you (and your audience) or only acts as a nice gimmick (taking up valuable time)</a:t>
            </a:r>
          </a:p>
          <a:p>
            <a:pPr lvl="1">
              <a:spcBef>
                <a:spcPts val="300"/>
              </a:spcBef>
            </a:pPr>
            <a:r>
              <a:rPr lang="en-GB" altLang="da-DK" sz="1600" kern="0" dirty="0">
                <a:ea typeface="ＭＳ Ｐゴシック" pitchFamily="34" charset="-128"/>
              </a:rPr>
              <a:t>For videos you should thoroughly test that they start and display as intended (on the computer to be used for the presentation)</a:t>
            </a:r>
          </a:p>
          <a:p>
            <a:pPr marL="342900" lvl="1" indent="-342900">
              <a:spcBef>
                <a:spcPts val="1200"/>
              </a:spcBef>
              <a:buChar char="•"/>
            </a:pPr>
            <a:r>
              <a:rPr lang="en-GB" altLang="da-DK" sz="1800" b="1" kern="0" dirty="0">
                <a:solidFill>
                  <a:srgbClr val="008000"/>
                </a:solidFill>
                <a:ea typeface="ＭＳ Ｐゴシック" pitchFamily="34" charset="-128"/>
                <a:cs typeface="ＭＳ Ｐゴシック" pitchFamily="-106" charset="-128"/>
              </a:rPr>
              <a:t>Live demo</a:t>
            </a:r>
            <a:r>
              <a:rPr lang="en-GB" altLang="da-DK" sz="1800" b="1" kern="0" dirty="0">
                <a:solidFill>
                  <a:srgbClr val="A50021"/>
                </a:solidFill>
                <a:ea typeface="ＭＳ Ｐゴシック" pitchFamily="34" charset="-128"/>
                <a:cs typeface="ＭＳ Ｐゴシック" pitchFamily="-106" charset="-128"/>
              </a:rPr>
              <a:t> of software prototypes</a:t>
            </a:r>
          </a:p>
          <a:p>
            <a:pPr lvl="1">
              <a:spcBef>
                <a:spcPts val="300"/>
              </a:spcBef>
            </a:pPr>
            <a:r>
              <a:rPr lang="en-GB" altLang="da-DK" sz="1600" kern="0" dirty="0">
                <a:ea typeface="ＭＳ Ｐゴシック" pitchFamily="34" charset="-128"/>
              </a:rPr>
              <a:t>You may also want to demonstrate a software prototype developed in your project</a:t>
            </a:r>
          </a:p>
          <a:p>
            <a:pPr lvl="1">
              <a:spcBef>
                <a:spcPts val="300"/>
              </a:spcBef>
            </a:pPr>
            <a:r>
              <a:rPr lang="en-GB" altLang="da-DK" sz="1600" kern="0" dirty="0">
                <a:ea typeface="ＭＳ Ｐゴシック" pitchFamily="34" charset="-128"/>
              </a:rPr>
              <a:t>Carefully consider how much time you want to use for it</a:t>
            </a:r>
          </a:p>
          <a:p>
            <a:pPr lvl="1">
              <a:spcBef>
                <a:spcPts val="300"/>
              </a:spcBef>
            </a:pPr>
            <a:r>
              <a:rPr lang="en-GB" altLang="da-DK" sz="1600" kern="0" dirty="0">
                <a:ea typeface="ＭＳ Ｐゴシック" pitchFamily="34" charset="-128"/>
              </a:rPr>
              <a:t>Practise it thoroughly on the correct computer – it is very easy to waste a lot of time on technical difficulties without any real gain for your presentation</a:t>
            </a:r>
          </a:p>
          <a:p>
            <a:pPr lvl="1">
              <a:spcBef>
                <a:spcPts val="300"/>
              </a:spcBef>
            </a:pPr>
            <a:r>
              <a:rPr lang="en-GB" altLang="da-DK" sz="1600" kern="0" dirty="0">
                <a:ea typeface="ＭＳ Ｐゴシック" pitchFamily="34" charset="-128"/>
              </a:rPr>
              <a:t>Sometimes such presentations can be done prior to the exam – ask your advisor</a:t>
            </a:r>
          </a:p>
          <a:p>
            <a:pPr lvl="1">
              <a:spcBef>
                <a:spcPts val="300"/>
              </a:spcBef>
            </a:pPr>
            <a:endParaRPr lang="en-GB" altLang="da-DK" sz="1600" kern="0" dirty="0">
              <a:ea typeface="ＭＳ Ｐゴシック" pitchFamily="34" charset="-128"/>
            </a:endParaRPr>
          </a:p>
          <a:p>
            <a:pPr lvl="1">
              <a:spcBef>
                <a:spcPts val="100"/>
              </a:spcBef>
            </a:pPr>
            <a:endParaRPr lang="en-GB" altLang="da-DK" sz="1600" kern="0" dirty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85018778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568952" cy="682625"/>
          </a:xfrm>
        </p:spPr>
        <p:txBody>
          <a:bodyPr/>
          <a:lstStyle/>
          <a:p>
            <a:r>
              <a:rPr lang="en-GB" altLang="da-DK" sz="2800" noProof="0" dirty="0">
                <a:ea typeface="ＭＳ Ｐゴシック" pitchFamily="34" charset="-128"/>
                <a:cs typeface="Arial"/>
              </a:rPr>
              <a:t>You need a lot of practise</a:t>
            </a:r>
            <a:endParaRPr lang="en-GB" altLang="da-DK" sz="3200" noProof="0" dirty="0">
              <a:ea typeface="ＭＳ Ｐゴシック" pitchFamily="34" charset="-128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8532440" y="6400800"/>
            <a:ext cx="611560" cy="457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CA5836E-6711-417F-AF48-31ACC3CF4030}" type="slidenum">
              <a:rPr lang="da-DK" altLang="da-DK" smtClean="0"/>
              <a:pPr>
                <a:defRPr/>
              </a:pPr>
              <a:t>35</a:t>
            </a:fld>
            <a:endParaRPr lang="da-DK" altLang="da-DK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53872" y="1052736"/>
            <a:ext cx="8438607" cy="460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ts val="1200"/>
              </a:spcBef>
            </a:pPr>
            <a:r>
              <a:rPr lang="en-GB" altLang="da-DK" sz="1800" kern="0" dirty="0">
                <a:ea typeface="ＭＳ Ｐゴシック" pitchFamily="34" charset="-128"/>
              </a:rPr>
              <a:t>With practise you will be able to describe your work much more precisely and much faster</a:t>
            </a:r>
          </a:p>
          <a:p>
            <a:pPr lvl="1">
              <a:spcBef>
                <a:spcPts val="200"/>
              </a:spcBef>
            </a:pPr>
            <a:r>
              <a:rPr lang="en-GB" altLang="da-DK" sz="1600" kern="0" dirty="0">
                <a:ea typeface="ＭＳ Ｐゴシック" pitchFamily="34" charset="-128"/>
              </a:rPr>
              <a:t>This means that you can cover more results and be more clear/understandable</a:t>
            </a:r>
          </a:p>
          <a:p>
            <a:pPr>
              <a:spcBef>
                <a:spcPts val="1200"/>
              </a:spcBef>
            </a:pPr>
            <a:r>
              <a:rPr lang="en-GB" altLang="da-DK" sz="1800" kern="0" spc="-30" dirty="0">
                <a:ea typeface="ＭＳ Ｐゴシック" pitchFamily="34" charset="-128"/>
              </a:rPr>
              <a:t>Before the exam you should make you presentation </a:t>
            </a:r>
            <a:r>
              <a:rPr lang="en-GB" altLang="da-DK" sz="1800" kern="0" spc="-30" dirty="0">
                <a:solidFill>
                  <a:srgbClr val="008000"/>
                </a:solidFill>
                <a:ea typeface="ＭＳ Ｐゴシック" pitchFamily="34" charset="-128"/>
              </a:rPr>
              <a:t>at least 10 times</a:t>
            </a:r>
          </a:p>
          <a:p>
            <a:pPr lvl="1">
              <a:spcBef>
                <a:spcPts val="200"/>
              </a:spcBef>
            </a:pPr>
            <a:r>
              <a:rPr lang="en-GB" altLang="da-DK" sz="1600" kern="0" dirty="0">
                <a:ea typeface="ＭＳ Ｐゴシック" pitchFamily="34" charset="-128"/>
              </a:rPr>
              <a:t>The practise should be as realistic as possible</a:t>
            </a:r>
          </a:p>
          <a:p>
            <a:pPr lvl="1">
              <a:spcBef>
                <a:spcPts val="200"/>
              </a:spcBef>
            </a:pPr>
            <a:r>
              <a:rPr lang="en-GB" altLang="da-DK" sz="1600" kern="0" dirty="0">
                <a:ea typeface="ＭＳ Ｐゴシック" pitchFamily="34" charset="-128"/>
              </a:rPr>
              <a:t>It is not enough to think what you want to say</a:t>
            </a:r>
          </a:p>
          <a:p>
            <a:pPr lvl="1">
              <a:spcBef>
                <a:spcPts val="200"/>
              </a:spcBef>
            </a:pPr>
            <a:r>
              <a:rPr lang="en-GB" altLang="da-DK" sz="1600" kern="0" dirty="0">
                <a:ea typeface="ＭＳ Ｐゴシック" pitchFamily="34" charset="-128"/>
              </a:rPr>
              <a:t>You need to formulate the exact sentences – and mumble / say them loud</a:t>
            </a:r>
          </a:p>
          <a:p>
            <a:pPr lvl="1">
              <a:spcBef>
                <a:spcPts val="200"/>
              </a:spcBef>
            </a:pPr>
            <a:r>
              <a:rPr lang="en-GB" altLang="da-DK" sz="1600" kern="0" dirty="0">
                <a:ea typeface="ＭＳ Ｐゴシック" pitchFamily="34" charset="-128"/>
              </a:rPr>
              <a:t>During the practise you should also modify your slides – so that they are optimal for your oral presentation</a:t>
            </a:r>
          </a:p>
          <a:p>
            <a:pPr lvl="1">
              <a:spcBef>
                <a:spcPts val="200"/>
              </a:spcBef>
            </a:pPr>
            <a:r>
              <a:rPr lang="en-GB" altLang="da-DK" sz="1600" kern="0" dirty="0">
                <a:ea typeface="ＭＳ Ｐゴシック" pitchFamily="34" charset="-128"/>
              </a:rPr>
              <a:t>If you want to use the whiteboard, videos or live demos this must be practised too</a:t>
            </a:r>
          </a:p>
          <a:p>
            <a:pPr marL="342900" lvl="1" indent="-342900">
              <a:spcBef>
                <a:spcPts val="1200"/>
              </a:spcBef>
              <a:buChar char="•"/>
            </a:pPr>
            <a:r>
              <a:rPr lang="en-GB" altLang="da-DK" sz="1800" b="1" kern="0" spc="-30" dirty="0">
                <a:solidFill>
                  <a:srgbClr val="A50021"/>
                </a:solidFill>
                <a:ea typeface="ＭＳ Ｐゴシック" pitchFamily="34" charset="-128"/>
                <a:cs typeface="ＭＳ Ｐゴシック" pitchFamily="-106" charset="-128"/>
              </a:rPr>
              <a:t>Get help from other students</a:t>
            </a:r>
          </a:p>
          <a:p>
            <a:pPr lvl="1">
              <a:spcBef>
                <a:spcPts val="200"/>
              </a:spcBef>
            </a:pPr>
            <a:r>
              <a:rPr lang="en-GB" altLang="da-DK" sz="1600" kern="0" dirty="0">
                <a:ea typeface="ＭＳ Ｐゴシック" pitchFamily="34" charset="-128"/>
              </a:rPr>
              <a:t>Make your presentation for other students and listen thoroughly to the feedback they give you</a:t>
            </a:r>
          </a:p>
          <a:p>
            <a:pPr lvl="1">
              <a:spcBef>
                <a:spcPts val="200"/>
              </a:spcBef>
            </a:pPr>
            <a:r>
              <a:rPr lang="en-GB" altLang="da-DK" sz="1600" kern="0" dirty="0">
                <a:ea typeface="ＭＳ Ｐゴシック" pitchFamily="34" charset="-128"/>
              </a:rPr>
              <a:t>If you are in a bachelor group you are allowed to help each other – but avoid getting too identical presentations</a:t>
            </a:r>
          </a:p>
        </p:txBody>
      </p:sp>
    </p:spTree>
    <p:extLst>
      <p:ext uri="{BB962C8B-B14F-4D97-AF65-F5344CB8AC3E}">
        <p14:creationId xmlns:p14="http://schemas.microsoft.com/office/powerpoint/2010/main" val="2495536317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568952" cy="682625"/>
          </a:xfrm>
        </p:spPr>
        <p:txBody>
          <a:bodyPr/>
          <a:lstStyle/>
          <a:p>
            <a:r>
              <a:rPr lang="en-GB" altLang="da-DK" sz="2800" noProof="0" dirty="0">
                <a:ea typeface="ＭＳ Ｐゴシック" pitchFamily="34" charset="-128"/>
                <a:cs typeface="Arial"/>
              </a:rPr>
              <a:t>More advice…</a:t>
            </a:r>
            <a:endParaRPr lang="en-GB" altLang="da-DK" sz="3200" noProof="0" dirty="0">
              <a:ea typeface="ＭＳ Ｐゴシック" pitchFamily="34" charset="-128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8532440" y="6400800"/>
            <a:ext cx="611560" cy="457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CA5836E-6711-417F-AF48-31ACC3CF4030}" type="slidenum">
              <a:rPr lang="da-DK" altLang="da-DK" smtClean="0"/>
              <a:pPr>
                <a:defRPr/>
              </a:pPr>
              <a:t>36</a:t>
            </a:fld>
            <a:endParaRPr lang="da-DK" altLang="da-DK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67544" y="1052736"/>
            <a:ext cx="8208912" cy="5616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marL="342900" lvl="1" indent="-342900">
              <a:spcBef>
                <a:spcPts val="1200"/>
              </a:spcBef>
              <a:buChar char="•"/>
            </a:pPr>
            <a:r>
              <a:rPr lang="en-GB" altLang="da-DK" sz="1800" b="1" kern="0" dirty="0">
                <a:solidFill>
                  <a:srgbClr val="A50021"/>
                </a:solidFill>
                <a:ea typeface="ＭＳ Ｐゴシック" pitchFamily="34" charset="-128"/>
                <a:cs typeface="ＭＳ Ｐゴシック" pitchFamily="-106" charset="-128"/>
              </a:rPr>
              <a:t>Use a </a:t>
            </a:r>
            <a:r>
              <a:rPr lang="en-GB" altLang="da-DK" sz="1800" b="1" kern="0" dirty="0">
                <a:solidFill>
                  <a:srgbClr val="008000"/>
                </a:solidFill>
                <a:ea typeface="ＭＳ Ｐゴシック" pitchFamily="34" charset="-128"/>
                <a:cs typeface="ＭＳ Ｐゴシック" pitchFamily="-106" charset="-128"/>
              </a:rPr>
              <a:t>watch</a:t>
            </a:r>
            <a:r>
              <a:rPr lang="en-GB" altLang="da-DK" sz="1800" b="1" kern="0" dirty="0">
                <a:solidFill>
                  <a:srgbClr val="A50021"/>
                </a:solidFill>
                <a:ea typeface="ＭＳ Ｐゴシック" pitchFamily="34" charset="-128"/>
                <a:cs typeface="ＭＳ Ｐゴシック" pitchFamily="-106" charset="-128"/>
              </a:rPr>
              <a:t> to check the duration of your talk while you practise</a:t>
            </a:r>
          </a:p>
          <a:p>
            <a:pPr lvl="1">
              <a:spcBef>
                <a:spcPts val="300"/>
              </a:spcBef>
            </a:pPr>
            <a:r>
              <a:rPr lang="en-GB" altLang="da-DK" sz="1600" kern="0" dirty="0">
                <a:ea typeface="ＭＳ Ｐゴシック" pitchFamily="34" charset="-128"/>
              </a:rPr>
              <a:t>You should be able to finish it within 15 minutes</a:t>
            </a:r>
          </a:p>
          <a:p>
            <a:pPr lvl="1">
              <a:spcBef>
                <a:spcPts val="300"/>
              </a:spcBef>
            </a:pPr>
            <a:r>
              <a:rPr lang="en-GB" altLang="da-DK" sz="1600" kern="0" dirty="0">
                <a:ea typeface="ＭＳ Ｐゴシック" pitchFamily="34" charset="-128"/>
              </a:rPr>
              <a:t>Do not hope for a miracle – it will not happen</a:t>
            </a:r>
          </a:p>
          <a:p>
            <a:pPr marL="342900" lvl="1" indent="-342900">
              <a:spcBef>
                <a:spcPts val="1200"/>
              </a:spcBef>
              <a:buChar char="•"/>
            </a:pPr>
            <a:r>
              <a:rPr lang="en-GB" altLang="da-DK" sz="1800" b="1" kern="0" dirty="0">
                <a:solidFill>
                  <a:srgbClr val="A50021"/>
                </a:solidFill>
                <a:ea typeface="ＭＳ Ｐゴシック" pitchFamily="34" charset="-128"/>
                <a:cs typeface="ＭＳ Ｐゴシック" pitchFamily="-106" charset="-128"/>
              </a:rPr>
              <a:t>Repeat the </a:t>
            </a:r>
            <a:r>
              <a:rPr lang="en-GB" altLang="da-DK" sz="1800" b="1" kern="0" dirty="0">
                <a:solidFill>
                  <a:srgbClr val="008000"/>
                </a:solidFill>
                <a:ea typeface="ＭＳ Ｐゴシック" pitchFamily="34" charset="-128"/>
                <a:cs typeface="ＭＳ Ｐゴシック" pitchFamily="-106" charset="-128"/>
              </a:rPr>
              <a:t>first 1-2 minutes</a:t>
            </a:r>
            <a:r>
              <a:rPr lang="en-GB" altLang="da-DK" sz="1800" b="1" kern="0" dirty="0">
                <a:solidFill>
                  <a:srgbClr val="A50021"/>
                </a:solidFill>
                <a:ea typeface="ＭＳ Ｐゴシック" pitchFamily="34" charset="-128"/>
                <a:cs typeface="ＭＳ Ｐゴシック" pitchFamily="-106" charset="-128"/>
              </a:rPr>
              <a:t> of the talk so many times that you are absolutely sure what to say – and how to say it</a:t>
            </a:r>
          </a:p>
          <a:p>
            <a:pPr lvl="1">
              <a:spcBef>
                <a:spcPts val="300"/>
              </a:spcBef>
            </a:pPr>
            <a:r>
              <a:rPr lang="en-GB" altLang="da-DK" sz="1600" kern="0" dirty="0">
                <a:ea typeface="ＭＳ Ｐゴシック" pitchFamily="34" charset="-128"/>
              </a:rPr>
              <a:t>When you are nervous it is easy to be confused and to forget even simple things</a:t>
            </a:r>
          </a:p>
          <a:p>
            <a:pPr lvl="1">
              <a:spcBef>
                <a:spcPts val="300"/>
              </a:spcBef>
            </a:pPr>
            <a:r>
              <a:rPr lang="en-GB" altLang="da-DK" sz="1600" kern="0" dirty="0">
                <a:ea typeface="ＭＳ Ｐゴシック" pitchFamily="34" charset="-128"/>
              </a:rPr>
              <a:t>Hence, it is very important to get a good start</a:t>
            </a:r>
            <a:endParaRPr lang="en-GB" altLang="da-DK" sz="1800" b="1" kern="0" dirty="0">
              <a:solidFill>
                <a:srgbClr val="A50021"/>
              </a:solidFill>
              <a:ea typeface="ＭＳ Ｐゴシック" pitchFamily="34" charset="-128"/>
              <a:cs typeface="ＭＳ Ｐゴシック" pitchFamily="-106" charset="-128"/>
            </a:endParaRPr>
          </a:p>
          <a:p>
            <a:pPr marL="342900" lvl="1" indent="-342900">
              <a:spcBef>
                <a:spcPts val="1200"/>
              </a:spcBef>
              <a:buChar char="•"/>
            </a:pPr>
            <a:r>
              <a:rPr lang="en-GB" altLang="da-DK" sz="1800" b="1" kern="0" dirty="0">
                <a:solidFill>
                  <a:srgbClr val="A50021"/>
                </a:solidFill>
                <a:ea typeface="ＭＳ Ｐゴシック" pitchFamily="34" charset="-128"/>
                <a:cs typeface="ＭＳ Ｐゴシック" pitchFamily="-106" charset="-128"/>
              </a:rPr>
              <a:t>Do </a:t>
            </a:r>
            <a:r>
              <a:rPr lang="en-GB" altLang="da-DK" sz="1800" b="1" kern="0" dirty="0">
                <a:solidFill>
                  <a:srgbClr val="008000"/>
                </a:solidFill>
                <a:ea typeface="ＭＳ Ｐゴシック" pitchFamily="34" charset="-128"/>
                <a:cs typeface="ＭＳ Ｐゴシック" pitchFamily="-106" charset="-128"/>
              </a:rPr>
              <a:t>not</a:t>
            </a:r>
            <a:r>
              <a:rPr lang="en-GB" altLang="da-DK" sz="1800" b="1" kern="0" dirty="0">
                <a:solidFill>
                  <a:srgbClr val="A50021"/>
                </a:solidFill>
                <a:ea typeface="ＭＳ Ｐゴシック" pitchFamily="34" charset="-128"/>
                <a:cs typeface="ＭＳ Ｐゴシック" pitchFamily="-106" charset="-128"/>
              </a:rPr>
              <a:t> </a:t>
            </a:r>
            <a:r>
              <a:rPr lang="en-GB" altLang="da-DK" sz="1800" b="1" kern="0" dirty="0">
                <a:solidFill>
                  <a:srgbClr val="008000"/>
                </a:solidFill>
                <a:ea typeface="ＭＳ Ｐゴシック" pitchFamily="34" charset="-128"/>
                <a:cs typeface="ＭＳ Ｐゴシック" pitchFamily="-106" charset="-128"/>
              </a:rPr>
              <a:t>improvise</a:t>
            </a:r>
            <a:r>
              <a:rPr lang="en-GB" altLang="da-DK" sz="1800" b="1" kern="0" dirty="0">
                <a:solidFill>
                  <a:srgbClr val="A50021"/>
                </a:solidFill>
                <a:ea typeface="ＭＳ Ｐゴシック" pitchFamily="34" charset="-128"/>
                <a:cs typeface="ＭＳ Ｐゴシック" pitchFamily="-106" charset="-128"/>
              </a:rPr>
              <a:t> during the talk</a:t>
            </a:r>
          </a:p>
          <a:p>
            <a:pPr lvl="1">
              <a:spcBef>
                <a:spcPts val="300"/>
              </a:spcBef>
            </a:pPr>
            <a:r>
              <a:rPr lang="en-GB" altLang="da-DK" sz="1600" kern="0" dirty="0">
                <a:ea typeface="ＭＳ Ｐゴシック" pitchFamily="34" charset="-128"/>
              </a:rPr>
              <a:t>Do </a:t>
            </a:r>
            <a:r>
              <a:rPr lang="en-GB" altLang="da-DK" sz="1600" b="1" kern="0" dirty="0">
                <a:solidFill>
                  <a:srgbClr val="008000"/>
                </a:solidFill>
                <a:ea typeface="ＭＳ Ｐゴシック" pitchFamily="34" charset="-128"/>
              </a:rPr>
              <a:t>not</a:t>
            </a:r>
            <a:r>
              <a:rPr lang="en-GB" altLang="da-DK" sz="1600" kern="0" dirty="0">
                <a:ea typeface="ＭＳ Ｐゴシック" pitchFamily="34" charset="-128"/>
              </a:rPr>
              <a:t> invent new ideas and new examples during the talk</a:t>
            </a:r>
          </a:p>
          <a:p>
            <a:pPr lvl="1">
              <a:spcBef>
                <a:spcPts val="300"/>
              </a:spcBef>
            </a:pPr>
            <a:r>
              <a:rPr lang="en-GB" altLang="da-DK" sz="1600" kern="0" dirty="0">
                <a:ea typeface="ＭＳ Ｐゴシック" pitchFamily="34" charset="-128"/>
              </a:rPr>
              <a:t>Stick to your slides and the </a:t>
            </a:r>
            <a:r>
              <a:rPr lang="en-GB" altLang="da-DK" sz="1600" b="1" kern="0" dirty="0">
                <a:solidFill>
                  <a:srgbClr val="008000"/>
                </a:solidFill>
                <a:ea typeface="ＭＳ Ｐゴシック" pitchFamily="34" charset="-128"/>
              </a:rPr>
              <a:t>planned</a:t>
            </a:r>
            <a:r>
              <a:rPr lang="en-GB" altLang="da-DK" sz="1600" kern="0" dirty="0">
                <a:ea typeface="ＭＳ Ｐゴシック" pitchFamily="34" charset="-128"/>
              </a:rPr>
              <a:t> content of your talk</a:t>
            </a:r>
          </a:p>
          <a:p>
            <a:pPr marL="271463" lvl="1" indent="-271463">
              <a:spcBef>
                <a:spcPts val="1200"/>
              </a:spcBef>
              <a:buFontTx/>
              <a:buChar char="•"/>
            </a:pPr>
            <a:r>
              <a:rPr lang="en-US" b="1" dirty="0">
                <a:solidFill>
                  <a:srgbClr val="A50021"/>
                </a:solidFill>
                <a:cs typeface="ＭＳ Ｐゴシック" charset="0"/>
              </a:rPr>
              <a:t>Be </a:t>
            </a:r>
            <a:r>
              <a:rPr lang="en-US" b="1" dirty="0">
                <a:solidFill>
                  <a:srgbClr val="008000"/>
                </a:solidFill>
                <a:cs typeface="ＭＳ Ｐゴシック" charset="0"/>
              </a:rPr>
              <a:t>honest</a:t>
            </a:r>
            <a:r>
              <a:rPr lang="en-US" b="1" dirty="0">
                <a:solidFill>
                  <a:srgbClr val="A50021"/>
                </a:solidFill>
                <a:cs typeface="ＭＳ Ｐゴシック" charset="0"/>
              </a:rPr>
              <a:t> about your work</a:t>
            </a:r>
          </a:p>
          <a:p>
            <a:pPr marL="728663" lvl="1" indent="-271463" defTabSz="496570">
              <a:spcBef>
                <a:spcPts val="300"/>
              </a:spcBef>
              <a:buSzPct val="100000"/>
              <a:defRPr sz="2720"/>
            </a:pPr>
            <a:r>
              <a:rPr lang="en-US" sz="1600" dirty="0"/>
              <a:t>Identify the strengths and point them out</a:t>
            </a:r>
          </a:p>
          <a:p>
            <a:pPr marL="728663" lvl="1" indent="-271463" defTabSz="496570">
              <a:spcBef>
                <a:spcPts val="300"/>
              </a:spcBef>
              <a:buSzPct val="100000"/>
              <a:defRPr sz="2720"/>
            </a:pPr>
            <a:r>
              <a:rPr lang="en-US" sz="1600" dirty="0"/>
              <a:t>Identify the weaknesses and address them</a:t>
            </a:r>
          </a:p>
          <a:p>
            <a:pPr marL="342900" lvl="1" indent="-342900">
              <a:spcBef>
                <a:spcPts val="1200"/>
              </a:spcBef>
              <a:buChar char="•"/>
            </a:pPr>
            <a:r>
              <a:rPr lang="en-GB" altLang="da-DK" sz="1800" b="1" kern="0" dirty="0">
                <a:solidFill>
                  <a:srgbClr val="A50021"/>
                </a:solidFill>
                <a:ea typeface="ＭＳ Ｐゴシック" pitchFamily="34" charset="-128"/>
                <a:cs typeface="ＭＳ Ｐゴシック" pitchFamily="-106" charset="-128"/>
              </a:rPr>
              <a:t>Try to guess what the examiner and censor may </a:t>
            </a:r>
            <a:r>
              <a:rPr lang="en-GB" altLang="da-DK" sz="1800" b="1" kern="0" dirty="0">
                <a:solidFill>
                  <a:srgbClr val="008000"/>
                </a:solidFill>
                <a:ea typeface="ＭＳ Ｐゴシック" pitchFamily="34" charset="-128"/>
                <a:cs typeface="ＭＳ Ｐゴシック" pitchFamily="-106" charset="-128"/>
              </a:rPr>
              <a:t>ask</a:t>
            </a:r>
            <a:r>
              <a:rPr lang="en-GB" altLang="da-DK" sz="1800" b="1" kern="0" dirty="0">
                <a:solidFill>
                  <a:srgbClr val="A50021"/>
                </a:solidFill>
                <a:ea typeface="ＭＳ Ｐゴシック" pitchFamily="34" charset="-128"/>
                <a:cs typeface="ＭＳ Ｐゴシック" pitchFamily="-106" charset="-128"/>
              </a:rPr>
              <a:t> you about</a:t>
            </a:r>
          </a:p>
          <a:p>
            <a:pPr lvl="1">
              <a:spcBef>
                <a:spcPts val="300"/>
              </a:spcBef>
            </a:pPr>
            <a:r>
              <a:rPr lang="en-GB" altLang="da-DK" sz="1600" kern="0" dirty="0">
                <a:ea typeface="ＭＳ Ｐゴシック" pitchFamily="34" charset="-128"/>
              </a:rPr>
              <a:t>Prepare what your answer will be</a:t>
            </a:r>
          </a:p>
          <a:p>
            <a:pPr lvl="1">
              <a:spcBef>
                <a:spcPts val="300"/>
              </a:spcBef>
            </a:pPr>
            <a:r>
              <a:rPr lang="en-GB" altLang="da-DK" sz="1600" kern="0" dirty="0">
                <a:ea typeface="ＭＳ Ｐゴシック" pitchFamily="34" charset="-128"/>
              </a:rPr>
              <a:t>If you do not understand a question – ask for clarification (instead of guessing)</a:t>
            </a:r>
          </a:p>
          <a:p>
            <a:pPr lvl="1">
              <a:spcBef>
                <a:spcPts val="300"/>
              </a:spcBef>
            </a:pPr>
            <a:r>
              <a:rPr lang="en-GB" altLang="da-DK" sz="1600" kern="0" dirty="0">
                <a:ea typeface="ＭＳ Ｐゴシック" pitchFamily="34" charset="-128"/>
              </a:rPr>
              <a:t>Be forthcoming and courteous</a:t>
            </a:r>
          </a:p>
          <a:p>
            <a:pPr lvl="1">
              <a:spcBef>
                <a:spcPts val="300"/>
              </a:spcBef>
            </a:pPr>
            <a:endParaRPr lang="en-GB" altLang="da-DK" sz="1600" kern="0" dirty="0">
              <a:ea typeface="ＭＳ Ｐゴシック" pitchFamily="34" charset="-128"/>
            </a:endParaRPr>
          </a:p>
          <a:p>
            <a:pPr lvl="1">
              <a:spcBef>
                <a:spcPts val="100"/>
              </a:spcBef>
            </a:pPr>
            <a:endParaRPr lang="en-GB" altLang="da-DK" sz="1600" kern="0" dirty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99002359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568952" cy="682625"/>
          </a:xfrm>
        </p:spPr>
        <p:txBody>
          <a:bodyPr/>
          <a:lstStyle/>
          <a:p>
            <a:r>
              <a:rPr lang="en-GB" altLang="da-DK" sz="2800" noProof="0" dirty="0">
                <a:ea typeface="ＭＳ Ｐゴシック" pitchFamily="34" charset="-128"/>
                <a:cs typeface="Arial"/>
              </a:rPr>
              <a:t>More advice… (continued)</a:t>
            </a:r>
            <a:endParaRPr lang="en-GB" altLang="da-DK" sz="2800" noProof="0" dirty="0">
              <a:ea typeface="ＭＳ Ｐゴシック" pitchFamily="34" charset="-128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8532440" y="6400800"/>
            <a:ext cx="611560" cy="457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CA5836E-6711-417F-AF48-31ACC3CF4030}" type="slidenum">
              <a:rPr lang="da-DK" altLang="da-DK" smtClean="0"/>
              <a:pPr>
                <a:defRPr/>
              </a:pPr>
              <a:t>37</a:t>
            </a:fld>
            <a:endParaRPr lang="da-DK" altLang="da-DK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85292" y="1052736"/>
            <a:ext cx="8352928" cy="1620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A50021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000066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ts val="1800"/>
              </a:spcBef>
            </a:pPr>
            <a:r>
              <a:rPr lang="en-GB" altLang="da-DK" sz="1800" kern="0" spc="-50" dirty="0">
                <a:ea typeface="ＭＳ Ｐゴシック" pitchFamily="34" charset="-128"/>
              </a:rPr>
              <a:t>One of the most efficient ways to improve your performance is to hear the presentation of other students (to learn from their good/bad things)</a:t>
            </a:r>
          </a:p>
          <a:p>
            <a:pPr lvl="1">
              <a:spcBef>
                <a:spcPts val="600"/>
              </a:spcBef>
            </a:pPr>
            <a:r>
              <a:rPr lang="en-GB" altLang="da-DK" sz="1600" kern="0" dirty="0">
                <a:ea typeface="ＭＳ Ｐゴシック" pitchFamily="34" charset="-128"/>
              </a:rPr>
              <a:t>Hence, we strongly encourage you to attend the presentation of other students</a:t>
            </a:r>
          </a:p>
          <a:p>
            <a:pPr lvl="1">
              <a:spcBef>
                <a:spcPts val="600"/>
              </a:spcBef>
            </a:pPr>
            <a:r>
              <a:rPr lang="en-GB" altLang="da-DK" sz="1600" kern="0" spc="-30" dirty="0">
                <a:ea typeface="ＭＳ Ｐゴシック" pitchFamily="34" charset="-128"/>
              </a:rPr>
              <a:t>Please note that you are </a:t>
            </a:r>
            <a:r>
              <a:rPr lang="en-GB" altLang="da-DK" sz="1600" b="1" kern="0" spc="-30" dirty="0">
                <a:solidFill>
                  <a:srgbClr val="008000"/>
                </a:solidFill>
                <a:ea typeface="ＭＳ Ｐゴシック" pitchFamily="34" charset="-128"/>
              </a:rPr>
              <a:t>not</a:t>
            </a:r>
            <a:r>
              <a:rPr lang="en-GB" altLang="da-DK" sz="1600" kern="0" spc="-30" dirty="0">
                <a:ea typeface="ＭＳ Ｐゴシック" pitchFamily="34" charset="-128"/>
              </a:rPr>
              <a:t> allowed to attend the exam of other members of </a:t>
            </a:r>
            <a:r>
              <a:rPr lang="en-GB" altLang="da-DK" sz="1600" b="1" kern="0" spc="-30" dirty="0">
                <a:solidFill>
                  <a:srgbClr val="008000"/>
                </a:solidFill>
                <a:ea typeface="ＭＳ Ｐゴシック" pitchFamily="34" charset="-128"/>
              </a:rPr>
              <a:t>your</a:t>
            </a:r>
            <a:r>
              <a:rPr lang="en-GB" altLang="da-DK" sz="1600" kern="0" spc="-30" dirty="0">
                <a:ea typeface="ＭＳ Ｐゴシック" pitchFamily="34" charset="-128"/>
              </a:rPr>
              <a:t> </a:t>
            </a:r>
            <a:r>
              <a:rPr lang="en-GB" altLang="da-DK" sz="1600" b="1" kern="0" spc="-30" dirty="0">
                <a:solidFill>
                  <a:srgbClr val="008000"/>
                </a:solidFill>
                <a:ea typeface="ＭＳ Ｐゴシック" pitchFamily="34" charset="-128"/>
              </a:rPr>
              <a:t>own</a:t>
            </a:r>
            <a:r>
              <a:rPr lang="en-GB" altLang="da-DK" sz="1600" kern="0" spc="-30" dirty="0">
                <a:ea typeface="ＭＳ Ｐゴシック" pitchFamily="34" charset="-128"/>
              </a:rPr>
              <a:t> bachelor project group </a:t>
            </a:r>
            <a:r>
              <a:rPr lang="en-GB" altLang="da-DK" sz="1600" b="1" kern="0" spc="-30" dirty="0">
                <a:solidFill>
                  <a:srgbClr val="008000"/>
                </a:solidFill>
                <a:ea typeface="ＭＳ Ｐゴシック" pitchFamily="34" charset="-128"/>
              </a:rPr>
              <a:t>prior</a:t>
            </a:r>
            <a:r>
              <a:rPr lang="en-GB" altLang="da-DK" sz="1600" kern="0" spc="-30" dirty="0">
                <a:ea typeface="ＭＳ Ｐゴシック" pitchFamily="34" charset="-128"/>
              </a:rPr>
              <a:t> to your own exam</a:t>
            </a:r>
          </a:p>
          <a:p>
            <a:pPr marL="342900" lvl="1" indent="-342900">
              <a:spcBef>
                <a:spcPts val="1200"/>
              </a:spcBef>
              <a:buChar char="•"/>
            </a:pPr>
            <a:r>
              <a:rPr lang="en-GB" altLang="da-DK" sz="1800" b="1" kern="0" spc="-50" dirty="0">
                <a:solidFill>
                  <a:srgbClr val="A50021"/>
                </a:solidFill>
                <a:ea typeface="ＭＳ Ｐゴシック" pitchFamily="34" charset="-128"/>
                <a:cs typeface="ＭＳ Ｐゴシック" pitchFamily="-106" charset="-128"/>
              </a:rPr>
              <a:t>Do </a:t>
            </a:r>
            <a:r>
              <a:rPr lang="en-GB" altLang="da-DK" sz="1800" b="1" kern="0" spc="-50" dirty="0">
                <a:solidFill>
                  <a:srgbClr val="008000"/>
                </a:solidFill>
                <a:ea typeface="ＭＳ Ｐゴシック" pitchFamily="34" charset="-128"/>
                <a:cs typeface="ＭＳ Ｐゴシック" pitchFamily="-106" charset="-128"/>
              </a:rPr>
              <a:t>not</a:t>
            </a:r>
            <a:r>
              <a:rPr lang="en-GB" altLang="da-DK" sz="1800" b="1" kern="0" spc="-50" dirty="0">
                <a:solidFill>
                  <a:srgbClr val="A50021"/>
                </a:solidFill>
                <a:ea typeface="ＭＳ Ｐゴシック" pitchFamily="34" charset="-128"/>
                <a:cs typeface="ＭＳ Ｐゴシック" pitchFamily="-106" charset="-128"/>
              </a:rPr>
              <a:t> work until the last minute</a:t>
            </a:r>
          </a:p>
          <a:p>
            <a:pPr lvl="1">
              <a:spcBef>
                <a:spcPts val="600"/>
              </a:spcBef>
            </a:pPr>
            <a:r>
              <a:rPr lang="en-GB" altLang="da-DK" sz="1600" kern="0" spc="-30" dirty="0">
                <a:ea typeface="ＭＳ Ｐゴシック" pitchFamily="34" charset="-128"/>
              </a:rPr>
              <a:t>Take some time off the day before your presentation</a:t>
            </a:r>
          </a:p>
          <a:p>
            <a:pPr lvl="1">
              <a:spcBef>
                <a:spcPts val="600"/>
              </a:spcBef>
            </a:pPr>
            <a:r>
              <a:rPr lang="en-GB" altLang="da-DK" sz="1600" kern="0" spc="-30" dirty="0">
                <a:ea typeface="ＭＳ Ｐゴシック" pitchFamily="34" charset="-128"/>
              </a:rPr>
              <a:t>Go for a walk or a run or do some other kind of exercise – physical activity decreases your stress level and make you tired so that you can get a good nights sleep</a:t>
            </a:r>
          </a:p>
          <a:p>
            <a:pPr>
              <a:spcBef>
                <a:spcPts val="1200"/>
              </a:spcBef>
            </a:pPr>
            <a:r>
              <a:rPr lang="en-GB" altLang="da-DK" sz="1800" b="1" kern="0" spc="-50" dirty="0">
                <a:solidFill>
                  <a:srgbClr val="A50021"/>
                </a:solidFill>
                <a:ea typeface="ＭＳ Ｐゴシック" pitchFamily="34" charset="-128"/>
                <a:cs typeface="ＭＳ Ｐゴシック" pitchFamily="-106" charset="-128"/>
              </a:rPr>
              <a:t>There is no need to be nervous</a:t>
            </a:r>
          </a:p>
          <a:p>
            <a:pPr lvl="1">
              <a:spcBef>
                <a:spcPts val="600"/>
              </a:spcBef>
            </a:pPr>
            <a:r>
              <a:rPr lang="en-GB" altLang="da-DK" sz="1600" kern="0" spc="-30" dirty="0">
                <a:ea typeface="ＭＳ Ｐゴシック" pitchFamily="34" charset="-128"/>
              </a:rPr>
              <a:t>If you have prepared a good slide set and made your presentation at least 10 times things cannot go totally wrong</a:t>
            </a:r>
          </a:p>
        </p:txBody>
      </p:sp>
      <p:pic>
        <p:nvPicPr>
          <p:cNvPr id="1026" name="Picture 2" descr="Billedresultat for smile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3804266"/>
            <a:ext cx="737071" cy="509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3569818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AU </a:t>
            </a:r>
            <a:r>
              <a:rPr lang="da-DK" dirty="0" err="1"/>
              <a:t>Studypedia</a:t>
            </a:r>
            <a:r>
              <a:rPr lang="da-DK" dirty="0"/>
              <a:t> (studypedia.au.dk)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124745"/>
            <a:ext cx="8496944" cy="930701"/>
          </a:xfrm>
        </p:spPr>
        <p:txBody>
          <a:bodyPr/>
          <a:lstStyle/>
          <a:p>
            <a:r>
              <a:rPr lang="en-US" sz="1800" dirty="0"/>
              <a:t>A set of webpages which offers advice, inspiration and exercises in a number of different study related areas</a:t>
            </a:r>
          </a:p>
          <a:p>
            <a:pPr marL="728663" lvl="1" indent="-271463">
              <a:spcBef>
                <a:spcPts val="300"/>
              </a:spcBef>
            </a:pPr>
            <a:r>
              <a:rPr lang="da-DK" sz="1600" dirty="0" err="1"/>
              <a:t>There</a:t>
            </a:r>
            <a:r>
              <a:rPr lang="da-DK" sz="1600" dirty="0"/>
              <a:t> is </a:t>
            </a:r>
            <a:r>
              <a:rPr lang="da-DK" sz="1600" dirty="0" err="1"/>
              <a:t>both</a:t>
            </a:r>
            <a:r>
              <a:rPr lang="da-DK" sz="1600" dirty="0"/>
              <a:t> a Danish and an English version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452888" y="6400800"/>
            <a:ext cx="683568" cy="457200"/>
          </a:xfrm>
        </p:spPr>
        <p:txBody>
          <a:bodyPr/>
          <a:lstStyle/>
          <a:p>
            <a:pPr>
              <a:defRPr/>
            </a:pPr>
            <a:fld id="{3A57ADD0-007F-4610-9D7D-5E5ADEAA50E0}" type="slidenum">
              <a:rPr lang="da-DK" altLang="da-DK" smtClean="0"/>
              <a:pPr>
                <a:defRPr/>
              </a:pPr>
              <a:t>38</a:t>
            </a:fld>
            <a:endParaRPr lang="da-DK" altLang="da-DK" dirty="0"/>
          </a:p>
        </p:txBody>
      </p:sp>
      <p:sp>
        <p:nvSpPr>
          <p:cNvPr id="18" name="Rectangle 3"/>
          <p:cNvSpPr txBox="1">
            <a:spLocks noChangeArrowheads="1"/>
          </p:cNvSpPr>
          <p:nvPr/>
        </p:nvSpPr>
        <p:spPr bwMode="auto">
          <a:xfrm>
            <a:off x="6660232" y="2924944"/>
            <a:ext cx="2369216" cy="906827"/>
          </a:xfrm>
          <a:prstGeom prst="rect">
            <a:avLst/>
          </a:prstGeom>
          <a:solidFill>
            <a:srgbClr val="DDF2FF"/>
          </a:solidFill>
          <a:ln w="28575">
            <a:solidFill>
              <a:srgbClr val="0000FF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 b="1">
                <a:solidFill>
                  <a:srgbClr val="A50021"/>
                </a:solidFill>
                <a:latin typeface="+mn-lt"/>
                <a:ea typeface="ＭＳ Ｐゴシック" pitchFamily="-107" charset="-128"/>
                <a:cs typeface="ＭＳ Ｐゴシック" pitchFamily="-107" charset="-128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rgbClr val="000066"/>
                </a:solidFill>
                <a:latin typeface="+mn-lt"/>
                <a:ea typeface="ＭＳ Ｐゴシック" charset="-128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l" eaLnBrk="1" hangingPunct="1">
              <a:spcBef>
                <a:spcPts val="1500"/>
              </a:spcBef>
            </a:pPr>
            <a:r>
              <a:rPr lang="en-GB" altLang="da-DK" sz="1200" kern="0" dirty="0">
                <a:solidFill>
                  <a:srgbClr val="0000FF"/>
                </a:solidFill>
              </a:rPr>
              <a:t>Extensive and useful material</a:t>
            </a:r>
            <a:endParaRPr lang="en-GB" altLang="da-DK" sz="1200" kern="0" dirty="0">
              <a:solidFill>
                <a:srgbClr val="0000FF"/>
              </a:solidFill>
              <a:ea typeface="ＭＳ Ｐゴシック" pitchFamily="34" charset="-128"/>
            </a:endParaRPr>
          </a:p>
          <a:p>
            <a:pPr marL="179388" indent="-179388" algn="l" eaLnBrk="1" hangingPunct="1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altLang="da-DK" sz="1200" kern="0" dirty="0">
                <a:solidFill>
                  <a:srgbClr val="0000FF"/>
                </a:solidFill>
                <a:ea typeface="ＭＳ Ｐゴシック" pitchFamily="34" charset="-128"/>
              </a:rPr>
              <a:t>Use some hours to study it</a:t>
            </a:r>
          </a:p>
          <a:p>
            <a:pPr marL="179388" indent="-179388" algn="l" eaLnBrk="1" hangingPunct="1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altLang="da-DK" sz="1200" kern="0" dirty="0">
                <a:solidFill>
                  <a:srgbClr val="0000FF"/>
                </a:solidFill>
                <a:ea typeface="ＭＳ Ｐゴシック" pitchFamily="34" charset="-128"/>
              </a:rPr>
              <a:t>Alone or together with your bachelor group</a:t>
            </a:r>
            <a:endParaRPr lang="en-GB" altLang="da-DK" sz="1200" kern="0" dirty="0">
              <a:solidFill>
                <a:srgbClr val="0000FF"/>
              </a:solidFill>
            </a:endParaRPr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6674452" y="3968540"/>
            <a:ext cx="2369216" cy="504056"/>
          </a:xfrm>
          <a:prstGeom prst="rect">
            <a:avLst/>
          </a:prstGeom>
          <a:solidFill>
            <a:srgbClr val="DDF2FF"/>
          </a:solidFill>
          <a:ln w="28575">
            <a:solidFill>
              <a:srgbClr val="0000FF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 b="1">
                <a:solidFill>
                  <a:srgbClr val="A50021"/>
                </a:solidFill>
                <a:latin typeface="+mn-lt"/>
                <a:ea typeface="ＭＳ Ｐゴシック" pitchFamily="-107" charset="-128"/>
                <a:cs typeface="ＭＳ Ｐゴシック" pitchFamily="-107" charset="-128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rgbClr val="000066"/>
                </a:solidFill>
                <a:latin typeface="+mn-lt"/>
                <a:ea typeface="ＭＳ Ｐゴシック" charset="-128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l" eaLnBrk="1" hangingPunct="1">
              <a:spcBef>
                <a:spcPts val="1500"/>
              </a:spcBef>
            </a:pPr>
            <a:r>
              <a:rPr lang="en-GB" altLang="da-DK" sz="1200" kern="0" dirty="0">
                <a:solidFill>
                  <a:srgbClr val="0000FF"/>
                </a:solidFill>
              </a:rPr>
              <a:t>There is also a set of advice to cope with nervousness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F9CAFD-F734-A62B-044A-C1CFCD236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2203646"/>
            <a:ext cx="6220786" cy="4393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1053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352159" cy="609600"/>
          </a:xfrm>
        </p:spPr>
        <p:txBody>
          <a:bodyPr/>
          <a:lstStyle/>
          <a:p>
            <a:pPr eaLnBrk="1" hangingPunct="1"/>
            <a:r>
              <a:rPr lang="en-GB" altLang="da-DK" sz="3200" dirty="0">
                <a:ea typeface="ＭＳ Ｐゴシック" pitchFamily="34" charset="-128"/>
              </a:rPr>
              <a:t>That's all for now…                 … questions</a:t>
            </a:r>
          </a:p>
        </p:txBody>
      </p:sp>
      <p:pic>
        <p:nvPicPr>
          <p:cNvPr id="16" name="Picture 2" descr="j0404263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1916831"/>
            <a:ext cx="4213225" cy="3589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8532440" y="6400800"/>
            <a:ext cx="611560" cy="457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CA5836E-6711-417F-AF48-31ACC3CF4030}" type="slidenum">
              <a:rPr lang="da-DK" altLang="da-DK" smtClean="0"/>
              <a:pPr>
                <a:defRPr/>
              </a:pPr>
              <a:t>39</a:t>
            </a:fld>
            <a:endParaRPr lang="da-DK" altLang="da-DK" dirty="0"/>
          </a:p>
        </p:txBody>
      </p:sp>
    </p:spTree>
    <p:extLst>
      <p:ext uri="{BB962C8B-B14F-4D97-AF65-F5344CB8AC3E}">
        <p14:creationId xmlns:p14="http://schemas.microsoft.com/office/powerpoint/2010/main" val="187249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tandarddesign">
  <a:themeElements>
    <a:clrScheme name="Standard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andarddesig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000066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a-DK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rgbClr val="000066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a-DK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6836BC33D1E5846BD77C269C61838DB" ma:contentTypeVersion="16" ma:contentTypeDescription="Opret et nyt dokument." ma:contentTypeScope="" ma:versionID="ef3cc48880d2d4424b772cc9d47831bb">
  <xsd:schema xmlns:xsd="http://www.w3.org/2001/XMLSchema" xmlns:xs="http://www.w3.org/2001/XMLSchema" xmlns:p="http://schemas.microsoft.com/office/2006/metadata/properties" xmlns:ns3="f659a008-7c21-4ee3-a745-e38581e13101" xmlns:ns4="e064323b-8959-406a-a3e9-bb6e93638192" targetNamespace="http://schemas.microsoft.com/office/2006/metadata/properties" ma:root="true" ma:fieldsID="f385e854457ff68500d83ba1a633310b" ns3:_="" ns4:_="">
    <xsd:import namespace="f659a008-7c21-4ee3-a745-e38581e13101"/>
    <xsd:import namespace="e064323b-8959-406a-a3e9-bb6e9363819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_activity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ServiceLocation" minOccurs="0"/>
                <xsd:element ref="ns3:MediaServiceOCR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59a008-7c21-4ee3-a745-e38581e131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64323b-8959-406a-a3e9-bb6e9363819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værdi for deling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659a008-7c21-4ee3-a745-e38581e13101" xsi:nil="true"/>
  </documentManagement>
</p:properties>
</file>

<file path=customXml/itemProps1.xml><?xml version="1.0" encoding="utf-8"?>
<ds:datastoreItem xmlns:ds="http://schemas.openxmlformats.org/officeDocument/2006/customXml" ds:itemID="{73F803D8-DCD2-439F-B2B9-D122825BBA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59a008-7c21-4ee3-a745-e38581e13101"/>
    <ds:schemaRef ds:uri="e064323b-8959-406a-a3e9-bb6e9363819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E050818-9E00-44C7-ADA1-EFA4D28596B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73205BE-4669-4DBD-BF41-CFF855E66738}">
  <ds:schemaRefs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elements/1.1/"/>
    <ds:schemaRef ds:uri="http://purl.org/dc/dcmitype/"/>
    <ds:schemaRef ds:uri="http://purl.org/dc/terms/"/>
    <ds:schemaRef ds:uri="http://schemas.openxmlformats.org/package/2006/metadata/core-properties"/>
    <ds:schemaRef ds:uri="e064323b-8959-406a-a3e9-bb6e93638192"/>
    <ds:schemaRef ds:uri="f659a008-7c21-4ee3-a745-e38581e13101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10165</TotalTime>
  <Words>5949</Words>
  <Application>Microsoft Office PowerPoint</Application>
  <PresentationFormat>On-screen Show (4:3)</PresentationFormat>
  <Paragraphs>661</Paragraphs>
  <Slides>39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ＭＳ Ｐゴシック</vt:lpstr>
      <vt:lpstr>Arial</vt:lpstr>
      <vt:lpstr>Times New Roman</vt:lpstr>
      <vt:lpstr>Wingdings</vt:lpstr>
      <vt:lpstr>Standarddesign</vt:lpstr>
      <vt:lpstr>PowerPoint Presentation</vt:lpstr>
      <vt:lpstr>PowerPoint Presentation</vt:lpstr>
      <vt:lpstr>Formal requirements for the bachelor report</vt:lpstr>
      <vt:lpstr>The bachelor report is extremely important</vt:lpstr>
      <vt:lpstr>You need to write things down</vt:lpstr>
      <vt:lpstr>Finishing your report</vt:lpstr>
      <vt:lpstr>Typical table of contents</vt:lpstr>
      <vt:lpstr>Bloom's taxonomy for læringsmål</vt:lpstr>
      <vt:lpstr>Academic paper "reverses" the taxonomy</vt:lpstr>
      <vt:lpstr>Front page</vt:lpstr>
      <vt:lpstr>Title for the bachelor project</vt:lpstr>
      <vt:lpstr>The initial part of your report contains</vt:lpstr>
      <vt:lpstr>The central part of your report contains</vt:lpstr>
      <vt:lpstr>The final part of your report contains</vt:lpstr>
      <vt:lpstr>References</vt:lpstr>
      <vt:lpstr>Your contributions must be clear</vt:lpstr>
      <vt:lpstr>Language and grammar</vt:lpstr>
      <vt:lpstr>Language and grammar (continued)</vt:lpstr>
      <vt:lpstr>Make tables and graphs as clear as possible</vt:lpstr>
      <vt:lpstr>Proof reading</vt:lpstr>
      <vt:lpstr>Proof reading (continued)</vt:lpstr>
      <vt:lpstr>Bachelor report    Learning goals</vt:lpstr>
      <vt:lpstr>Writing process</vt:lpstr>
      <vt:lpstr>Use of comments and critique</vt:lpstr>
      <vt:lpstr>Example</vt:lpstr>
      <vt:lpstr>When you are stuck</vt:lpstr>
      <vt:lpstr>Things to do and not to do</vt:lpstr>
      <vt:lpstr>Summary: Important pieces of advice</vt:lpstr>
      <vt:lpstr>PowerPoint Presentation</vt:lpstr>
      <vt:lpstr>Formal requirements for the oral presentation</vt:lpstr>
      <vt:lpstr>Contents and duration</vt:lpstr>
      <vt:lpstr>General advice</vt:lpstr>
      <vt:lpstr>Contents of your slides</vt:lpstr>
      <vt:lpstr>Use of other media</vt:lpstr>
      <vt:lpstr>You need a lot of practise</vt:lpstr>
      <vt:lpstr>More advice…</vt:lpstr>
      <vt:lpstr>More advice… (continued)</vt:lpstr>
      <vt:lpstr>AU Studypedia (studypedia.au.dk)</vt:lpstr>
      <vt:lpstr>That's all for now…                 … questions</vt:lpstr>
    </vt:vector>
  </TitlesOfParts>
  <Company>DAIMI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Programmering  – fra instruktion til modellering</dc:title>
  <dc:creator>Michael E. Caspersen</dc:creator>
  <cp:lastModifiedBy>Kurt Jensen</cp:lastModifiedBy>
  <cp:revision>957</cp:revision>
  <cp:lastPrinted>2017-08-15T08:16:54Z</cp:lastPrinted>
  <dcterms:created xsi:type="dcterms:W3CDTF">2000-02-22T02:31:40Z</dcterms:created>
  <dcterms:modified xsi:type="dcterms:W3CDTF">2026-02-09T16:49:54Z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0x01010056836BC33D1E5846BD77C269C61838DB</vt:lpwstr>
  </property>
</Properties>
</file>