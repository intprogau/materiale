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75" r:id="rId5"/>
    <p:sldId id="410" r:id="rId6"/>
    <p:sldId id="412" r:id="rId7"/>
    <p:sldId id="411" r:id="rId8"/>
    <p:sldId id="413" r:id="rId9"/>
    <p:sldId id="414" r:id="rId10"/>
    <p:sldId id="415" r:id="rId11"/>
    <p:sldId id="416" r:id="rId12"/>
    <p:sldId id="417" r:id="rId13"/>
    <p:sldId id="418" r:id="rId14"/>
    <p:sldId id="419" r:id="rId15"/>
    <p:sldId id="421" r:id="rId16"/>
    <p:sldId id="422" r:id="rId17"/>
    <p:sldId id="423" r:id="rId18"/>
    <p:sldId id="424" r:id="rId19"/>
    <p:sldId id="427" r:id="rId20"/>
    <p:sldId id="334" r:id="rId21"/>
  </p:sldIdLst>
  <p:sldSz cx="9144000" cy="6858000" type="screen4x3"/>
  <p:notesSz cx="7099300" cy="10234613"/>
  <p:defaultTextStyle>
    <a:defPPr>
      <a:defRPr lang="da-DK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DAA713F-5F37-409B-BE0B-0BDA6802FF5C}">
          <p14:sldIdLst>
            <p14:sldId id="375"/>
            <p14:sldId id="410"/>
            <p14:sldId id="412"/>
            <p14:sldId id="411"/>
            <p14:sldId id="413"/>
            <p14:sldId id="414"/>
            <p14:sldId id="415"/>
            <p14:sldId id="416"/>
            <p14:sldId id="417"/>
            <p14:sldId id="418"/>
            <p14:sldId id="419"/>
            <p14:sldId id="421"/>
            <p14:sldId id="422"/>
            <p14:sldId id="423"/>
            <p14:sldId id="424"/>
            <p14:sldId id="427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0066"/>
    <a:srgbClr val="0000CC"/>
    <a:srgbClr val="A50021"/>
    <a:srgbClr val="CCECFF"/>
    <a:srgbClr val="FFFFCC"/>
    <a:srgbClr val="5F5F5F"/>
    <a:srgbClr val="92D050"/>
    <a:srgbClr val="CCFFCC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E9D820-9ABB-4B01-A144-7A433AAFDC99}" v="136" dt="2026-02-23T08:59:48.8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4" autoAdjust="0"/>
    <p:restoredTop sz="94726" autoAdjust="0"/>
  </p:normalViewPr>
  <p:slideViewPr>
    <p:cSldViewPr>
      <p:cViewPr varScale="1">
        <p:scale>
          <a:sx n="106" d="100"/>
          <a:sy n="106" d="100"/>
        </p:scale>
        <p:origin x="126" y="4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72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11832"/>
    </p:cViewPr>
  </p:sorterViewPr>
  <p:notesViewPr>
    <p:cSldViewPr>
      <p:cViewPr varScale="1">
        <p:scale>
          <a:sx n="88" d="100"/>
          <a:sy n="88" d="100"/>
        </p:scale>
        <p:origin x="-2220" y="-102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rt Jensen" userId="536d7847-4321-45c6-997a-4b9f60543789" providerId="ADAL" clId="{E17C5AF6-11E3-421A-B6F2-416B0C981305}"/>
    <pc:docChg chg="custSel modSld">
      <pc:chgData name="Kurt Jensen" userId="536d7847-4321-45c6-997a-4b9f60543789" providerId="ADAL" clId="{E17C5AF6-11E3-421A-B6F2-416B0C981305}" dt="2026-02-23T09:04:46.887" v="181" actId="20577"/>
      <pc:docMkLst>
        <pc:docMk/>
      </pc:docMkLst>
      <pc:sldChg chg="addSp delSp modSp mod delAnim modAnim">
        <pc:chgData name="Kurt Jensen" userId="536d7847-4321-45c6-997a-4b9f60543789" providerId="ADAL" clId="{E17C5AF6-11E3-421A-B6F2-416B0C981305}" dt="2026-02-23T08:48:51.381" v="145" actId="478"/>
        <pc:sldMkLst>
          <pc:docMk/>
          <pc:sldMk cId="2043574319" sldId="418"/>
        </pc:sldMkLst>
        <pc:spChg chg="add del mod">
          <ac:chgData name="Kurt Jensen" userId="536d7847-4321-45c6-997a-4b9f60543789" providerId="ADAL" clId="{E17C5AF6-11E3-421A-B6F2-416B0C981305}" dt="2026-02-23T08:45:29.848" v="102" actId="21"/>
          <ac:spMkLst>
            <pc:docMk/>
            <pc:sldMk cId="2043574319" sldId="418"/>
            <ac:spMk id="2" creationId="{90A5A055-632B-8230-9D80-BCC0FC740F86}"/>
          </ac:spMkLst>
        </pc:spChg>
        <pc:spChg chg="add mod">
          <ac:chgData name="Kurt Jensen" userId="536d7847-4321-45c6-997a-4b9f60543789" providerId="ADAL" clId="{E17C5AF6-11E3-421A-B6F2-416B0C981305}" dt="2026-02-23T08:48:42.524" v="144" actId="164"/>
          <ac:spMkLst>
            <pc:docMk/>
            <pc:sldMk cId="2043574319" sldId="418"/>
            <ac:spMk id="7" creationId="{AA2BFF6C-0B08-5204-551C-E2B4B0BD9F89}"/>
          </ac:spMkLst>
        </pc:spChg>
        <pc:grpChg chg="del mod">
          <ac:chgData name="Kurt Jensen" userId="536d7847-4321-45c6-997a-4b9f60543789" providerId="ADAL" clId="{E17C5AF6-11E3-421A-B6F2-416B0C981305}" dt="2026-02-23T08:48:51.381" v="145" actId="478"/>
          <ac:grpSpMkLst>
            <pc:docMk/>
            <pc:sldMk cId="2043574319" sldId="418"/>
            <ac:grpSpMk id="5" creationId="{00000000-0000-0000-0000-000000000000}"/>
          </ac:grpSpMkLst>
        </pc:grpChg>
        <pc:grpChg chg="add mod">
          <ac:chgData name="Kurt Jensen" userId="536d7847-4321-45c6-997a-4b9f60543789" providerId="ADAL" clId="{E17C5AF6-11E3-421A-B6F2-416B0C981305}" dt="2026-02-23T08:48:42.524" v="144" actId="164"/>
          <ac:grpSpMkLst>
            <pc:docMk/>
            <pc:sldMk cId="2043574319" sldId="418"/>
            <ac:grpSpMk id="10" creationId="{EB854845-D9E5-4B26-80CD-6E1006B4D500}"/>
          </ac:grpSpMkLst>
        </pc:grpChg>
        <pc:picChg chg="add mod">
          <ac:chgData name="Kurt Jensen" userId="536d7847-4321-45c6-997a-4b9f60543789" providerId="ADAL" clId="{E17C5AF6-11E3-421A-B6F2-416B0C981305}" dt="2026-02-23T08:48:42.524" v="144" actId="164"/>
          <ac:picMkLst>
            <pc:docMk/>
            <pc:sldMk cId="2043574319" sldId="418"/>
            <ac:picMk id="6" creationId="{B17E91E7-7A62-2B08-BD0B-2861E8649DCA}"/>
          </ac:picMkLst>
        </pc:picChg>
      </pc:sldChg>
      <pc:sldChg chg="addSp modSp mod modAnim">
        <pc:chgData name="Kurt Jensen" userId="536d7847-4321-45c6-997a-4b9f60543789" providerId="ADAL" clId="{E17C5AF6-11E3-421A-B6F2-416B0C981305}" dt="2026-02-23T08:54:23.137" v="146"/>
        <pc:sldMkLst>
          <pc:docMk/>
          <pc:sldMk cId="1646603906" sldId="419"/>
        </pc:sldMkLst>
        <pc:spChg chg="add mod">
          <ac:chgData name="Kurt Jensen" userId="536d7847-4321-45c6-997a-4b9f60543789" providerId="ADAL" clId="{E17C5AF6-11E3-421A-B6F2-416B0C981305}" dt="2026-02-23T08:46:14.139" v="131" actId="1076"/>
          <ac:spMkLst>
            <pc:docMk/>
            <pc:sldMk cId="1646603906" sldId="419"/>
            <ac:spMk id="2" creationId="{90A5A055-632B-8230-9D80-BCC0FC740F86}"/>
          </ac:spMkLst>
        </pc:spChg>
      </pc:sldChg>
      <pc:sldChg chg="modSp">
        <pc:chgData name="Kurt Jensen" userId="536d7847-4321-45c6-997a-4b9f60543789" providerId="ADAL" clId="{E17C5AF6-11E3-421A-B6F2-416B0C981305}" dt="2026-02-23T08:59:48.862" v="155" actId="20577"/>
        <pc:sldMkLst>
          <pc:docMk/>
          <pc:sldMk cId="3942165351" sldId="422"/>
        </pc:sldMkLst>
        <pc:spChg chg="mod">
          <ac:chgData name="Kurt Jensen" userId="536d7847-4321-45c6-997a-4b9f60543789" providerId="ADAL" clId="{E17C5AF6-11E3-421A-B6F2-416B0C981305}" dt="2026-02-23T08:59:48.862" v="155" actId="20577"/>
          <ac:spMkLst>
            <pc:docMk/>
            <pc:sldMk cId="3942165351" sldId="422"/>
            <ac:spMk id="7" creationId="{00000000-0000-0000-0000-000000000000}"/>
          </ac:spMkLst>
        </pc:spChg>
        <pc:spChg chg="mod">
          <ac:chgData name="Kurt Jensen" userId="536d7847-4321-45c6-997a-4b9f60543789" providerId="ADAL" clId="{E17C5AF6-11E3-421A-B6F2-416B0C981305}" dt="2026-02-23T08:59:25.967" v="150" actId="20577"/>
          <ac:spMkLst>
            <pc:docMk/>
            <pc:sldMk cId="3942165351" sldId="422"/>
            <ac:spMk id="16" creationId="{00000000-0000-0000-0000-000000000000}"/>
          </ac:spMkLst>
        </pc:spChg>
      </pc:sldChg>
      <pc:sldChg chg="modSp mod">
        <pc:chgData name="Kurt Jensen" userId="536d7847-4321-45c6-997a-4b9f60543789" providerId="ADAL" clId="{E17C5AF6-11E3-421A-B6F2-416B0C981305}" dt="2026-02-23T09:04:46.887" v="181" actId="20577"/>
        <pc:sldMkLst>
          <pc:docMk/>
          <pc:sldMk cId="2145356653" sldId="423"/>
        </pc:sldMkLst>
        <pc:spChg chg="mod">
          <ac:chgData name="Kurt Jensen" userId="536d7847-4321-45c6-997a-4b9f60543789" providerId="ADAL" clId="{E17C5AF6-11E3-421A-B6F2-416B0C981305}" dt="2026-02-23T09:04:46.887" v="181" actId="20577"/>
          <ac:spMkLst>
            <pc:docMk/>
            <pc:sldMk cId="2145356653" sldId="423"/>
            <ac:spMk id="6" creationId="{00000000-0000-0000-0000-000000000000}"/>
          </ac:spMkLst>
        </pc:spChg>
      </pc:sldChg>
      <pc:sldChg chg="modSp mod">
        <pc:chgData name="Kurt Jensen" userId="536d7847-4321-45c6-997a-4b9f60543789" providerId="ADAL" clId="{E17C5AF6-11E3-421A-B6F2-416B0C981305}" dt="2026-02-23T09:03:05.059" v="170" actId="20577"/>
        <pc:sldMkLst>
          <pc:docMk/>
          <pc:sldMk cId="1649557563" sldId="424"/>
        </pc:sldMkLst>
        <pc:spChg chg="mod">
          <ac:chgData name="Kurt Jensen" userId="536d7847-4321-45c6-997a-4b9f60543789" providerId="ADAL" clId="{E17C5AF6-11E3-421A-B6F2-416B0C981305}" dt="2026-02-23T09:03:05.059" v="170" actId="20577"/>
          <ac:spMkLst>
            <pc:docMk/>
            <pc:sldMk cId="1649557563" sldId="424"/>
            <ac:spMk id="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77085" cy="51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t" anchorCtr="0" compatLnSpc="1">
            <a:prstTxWarp prst="textNoShape">
              <a:avLst/>
            </a:prstTxWarp>
          </a:bodyPr>
          <a:lstStyle>
            <a:lvl1pPr defTabSz="990528">
              <a:defRPr sz="13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0548" y="0"/>
            <a:ext cx="3077085" cy="51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t" anchorCtr="0" compatLnSpc="1">
            <a:prstTxWarp prst="textNoShape">
              <a:avLst/>
            </a:prstTxWarp>
          </a:bodyPr>
          <a:lstStyle>
            <a:lvl1pPr algn="r" defTabSz="990528">
              <a:defRPr sz="13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1494"/>
            <a:ext cx="3077085" cy="511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b" anchorCtr="0" compatLnSpc="1">
            <a:prstTxWarp prst="textNoShape">
              <a:avLst/>
            </a:prstTxWarp>
          </a:bodyPr>
          <a:lstStyle>
            <a:lvl1pPr defTabSz="990528">
              <a:defRPr sz="13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0548" y="9721494"/>
            <a:ext cx="3077085" cy="511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b" anchorCtr="0" compatLnSpc="1">
            <a:prstTxWarp prst="textNoShape">
              <a:avLst/>
            </a:prstTxWarp>
          </a:bodyPr>
          <a:lstStyle>
            <a:lvl1pPr algn="r" defTabSz="990528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39B72E09-9C15-4F53-91FA-378928BEE7AC}" type="slidenum">
              <a:rPr lang="da-DK" altLang="da-DK"/>
              <a:pPr>
                <a:defRPr/>
              </a:pPr>
              <a:t>‹#›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9017496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77085" cy="51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t" anchorCtr="0" compatLnSpc="1">
            <a:prstTxWarp prst="textNoShape">
              <a:avLst/>
            </a:prstTxWarp>
          </a:bodyPr>
          <a:lstStyle>
            <a:lvl1pPr defTabSz="990528">
              <a:defRPr sz="1300" b="1">
                <a:solidFill>
                  <a:srgbClr val="CC0000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215" y="0"/>
            <a:ext cx="3077085" cy="51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t" anchorCtr="0" compatLnSpc="1">
            <a:prstTxWarp prst="textNoShape">
              <a:avLst/>
            </a:prstTxWarp>
          </a:bodyPr>
          <a:lstStyle>
            <a:lvl1pPr algn="r" defTabSz="990528">
              <a:defRPr sz="1300" b="1">
                <a:solidFill>
                  <a:srgbClr val="CC0000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796" y="4861564"/>
            <a:ext cx="5205709" cy="4605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3127"/>
            <a:ext cx="3077085" cy="51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b" anchorCtr="0" compatLnSpc="1">
            <a:prstTxWarp prst="textNoShape">
              <a:avLst/>
            </a:prstTxWarp>
          </a:bodyPr>
          <a:lstStyle>
            <a:lvl1pPr defTabSz="990528">
              <a:defRPr sz="1300" b="1">
                <a:solidFill>
                  <a:srgbClr val="CC0000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215" y="9723127"/>
            <a:ext cx="3077085" cy="51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b" anchorCtr="0" compatLnSpc="1">
            <a:prstTxWarp prst="textNoShape">
              <a:avLst/>
            </a:prstTxWarp>
          </a:bodyPr>
          <a:lstStyle>
            <a:lvl1pPr algn="r" defTabSz="990528">
              <a:defRPr sz="1300" b="1">
                <a:solidFill>
                  <a:srgbClr val="CC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E392DC24-3004-4372-BE92-7F24D50BA456}" type="slidenum">
              <a:rPr lang="da-DK" altLang="da-DK"/>
              <a:pPr>
                <a:defRPr/>
              </a:pPr>
              <a:t>‹#›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71282625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897" indent="-285730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2918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085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252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419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585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8752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5919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392CB419-FA32-4238-A473-EBED58FF00DE}" type="slidenum">
              <a:rPr lang="da-DK" altLang="da-DK" sz="1300">
                <a:solidFill>
                  <a:srgbClr val="CC0000"/>
                </a:solidFill>
              </a:rPr>
              <a:pPr eaLnBrk="1" hangingPunct="1">
                <a:spcBef>
                  <a:spcPct val="0"/>
                </a:spcBef>
              </a:pPr>
              <a:t>1</a:t>
            </a:fld>
            <a:endParaRPr lang="da-DK" altLang="da-DK" sz="1300">
              <a:solidFill>
                <a:srgbClr val="CC0000"/>
              </a:solidFill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 dirty="0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52312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2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965696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3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422908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4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447703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5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4183287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6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3327334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7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3192783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8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1990276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9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749053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10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975163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11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8161609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12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31867076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13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38650480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14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110653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15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5072296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897" indent="-285730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2918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085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252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419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585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8752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5919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0A7C83F2-97F6-4FF2-A03C-029400408B2C}" type="slidenum">
              <a:rPr lang="da-DK" altLang="da-DK" sz="1300">
                <a:solidFill>
                  <a:srgbClr val="CC0000"/>
                </a:solidFill>
              </a:rPr>
              <a:pPr eaLnBrk="1" hangingPunct="1">
                <a:spcBef>
                  <a:spcPct val="0"/>
                </a:spcBef>
              </a:pPr>
              <a:t>17</a:t>
            </a:fld>
            <a:endParaRPr lang="da-DK" altLang="da-DK" sz="1300">
              <a:solidFill>
                <a:srgbClr val="CC0000"/>
              </a:solidFill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7084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a-DK"/>
              <a:t>Click to edit Master subtitle style</a:t>
            </a: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  <a:ln/>
        </p:spPr>
        <p:txBody>
          <a:bodyPr/>
          <a:lstStyle>
            <a:lvl1pPr algn="l">
              <a:defRPr sz="1800" b="1">
                <a:solidFill>
                  <a:srgbClr val="003399"/>
                </a:solidFill>
                <a:latin typeface="+mn-lt"/>
              </a:defRPr>
            </a:lvl1pPr>
          </a:lstStyle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‹#›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2519836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460432" y="6400800"/>
            <a:ext cx="683568" cy="457200"/>
          </a:xfrm>
          <a:prstGeom prst="rect">
            <a:avLst/>
          </a:prstGeom>
          <a:ln>
            <a:noFill/>
          </a:ln>
        </p:spPr>
        <p:txBody>
          <a:bodyPr/>
          <a:lstStyle>
            <a:lvl1pPr algn="ctr">
              <a:defRPr sz="1800" b="1">
                <a:solidFill>
                  <a:srgbClr val="003399"/>
                </a:solidFill>
                <a:latin typeface="+mn-lt"/>
              </a:defRPr>
            </a:lvl1pPr>
          </a:lstStyle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‹#›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3094675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3" y="1052513"/>
            <a:ext cx="4027487" cy="51958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27488" cy="51958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Click to edit Master text styles</a:t>
            </a:r>
          </a:p>
          <a:p>
            <a:pPr lvl="1"/>
            <a:r>
              <a:rPr lang="da-DK"/>
              <a:t>Second level</a:t>
            </a:r>
          </a:p>
          <a:p>
            <a:pPr lvl="2"/>
            <a:r>
              <a:rPr lang="da-DK"/>
              <a:t>Third level</a:t>
            </a:r>
          </a:p>
          <a:p>
            <a:pPr lvl="3"/>
            <a:r>
              <a:rPr lang="da-DK"/>
              <a:t>Fourth level</a:t>
            </a:r>
          </a:p>
          <a:p>
            <a:pPr lvl="4"/>
            <a:r>
              <a:rPr lang="da-DK"/>
              <a:t>Fifth level</a:t>
            </a: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532440" y="6400800"/>
            <a:ext cx="611560" cy="457200"/>
          </a:xfrm>
          <a:ln/>
        </p:spPr>
        <p:txBody>
          <a:bodyPr/>
          <a:lstStyle>
            <a:lvl1pPr algn="l">
              <a:defRPr sz="1800" b="1">
                <a:solidFill>
                  <a:srgbClr val="003399"/>
                </a:solidFill>
                <a:latin typeface="+mn-lt"/>
              </a:defRPr>
            </a:lvl1pPr>
          </a:lstStyle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‹#›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204871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Click to edit Master title style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532440" y="6400800"/>
            <a:ext cx="611560" cy="457200"/>
          </a:xfrm>
          <a:ln/>
        </p:spPr>
        <p:txBody>
          <a:bodyPr/>
          <a:lstStyle>
            <a:lvl1pPr algn="l">
              <a:defRPr sz="1800" b="1">
                <a:solidFill>
                  <a:srgbClr val="003399"/>
                </a:solidFill>
                <a:latin typeface="+mn-lt"/>
              </a:defRPr>
            </a:lvl1pPr>
          </a:lstStyle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‹#›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4260232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333375"/>
            <a:ext cx="82073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a-DK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052513"/>
            <a:ext cx="8207375" cy="519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1033" name="Line 9"/>
          <p:cNvSpPr>
            <a:spLocks noChangeShapeType="1"/>
          </p:cNvSpPr>
          <p:nvPr userDrawn="1"/>
        </p:nvSpPr>
        <p:spPr bwMode="auto">
          <a:xfrm flipV="1">
            <a:off x="468313" y="981075"/>
            <a:ext cx="8207375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ea typeface="ＭＳ Ｐゴシック" charset="0"/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  <a:ln/>
        </p:spPr>
        <p:txBody>
          <a:bodyPr/>
          <a:lstStyle>
            <a:lvl1pPr algn="l">
              <a:defRPr sz="1800" b="1">
                <a:solidFill>
                  <a:srgbClr val="003399"/>
                </a:solidFill>
                <a:latin typeface="+mn-lt"/>
              </a:defRPr>
            </a:lvl1pPr>
          </a:lstStyle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‹#›</a:t>
            </a:fld>
            <a:endParaRPr lang="da-DK" altLang="da-D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A5002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0066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rgbClr val="000066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Times New Roman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Times New Roman" charset="0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Times New Roman" charset="0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Times New Roman" charset="0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Times New Roman" charset="0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Times New Roman" charset="0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blp.uni-trier.de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ink.springer.com/chapter/10.1007/3-540-45735-6_1" TargetMode="External"/><Relationship Id="rId4" Type="http://schemas.openxmlformats.org/officeDocument/2006/relationships/hyperlink" Target="https://en.wikipedia.org/wiki/DBLP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manticscholar.org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ncbi.nlm.nih.gov/pmc/articles/PMC5764585/" TargetMode="External"/><Relationship Id="rId4" Type="http://schemas.openxmlformats.org/officeDocument/2006/relationships/hyperlink" Target="https://en.wikipedia.org/wiki/Semantic_Scholar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brary.au.dk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library.au.dk/en/subject-areas/electrical-and-computer-engineering/" TargetMode="External"/><Relationship Id="rId4" Type="http://schemas.openxmlformats.org/officeDocument/2006/relationships/hyperlink" Target="http://library.au.dk/en/students/information-seeking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755576" y="1196752"/>
            <a:ext cx="8064896" cy="53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400" b="1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eaLnBrk="0" hangingPunct="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itchFamily="34" charset="0"/>
                <a:ea typeface="ＭＳ Ｐゴシック" pitchFamily="34" charset="-128"/>
              </a:defRPr>
            </a:lvl2pPr>
            <a:lvl3pPr eaLnBrk="0" hangingPunct="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eaLnBrk="0" hangingPunct="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eaLnBrk="0" hangingPunct="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marL="271463" lvl="1" indent="-271463">
              <a:spcBef>
                <a:spcPts val="1200"/>
              </a:spcBef>
              <a:buChar char="•"/>
            </a:pPr>
            <a:r>
              <a:rPr lang="en-US" altLang="da-DK" sz="1800" b="1" dirty="0">
                <a:solidFill>
                  <a:srgbClr val="A50021"/>
                </a:solidFill>
              </a:rPr>
              <a:t>Publication channels</a:t>
            </a:r>
          </a:p>
          <a:p>
            <a:pPr marL="728663" lvl="1" indent="-271463">
              <a:spcBef>
                <a:spcPts val="200"/>
              </a:spcBef>
            </a:pPr>
            <a:r>
              <a:rPr lang="en-US" altLang="da-DK" sz="1600" dirty="0"/>
              <a:t>Journals, conferences, workshops, etc.</a:t>
            </a:r>
          </a:p>
          <a:p>
            <a:pPr marL="728663" lvl="1" indent="-271463">
              <a:spcBef>
                <a:spcPts val="200"/>
              </a:spcBef>
            </a:pPr>
            <a:r>
              <a:rPr lang="en-US" altLang="da-DK" sz="1600" dirty="0"/>
              <a:t>Peer-reviewing</a:t>
            </a:r>
          </a:p>
          <a:p>
            <a:pPr marL="271463" lvl="1" indent="-271463">
              <a:spcBef>
                <a:spcPts val="800"/>
              </a:spcBef>
              <a:buChar char="•"/>
            </a:pPr>
            <a:r>
              <a:rPr lang="en-US" altLang="da-DK" sz="1800" b="1" dirty="0">
                <a:solidFill>
                  <a:srgbClr val="A50021"/>
                </a:solidFill>
              </a:rPr>
              <a:t>Bibliographic measures</a:t>
            </a:r>
          </a:p>
          <a:p>
            <a:pPr marL="728663" lvl="1" indent="-271463">
              <a:spcBef>
                <a:spcPts val="200"/>
              </a:spcBef>
            </a:pPr>
            <a:r>
              <a:rPr lang="en-US" altLang="da-DK" sz="1600" dirty="0"/>
              <a:t>Citations, H-index and I-index</a:t>
            </a:r>
            <a:endParaRPr lang="en-US" altLang="da-DK" sz="1600" dirty="0">
              <a:latin typeface="+mn-lt"/>
              <a:ea typeface="+mn-ea"/>
            </a:endParaRPr>
          </a:p>
          <a:p>
            <a:pPr marL="271463" lvl="1" indent="-271463">
              <a:spcBef>
                <a:spcPts val="800"/>
              </a:spcBef>
              <a:buChar char="•"/>
            </a:pPr>
            <a:r>
              <a:rPr lang="en-US" altLang="da-DK" sz="1800" b="1" dirty="0">
                <a:solidFill>
                  <a:srgbClr val="A50021"/>
                </a:solidFill>
              </a:rPr>
              <a:t>Publication data bases</a:t>
            </a:r>
          </a:p>
          <a:p>
            <a:pPr marL="728663" lvl="1" indent="-271463">
              <a:spcBef>
                <a:spcPts val="200"/>
              </a:spcBef>
            </a:pPr>
            <a:r>
              <a:rPr lang="en-US" altLang="da-DK" sz="1600" dirty="0">
                <a:latin typeface="+mn-lt"/>
                <a:ea typeface="+mn-ea"/>
              </a:rPr>
              <a:t>Google Scholar</a:t>
            </a:r>
          </a:p>
          <a:p>
            <a:pPr marL="728663" lvl="1" indent="-271463">
              <a:spcBef>
                <a:spcPts val="200"/>
              </a:spcBef>
            </a:pPr>
            <a:r>
              <a:rPr lang="en-US" altLang="da-DK" sz="1600" dirty="0">
                <a:latin typeface="+mn-lt"/>
                <a:ea typeface="+mn-ea"/>
              </a:rPr>
              <a:t>DBPL computer science bibliography</a:t>
            </a:r>
          </a:p>
          <a:p>
            <a:pPr marL="728663" lvl="1" indent="-271463">
              <a:spcBef>
                <a:spcPts val="200"/>
              </a:spcBef>
            </a:pPr>
            <a:r>
              <a:rPr lang="en-US" altLang="da-DK" sz="1600" dirty="0">
                <a:latin typeface="+mn-lt"/>
                <a:ea typeface="+mn-ea"/>
              </a:rPr>
              <a:t>Semantic Scholar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</a:rPr>
              <a:t>AU Library in the Nygaard building</a:t>
            </a:r>
          </a:p>
          <a:p>
            <a:pPr marL="728663" lvl="1" indent="-271463">
              <a:spcBef>
                <a:spcPts val="200"/>
              </a:spcBef>
            </a:pPr>
            <a:r>
              <a:rPr lang="da-DK" sz="1600" dirty="0">
                <a:latin typeface="+mn-lt"/>
                <a:ea typeface="+mn-ea"/>
              </a:rPr>
              <a:t>Bibliotekar Rasmus T. Nielsen</a:t>
            </a:r>
            <a:endParaRPr lang="en-GB" altLang="da-DK" sz="1600" dirty="0">
              <a:latin typeface="+mn-lt"/>
              <a:ea typeface="+mn-ea"/>
            </a:endParaRPr>
          </a:p>
          <a:p>
            <a:pPr marL="271463" lvl="1" indent="-271463">
              <a:spcBef>
                <a:spcPts val="1200"/>
              </a:spcBef>
              <a:buChar char="•"/>
            </a:pPr>
            <a:endParaRPr lang="da-DK" altLang="da-DK" sz="1800" b="1" dirty="0">
              <a:solidFill>
                <a:srgbClr val="A50021"/>
              </a:solidFill>
            </a:endParaRPr>
          </a:p>
          <a:p>
            <a:pPr marL="271463" lvl="1" indent="-271463">
              <a:spcBef>
                <a:spcPts val="1200"/>
              </a:spcBef>
              <a:buChar char="•"/>
            </a:pPr>
            <a:endParaRPr lang="da-DK" altLang="da-DK" sz="1800" b="1" dirty="0">
              <a:solidFill>
                <a:srgbClr val="A50021"/>
              </a:solidFill>
            </a:endParaRP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</a:rPr>
              <a:t>Publication traditions vary a lot from research area to research area</a:t>
            </a:r>
          </a:p>
          <a:p>
            <a:pPr marL="728663" lvl="1" indent="-271463">
              <a:spcBef>
                <a:spcPts val="200"/>
              </a:spcBef>
            </a:pPr>
            <a:r>
              <a:rPr lang="en-GB" altLang="da-DK" sz="1600" dirty="0"/>
              <a:t>If there is a conflict between the </a:t>
            </a:r>
            <a:r>
              <a:rPr lang="en-GB" altLang="da-DK" sz="1600" b="1" dirty="0">
                <a:solidFill>
                  <a:srgbClr val="008000"/>
                </a:solidFill>
              </a:rPr>
              <a:t>general</a:t>
            </a:r>
            <a:r>
              <a:rPr lang="en-GB" altLang="da-DK" sz="1600" dirty="0"/>
              <a:t> information in this talk and the more </a:t>
            </a:r>
            <a:r>
              <a:rPr lang="en-GB" altLang="da-DK" sz="1600" b="1" spc="-40" dirty="0">
                <a:solidFill>
                  <a:srgbClr val="008000"/>
                </a:solidFill>
              </a:rPr>
              <a:t>specific</a:t>
            </a:r>
            <a:r>
              <a:rPr lang="en-GB" altLang="da-DK" sz="1600" spc="-40" dirty="0"/>
              <a:t> information given by your advisor, you should always believe your advisor</a:t>
            </a:r>
            <a:endParaRPr lang="da-DK" altLang="da-DK" sz="20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7544" y="332656"/>
            <a:ext cx="852942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ts val="1200"/>
              </a:spcBef>
            </a:pPr>
            <a:r>
              <a:rPr lang="en-GB" altLang="da-DK" sz="2800" dirty="0"/>
              <a:t>Publication traditions and literature search</a:t>
            </a:r>
          </a:p>
        </p:txBody>
      </p:sp>
    </p:spTree>
    <p:extLst>
      <p:ext uri="{BB962C8B-B14F-4D97-AF65-F5344CB8AC3E}">
        <p14:creationId xmlns:p14="http://schemas.microsoft.com/office/powerpoint/2010/main" val="3828024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568183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Publication channels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736"/>
            <a:ext cx="8424167" cy="5805264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Scientific papers can be published in different ways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b="1" dirty="0">
                <a:solidFill>
                  <a:srgbClr val="008000"/>
                </a:solidFill>
              </a:rPr>
              <a:t>Journals</a:t>
            </a:r>
            <a:r>
              <a:rPr lang="en-GB" altLang="da-DK" sz="1600" dirty="0"/>
              <a:t> are typically published 4-6 times a year (with 6-15 papers each time)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b="1" dirty="0">
                <a:solidFill>
                  <a:srgbClr val="008000"/>
                </a:solidFill>
              </a:rPr>
              <a:t>Conferences</a:t>
            </a:r>
            <a:r>
              <a:rPr lang="en-GB" altLang="da-DK" sz="1600" dirty="0"/>
              <a:t> are scientific meetings typically taking place each year (with 20-100 </a:t>
            </a:r>
            <a:r>
              <a:rPr lang="en-GB" altLang="da-DK" sz="1600" spc="-20" dirty="0"/>
              <a:t>papers each time) – there are also broad mega-conferences with hundreds of papers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b="1" dirty="0">
                <a:solidFill>
                  <a:srgbClr val="008000"/>
                </a:solidFill>
              </a:rPr>
              <a:t>Workshops</a:t>
            </a:r>
            <a:r>
              <a:rPr lang="en-GB" altLang="da-DK" sz="1600" dirty="0"/>
              <a:t> are informal scientific meetings, which typically covers an emerging area and have less strict quality demands for accepted papers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Some conferences and workshops have </a:t>
            </a:r>
            <a:r>
              <a:rPr lang="en-GB" altLang="da-DK" sz="1600" b="1" dirty="0">
                <a:solidFill>
                  <a:srgbClr val="008000"/>
                </a:solidFill>
              </a:rPr>
              <a:t>tool sessions</a:t>
            </a:r>
            <a:r>
              <a:rPr lang="en-GB" altLang="da-DK" sz="1600" dirty="0"/>
              <a:t>, where experimental computer tools are presented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Some conferences and workshops have </a:t>
            </a:r>
            <a:r>
              <a:rPr lang="en-GB" altLang="da-DK" sz="1600" b="1" dirty="0">
                <a:solidFill>
                  <a:srgbClr val="008000"/>
                </a:solidFill>
              </a:rPr>
              <a:t>poster sessions</a:t>
            </a:r>
            <a:r>
              <a:rPr lang="en-GB" altLang="da-DK" sz="1600" dirty="0"/>
              <a:t>, where the author stands in front of a large poster and explains it to anyone interested</a:t>
            </a:r>
          </a:p>
          <a:p>
            <a:pPr marL="271463" lvl="1" indent="-271463">
              <a:spcBef>
                <a:spcPts val="9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Within most sciences (</a:t>
            </a:r>
            <a:r>
              <a:rPr lang="en-GB" altLang="da-DK" sz="1800" b="1" dirty="0" err="1">
                <a:solidFill>
                  <a:srgbClr val="A50021"/>
                </a:solidFill>
                <a:cs typeface="ＭＳ Ｐゴシック" charset="0"/>
              </a:rPr>
              <a:t>naturvidenskab</a:t>
            </a: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), journals are the </a:t>
            </a:r>
            <a:r>
              <a:rPr lang="en-GB" altLang="da-DK" sz="1800" b="1" dirty="0">
                <a:solidFill>
                  <a:srgbClr val="008000"/>
                </a:solidFill>
              </a:rPr>
              <a:t>only</a:t>
            </a: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 kind of publications which counts on your CV</a:t>
            </a:r>
          </a:p>
          <a:p>
            <a:pPr marL="271463" lvl="1" indent="-271463">
              <a:spcBef>
                <a:spcPts val="9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In computer science things are </a:t>
            </a:r>
            <a:r>
              <a:rPr lang="en-GB" altLang="da-DK" sz="1800" b="1" dirty="0">
                <a:solidFill>
                  <a:srgbClr val="008000"/>
                </a:solidFill>
                <a:cs typeface="ＭＳ Ｐゴシック" charset="0"/>
              </a:rPr>
              <a:t>very</a:t>
            </a: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 different</a:t>
            </a:r>
            <a:endParaRPr lang="en-GB" altLang="da-DK" sz="1800" b="1" dirty="0">
              <a:solidFill>
                <a:srgbClr val="008000"/>
              </a:solidFill>
              <a:cs typeface="ＭＳ Ｐゴシック" charset="0"/>
            </a:endParaRP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Here it is often </a:t>
            </a:r>
            <a:r>
              <a:rPr lang="en-GB" altLang="da-DK" sz="1600" b="1" dirty="0">
                <a:solidFill>
                  <a:srgbClr val="008000"/>
                </a:solidFill>
              </a:rPr>
              <a:t>more prestigious</a:t>
            </a:r>
            <a:r>
              <a:rPr lang="en-GB" altLang="da-DK" sz="1600" dirty="0"/>
              <a:t> to publish at the best conferences than it is to publish in the best journals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Many journals publish enhanced versions of the best papers from selected conferences (otherwise you cannot publish a paper twice)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 maximal number of pages are typically larger for a journal paper than for a conference paper (hence it is possible to add more examples, all details of</a:t>
            </a:r>
            <a:br>
              <a:rPr lang="en-GB" altLang="da-DK" sz="1600" dirty="0"/>
            </a:br>
            <a:r>
              <a:rPr lang="en-GB" altLang="da-DK" sz="1600" dirty="0"/>
              <a:t>proofs, etc.)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2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2975768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424167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Peer reviewing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736"/>
            <a:ext cx="8496175" cy="5256584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spc="-30" dirty="0">
                <a:solidFill>
                  <a:srgbClr val="A50021"/>
                </a:solidFill>
                <a:cs typeface="ＭＳ Ｐゴシック" charset="0"/>
              </a:rPr>
              <a:t>All (serious) journals and conferences are </a:t>
            </a:r>
            <a:r>
              <a:rPr lang="en-GB" altLang="da-DK" sz="1800" b="1" spc="-30" dirty="0">
                <a:solidFill>
                  <a:srgbClr val="008000"/>
                </a:solidFill>
                <a:cs typeface="ＭＳ Ｐゴシック" charset="0"/>
              </a:rPr>
              <a:t>peer-reviewed </a:t>
            </a:r>
            <a:r>
              <a:rPr lang="en-GB" altLang="da-DK" sz="1800" b="1" spc="-30" dirty="0">
                <a:solidFill>
                  <a:srgbClr val="A50021"/>
                </a:solidFill>
                <a:cs typeface="ＭＳ Ｐゴシック" charset="0"/>
              </a:rPr>
              <a:t>(peer ≈ </a:t>
            </a:r>
            <a:r>
              <a:rPr lang="en-GB" altLang="da-DK" sz="1800" b="1" spc="-30" dirty="0" err="1">
                <a:solidFill>
                  <a:srgbClr val="A50021"/>
                </a:solidFill>
                <a:cs typeface="ＭＳ Ｐゴシック" charset="0"/>
              </a:rPr>
              <a:t>ligemand</a:t>
            </a:r>
            <a:r>
              <a:rPr lang="en-GB" altLang="da-DK" sz="1800" b="1" spc="-30" dirty="0">
                <a:solidFill>
                  <a:srgbClr val="A50021"/>
                </a:solidFill>
                <a:cs typeface="ＭＳ Ｐゴシック" charset="0"/>
              </a:rPr>
              <a:t>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This means that all submissions are read and evaluated by 3-5 referees (reviewers) who are experts within the area covered by the submitted paper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 referees usually make a significant number of proposals for improvements and corrections of errors (including grammatical errors)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Based on the referee reports it is decided which papers should be accepted/rejected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The best conferences and journals have acceptance rates which typically are 10-20%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Hence, it is quite difficult to get papers accepted in these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It is prestigious to act as referee for a good conference/journal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It is something you list on your CV 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It also takes a lot of your time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3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3763947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496175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Organization of conferences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736"/>
            <a:ext cx="8675687" cy="5697773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Each conference has a program committee with 20-30 PC-members headed</a:t>
            </a:r>
            <a:b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</a:b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by 1-2 PC-chairs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All PC-members are well-known researchers within the area covered by the </a:t>
            </a:r>
            <a:r>
              <a:rPr lang="en-GB" altLang="da-DK" sz="1600" spc="-60" dirty="0"/>
              <a:t>conference (typically appointed by a steering committee in cooperation with the PC-chairs)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 PC-chairs distribute the submitted papers to the PC-members, selecting </a:t>
            </a:r>
            <a:r>
              <a:rPr lang="en-GB" altLang="da-DK" sz="1600" spc="-30" dirty="0"/>
              <a:t>those they believe to be the most knowledgeable within the area of the paper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spc="-30" dirty="0"/>
              <a:t>Each paper is sent to 2-4 PC-members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PC-members may use sub-referees to help them evaluate a paper (this is often PostDocs or PhD students within the area)</a:t>
            </a:r>
          </a:p>
          <a:p>
            <a:pPr marL="271463" lvl="1" indent="-271463">
              <a:spcBef>
                <a:spcPts val="8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Based on the written referee reports PC-chairs propose whether the individual papers should be accepted, discussed or rejected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Earlier, it was typical to have a physical program committee meeting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Today, all conferences use electronic systems (special </a:t>
            </a:r>
            <a:r>
              <a:rPr lang="en-GB" altLang="da-DK" sz="1600" dirty="0" err="1"/>
              <a:t>webboards</a:t>
            </a:r>
            <a:r>
              <a:rPr lang="en-GB" altLang="da-DK" sz="1600" dirty="0"/>
              <a:t>) and virtual program meetings – where people discuss and vote over a pre-determined period</a:t>
            </a:r>
          </a:p>
          <a:p>
            <a:pPr marL="271463" lvl="1" indent="-271463">
              <a:spcBef>
                <a:spcPts val="8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The accepted papers are collected in conference proceedings (books) that are available at the conference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Authors are expected to improve their papers based on the comments in the referee report, but in practice there is seldom time to check this before the conference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spc="-50" dirty="0"/>
              <a:t>But if you don't fix serious errors, you will be in "bad standing" next time you submit a paper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spc="-50" dirty="0"/>
              <a:t>It will often be sent to the same referees, since they are the experts within your area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4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794312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424167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Organization of journals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43594"/>
            <a:ext cx="8568183" cy="5553757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Each journal has an editorial board with 6-12 members headed</a:t>
            </a:r>
            <a:b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</a:br>
            <a:r>
              <a:rPr lang="en-GB" altLang="da-DK" sz="1800" b="1" spc="-30" dirty="0">
                <a:solidFill>
                  <a:srgbClr val="A50021"/>
                </a:solidFill>
                <a:cs typeface="ＭＳ Ｐゴシック" charset="0"/>
              </a:rPr>
              <a:t>by an editor-in-chief (sometimes assisted by a number of associate editors)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All members of the editorial board are well-known researchers within the area covered by the journal (typically appointed by he editor-in-chief)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When a paper is submitted, the editor-in-chief appoints a person to handle the submission (typically an associate editor or another member of the editorial board) 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spc="-50" dirty="0"/>
              <a:t>The "handler" selects 2-3 reviewers (referees), who are experts within the area of the paper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 reviewers may use sub-referees to help them evaluate a paper (this is often PostDocs or PhD students within the area)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Based on the written referee reports, the "handler" proposes whether the paper should be accepted, rejected or can be resubmitted with minor/major improvements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 final decision is made by the editor-in-chief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spc="-10" dirty="0">
                <a:solidFill>
                  <a:srgbClr val="A50021"/>
                </a:solidFill>
                <a:cs typeface="ＭＳ Ｐゴシック" charset="0"/>
              </a:rPr>
              <a:t>The final revised papers are thoroughly checked by the original reviewers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Usually, authors provide a document in which they describe how the different proposals for improvements have been taken care of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For proposals that have not been followed, detailed arguments are given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For some journals, the final version of papers are checked by a professional with linguistic background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5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3586261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496175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Comparison of conferences and journals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32051"/>
            <a:ext cx="8568183" cy="5814405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Each conference has a limited number of time slots available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When all slots are filled, additional papers must be rejected although some of them may be of high-quality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Such papers can be re-submitted next year or submitted to another conference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It is wise to improve the papers before resubmission – since it is likely that they will have one or more referees who have seen the old version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 turn-around time is short (typically 4-6 months from submission to conference)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There is an </a:t>
            </a:r>
            <a:r>
              <a:rPr lang="en-GB" altLang="da-DK" sz="1600" b="1" dirty="0">
                <a:solidFill>
                  <a:srgbClr val="008000"/>
                </a:solidFill>
              </a:rPr>
              <a:t>oral presentation</a:t>
            </a:r>
            <a:r>
              <a:rPr lang="en-GB" altLang="da-DK" sz="1600" dirty="0"/>
              <a:t> at the conference (typically 15-20 minutes, followed by a short discussion)</a:t>
            </a:r>
          </a:p>
          <a:p>
            <a:pPr marL="271463" lvl="1" indent="-271463">
              <a:spcBef>
                <a:spcPts val="9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Journals have "unlimited" space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spc="-30" dirty="0"/>
              <a:t>Accepted papers are queued and will be published when there is space in the journal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If a paper is found good enough, it will be accepted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 turn-around time is long (typically 1-2 years from submission to publication)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Submissions can be done at any time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There is no oral presentation of the paper</a:t>
            </a:r>
          </a:p>
          <a:p>
            <a:pPr marL="271463" lvl="1" indent="-271463">
              <a:spcBef>
                <a:spcPts val="9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Some journals have "special sections" covering a narrow area, e.g. with the best papers from a conference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Authors are invited to publish, and papers will usually be accepted if they are of decent quality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 space is limited (to some extend), and the turn-around time medium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6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3498670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568183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Workshops and tool / poster sessions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43595"/>
            <a:ext cx="8352159" cy="5256584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Workshops are similar to conferences but with less strict reviewing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Papers with interesting ideas may be accepted even though they appear to have some flaws/gaps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Some workshop are totally open without peer-reviewing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Tool and poster sessions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Rules and quality vary a lot from event to event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It is a good way to show ongoing work and have discussions with colleagues, but they are seldom useful for your CV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There are exceptions. As an example, it is very prestigious to be allowed to present new interaction ideas at some of the best HCI-conferences</a:t>
            </a:r>
          </a:p>
          <a:p>
            <a:pPr marL="457200" lvl="1" indent="0">
              <a:spcBef>
                <a:spcPts val="300"/>
              </a:spcBef>
              <a:buNone/>
            </a:pPr>
            <a:endParaRPr lang="en-GB" altLang="da-DK" sz="1600" dirty="0"/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There is a significant number of </a:t>
            </a:r>
            <a:r>
              <a:rPr lang="en-GB" altLang="da-DK" sz="1800" b="1" dirty="0">
                <a:solidFill>
                  <a:srgbClr val="008000"/>
                </a:solidFill>
                <a:cs typeface="ＭＳ Ｐゴシック" charset="0"/>
              </a:rPr>
              <a:t>bogus</a:t>
            </a: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 journals and conferences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All (or most papers) are accepted with no peer-reviewing or with referees who are unknown (internationally) in their field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Conferences are typically held at "touristic" places like Hawaii or a cruise ship 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It will </a:t>
            </a:r>
            <a:r>
              <a:rPr lang="en-GB" altLang="da-DK" sz="1600" b="1" dirty="0">
                <a:solidFill>
                  <a:srgbClr val="008000"/>
                </a:solidFill>
              </a:rPr>
              <a:t>harm</a:t>
            </a:r>
            <a:r>
              <a:rPr lang="en-GB" altLang="da-DK" sz="1600" dirty="0"/>
              <a:t> your CV to publish or referee at such places (since it indicates bad judgement from your side)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7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727083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568183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Bibliographic measures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0057" y="1055551"/>
            <a:ext cx="8442423" cy="5256584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Other sciences operate with "impact factors" which “measure” the quality of journals (based on the number of citations) 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Since the majority of computer science publications are in conferences, impact factors have little importance/value within our field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Instead, it is common to look at the following quantitative measures for a researcher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Number of citations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 number of (peer-reviewed) papers that have a </a:t>
            </a:r>
            <a:r>
              <a:rPr lang="en-GB" altLang="da-DK" sz="1600" b="1" dirty="0">
                <a:solidFill>
                  <a:srgbClr val="008000"/>
                </a:solidFill>
              </a:rPr>
              <a:t>citation</a:t>
            </a:r>
            <a:r>
              <a:rPr lang="en-GB" altLang="da-DK" sz="1600" dirty="0"/>
              <a:t> (reference) to a paper written by the researcher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h-index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 number of </a:t>
            </a:r>
            <a:r>
              <a:rPr lang="en-GB" altLang="da-DK" sz="1600" b="1" dirty="0">
                <a:solidFill>
                  <a:srgbClr val="008000"/>
                </a:solidFill>
              </a:rPr>
              <a:t>well-cited papers</a:t>
            </a:r>
            <a:r>
              <a:rPr lang="en-GB" altLang="da-DK" sz="1600" dirty="0"/>
              <a:t> for the researcher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spc="-40" dirty="0"/>
              <a:t>To have an H-index of N you must have N papers which each have at least N citations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i10-index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 number of papers which have at least </a:t>
            </a:r>
            <a:r>
              <a:rPr lang="en-GB" altLang="da-DK" sz="1600" b="1" dirty="0">
                <a:solidFill>
                  <a:srgbClr val="008000"/>
                </a:solidFill>
              </a:rPr>
              <a:t>10 citations</a:t>
            </a:r>
            <a:r>
              <a:rPr lang="en-GB" altLang="da-DK" sz="1600" dirty="0"/>
              <a:t> each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Good measure for the number of "serious" publications made by the researcher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8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1456817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4" y="333375"/>
            <a:ext cx="8408058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Be careful when you compare two researchers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43595"/>
            <a:ext cx="8352159" cy="5256584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The (scientific) age has a big influence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Obviously, young researcher have much smaller numbers than old researchers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When a paper has been written, it takes months before it is published, and then several years before it is read and cited by other researchers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 M-index tries to handle this by dividing the H-index with the number of years since the first publication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The research area has a big influence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In mathematics, it is common to publish at most one paper per year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This obvious means that a researcher has few papers, and moreover there are few other papers that can make citations to them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Even within computer science, there are </a:t>
            </a:r>
            <a:r>
              <a:rPr lang="en-GB" altLang="da-DK" sz="1600" b="1" dirty="0">
                <a:solidFill>
                  <a:srgbClr val="008000"/>
                </a:solidFill>
              </a:rPr>
              <a:t>big differences</a:t>
            </a:r>
            <a:r>
              <a:rPr lang="en-GB" altLang="da-DK" sz="1600" dirty="0"/>
              <a:t> from research area to research area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In some research areas, it is common that a young active researcher (e.g. a PhD student or a </a:t>
            </a:r>
            <a:r>
              <a:rPr lang="en-GB" altLang="da-DK" sz="1600" dirty="0" err="1"/>
              <a:t>PostDoc</a:t>
            </a:r>
            <a:r>
              <a:rPr lang="en-GB" altLang="da-DK" sz="1600" dirty="0"/>
              <a:t>) publish 10-20 papers a year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In other areas this number is much lower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Hence, it only makes sense to compare citations, H-index and I-index for researchers who are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within the same (or similar) research area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have the same (or nearly the same) scientific age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9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3058857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568183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Google Scholar 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48616"/>
            <a:ext cx="8280151" cy="1521309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The most commonly used data base to investigate citations etc. within computer science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b="1" dirty="0">
                <a:solidFill>
                  <a:srgbClr val="008000"/>
                </a:solidFill>
              </a:rPr>
              <a:t>Includes conference papers</a:t>
            </a:r>
            <a:r>
              <a:rPr lang="en-GB" altLang="da-DK" sz="1600" dirty="0"/>
              <a:t> – which are excluded by most other data bases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Each researcher maintains a </a:t>
            </a:r>
            <a:r>
              <a:rPr lang="en-GB" altLang="da-DK" sz="1600" b="1" dirty="0">
                <a:solidFill>
                  <a:srgbClr val="008000"/>
                </a:solidFill>
              </a:rPr>
              <a:t>profile</a:t>
            </a:r>
            <a:r>
              <a:rPr lang="en-GB" altLang="da-DK" sz="1600" dirty="0"/>
              <a:t>, which makes the counts more reliable, since missing papers can be added, and wrong papers (e.g. by authors with the same name) can be removed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Google scholar overview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 last column counts citations</a:t>
            </a:r>
            <a:br>
              <a:rPr lang="en-GB" altLang="da-DK" sz="1600" dirty="0"/>
            </a:br>
            <a:r>
              <a:rPr lang="en-GB" altLang="da-DK" sz="1600" dirty="0"/>
              <a:t>made within the last 5 years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 papers that are cited may</a:t>
            </a:r>
            <a:br>
              <a:rPr lang="en-GB" altLang="da-DK" sz="1600" dirty="0"/>
            </a:br>
            <a:r>
              <a:rPr lang="en-GB" altLang="da-DK" sz="1600" dirty="0"/>
              <a:t>be much older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My publication profile is atypical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I have published relatively few papers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But my papers (and text books) have</a:t>
            </a:r>
            <a:br>
              <a:rPr lang="en-GB" altLang="da-DK" sz="1600" dirty="0"/>
            </a:br>
            <a:r>
              <a:rPr lang="en-GB" altLang="da-DK" sz="1600" dirty="0"/>
              <a:t>very high citation numbers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I have only published 1 paper over the</a:t>
            </a:r>
            <a:br>
              <a:rPr lang="en-GB" altLang="da-DK" sz="1600" dirty="0"/>
            </a:br>
            <a:r>
              <a:rPr lang="en-GB" altLang="da-DK" sz="1600" dirty="0"/>
              <a:t>last 10 years</a:t>
            </a:r>
            <a:endParaRPr lang="en-GB" altLang="da-DK" sz="1600" spc="-6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10</a:t>
            </a:fld>
            <a:endParaRPr lang="da-DK" altLang="da-DK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B854845-D9E5-4B26-80CD-6E1006B4D500}"/>
              </a:ext>
            </a:extLst>
          </p:cNvPr>
          <p:cNvGrpSpPr/>
          <p:nvPr/>
        </p:nvGrpSpPr>
        <p:grpSpPr>
          <a:xfrm>
            <a:off x="5076055" y="2927807"/>
            <a:ext cx="3759323" cy="3115110"/>
            <a:chOff x="5076055" y="2927807"/>
            <a:chExt cx="3759323" cy="311511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17E91E7-7A62-2B08-BD0B-2861E8649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76055" y="2927807"/>
              <a:ext cx="3759323" cy="3115110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A2BFF6C-0B08-5204-551C-E2B4B0BD9F89}"/>
                </a:ext>
              </a:extLst>
            </p:cNvPr>
            <p:cNvSpPr txBox="1"/>
            <p:nvPr/>
          </p:nvSpPr>
          <p:spPr>
            <a:xfrm>
              <a:off x="5149044" y="3015498"/>
              <a:ext cx="1431270" cy="309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200" b="1" dirty="0">
                  <a:solidFill>
                    <a:srgbClr val="5F5F5F"/>
                  </a:solidFill>
                </a:rPr>
                <a:t>Kurt Jensen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3574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568183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Google Scholar (papers ordered by citations)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3391"/>
          <a:stretch/>
        </p:blipFill>
        <p:spPr>
          <a:xfrm>
            <a:off x="486571" y="1052737"/>
            <a:ext cx="8549925" cy="5616624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 bwMode="auto">
          <a:xfrm>
            <a:off x="407690" y="3717032"/>
            <a:ext cx="121245" cy="73138"/>
          </a:xfrm>
          <a:prstGeom prst="rightArrow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11</a:t>
            </a:fld>
            <a:endParaRPr lang="da-DK" alt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A5A055-632B-8230-9D80-BCC0FC740F86}"/>
              </a:ext>
            </a:extLst>
          </p:cNvPr>
          <p:cNvSpPr txBox="1"/>
          <p:nvPr/>
        </p:nvSpPr>
        <p:spPr>
          <a:xfrm>
            <a:off x="2843808" y="2276872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This and the following screenshots are from 2025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Today numbers are slightly different</a:t>
            </a:r>
          </a:p>
        </p:txBody>
      </p:sp>
    </p:spTree>
    <p:extLst>
      <p:ext uri="{BB962C8B-B14F-4D97-AF65-F5344CB8AC3E}">
        <p14:creationId xmlns:p14="http://schemas.microsoft.com/office/powerpoint/2010/main" val="1646603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060848"/>
            <a:ext cx="7183692" cy="4752528"/>
          </a:xfrm>
          <a:prstGeom prst="rect">
            <a:avLst/>
          </a:prstGeom>
        </p:spPr>
      </p:pic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568183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Individual papers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12</a:t>
            </a:fld>
            <a:endParaRPr lang="da-DK" altLang="da-DK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68313" y="1018381"/>
            <a:ext cx="8280151" cy="898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rgbClr val="0000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9pPr>
          </a:lstStyle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GB" altLang="da-DK" sz="1800" b="1" kern="0" dirty="0">
                <a:solidFill>
                  <a:srgbClr val="A50021"/>
                </a:solidFill>
                <a:cs typeface="ＭＳ Ｐゴシック" charset="0"/>
              </a:rPr>
              <a:t>You can click on the individual papers to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See where it is published, citation statistics, the beginning of the abstract</a:t>
            </a:r>
            <a:r>
              <a:rPr lang="en-GB" altLang="da-DK" sz="1600"/>
              <a:t>, etc.</a:t>
            </a:r>
            <a:endParaRPr lang="en-GB" altLang="da-DK" sz="1600" dirty="0"/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download the paper (in most cases)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0112" y="2492896"/>
            <a:ext cx="3384376" cy="1938992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CC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00CC"/>
                </a:solidFill>
              </a:rPr>
              <a:t>To download, you often need to access the data bases of different publishing companies such as Springer, Elsevier, ACM, etc.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00CC"/>
                </a:solidFill>
              </a:rPr>
              <a:t>AU has licenses to many of these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00CC"/>
                </a:solidFill>
              </a:rPr>
              <a:t>To use them, you must be on the AU network (e.g. via </a:t>
            </a:r>
            <a:r>
              <a:rPr lang="en-US" sz="1100" b="1" dirty="0" err="1">
                <a:solidFill>
                  <a:srgbClr val="0000CC"/>
                </a:solidFill>
              </a:rPr>
              <a:t>vpn</a:t>
            </a:r>
            <a:r>
              <a:rPr lang="en-US" sz="1100" b="1" dirty="0">
                <a:solidFill>
                  <a:srgbClr val="0000CC"/>
                </a:solidFill>
              </a:rPr>
              <a:t>)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00CC"/>
                </a:solidFill>
              </a:rPr>
              <a:t>For help, ask your advisor or our library staff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00CC"/>
                </a:solidFill>
              </a:rPr>
              <a:t>Many CS researchers have copies of their papers on their personal home pages (which Google Scholar has a reference to)</a:t>
            </a:r>
          </a:p>
        </p:txBody>
      </p:sp>
      <p:sp>
        <p:nvSpPr>
          <p:cNvPr id="9" name="Right Arrow 8"/>
          <p:cNvSpPr/>
          <p:nvPr/>
        </p:nvSpPr>
        <p:spPr bwMode="auto">
          <a:xfrm rot="10800000">
            <a:off x="8480204" y="5897906"/>
            <a:ext cx="113504" cy="91716"/>
          </a:xfrm>
          <a:prstGeom prst="rightArrow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07228" y="5805264"/>
            <a:ext cx="539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PDF</a:t>
            </a:r>
          </a:p>
        </p:txBody>
      </p:sp>
    </p:spTree>
    <p:extLst>
      <p:ext uri="{BB962C8B-B14F-4D97-AF65-F5344CB8AC3E}">
        <p14:creationId xmlns:p14="http://schemas.microsoft.com/office/powerpoint/2010/main" val="374941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01" y="1042736"/>
            <a:ext cx="8544682" cy="54541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41290" y="1362891"/>
            <a:ext cx="2226779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5F5F5F"/>
                </a:solidFill>
              </a:rPr>
              <a:t>About 51.600 results (0,11 sec)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372850" y="262114"/>
            <a:ext cx="8447621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da-DK" sz="2800" dirty="0"/>
              <a:t>Search for papers without specifying the author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13</a:t>
            </a:fld>
            <a:endParaRPr lang="da-DK" altLang="da-DK" dirty="0"/>
          </a:p>
        </p:txBody>
      </p:sp>
      <p:sp>
        <p:nvSpPr>
          <p:cNvPr id="9" name="Right Arrow 8"/>
          <p:cNvSpPr/>
          <p:nvPr/>
        </p:nvSpPr>
        <p:spPr bwMode="auto">
          <a:xfrm rot="16200000">
            <a:off x="1037752" y="4296453"/>
            <a:ext cx="301861" cy="184996"/>
          </a:xfrm>
          <a:prstGeom prst="rightArrow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625645" y="1700808"/>
            <a:ext cx="1265678" cy="2423246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7966" y="4582552"/>
            <a:ext cx="1753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Different search criteria by which you can limit the search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2186867" y="1092636"/>
            <a:ext cx="1233005" cy="190729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168556" y="1370867"/>
            <a:ext cx="2152310" cy="259040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809314" y="3402628"/>
            <a:ext cx="915575" cy="162093"/>
          </a:xfrm>
          <a:prstGeom prst="rect">
            <a:avLst/>
          </a:prstGeom>
          <a:noFill/>
          <a:ln w="12700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3633" y="5334307"/>
            <a:ext cx="17532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00CC"/>
                </a:solidFill>
              </a:rPr>
              <a:t>In some research areas, it may also be interesting to search for patents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0865" y="1062471"/>
            <a:ext cx="2095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8000"/>
                </a:solidFill>
              </a:rPr>
              <a:t>Search for “colored Petri nets" (US spelling) gives another 72.800 hits</a:t>
            </a:r>
          </a:p>
        </p:txBody>
      </p:sp>
      <p:sp>
        <p:nvSpPr>
          <p:cNvPr id="17" name="Right Arrow 16"/>
          <p:cNvSpPr/>
          <p:nvPr/>
        </p:nvSpPr>
        <p:spPr bwMode="auto">
          <a:xfrm rot="10800000">
            <a:off x="3880002" y="1109591"/>
            <a:ext cx="301861" cy="184996"/>
          </a:xfrm>
          <a:prstGeom prst="rightArrow">
            <a:avLst/>
          </a:prstGeom>
          <a:noFill/>
          <a:ln w="127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165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4" grpId="0" animBg="1"/>
      <p:bldP spid="15" grpId="0"/>
      <p:bldP spid="16" grpId="0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379165" y="282401"/>
            <a:ext cx="8657332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da-DK" sz="2800" dirty="0"/>
              <a:t>DBLP computer science bibliography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68313" y="1018381"/>
            <a:ext cx="8280151" cy="394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rgbClr val="0000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9pPr>
          </a:lstStyle>
          <a:p>
            <a:pPr marL="271463" lvl="1" indent="-271463">
              <a:spcBef>
                <a:spcPts val="1200"/>
              </a:spcBef>
              <a:buFontTx/>
              <a:buChar char="•"/>
            </a:pPr>
            <a:endParaRPr lang="en-GB" altLang="da-DK" sz="1800" b="1" kern="0" spc="-50" dirty="0">
              <a:solidFill>
                <a:srgbClr val="A50021"/>
              </a:solidFill>
              <a:cs typeface="ＭＳ Ｐゴシック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14</a:t>
            </a:fld>
            <a:endParaRPr lang="da-DK" altLang="da-DK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38575" y="1087002"/>
            <a:ext cx="8597921" cy="2341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rgbClr val="0000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9pPr>
          </a:lstStyle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US" sz="1800" b="1" kern="0" dirty="0">
                <a:solidFill>
                  <a:srgbClr val="A50021"/>
                </a:solidFill>
                <a:cs typeface="ＭＳ Ｐゴシック" charset="0"/>
              </a:rPr>
              <a:t>Contains more </a:t>
            </a:r>
            <a:r>
              <a:rPr lang="en-US" sz="1800" b="1" kern="0">
                <a:solidFill>
                  <a:srgbClr val="A50021"/>
                </a:solidFill>
                <a:cs typeface="ＭＳ Ｐゴシック" charset="0"/>
              </a:rPr>
              <a:t>than 8 </a:t>
            </a:r>
            <a:r>
              <a:rPr lang="en-US" sz="1800" b="1" kern="0" dirty="0">
                <a:solidFill>
                  <a:srgbClr val="A50021"/>
                </a:solidFill>
                <a:cs typeface="ＭＳ Ｐゴシック" charset="0"/>
              </a:rPr>
              <a:t>million journal articles, conference papers, and other publications in computer science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kern="0" dirty="0"/>
              <a:t>Covers all important journals and many conferences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kern="0" dirty="0"/>
              <a:t>Started 1993 by the University of Trier, Germany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kern="0" dirty="0"/>
              <a:t>Since 2018 operated by </a:t>
            </a:r>
            <a:r>
              <a:rPr lang="en-GB" altLang="da-DK" sz="1600" kern="0" dirty="0" err="1"/>
              <a:t>Schloss</a:t>
            </a:r>
            <a:r>
              <a:rPr lang="en-GB" altLang="da-DK" sz="1600" kern="0" dirty="0"/>
              <a:t> </a:t>
            </a:r>
            <a:r>
              <a:rPr lang="en-GB" altLang="da-DK" sz="1600" kern="0" dirty="0" err="1"/>
              <a:t>Dagstuhl</a:t>
            </a:r>
            <a:r>
              <a:rPr lang="en-GB" altLang="da-DK" sz="1600" kern="0" dirty="0"/>
              <a:t> – Leibniz-</a:t>
            </a:r>
            <a:r>
              <a:rPr lang="en-GB" altLang="da-DK" sz="1600" kern="0" dirty="0" err="1"/>
              <a:t>Zentrum</a:t>
            </a:r>
            <a:r>
              <a:rPr lang="en-GB" altLang="da-DK" sz="1600" kern="0" dirty="0"/>
              <a:t> </a:t>
            </a:r>
            <a:r>
              <a:rPr lang="en-GB" altLang="da-DK" sz="1600" kern="0" dirty="0" err="1"/>
              <a:t>für</a:t>
            </a:r>
            <a:r>
              <a:rPr lang="en-GB" altLang="da-DK" sz="1600" kern="0" dirty="0"/>
              <a:t> </a:t>
            </a:r>
            <a:r>
              <a:rPr lang="en-GB" altLang="da-DK" sz="1600" kern="0" dirty="0" err="1"/>
              <a:t>Informatik</a:t>
            </a:r>
            <a:r>
              <a:rPr lang="en-GB" altLang="da-DK" sz="1600" kern="0" dirty="0"/>
              <a:t>, Germany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kern="0" dirty="0"/>
              <a:t>A lot of different information is available (you can search for persons, conferences, journals, publication series, etc.)</a:t>
            </a:r>
          </a:p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GB" altLang="da-DK" sz="1800" b="1" kern="0" dirty="0">
                <a:solidFill>
                  <a:srgbClr val="A50021"/>
                </a:solidFill>
                <a:cs typeface="ＭＳ Ｐゴシック" charset="0"/>
              </a:rPr>
              <a:t>More information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kern="0" dirty="0"/>
              <a:t>Data base   </a:t>
            </a:r>
            <a:r>
              <a:rPr lang="en-GB" altLang="da-DK" sz="1600" kern="0" dirty="0">
                <a:hlinkClick r:id="rId3"/>
              </a:rPr>
              <a:t>Link</a:t>
            </a:r>
            <a:endParaRPr lang="en-GB" altLang="da-DK" sz="1600" kern="0" dirty="0"/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kern="0" dirty="0" err="1"/>
              <a:t>Wikepedia</a:t>
            </a:r>
            <a:r>
              <a:rPr lang="en-GB" altLang="da-DK" sz="1600" kern="0" dirty="0"/>
              <a:t>   </a:t>
            </a:r>
            <a:r>
              <a:rPr lang="en-GB" altLang="da-DK" sz="1600" kern="0" dirty="0">
                <a:hlinkClick r:id="rId4"/>
              </a:rPr>
              <a:t>Link</a:t>
            </a:r>
            <a:endParaRPr lang="en-GB" altLang="da-DK" sz="1600" kern="0" dirty="0"/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kern="0" dirty="0"/>
              <a:t>Scientific paper on the history and development of DBLP   </a:t>
            </a:r>
            <a:r>
              <a:rPr lang="en-GB" altLang="da-DK" sz="1600" kern="0" dirty="0">
                <a:hlinkClick r:id="rId5"/>
              </a:rPr>
              <a:t>Link</a:t>
            </a:r>
            <a:br>
              <a:rPr lang="en-GB" altLang="da-DK" sz="1600" kern="0" dirty="0"/>
            </a:br>
            <a:r>
              <a:rPr lang="en-GB" altLang="da-DK" sz="1600" kern="0" dirty="0"/>
              <a:t>(demands that you have access to Springer LINK)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endParaRPr lang="en-GB" altLang="da-DK" sz="1600" kern="0" dirty="0"/>
          </a:p>
        </p:txBody>
      </p:sp>
    </p:spTree>
    <p:extLst>
      <p:ext uri="{BB962C8B-B14F-4D97-AF65-F5344CB8AC3E}">
        <p14:creationId xmlns:p14="http://schemas.microsoft.com/office/powerpoint/2010/main" val="2145356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379165" y="282401"/>
            <a:ext cx="8657332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da-DK" sz="2800" dirty="0"/>
              <a:t>Semantic Scholar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68313" y="1018381"/>
            <a:ext cx="8280151" cy="394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rgbClr val="0000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9pPr>
          </a:lstStyle>
          <a:p>
            <a:pPr marL="271463" lvl="1" indent="-271463">
              <a:spcBef>
                <a:spcPts val="1200"/>
              </a:spcBef>
              <a:buFontTx/>
              <a:buChar char="•"/>
            </a:pPr>
            <a:endParaRPr lang="en-GB" altLang="da-DK" sz="1800" b="1" kern="0" spc="-50" dirty="0">
              <a:solidFill>
                <a:srgbClr val="A50021"/>
              </a:solidFill>
              <a:cs typeface="ＭＳ Ｐゴシック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15</a:t>
            </a:fld>
            <a:endParaRPr lang="da-DK" altLang="da-DK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38576" y="1087003"/>
            <a:ext cx="8352160" cy="1449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rgbClr val="0000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9pPr>
          </a:lstStyle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US" sz="1800" b="1" kern="0" spc="-70" dirty="0">
                <a:solidFill>
                  <a:srgbClr val="A50021"/>
                </a:solidFill>
                <a:cs typeface="ＭＳ Ｐゴシック" charset="0"/>
              </a:rPr>
              <a:t>Contains more than 200 million papers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kern="0" dirty="0"/>
              <a:t>Initially for computer science, geoscience and neuroscience – but covers now all fields of science (</a:t>
            </a:r>
            <a:r>
              <a:rPr lang="en-GB" altLang="da-DK" sz="1600" kern="0" dirty="0" err="1"/>
              <a:t>naturvidenskab</a:t>
            </a:r>
            <a:r>
              <a:rPr lang="en-GB" altLang="da-DK" sz="1600" kern="0" dirty="0"/>
              <a:t>)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kern="0" dirty="0"/>
              <a:t>Covers all important journals and many conferences</a:t>
            </a:r>
          </a:p>
          <a:p>
            <a:pPr marL="728663" lvl="1" indent="-271463">
              <a:spcBef>
                <a:spcPts val="300"/>
              </a:spcBef>
            </a:pPr>
            <a:r>
              <a:rPr lang="en-US" altLang="da-DK" sz="1600" kern="0" dirty="0"/>
              <a:t>Maintained by the </a:t>
            </a:r>
            <a:r>
              <a:rPr lang="en-US" sz="1600" kern="0" dirty="0"/>
              <a:t>Allen Institute for Artificial Intelligence since 2015</a:t>
            </a:r>
          </a:p>
          <a:p>
            <a:pPr marL="728663" lvl="1" indent="-271463">
              <a:spcBef>
                <a:spcPts val="300"/>
              </a:spcBef>
            </a:pPr>
            <a:r>
              <a:rPr lang="en-US" altLang="da-DK" sz="1600" kern="0" dirty="0"/>
              <a:t>Adds a layer of semantic analysis to the traditional methods of citation analysis</a:t>
            </a:r>
            <a:endParaRPr lang="en-GB" altLang="da-DK" sz="1600" kern="0" dirty="0"/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kern="0" dirty="0"/>
              <a:t>A lot of different information is available</a:t>
            </a:r>
          </a:p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GB" altLang="da-DK" sz="1800" b="1" kern="0" dirty="0">
                <a:solidFill>
                  <a:srgbClr val="A50021"/>
                </a:solidFill>
                <a:cs typeface="ＭＳ Ｐゴシック" charset="0"/>
              </a:rPr>
              <a:t>More information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kern="0" dirty="0"/>
              <a:t>Data base   </a:t>
            </a:r>
            <a:r>
              <a:rPr lang="en-GB" altLang="da-DK" sz="1600" kern="0" dirty="0">
                <a:hlinkClick r:id="rId3"/>
              </a:rPr>
              <a:t>Link</a:t>
            </a:r>
            <a:endParaRPr lang="en-GB" altLang="da-DK" sz="1600" kern="0" dirty="0"/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kern="0" dirty="0" err="1"/>
              <a:t>Wikepedia</a:t>
            </a:r>
            <a:r>
              <a:rPr lang="en-GB" altLang="da-DK" sz="1600" kern="0" dirty="0"/>
              <a:t>   </a:t>
            </a:r>
            <a:r>
              <a:rPr lang="en-GB" altLang="da-DK" sz="1600" kern="0" dirty="0">
                <a:hlinkClick r:id="rId4"/>
              </a:rPr>
              <a:t>Link</a:t>
            </a:r>
            <a:endParaRPr lang="en-GB" altLang="da-DK" sz="1600" kern="0" dirty="0"/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kern="0" dirty="0"/>
              <a:t>Scientific paper on the history and development of Semantic Scholar   </a:t>
            </a:r>
            <a:r>
              <a:rPr lang="en-GB" altLang="da-DK" sz="1600" kern="0" dirty="0">
                <a:hlinkClick r:id="rId5"/>
              </a:rPr>
              <a:t>Link</a:t>
            </a:r>
            <a:endParaRPr lang="en-GB" altLang="da-DK" sz="1600" kern="0" dirty="0"/>
          </a:p>
        </p:txBody>
      </p:sp>
    </p:spTree>
    <p:extLst>
      <p:ext uri="{BB962C8B-B14F-4D97-AF65-F5344CB8AC3E}">
        <p14:creationId xmlns:p14="http://schemas.microsoft.com/office/powerpoint/2010/main" val="1649557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3" y="1933860"/>
            <a:ext cx="8424167" cy="298132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z="2800" dirty="0"/>
              <a:t>AU Library, Katrinebjerg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26969" y="1151916"/>
            <a:ext cx="6781335" cy="573003"/>
          </a:xfrm>
        </p:spPr>
        <p:txBody>
          <a:bodyPr/>
          <a:lstStyle/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da-DK" sz="1800" b="1" kern="1200" dirty="0" err="1">
                <a:solidFill>
                  <a:srgbClr val="A50021"/>
                </a:solidFill>
                <a:cs typeface="ＭＳ Ｐゴシック" charset="0"/>
              </a:rPr>
              <a:t>Librarian</a:t>
            </a:r>
            <a:r>
              <a:rPr lang="da-DK" sz="1800" b="1" kern="1200" dirty="0">
                <a:solidFill>
                  <a:srgbClr val="A50021"/>
                </a:solidFill>
                <a:cs typeface="ＭＳ Ｐゴシック" charset="0"/>
              </a:rPr>
              <a:t> Rasmus T. Nielsen, rtni@kb.dk, Nygaard-170b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16</a:t>
            </a:fld>
            <a:endParaRPr lang="da-DK" altLang="da-DK" dirty="0"/>
          </a:p>
        </p:txBody>
      </p:sp>
      <p:sp>
        <p:nvSpPr>
          <p:cNvPr id="5" name="Rectangle 4"/>
          <p:cNvSpPr/>
          <p:nvPr/>
        </p:nvSpPr>
        <p:spPr>
          <a:xfrm>
            <a:off x="395536" y="1473157"/>
            <a:ext cx="33865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28663" lvl="1" indent="-271463" eaLnBrk="0" hangingPunct="0">
              <a:spcBef>
                <a:spcPts val="300"/>
              </a:spcBef>
              <a:buChar char="–"/>
            </a:pPr>
            <a:r>
              <a:rPr lang="da-DK" sz="1600" dirty="0">
                <a:solidFill>
                  <a:srgbClr val="000066"/>
                </a:solidFill>
                <a:latin typeface="+mn-lt"/>
                <a:ea typeface="+mn-ea"/>
              </a:rPr>
              <a:t>www.library.au.dk   </a:t>
            </a:r>
            <a:r>
              <a:rPr lang="da-DK" sz="1200" dirty="0">
                <a:solidFill>
                  <a:srgbClr val="000066"/>
                </a:solidFill>
                <a:latin typeface="+mn-lt"/>
                <a:ea typeface="+mn-ea"/>
              </a:rPr>
              <a:t> </a:t>
            </a:r>
            <a:r>
              <a:rPr lang="da-DK" sz="1600" b="1" dirty="0">
                <a:solidFill>
                  <a:srgbClr val="008000"/>
                </a:solidFill>
                <a:hlinkClick r:id="rId3"/>
              </a:rPr>
              <a:t>Link</a:t>
            </a:r>
            <a:endParaRPr lang="da-DK" sz="1600" b="1" dirty="0"/>
          </a:p>
        </p:txBody>
      </p:sp>
      <p:sp>
        <p:nvSpPr>
          <p:cNvPr id="7" name="Pladsholder til indhold 2"/>
          <p:cNvSpPr txBox="1">
            <a:spLocks/>
          </p:cNvSpPr>
          <p:nvPr/>
        </p:nvSpPr>
        <p:spPr bwMode="auto">
          <a:xfrm>
            <a:off x="467544" y="5102924"/>
            <a:ext cx="8416360" cy="1494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rgbClr val="0000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9pPr>
          </a:lstStyle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GB" sz="1800" b="1" dirty="0">
                <a:solidFill>
                  <a:srgbClr val="A50021"/>
                </a:solidFill>
                <a:cs typeface="ＭＳ Ｐゴシック" charset="0"/>
              </a:rPr>
              <a:t>Seeking information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dirty="0"/>
              <a:t>http://library.au.dk/en/students/information-seeking/   </a:t>
            </a:r>
            <a:r>
              <a:rPr lang="en-GB" sz="1600" b="1" dirty="0">
                <a:hlinkClick r:id="rId4"/>
              </a:rPr>
              <a:t>Link</a:t>
            </a:r>
            <a:endParaRPr lang="en-GB" sz="2000" dirty="0"/>
          </a:p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GB" sz="1800" b="1" dirty="0">
                <a:solidFill>
                  <a:srgbClr val="A50021"/>
                </a:solidFill>
                <a:cs typeface="ＭＳ Ｐゴシック" charset="0"/>
              </a:rPr>
              <a:t>Subject guides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dirty="0"/>
              <a:t>http://library.au.dk/en/subject-areas/electrical-and-computer-engineering/   </a:t>
            </a:r>
            <a:r>
              <a:rPr lang="en-GB" sz="1600" b="1" dirty="0">
                <a:hlinkClick r:id="rId5"/>
              </a:rPr>
              <a:t>Link</a:t>
            </a:r>
            <a:endParaRPr lang="da-DK" sz="1600" kern="0" dirty="0"/>
          </a:p>
          <a:p>
            <a:pPr marL="0" indent="0">
              <a:buFontTx/>
              <a:buNone/>
            </a:pPr>
            <a:endParaRPr lang="da-DK" kern="0" dirty="0"/>
          </a:p>
          <a:p>
            <a:pPr marL="0" indent="0">
              <a:buFontTx/>
              <a:buNone/>
            </a:pPr>
            <a:endParaRPr lang="da-DK" kern="0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662067" y="4249869"/>
            <a:ext cx="2121773" cy="227304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159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352159" cy="609600"/>
          </a:xfrm>
        </p:spPr>
        <p:txBody>
          <a:bodyPr/>
          <a:lstStyle/>
          <a:p>
            <a:pPr eaLnBrk="1" hangingPunct="1"/>
            <a:r>
              <a:rPr lang="en-GB" altLang="da-DK" sz="3200" dirty="0">
                <a:ea typeface="ＭＳ Ｐゴシック" pitchFamily="34" charset="-128"/>
              </a:rPr>
              <a:t>That's all for now…                 … questions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17</a:t>
            </a:fld>
            <a:endParaRPr lang="da-DK" altLang="da-DK" dirty="0"/>
          </a:p>
        </p:txBody>
      </p:sp>
      <p:pic>
        <p:nvPicPr>
          <p:cNvPr id="16" name="Picture 2" descr="j0404263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916831"/>
            <a:ext cx="4213225" cy="3589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8548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000066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a-DK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000066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a-DK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659a008-7c21-4ee3-a745-e38581e1310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6836BC33D1E5846BD77C269C61838DB" ma:contentTypeVersion="16" ma:contentTypeDescription="Opret et nyt dokument." ma:contentTypeScope="" ma:versionID="ef3cc48880d2d4424b772cc9d47831bb">
  <xsd:schema xmlns:xsd="http://www.w3.org/2001/XMLSchema" xmlns:xs="http://www.w3.org/2001/XMLSchema" xmlns:p="http://schemas.microsoft.com/office/2006/metadata/properties" xmlns:ns3="f659a008-7c21-4ee3-a745-e38581e13101" xmlns:ns4="e064323b-8959-406a-a3e9-bb6e93638192" targetNamespace="http://schemas.microsoft.com/office/2006/metadata/properties" ma:root="true" ma:fieldsID="f385e854457ff68500d83ba1a633310b" ns3:_="" ns4:_="">
    <xsd:import namespace="f659a008-7c21-4ee3-a745-e38581e13101"/>
    <xsd:import namespace="e064323b-8959-406a-a3e9-bb6e9363819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_activity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Location" minOccurs="0"/>
                <xsd:element ref="ns3:MediaServiceOCR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59a008-7c21-4ee3-a745-e38581e131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323b-8959-406a-a3e9-bb6e9363819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værdi for deling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D6F283-C371-4990-9308-E63329D6F24C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e064323b-8959-406a-a3e9-bb6e93638192"/>
    <ds:schemaRef ds:uri="f659a008-7c21-4ee3-a745-e38581e13101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7148DE2-9C1B-4CBF-9EEA-A23272B4AF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647FEE-6A6D-4736-955E-46812FCD34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59a008-7c21-4ee3-a745-e38581e13101"/>
    <ds:schemaRef ds:uri="e064323b-8959-406a-a3e9-bb6e936381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9327</TotalTime>
  <Words>2230</Words>
  <Application>Microsoft Office PowerPoint</Application>
  <PresentationFormat>On-screen Show (4:3)</PresentationFormat>
  <Paragraphs>209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ＭＳ Ｐゴシック</vt:lpstr>
      <vt:lpstr>Arial</vt:lpstr>
      <vt:lpstr>Times New Roman</vt:lpstr>
      <vt:lpstr>Standarddesign</vt:lpstr>
      <vt:lpstr>PowerPoint Presentation</vt:lpstr>
      <vt:lpstr>Publication channels</vt:lpstr>
      <vt:lpstr>Peer reviewing</vt:lpstr>
      <vt:lpstr>Organization of conferences</vt:lpstr>
      <vt:lpstr>Organization of journals</vt:lpstr>
      <vt:lpstr>Comparison of conferences and journals</vt:lpstr>
      <vt:lpstr>Workshops and tool / poster sessions</vt:lpstr>
      <vt:lpstr>Bibliographic measures</vt:lpstr>
      <vt:lpstr>Be careful when you compare two researchers</vt:lpstr>
      <vt:lpstr>Google Scholar </vt:lpstr>
      <vt:lpstr>Google Scholar (papers ordered by citations)</vt:lpstr>
      <vt:lpstr>Individual papers</vt:lpstr>
      <vt:lpstr>Search for papers without specifying the author</vt:lpstr>
      <vt:lpstr>DBLP computer science bibliography</vt:lpstr>
      <vt:lpstr>Semantic Scholar</vt:lpstr>
      <vt:lpstr>AU Library, Katrinebjerg</vt:lpstr>
      <vt:lpstr>That's all for now…                 … questions</vt:lpstr>
    </vt:vector>
  </TitlesOfParts>
  <Company>DAIMI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Programmering  – fra instruktion til modellering</dc:title>
  <dc:creator>Michael E. Caspersen</dc:creator>
  <cp:lastModifiedBy>Kurt Jensen</cp:lastModifiedBy>
  <cp:revision>858</cp:revision>
  <cp:lastPrinted>2017-08-15T08:16:54Z</cp:lastPrinted>
  <dcterms:created xsi:type="dcterms:W3CDTF">2000-02-22T02:31:40Z</dcterms:created>
  <dcterms:modified xsi:type="dcterms:W3CDTF">2026-02-23T09:04:49Z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0x01010056836BC33D1E5846BD77C269C61838DB</vt:lpwstr>
  </property>
</Properties>
</file>