
<file path=[Content_Types].xml><?xml version="1.0" encoding="utf-8"?>
<Types xmlns="http://schemas.openxmlformats.org/package/2006/content-types">
  <Default Extension="bin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media/image2.bin" ContentType="image/png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3"/>
  </p:sldMasterIdLst>
  <p:notesMasterIdLst>
    <p:notesMasterId r:id="rId16"/>
  </p:notesMasterIdLst>
  <p:handoutMasterIdLst>
    <p:handoutMasterId r:id="rId17"/>
  </p:handoutMasterIdLst>
  <p:sldIdLst>
    <p:sldId id="256" r:id="rId4"/>
    <p:sldId id="257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797675" cy="9926638"/>
  <p:embeddedFontLst>
    <p:embeddedFont>
      <p:font typeface="AU Passata" panose="020B0503030502030804" pitchFamily="34" charset="77"/>
      <p:regular r:id="rId18"/>
      <p:bold r:id="rId19"/>
    </p:embeddedFont>
    <p:embeddedFont>
      <p:font typeface="AU Passata Light" panose="020B0303030902030804" pitchFamily="34" charset="77"/>
      <p:regular r:id="rId20"/>
      <p:bold r:id="rId21"/>
    </p:embeddedFont>
    <p:embeddedFont>
      <p:font typeface="AU Peto" pitchFamily="82" charset="77"/>
      <p:regular r:id="rId22"/>
    </p:embeddedFont>
    <p:embeddedFont>
      <p:font typeface="Georgia" panose="02040502050405020303" pitchFamily="18" charset="0"/>
      <p:regular r:id="rId23"/>
      <p:bold r:id="rId24"/>
      <p:italic r:id="rId25"/>
      <p:boldItalic r:id="rId26"/>
    </p:embeddedFont>
  </p:embeddedFontLst>
  <p:defaultTextStyle>
    <a:defPPr rtl="0">
      <a:defRPr lang="en-GB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74879"/>
    <a:srgbClr val="172B47"/>
    <a:srgbClr val="4276C2"/>
    <a:srgbClr val="3663A6"/>
    <a:srgbClr val="2F568F"/>
    <a:srgbClr val="264676"/>
    <a:srgbClr val="2C5188"/>
    <a:srgbClr val="EFEFED"/>
    <a:srgbClr val="8EA9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3A9AA-4B38-7941-BAF0-E11B3C0AA7E7}" v="91" dt="2025-11-25T18:42:15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29" autoAdjust="0"/>
    <p:restoredTop sz="83003" autoAdjust="0"/>
  </p:normalViewPr>
  <p:slideViewPr>
    <p:cSldViewPr snapToGrid="0" snapToObjects="1" showGuides="1">
      <p:cViewPr varScale="1">
        <p:scale>
          <a:sx n="96" d="100"/>
          <a:sy n="96" d="100"/>
        </p:scale>
        <p:origin x="1672" y="176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-4416"/>
    </p:cViewPr>
  </p:sorterViewPr>
  <p:notesViewPr>
    <p:cSldViewPr snapToGrid="0"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Master" Target="slideMasters/slideMaster1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fld id="{88DF0C21-DE6B-488F-B9D9-B7FE08733B70}" type="slidenum">
              <a:rPr lang="en-GB"/>
              <a:pPr rtl="0"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 rtl="0">
              <a:defRPr/>
            </a:pPr>
            <a:fld id="{72C160C3-3AB6-49C1-8001-AFDAD271EB5B}" type="slidenum">
              <a:rPr lang="en-GB"/>
              <a:pPr rtl="0"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>
              <a:defRPr/>
            </a:pPr>
            <a:fld id="{72C160C3-3AB6-49C1-8001-AFDAD271EB5B}" type="slidenum">
              <a:rPr lang="en-GB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0910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45913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02471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>
              <a:defRPr/>
            </a:pPr>
            <a:fld id="{72C160C3-3AB6-49C1-8001-AFDAD271EB5B}" type="slidenum">
              <a:rPr lang="en-GB" smtClean="0"/>
              <a:pPr rtl="0">
                <a:defRPr/>
              </a:pPr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3549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bin"/><Relationship Id="rId2" Type="http://schemas.openxmlformats.org/officeDocument/2006/relationships/image" Target="../media/image2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bin"/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bin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bin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bin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bin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rtlCol="0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  <p:pic>
        <p:nvPicPr>
          <p:cNvPr id="5" name="Au logo">
            <a:extLst>
              <a:ext uri="{FF2B5EF4-FFF2-40B4-BE49-F238E27FC236}">
                <a16:creationId xmlns:a16="http://schemas.microsoft.com/office/drawing/2014/main" id="{D8A0443B-B47B-80BC-D5AA-0761B6E702A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6" name="SecondaryLogo">
            <a:extLst>
              <a:ext uri="{FF2B5EF4-FFF2-40B4-BE49-F238E27FC236}">
                <a16:creationId xmlns:a16="http://schemas.microsoft.com/office/drawing/2014/main" id="{FA903622-D548-DBF7-B6EF-E0C1AD831AF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10" name="OFF_logo1Computed">
            <a:extLst>
              <a:ext uri="{FF2B5EF4-FFF2-40B4-BE49-F238E27FC236}">
                <a16:creationId xmlns:a16="http://schemas.microsoft.com/office/drawing/2014/main" id="{710EAEB6-AC06-B3E0-C002-F264218E90F5}"/>
              </a:ext>
            </a:extLst>
          </p:cNvPr>
          <p:cNvSpPr/>
          <p:nvPr userDrawn="1"/>
        </p:nvSpPr>
        <p:spPr bwMode="auto">
          <a:xfrm flipH="1">
            <a:off x="972064" y="5997600"/>
            <a:ext cx="754426" cy="589622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rtlCol="0" anchor="ctr"/>
          <a:lstStyle/>
          <a:p>
            <a:pPr rtl="0">
              <a:defRPr/>
            </a:pPr>
            <a:endParaRPr lang="da-DK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rtlCol="0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 rtlCol="0"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/>
              <a:t>Click to edit Master text styles</a:t>
            </a:r>
            <a:endParaRPr lang="da-DK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da-DK" sz="4799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  <p:pic>
        <p:nvPicPr>
          <p:cNvPr id="5" name="Au logo">
            <a:extLst>
              <a:ext uri="{FF2B5EF4-FFF2-40B4-BE49-F238E27FC236}">
                <a16:creationId xmlns:a16="http://schemas.microsoft.com/office/drawing/2014/main" id="{389176A3-F1D0-6065-0482-7F7E203C530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6" name="SecondaryLogo">
            <a:extLst>
              <a:ext uri="{FF2B5EF4-FFF2-40B4-BE49-F238E27FC236}">
                <a16:creationId xmlns:a16="http://schemas.microsoft.com/office/drawing/2014/main" id="{EB6D3501-8354-C73A-A9BE-FFC56D22CB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7" name="OFF_logo1Computed">
            <a:extLst>
              <a:ext uri="{FF2B5EF4-FFF2-40B4-BE49-F238E27FC236}">
                <a16:creationId xmlns:a16="http://schemas.microsoft.com/office/drawing/2014/main" id="{95A6469B-B564-B39B-C9E9-73329A005204}"/>
              </a:ext>
            </a:extLst>
          </p:cNvPr>
          <p:cNvSpPr/>
          <p:nvPr userDrawn="1"/>
        </p:nvSpPr>
        <p:spPr bwMode="auto">
          <a:xfrm flipH="1">
            <a:off x="972064" y="5997600"/>
            <a:ext cx="754426" cy="589622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rtlCol="0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  <p:pic>
        <p:nvPicPr>
          <p:cNvPr id="4" name="Au logo">
            <a:extLst>
              <a:ext uri="{FF2B5EF4-FFF2-40B4-BE49-F238E27FC236}">
                <a16:creationId xmlns:a16="http://schemas.microsoft.com/office/drawing/2014/main" id="{7D59D111-E135-B387-AB6E-608683C81B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5" name="SecondaryLogo">
            <a:extLst>
              <a:ext uri="{FF2B5EF4-FFF2-40B4-BE49-F238E27FC236}">
                <a16:creationId xmlns:a16="http://schemas.microsoft.com/office/drawing/2014/main" id="{1E70B8A8-6AD6-C4BA-A5FB-AE0AB2A061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6000" y="5997600"/>
            <a:ext cx="1658237" cy="558000"/>
          </a:xfrm>
          <a:prstGeom prst="rect">
            <a:avLst/>
          </a:prstGeom>
        </p:spPr>
      </p:pic>
      <p:sp>
        <p:nvSpPr>
          <p:cNvPr id="6" name="OFF_logo1Computed">
            <a:extLst>
              <a:ext uri="{FF2B5EF4-FFF2-40B4-BE49-F238E27FC236}">
                <a16:creationId xmlns:a16="http://schemas.microsoft.com/office/drawing/2014/main" id="{09D10CE5-C19A-FF80-275C-E5A768AC6A40}"/>
              </a:ext>
            </a:extLst>
          </p:cNvPr>
          <p:cNvSpPr/>
          <p:nvPr userDrawn="1"/>
        </p:nvSpPr>
        <p:spPr bwMode="auto">
          <a:xfrm flipH="1">
            <a:off x="972064" y="5997600"/>
            <a:ext cx="754426" cy="589622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 linjer 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6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  <a:p>
            <a:pPr algn="ctr" rtl="0"/>
            <a:endParaRPr lang="da-DK" sz="4799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228627"/>
            <a:ext cx="11556000" cy="752101"/>
          </a:xfrm>
        </p:spPr>
        <p:txBody>
          <a:bodyPr rtlCol="0" anchor="t" anchorCtr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990000" y="1045684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  <a:p>
            <a:pPr algn="ctr" rtl="0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rtlCol="0" anchor="t" anchorCtr="0"/>
          <a:lstStyle>
            <a:lvl1pPr>
              <a:defRPr/>
            </a:lvl1pPr>
          </a:lstStyle>
          <a:p>
            <a:pPr rtl="0"/>
            <a:r>
              <a:rPr lang="en-GB"/>
              <a:t>Insert title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 rtlCol="0"/>
          <a:lstStyle>
            <a:lvl1pPr marL="0" indent="0"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da-DK"/>
          </a:p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da-DK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  <a:p>
            <a:pPr algn="ctr" rtl="0"/>
            <a:endParaRPr lang="da-DK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rtlCol="0"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 rtlCol="0"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  <a:p>
            <a:pPr lvl="5" rtl="0"/>
            <a:r>
              <a:rPr lang="en-GB"/>
              <a:t>6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 rtlCol="0"/>
          <a:lstStyle>
            <a:lvl1pPr marL="0" indent="0"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 linjer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 rtlCol="0"/>
          <a:lstStyle>
            <a:lvl1pPr marL="0" indent="0">
              <a:buFontTx/>
              <a:buNone/>
              <a:defRPr b="0"/>
            </a:lvl1pPr>
          </a:lstStyle>
          <a:p>
            <a:pPr rtl="0"/>
            <a:r>
              <a:rPr lang="en-GB"/>
              <a:t>Click here and add image via Templafy Image Library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 rtlCol="0"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 rtl="0"/>
            <a:r>
              <a:rPr lang="en-GB"/>
              <a:t>Click to add Quote text, for next level ENTER and TAB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rtlCol="0" anchor="t" anchorCtr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 rtlCol="0"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 rtl="0"/>
            <a:r>
              <a:rPr lang="en-GB"/>
              <a:t>Click to add Quote text, for next level ENTER and TAB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 rtlCol="0"/>
          <a:lstStyle/>
          <a:p>
            <a:pPr lvl="0" rtl="0"/>
            <a:r>
              <a:rPr lang="en-GB"/>
              <a:t>Click to edit Master text styles</a:t>
            </a:r>
            <a:endParaRPr lang="da-DK"/>
          </a:p>
          <a:p>
            <a:pPr lvl="1" rtl="0"/>
            <a:r>
              <a:rPr lang="en-GB"/>
              <a:t>Second level</a:t>
            </a:r>
            <a:endParaRPr lang="da-DK"/>
          </a:p>
          <a:p>
            <a:pPr lvl="2" rtl="0"/>
            <a:r>
              <a:rPr lang="en-GB"/>
              <a:t>Third level</a:t>
            </a:r>
            <a:endParaRPr lang="da-DK"/>
          </a:p>
          <a:p>
            <a:pPr lvl="3" rtl="0"/>
            <a:r>
              <a:rPr lang="en-GB"/>
              <a:t>Fourth level</a:t>
            </a:r>
            <a:endParaRPr lang="da-DK"/>
          </a:p>
          <a:p>
            <a:pPr lvl="4" rtl="0"/>
            <a:r>
              <a:rPr lang="en-GB"/>
              <a:t>Fifth level</a:t>
            </a:r>
            <a:endParaRPr lang="da-DK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 rtl="0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da-DK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da-DK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  <a:prstGeom prst="rect">
            <a:avLst/>
          </a:prstGeom>
        </p:spPr>
        <p:txBody>
          <a:bodyPr rtlCol="0"/>
          <a:lstStyle/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da-DK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  <a:prstGeom prst="rect">
            <a:avLst/>
          </a:prstGeom>
        </p:spPr>
        <p:txBody>
          <a:bodyPr rtlCol="0"/>
          <a:lstStyle>
            <a:lvl1pPr>
              <a:defRPr sz="100">
                <a:noFill/>
              </a:defRPr>
            </a:lvl1pPr>
          </a:lstStyle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 rtlCol="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rtl="0">
              <a:lnSpc>
                <a:spcPct val="85000"/>
              </a:lnSpc>
            </a:pPr>
            <a:r>
              <a:rPr lang="en-GB" sz="10000" kern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da-DK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 rtlCol="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rtl="0">
              <a:lnSpc>
                <a:spcPct val="85000"/>
              </a:lnSpc>
            </a:pPr>
            <a:r>
              <a:rPr lang="en-GB" sz="10000" kern="0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da-DK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 rtlCol="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 rtl="0">
              <a:lnSpc>
                <a:spcPct val="85000"/>
              </a:lnSpc>
            </a:pPr>
            <a:r>
              <a:rPr lang="en-GB" sz="10000" kern="0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da-DK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  <a:prstGeom prst="rect">
            <a:avLst/>
          </a:prstGeom>
        </p:spPr>
        <p:txBody>
          <a:bodyPr rtlCol="0"/>
          <a:lstStyle>
            <a:lvl1pPr>
              <a:defRPr sz="100">
                <a:noFill/>
              </a:defRPr>
            </a:lvl1pPr>
          </a:lstStyle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da-DK" sz="4799" dirty="0"/>
          </a:p>
        </p:txBody>
      </p:sp>
      <p:sp>
        <p:nvSpPr>
          <p:cNvPr id="5" name="LAN_AUWBreak"/>
          <p:cNvSpPr/>
          <p:nvPr userDrawn="1"/>
        </p:nvSpPr>
        <p:spPr bwMode="auto">
          <a:xfrm>
            <a:off x="6022613" y="2804400"/>
            <a:ext cx="65" cy="757567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4000" b="0" i="0" u="none" strike="noStrike" cap="all" normalizeH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 
Universitet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 rtlCol="0"/>
          <a:lstStyle/>
          <a:p>
            <a:pPr rtl="0"/>
            <a:endParaRPr lang="da-DK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  <a:prstGeom prst="rect">
            <a:avLst/>
          </a:prstGeom>
        </p:spPr>
        <p:txBody>
          <a:bodyPr rtlCol="0"/>
          <a:lstStyle>
            <a:lvl1pPr>
              <a:defRPr sz="100">
                <a:noFill/>
              </a:defRPr>
            </a:lvl1pPr>
          </a:lstStyle>
          <a:p>
            <a:pPr rtl="0">
              <a:defRPr/>
            </a:pPr>
            <a:fld id="{E90C1E0A-682D-40DC-B1EA-26C007FDC330}" type="slidenum">
              <a:rPr lang="da-DK"/>
              <a:pPr rtl="0">
                <a:defRPr/>
              </a:pPr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b" anchorCtr="0" compatLnSpc="1">
            <a:prstTxWarp prst="textNoShape">
              <a:avLst/>
            </a:prstTxWarp>
          </a:bodyPr>
          <a:lstStyle/>
          <a:p>
            <a:pPr lvl="0" rtl="0"/>
            <a:r>
              <a:rPr lang="en-GB" noProof="0"/>
              <a:t>Click to edit Master title style</a:t>
            </a:r>
            <a:endParaRPr lang="da-DK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lvl="0" rtl="0"/>
            <a:r>
              <a:rPr lang="en-GB" noProof="0"/>
              <a:t>Click to edit Master text styles</a:t>
            </a:r>
            <a:endParaRPr lang="da-DK"/>
          </a:p>
          <a:p>
            <a:pPr lvl="1" rtl="0"/>
            <a:r>
              <a:rPr lang="en-GB" noProof="0"/>
              <a:t>Second level</a:t>
            </a:r>
            <a:endParaRPr lang="da-DK"/>
          </a:p>
          <a:p>
            <a:pPr lvl="2" rtl="0"/>
            <a:r>
              <a:rPr lang="en-GB" noProof="0"/>
              <a:t>Third level</a:t>
            </a:r>
            <a:endParaRPr lang="da-DK"/>
          </a:p>
          <a:p>
            <a:pPr lvl="3" rtl="0"/>
            <a:r>
              <a:rPr lang="en-GB" noProof="0"/>
              <a:t>Fourth level</a:t>
            </a:r>
            <a:endParaRPr lang="da-DK"/>
          </a:p>
          <a:p>
            <a:pPr lvl="4" rtl="0"/>
            <a:r>
              <a:rPr lang="en-GB" noProof="0"/>
              <a:t>Fifth level</a:t>
            </a:r>
            <a:endParaRPr lang="da-DK"/>
          </a:p>
          <a:p>
            <a:pPr lvl="5" rtl="0"/>
            <a:r>
              <a:rPr lang="en-GB" noProof="0"/>
              <a:t>6 level</a:t>
            </a:r>
            <a:endParaRPr lang="da-DK"/>
          </a:p>
          <a:p>
            <a:pPr lvl="6" rtl="0"/>
            <a:r>
              <a:rPr lang="en-GB" noProof="0"/>
              <a:t>7 level</a:t>
            </a:r>
            <a:endParaRPr lang="da-DK"/>
          </a:p>
          <a:p>
            <a:pPr lvl="7" rtl="0"/>
            <a:r>
              <a:rPr lang="en-GB" noProof="0"/>
              <a:t>8 level</a:t>
            </a:r>
            <a:endParaRPr lang="da-DK"/>
          </a:p>
          <a:p>
            <a:pPr lvl="8" rtl="0"/>
            <a:r>
              <a:rPr lang="en-GB" noProof="0"/>
              <a:t>9 level</a:t>
            </a:r>
            <a:endParaRPr lang="da-DK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2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pPr rtl="0"/>
            <a:fld id="{78417F83-4CBA-48F2-BAD0-783AE3701E32}" type="datetimeFigureOut">
              <a:rPr lang="da-DK"/>
              <a:pPr rtl="0"/>
              <a:t>25.11.2025</a:t>
            </a:fld>
            <a:r>
              <a:rPr lang="en-GB"/>
              <a:t>03-09-2019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3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pPr rtl="0"/>
            <a:endParaRPr lang="da-DK" dirty="0"/>
          </a:p>
        </p:txBody>
      </p:sp>
      <p:pic>
        <p:nvPicPr>
          <p:cNvPr id="8" name="Au logo">
            <a:extLst>
              <a:ext uri="{FF2B5EF4-FFF2-40B4-BE49-F238E27FC236}">
                <a16:creationId xmlns:a16="http://schemas.microsoft.com/office/drawing/2014/main" id="{832C50A3-ACB9-80E9-7702-BF17B690A380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sp>
        <p:nvSpPr>
          <p:cNvPr id="9" name="OFF_logo1Computed">
            <a:extLst>
              <a:ext uri="{FF2B5EF4-FFF2-40B4-BE49-F238E27FC236}">
                <a16:creationId xmlns:a16="http://schemas.microsoft.com/office/drawing/2014/main" id="{4473F323-6CCE-93DF-9662-CC0BDA2D6730}"/>
              </a:ext>
            </a:extLst>
          </p:cNvPr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lang="en-GB" sz="1000" b="0" i="0" u="none" strike="noStrike" cap="all" normalizeH="0" noProof="1">
                <a:ln>
                  <a:noFill/>
                </a:ln>
                <a:solidFill>
                  <a:schemeClr val="tx1"/>
                </a:solidFill>
                <a:effectLst/>
                <a:latin typeface="AU Passata" pitchFamily="34" charset="0"/>
              </a:rPr>
              <a:t>Aarhus
Universitet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hyperlink" Target="https://cs.au.dk/research/section-on-human-centered-computing" TargetMode="External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tel:+45%2021%2077%2079%2000" TargetMode="External"/><Relationship Id="rId5" Type="http://schemas.openxmlformats.org/officeDocument/2006/relationships/hyperlink" Target="mailto:elm@cs.au.dk" TargetMode="External"/><Relationship Id="rId4" Type="http://schemas.openxmlformats.org/officeDocument/2006/relationships/image" Target="../media/image8.png"/><Relationship Id="rId9" Type="http://schemas.openxmlformats.org/officeDocument/2006/relationships/hyperlink" Target="mailto:dammand@cs.au.d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13" Type="http://schemas.openxmlformats.org/officeDocument/2006/relationships/image" Target="../media/image22.jpeg"/><Relationship Id="rId3" Type="http://schemas.openxmlformats.org/officeDocument/2006/relationships/image" Target="../media/image12.jpeg"/><Relationship Id="rId7" Type="http://schemas.openxmlformats.org/officeDocument/2006/relationships/image" Target="../media/image16.jpeg"/><Relationship Id="rId12" Type="http://schemas.openxmlformats.org/officeDocument/2006/relationships/image" Target="../media/image2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5.jpeg"/><Relationship Id="rId11" Type="http://schemas.openxmlformats.org/officeDocument/2006/relationships/image" Target="../media/image20.jpeg"/><Relationship Id="rId5" Type="http://schemas.openxmlformats.org/officeDocument/2006/relationships/image" Target="../media/image14.jpeg"/><Relationship Id="rId15" Type="http://schemas.openxmlformats.org/officeDocument/2006/relationships/image" Target="../media/image24.jpeg"/><Relationship Id="rId10" Type="http://schemas.openxmlformats.org/officeDocument/2006/relationships/image" Target="../media/image19.jpeg"/><Relationship Id="rId4" Type="http://schemas.openxmlformats.org/officeDocument/2006/relationships/image" Target="../media/image13.jpeg"/><Relationship Id="rId9" Type="http://schemas.openxmlformats.org/officeDocument/2006/relationships/image" Target="../media/image18.jpeg"/><Relationship Id="rId14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jpeg"/><Relationship Id="rId4" Type="http://schemas.openxmlformats.org/officeDocument/2006/relationships/image" Target="../media/image2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29A245E9-A962-4541-A38F-ADE1A9EBB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da-DK"/>
              <a:t>09-05-2023</a:t>
            </a:r>
            <a:r>
              <a:rPr lang="en-GB"/>
              <a:t>03-09-2019</a:t>
            </a:r>
            <a:endParaRPr lang="da-DK" dirty="0"/>
          </a:p>
        </p:txBody>
      </p:sp>
      <p:sp>
        <p:nvSpPr>
          <p:cNvPr id="10" name="OFF_logo2Computed">
            <a:extLst>
              <a:ext uri="{FF2B5EF4-FFF2-40B4-BE49-F238E27FC236}">
                <a16:creationId xmlns:a16="http://schemas.microsoft.com/office/drawing/2014/main" id="{E2F83F7F-79BF-3602-59CB-E431E5A02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 rtlCol="0">
            <a:spAutoFit/>
          </a:bodyPr>
          <a:lstStyle/>
          <a:p>
            <a:pPr rtl="0">
              <a:lnSpc>
                <a:spcPct val="95000"/>
              </a:lnSpc>
              <a:defRPr/>
            </a:pPr>
            <a:endParaRPr lang="da-DK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BB3A896-EBFD-4096-9DF8-699F8CB4EC48}"/>
              </a:ext>
            </a:extLst>
          </p:cNvPr>
          <p:cNvSpPr txBox="1">
            <a:spLocks/>
          </p:cNvSpPr>
          <p:nvPr/>
        </p:nvSpPr>
        <p:spPr bwMode="auto">
          <a:xfrm>
            <a:off x="985838" y="3420539"/>
            <a:ext cx="102203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6000" b="1" cap="all" baseline="0">
                <a:solidFill>
                  <a:schemeClr val="bg1"/>
                </a:solidFill>
                <a:latin typeface="AU Passata Light" panose="020B0303030902030804" pitchFamily="34" charset="0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2pPr>
            <a:lvl3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3pPr>
            <a:lvl4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4pPr>
            <a:lvl5pPr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5pPr>
            <a:lvl6pPr marL="4572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6pPr>
            <a:lvl7pPr marL="9144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7pPr>
            <a:lvl8pPr marL="13716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8pPr>
            <a:lvl9pPr marL="1828800" algn="l" rtl="0" eaLnBrk="1" fontAlgn="base" hangingPunct="1">
              <a:lnSpc>
                <a:spcPct val="83000"/>
              </a:lnSpc>
              <a:spcBef>
                <a:spcPct val="0"/>
              </a:spcBef>
              <a:spcAft>
                <a:spcPct val="0"/>
              </a:spcAft>
              <a:defRPr sz="4000">
                <a:solidFill>
                  <a:schemeClr val="bg2"/>
                </a:solidFill>
                <a:latin typeface="AU Passata" pitchFamily="34" charset="0"/>
              </a:defRPr>
            </a:lvl9pPr>
          </a:lstStyle>
          <a:p>
            <a:pPr rtl="0">
              <a:buFontTx/>
            </a:pPr>
            <a:r>
              <a:rPr lang="en-GB" kern="0" cap="none" dirty="0">
                <a:latin typeface="AU Passata" panose="020B0503030502030804" pitchFamily="34" charset="77"/>
              </a:rPr>
              <a:t>Human-</a:t>
            </a:r>
            <a:r>
              <a:rPr lang="en-GB" kern="0" cap="none" dirty="0" err="1">
                <a:latin typeface="AU Passata" panose="020B0503030502030804" pitchFamily="34" charset="77"/>
              </a:rPr>
              <a:t>Centered</a:t>
            </a:r>
            <a:r>
              <a:rPr lang="en-GB" kern="0" cap="none" dirty="0">
                <a:latin typeface="AU Passata" panose="020B0503030502030804" pitchFamily="34" charset="77"/>
              </a:rPr>
              <a:t> Computing</a:t>
            </a:r>
          </a:p>
        </p:txBody>
      </p:sp>
      <p:sp>
        <p:nvSpPr>
          <p:cNvPr id="9" name="Pladsholder til tekst 5">
            <a:extLst>
              <a:ext uri="{FF2B5EF4-FFF2-40B4-BE49-F238E27FC236}">
                <a16:creationId xmlns:a16="http://schemas.microsoft.com/office/drawing/2014/main" id="{F24B32A1-D1F1-E83C-06F6-DFD77D9D0B7E}"/>
              </a:ext>
            </a:extLst>
          </p:cNvPr>
          <p:cNvSpPr txBox="1">
            <a:spLocks/>
          </p:cNvSpPr>
          <p:nvPr/>
        </p:nvSpPr>
        <p:spPr bwMode="auto">
          <a:xfrm>
            <a:off x="985838" y="4330967"/>
            <a:ext cx="8501062" cy="676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rtl="0">
              <a:lnSpc>
                <a:spcPct val="85000"/>
              </a:lnSpc>
            </a:pPr>
            <a:r>
              <a:rPr lang="en-GB" sz="4000" kern="0" dirty="0">
                <a:solidFill>
                  <a:schemeClr val="bg1"/>
                </a:solidFill>
                <a:latin typeface="AU Passata Light" panose="020B0303030902030804" pitchFamily="34" charset="77"/>
              </a:rPr>
              <a:t>Bachelor Projects</a:t>
            </a:r>
            <a:endParaRPr lang="da-DK" sz="4000" kern="0" dirty="0">
              <a:solidFill>
                <a:schemeClr val="bg1"/>
              </a:solidFill>
            </a:endParaRPr>
          </a:p>
        </p:txBody>
      </p:sp>
    </p:spTree>
    <p:custDataLst>
      <p:custData r:id="rId1"/>
      <p:custData r:id="rId2"/>
      <p:tags r:id="rId3"/>
    </p:custDataLst>
    <p:extLst>
      <p:ext uri="{BB962C8B-B14F-4D97-AF65-F5344CB8AC3E}">
        <p14:creationId xmlns:p14="http://schemas.microsoft.com/office/powerpoint/2010/main" val="691598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4C8A83B-81B7-3BE4-846D-722BC3FF2260}"/>
              </a:ext>
            </a:extLst>
          </p:cNvPr>
          <p:cNvSpPr/>
          <p:nvPr/>
        </p:nvSpPr>
        <p:spPr bwMode="auto">
          <a:xfrm>
            <a:off x="7231380" y="3657600"/>
            <a:ext cx="4641533" cy="1545121"/>
          </a:xfrm>
          <a:prstGeom prst="rect">
            <a:avLst/>
          </a:prstGeom>
          <a:solidFill>
            <a:srgbClr val="172B47"/>
          </a:solidFill>
          <a:ln w="1778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LID4096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99CB09-0DA7-7153-79C3-5CDC65D42CF6}"/>
              </a:ext>
            </a:extLst>
          </p:cNvPr>
          <p:cNvSpPr/>
          <p:nvPr/>
        </p:nvSpPr>
        <p:spPr bwMode="auto">
          <a:xfrm>
            <a:off x="7231380" y="1960079"/>
            <a:ext cx="4641533" cy="1545121"/>
          </a:xfrm>
          <a:prstGeom prst="rect">
            <a:avLst/>
          </a:prstGeom>
          <a:solidFill>
            <a:srgbClr val="172B47"/>
          </a:solidFill>
          <a:ln w="1778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LID4096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94FD3F-4CCA-256D-9DC0-F0EFC85AE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Overview: HCC @ CS</a:t>
            </a: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FC383A-076E-F13F-E291-75480B8BB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839" y="1960079"/>
            <a:ext cx="5704522" cy="2337601"/>
          </a:xfrm>
        </p:spPr>
        <p:txBody>
          <a:bodyPr/>
          <a:lstStyle/>
          <a:p>
            <a:r>
              <a:rPr lang="en-US" b="1" dirty="0"/>
              <a:t>Research Area:	</a:t>
            </a:r>
            <a:r>
              <a:rPr lang="en-US" dirty="0"/>
              <a:t>Human aspects of computing</a:t>
            </a:r>
          </a:p>
          <a:p>
            <a:r>
              <a:rPr lang="en-US" b="1" dirty="0"/>
              <a:t>Faculty: 	5x</a:t>
            </a:r>
            <a:r>
              <a:rPr lang="en-US" dirty="0"/>
              <a:t> Professors</a:t>
            </a:r>
          </a:p>
          <a:p>
            <a:pPr marL="1656000" lvl="5" indent="0">
              <a:buNone/>
            </a:pPr>
            <a:r>
              <a:rPr lang="en-US" b="1" dirty="0"/>
              <a:t>	6x</a:t>
            </a:r>
            <a:r>
              <a:rPr lang="en-US" dirty="0"/>
              <a:t> Associate Professors</a:t>
            </a:r>
          </a:p>
          <a:p>
            <a:pPr marL="1656000" lvl="5" indent="0">
              <a:buNone/>
            </a:pPr>
            <a:r>
              <a:rPr lang="en-US" b="1" dirty="0"/>
              <a:t>	2x</a:t>
            </a:r>
            <a:r>
              <a:rPr lang="en-US" dirty="0"/>
              <a:t> Assistant Professors</a:t>
            </a:r>
          </a:p>
          <a:p>
            <a:r>
              <a:rPr lang="en-US" b="1" dirty="0"/>
              <a:t>Postdocs:</a:t>
            </a:r>
            <a:r>
              <a:rPr lang="en-US" dirty="0"/>
              <a:t> 	</a:t>
            </a:r>
            <a:r>
              <a:rPr lang="en-US" b="1" dirty="0"/>
              <a:t>10</a:t>
            </a:r>
            <a:r>
              <a:rPr lang="en-US" dirty="0"/>
              <a:t> postdocs</a:t>
            </a:r>
          </a:p>
          <a:p>
            <a:r>
              <a:rPr lang="en-US" b="1" dirty="0"/>
              <a:t>Students: 	16</a:t>
            </a:r>
            <a:r>
              <a:rPr lang="en-US" dirty="0"/>
              <a:t> Ph.D. students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CA06A-2C33-95E1-AB4E-22C6557DA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AD5310F-70B9-4B3C-80A2-B6C7686B2816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F8EE41-DC5B-F556-C9B0-A148AE6947A5}"/>
              </a:ext>
            </a:extLst>
          </p:cNvPr>
          <p:cNvSpPr txBox="1"/>
          <p:nvPr/>
        </p:nvSpPr>
        <p:spPr>
          <a:xfrm>
            <a:off x="0" y="5538573"/>
            <a:ext cx="12188825" cy="6455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LID4096" sz="2800" dirty="0">
                <a:hlinkClick r:id="rId3"/>
              </a:rPr>
              <a:t>https://cs.au.dk/research/section-on-human-centered-computing</a:t>
            </a:r>
            <a:r>
              <a:rPr lang="en-US" sz="2800" dirty="0"/>
              <a:t> </a:t>
            </a:r>
            <a:endParaRPr lang="LID4096" sz="2800" dirty="0"/>
          </a:p>
        </p:txBody>
      </p:sp>
      <p:pic>
        <p:nvPicPr>
          <p:cNvPr id="10" name="Picture 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1302A2B5-9CEF-0D9A-417E-91E9F89B1C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85" y="0"/>
            <a:ext cx="1729740" cy="17297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506A85B-BB2A-C87F-638D-B43158992BBF}"/>
              </a:ext>
            </a:extLst>
          </p:cNvPr>
          <p:cNvSpPr txBox="1"/>
          <p:nvPr/>
        </p:nvSpPr>
        <p:spPr>
          <a:xfrm>
            <a:off x="8725402" y="2026711"/>
            <a:ext cx="27879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bg1"/>
                </a:solidFill>
                <a:latin typeface="AU Passata Light" panose="020B0303030902030804" pitchFamily="34" charset="0"/>
              </a:rPr>
              <a:t>Niklas Elmqvist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AU Passata Light" panose="020B0303030902030804" pitchFamily="34" charset="0"/>
              </a:rPr>
              <a:t>Professor and Head of Section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AU Passata Light" panose="020B0303030902030804" pitchFamily="34" charset="0"/>
              </a:rPr>
              <a:t>✉️ </a:t>
            </a:r>
            <a:r>
              <a:rPr lang="en-US" sz="1400" dirty="0">
                <a:latin typeface="AU Passata Light" panose="020B0303030902030804" pitchFamily="34" charset="0"/>
                <a:hlinkClick r:id="rId5"/>
              </a:rPr>
              <a:t>elm@cs.au.dk</a:t>
            </a:r>
            <a:br>
              <a:rPr lang="en-US" sz="1400" dirty="0">
                <a:latin typeface="AU Passata Light" panose="020B0303030902030804" pitchFamily="34" charset="0"/>
              </a:rPr>
            </a:br>
            <a:r>
              <a:rPr lang="en-US" sz="1400" dirty="0">
                <a:latin typeface="AU Passata Light" panose="020B0303030902030804" pitchFamily="34" charset="0"/>
              </a:rPr>
              <a:t>📞  </a:t>
            </a:r>
            <a:r>
              <a:rPr lang="en-US" sz="1400" dirty="0">
                <a:latin typeface="AU Passata Light" panose="020B0303030902030804" pitchFamily="34" charset="0"/>
                <a:hlinkClick r:id="rId6"/>
              </a:rPr>
              <a:t>+45 21 77 79 00</a:t>
            </a:r>
            <a:endParaRPr lang="LID4096" sz="1400" dirty="0">
              <a:latin typeface="AU Passata Light" panose="020B0303030902030804" pitchFamily="34" charset="0"/>
            </a:endParaRPr>
          </a:p>
        </p:txBody>
      </p:sp>
      <p:pic>
        <p:nvPicPr>
          <p:cNvPr id="15" name="Picture 14" descr="A person wearing glasses and a sweater&#10;&#10;AI-generated content may be incorrect.">
            <a:extLst>
              <a:ext uri="{FF2B5EF4-FFF2-40B4-BE49-F238E27FC236}">
                <a16:creationId xmlns:a16="http://schemas.microsoft.com/office/drawing/2014/main" id="{368920CA-9706-B407-ED62-BEE0A8803C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11" y="2014245"/>
            <a:ext cx="1369560" cy="141475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28" name="Picture 4" descr="Marianne Dammand Iversen">
            <a:extLst>
              <a:ext uri="{FF2B5EF4-FFF2-40B4-BE49-F238E27FC236}">
                <a16:creationId xmlns:a16="http://schemas.microsoft.com/office/drawing/2014/main" id="{507FEB73-6260-4D94-EA27-301F0BCC05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81" b="13658"/>
          <a:stretch>
            <a:fillRect/>
          </a:stretch>
        </p:blipFill>
        <p:spPr bwMode="auto">
          <a:xfrm>
            <a:off x="7293611" y="3729015"/>
            <a:ext cx="1369560" cy="140228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3098851-543B-0A92-DD54-DB0B30085977}"/>
              </a:ext>
            </a:extLst>
          </p:cNvPr>
          <p:cNvSpPr txBox="1"/>
          <p:nvPr/>
        </p:nvSpPr>
        <p:spPr>
          <a:xfrm>
            <a:off x="8725402" y="3747838"/>
            <a:ext cx="27879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chemeClr val="bg1"/>
                </a:solidFill>
                <a:latin typeface="AU Passata Light" panose="020B0303030902030804" pitchFamily="34" charset="0"/>
              </a:rPr>
              <a:t>Marianne Dammand Iversen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solidFill>
                  <a:schemeClr val="bg1"/>
                </a:solidFill>
                <a:latin typeface="AU Passata Light" panose="020B0303030902030804" pitchFamily="34" charset="0"/>
              </a:rPr>
              <a:t>Section Manager</a:t>
            </a:r>
          </a:p>
          <a:p>
            <a:pPr>
              <a:lnSpc>
                <a:spcPct val="100000"/>
              </a:lnSpc>
            </a:pPr>
            <a:r>
              <a:rPr lang="en-US" sz="1400" dirty="0">
                <a:latin typeface="AU Passata Light" panose="020B0303030902030804" pitchFamily="34" charset="0"/>
              </a:rPr>
              <a:t>✉️ </a:t>
            </a:r>
            <a:r>
              <a:rPr lang="en-US" sz="1400" dirty="0">
                <a:latin typeface="AU Passata Light" panose="020B0303030902030804" pitchFamily="34" charset="0"/>
                <a:hlinkClick r:id="rId9"/>
              </a:rPr>
              <a:t>dammand@cs.au.dk</a:t>
            </a:r>
            <a:br>
              <a:rPr lang="en-US" sz="1400" dirty="0">
                <a:latin typeface="AU Passata Light" panose="020B0303030902030804" pitchFamily="34" charset="0"/>
              </a:rPr>
            </a:br>
            <a:r>
              <a:rPr lang="en-US" sz="1400" dirty="0">
                <a:latin typeface="AU Passata Light" panose="020B0303030902030804" pitchFamily="34" charset="0"/>
              </a:rPr>
              <a:t>📞  </a:t>
            </a:r>
            <a:r>
              <a:rPr lang="en-US" sz="1400" dirty="0">
                <a:latin typeface="AU Passata Light" panose="020B0303030902030804" pitchFamily="34" charset="0"/>
                <a:hlinkClick r:id="rId6"/>
              </a:rPr>
              <a:t>+45 24 47 11 17</a:t>
            </a:r>
            <a:endParaRPr lang="LID4096" sz="1400" dirty="0">
              <a:latin typeface="AU Passata Light" panose="020B030303090203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928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rcular diagram of a person and various icons&#10;&#10;AI-generated content may be incorrect.">
            <a:extLst>
              <a:ext uri="{FF2B5EF4-FFF2-40B4-BE49-F238E27FC236}">
                <a16:creationId xmlns:a16="http://schemas.microsoft.com/office/drawing/2014/main" id="{3F085F69-28C3-3764-98FB-41238F29EB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3" r="14707"/>
          <a:stretch>
            <a:fillRect/>
          </a:stretch>
        </p:blipFill>
        <p:spPr>
          <a:xfrm>
            <a:off x="2333625" y="0"/>
            <a:ext cx="745807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DD857D-6387-DF10-C0B6-C25272D3F0CB}"/>
              </a:ext>
            </a:extLst>
          </p:cNvPr>
          <p:cNvSpPr txBox="1"/>
          <p:nvPr/>
        </p:nvSpPr>
        <p:spPr>
          <a:xfrm>
            <a:off x="5689599" y="209550"/>
            <a:ext cx="857250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>
                <a:latin typeface="+mn-lt"/>
              </a:rPr>
              <a:t>Society</a:t>
            </a:r>
            <a:endParaRPr lang="LID4096" sz="1600" b="1" dirty="0">
              <a:latin typeface="+mn-lt"/>
            </a:endParaRPr>
          </a:p>
        </p:txBody>
      </p:sp>
      <p:sp>
        <p:nvSpPr>
          <p:cNvPr id="12" name="Circle: Hollow 11">
            <a:extLst>
              <a:ext uri="{FF2B5EF4-FFF2-40B4-BE49-F238E27FC236}">
                <a16:creationId xmlns:a16="http://schemas.microsoft.com/office/drawing/2014/main" id="{A58359BD-6C2D-C9EC-AD98-F9441E7E8DCA}"/>
              </a:ext>
            </a:extLst>
          </p:cNvPr>
          <p:cNvSpPr/>
          <p:nvPr/>
        </p:nvSpPr>
        <p:spPr bwMode="auto">
          <a:xfrm>
            <a:off x="2686050" y="0"/>
            <a:ext cx="6877050" cy="6858000"/>
          </a:xfrm>
          <a:prstGeom prst="donut">
            <a:avLst>
              <a:gd name="adj" fmla="val 21944"/>
            </a:avLst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LID4096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298C5-F5BA-5B79-0483-BC326F40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4A65B0-90DE-4F0F-A633-3DFB10CF9468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6A65AE-DB1E-70CD-983F-DB530A1A5EE9}"/>
              </a:ext>
            </a:extLst>
          </p:cNvPr>
          <p:cNvSpPr txBox="1"/>
          <p:nvPr/>
        </p:nvSpPr>
        <p:spPr>
          <a:xfrm>
            <a:off x="5689599" y="1466850"/>
            <a:ext cx="857250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>
                <a:latin typeface="+mn-lt"/>
              </a:rPr>
              <a:t>Devices</a:t>
            </a:r>
            <a:endParaRPr lang="LID4096" sz="1600" b="1" dirty="0">
              <a:latin typeface="+mn-lt"/>
            </a:endParaRPr>
          </a:p>
        </p:txBody>
      </p:sp>
      <p:sp>
        <p:nvSpPr>
          <p:cNvPr id="11" name="Circle: Hollow 10">
            <a:extLst>
              <a:ext uri="{FF2B5EF4-FFF2-40B4-BE49-F238E27FC236}">
                <a16:creationId xmlns:a16="http://schemas.microsoft.com/office/drawing/2014/main" id="{F1E3D425-AF8D-8237-A734-62A9FF5A8EE9}"/>
              </a:ext>
            </a:extLst>
          </p:cNvPr>
          <p:cNvSpPr/>
          <p:nvPr/>
        </p:nvSpPr>
        <p:spPr bwMode="auto">
          <a:xfrm>
            <a:off x="4171950" y="1466849"/>
            <a:ext cx="3905250" cy="3924301"/>
          </a:xfrm>
          <a:prstGeom prst="donu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LID4096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9D812D-65F9-CFF4-2690-1DED221E9ED2}"/>
              </a:ext>
            </a:extLst>
          </p:cNvPr>
          <p:cNvSpPr txBox="1"/>
          <p:nvPr/>
        </p:nvSpPr>
        <p:spPr>
          <a:xfrm>
            <a:off x="5689599" y="2343150"/>
            <a:ext cx="857250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>
                <a:latin typeface="+mn-lt"/>
              </a:rPr>
              <a:t>People</a:t>
            </a:r>
            <a:endParaRPr lang="LID4096" sz="1600" b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40485-6CF7-6F4C-2DE1-DCADC82C6F9F}"/>
              </a:ext>
            </a:extLst>
          </p:cNvPr>
          <p:cNvSpPr txBox="1"/>
          <p:nvPr/>
        </p:nvSpPr>
        <p:spPr>
          <a:xfrm>
            <a:off x="833438" y="2653723"/>
            <a:ext cx="1676400" cy="13542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latin typeface="AU Passata Light" panose="020B0303030902030804" pitchFamily="34" charset="0"/>
              </a:rPr>
              <a:t>PEOPLE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👀 Perception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🧠 Cognition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🏃‍♂️ Behavior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❤️ Needs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F7B094-AA44-11C7-552C-9297F014328C}"/>
              </a:ext>
            </a:extLst>
          </p:cNvPr>
          <p:cNvSpPr txBox="1"/>
          <p:nvPr/>
        </p:nvSpPr>
        <p:spPr>
          <a:xfrm>
            <a:off x="9179719" y="229588"/>
            <a:ext cx="2709862" cy="13542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latin typeface="AU Passata Light" panose="020B0303030902030804" pitchFamily="34" charset="0"/>
              </a:rPr>
              <a:t>DEVICES &amp; SPACE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💻Devices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🌡️ Sensors &amp; Actuators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🥽 XR &amp; Spatial Computing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🏠 Physical Context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1C8330-8EDB-F54D-C003-799C25B484DD}"/>
              </a:ext>
            </a:extLst>
          </p:cNvPr>
          <p:cNvSpPr txBox="1"/>
          <p:nvPr/>
        </p:nvSpPr>
        <p:spPr>
          <a:xfrm>
            <a:off x="8951119" y="4480131"/>
            <a:ext cx="2709862" cy="182203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latin typeface="AU Passata Light" panose="020B0303030902030804" pitchFamily="34" charset="0"/>
              </a:rPr>
              <a:t>DATA &amp; SOCIETY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🤝 Teams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💬 Communication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📈 Data &amp; Models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🤖 Human-Centered AI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☁️ Infrastructure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🏛️ Society &amp; Institutions</a:t>
            </a:r>
          </a:p>
        </p:txBody>
      </p:sp>
    </p:spTree>
    <p:extLst>
      <p:ext uri="{BB962C8B-B14F-4D97-AF65-F5344CB8AC3E}">
        <p14:creationId xmlns:p14="http://schemas.microsoft.com/office/powerpoint/2010/main" val="229970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3" grpId="0" animBg="1"/>
      <p:bldP spid="16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9CD7-D06F-D516-94EE-D682A1F10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ircular diagram of a person and various icons&#10;&#10;AI-generated content may be incorrect.">
            <a:extLst>
              <a:ext uri="{FF2B5EF4-FFF2-40B4-BE49-F238E27FC236}">
                <a16:creationId xmlns:a16="http://schemas.microsoft.com/office/drawing/2014/main" id="{5C6BAC6F-A279-C7E4-1890-5E09382DE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3" r="14707"/>
          <a:stretch>
            <a:fillRect/>
          </a:stretch>
        </p:blipFill>
        <p:spPr>
          <a:xfrm>
            <a:off x="2333625" y="0"/>
            <a:ext cx="745807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BEDBEAB-8EFE-4E1C-AB6A-EDBCACD339CC}"/>
              </a:ext>
            </a:extLst>
          </p:cNvPr>
          <p:cNvSpPr txBox="1"/>
          <p:nvPr/>
        </p:nvSpPr>
        <p:spPr>
          <a:xfrm>
            <a:off x="5689599" y="209550"/>
            <a:ext cx="857250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>
                <a:latin typeface="+mn-lt"/>
              </a:rPr>
              <a:t>Society</a:t>
            </a:r>
            <a:endParaRPr lang="LID4096" sz="1600" b="1" dirty="0">
              <a:latin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229B6-0F3F-7DC4-5DBE-7354999A1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44A65B0-90DE-4F0F-A633-3DFB10CF9468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2BE58-FDAD-ED55-A575-2CC3377649AD}"/>
              </a:ext>
            </a:extLst>
          </p:cNvPr>
          <p:cNvSpPr txBox="1"/>
          <p:nvPr/>
        </p:nvSpPr>
        <p:spPr>
          <a:xfrm>
            <a:off x="5689599" y="1466850"/>
            <a:ext cx="857250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>
                <a:latin typeface="+mn-lt"/>
              </a:rPr>
              <a:t>Devices</a:t>
            </a:r>
            <a:endParaRPr lang="LID4096" sz="1600" b="1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CEE3A9-3216-11EC-4B31-D4A55D64D48A}"/>
              </a:ext>
            </a:extLst>
          </p:cNvPr>
          <p:cNvSpPr txBox="1"/>
          <p:nvPr/>
        </p:nvSpPr>
        <p:spPr>
          <a:xfrm>
            <a:off x="5689599" y="2343150"/>
            <a:ext cx="857250" cy="2339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b="1" dirty="0">
                <a:latin typeface="+mn-lt"/>
              </a:rPr>
              <a:t>People</a:t>
            </a:r>
            <a:endParaRPr lang="LID4096" sz="1600" b="1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F8D52-9BF7-85AA-352F-FEEAD7D1D1C5}"/>
              </a:ext>
            </a:extLst>
          </p:cNvPr>
          <p:cNvSpPr txBox="1"/>
          <p:nvPr/>
        </p:nvSpPr>
        <p:spPr>
          <a:xfrm>
            <a:off x="833438" y="2653723"/>
            <a:ext cx="1676400" cy="13542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latin typeface="AU Passata Light" panose="020B0303030902030804" pitchFamily="34" charset="0"/>
              </a:rPr>
              <a:t>PEOPLE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👀 Perception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🧠 Cognition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🏃‍♂️ Behavior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❤️ Needs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DF491F8-859D-92E1-97A3-BEC6B4D4AFF7}"/>
              </a:ext>
            </a:extLst>
          </p:cNvPr>
          <p:cNvSpPr txBox="1"/>
          <p:nvPr/>
        </p:nvSpPr>
        <p:spPr>
          <a:xfrm>
            <a:off x="9179719" y="229588"/>
            <a:ext cx="2709862" cy="135421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latin typeface="AU Passata Light" panose="020B0303030902030804" pitchFamily="34" charset="0"/>
              </a:rPr>
              <a:t>DEVICES &amp; SPACE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💻Devices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🌡️ Sensors &amp; Actuators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🥽 XR &amp; Spatial Computing 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🏠 Physical Context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C9A9FE-2209-5C88-C96E-D437F3B92C43}"/>
              </a:ext>
            </a:extLst>
          </p:cNvPr>
          <p:cNvSpPr txBox="1"/>
          <p:nvPr/>
        </p:nvSpPr>
        <p:spPr>
          <a:xfrm>
            <a:off x="8951119" y="4480131"/>
            <a:ext cx="2709862" cy="182203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91440" rIns="91440" bIns="9144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b="1" dirty="0">
                <a:latin typeface="AU Passata Light" panose="020B0303030902030804" pitchFamily="34" charset="0"/>
              </a:rPr>
              <a:t>DATA &amp; SOCIETY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🤝 Teams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💬 Communication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📈 Data &amp; Models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🤖 Human-Centered AI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☁️ Infrastructure</a:t>
            </a:r>
          </a:p>
          <a:p>
            <a:pPr>
              <a:lnSpc>
                <a:spcPct val="95000"/>
              </a:lnSpc>
            </a:pPr>
            <a:r>
              <a:rPr lang="en-US" sz="1600" dirty="0">
                <a:latin typeface="AU Passata Light" panose="020B0303030902030804" pitchFamily="34" charset="0"/>
              </a:rPr>
              <a:t>🏛️ Society &amp; Institutions</a:t>
            </a:r>
          </a:p>
        </p:txBody>
      </p:sp>
    </p:spTree>
    <p:extLst>
      <p:ext uri="{BB962C8B-B14F-4D97-AF65-F5344CB8AC3E}">
        <p14:creationId xmlns:p14="http://schemas.microsoft.com/office/powerpoint/2010/main" val="2361938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BDC4AE-A52C-0C00-4355-290E1BDC23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705675"/>
            <a:ext cx="0" cy="0"/>
          </a:xfrm>
        </p:spPr>
        <p:txBody>
          <a:bodyPr/>
          <a:lstStyle/>
          <a:p>
            <a:pPr rtl="0"/>
            <a:fld id="{9320625A-98B8-4D56-9D63-4A930D28E30B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BC949-F1C9-4E86-282E-5A955EC048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86"/>
          <a:stretch>
            <a:fillRect/>
          </a:stretch>
        </p:blipFill>
        <p:spPr bwMode="auto">
          <a:xfrm>
            <a:off x="3186639" y="239587"/>
            <a:ext cx="1188720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45EAD202-DB52-6ADA-C942-43A3D91BA2A2}"/>
              </a:ext>
            </a:extLst>
          </p:cNvPr>
          <p:cNvPicPr>
            <a:picLocks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56"/>
          <a:stretch>
            <a:fillRect/>
          </a:stretch>
        </p:blipFill>
        <p:spPr bwMode="auto">
          <a:xfrm>
            <a:off x="5499099" y="239587"/>
            <a:ext cx="1188720" cy="118872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53D08338-C485-F3A8-CAD6-AA7E2110A3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71"/>
          <a:stretch>
            <a:fillRect/>
          </a:stretch>
        </p:blipFill>
        <p:spPr bwMode="auto">
          <a:xfrm>
            <a:off x="5499100" y="2289161"/>
            <a:ext cx="1190625" cy="119484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6449ECD7-4F95-5286-B2A3-58CE8163F2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79"/>
          <a:stretch>
            <a:fillRect/>
          </a:stretch>
        </p:blipFill>
        <p:spPr bwMode="auto">
          <a:xfrm>
            <a:off x="10125925" y="239587"/>
            <a:ext cx="1190625" cy="120759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Hans Gellersen, Professor">
            <a:extLst>
              <a:ext uri="{FF2B5EF4-FFF2-40B4-BE49-F238E27FC236}">
                <a16:creationId xmlns:a16="http://schemas.microsoft.com/office/drawing/2014/main" id="{3ABCA3D8-A323-2BF1-3949-96A4F6D023A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00"/>
          <a:stretch>
            <a:fillRect/>
          </a:stretch>
        </p:blipFill>
        <p:spPr bwMode="auto">
          <a:xfrm>
            <a:off x="7811559" y="239587"/>
            <a:ext cx="1190625" cy="118872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2">
            <a:extLst>
              <a:ext uri="{FF2B5EF4-FFF2-40B4-BE49-F238E27FC236}">
                <a16:creationId xmlns:a16="http://schemas.microsoft.com/office/drawing/2014/main" id="{CD796FD3-0E3A-0B97-AF4A-BFFBB461DB5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00"/>
          <a:stretch>
            <a:fillRect/>
          </a:stretch>
        </p:blipFill>
        <p:spPr bwMode="auto">
          <a:xfrm>
            <a:off x="872274" y="239587"/>
            <a:ext cx="1190625" cy="1188719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>
            <a:extLst>
              <a:ext uri="{FF2B5EF4-FFF2-40B4-BE49-F238E27FC236}">
                <a16:creationId xmlns:a16="http://schemas.microsoft.com/office/drawing/2014/main" id="{C6920111-0DAC-4FBE-8672-F887867AD3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20"/>
          <a:stretch>
            <a:fillRect/>
          </a:stretch>
        </p:blipFill>
        <p:spPr bwMode="auto">
          <a:xfrm>
            <a:off x="10125925" y="2289161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6">
            <a:extLst>
              <a:ext uri="{FF2B5EF4-FFF2-40B4-BE49-F238E27FC236}">
                <a16:creationId xmlns:a16="http://schemas.microsoft.com/office/drawing/2014/main" id="{64A3F36E-4972-0D3E-8B3D-D29EDE8BA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20"/>
          <a:stretch>
            <a:fillRect/>
          </a:stretch>
        </p:blipFill>
        <p:spPr bwMode="auto">
          <a:xfrm>
            <a:off x="3185687" y="2289161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extLst>
              <a:ext uri="{FF2B5EF4-FFF2-40B4-BE49-F238E27FC236}">
                <a16:creationId xmlns:a16="http://schemas.microsoft.com/office/drawing/2014/main" id="{F42F69D9-DA36-764B-BDBF-E35601EAE3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96"/>
          <a:stretch>
            <a:fillRect/>
          </a:stretch>
        </p:blipFill>
        <p:spPr bwMode="auto">
          <a:xfrm>
            <a:off x="7812513" y="2289161"/>
            <a:ext cx="1190625" cy="123164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2">
            <a:extLst>
              <a:ext uri="{FF2B5EF4-FFF2-40B4-BE49-F238E27FC236}">
                <a16:creationId xmlns:a16="http://schemas.microsoft.com/office/drawing/2014/main" id="{22751ADB-9B00-934C-BD72-850E227EC7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6919"/>
          <a:stretch>
            <a:fillRect/>
          </a:stretch>
        </p:blipFill>
        <p:spPr bwMode="auto">
          <a:xfrm>
            <a:off x="872274" y="4312200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4">
            <a:extLst>
              <a:ext uri="{FF2B5EF4-FFF2-40B4-BE49-F238E27FC236}">
                <a16:creationId xmlns:a16="http://schemas.microsoft.com/office/drawing/2014/main" id="{1790ED91-B817-E3B2-1EB6-8392EC43A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8"/>
          <a:stretch>
            <a:fillRect/>
          </a:stretch>
        </p:blipFill>
        <p:spPr bwMode="auto">
          <a:xfrm>
            <a:off x="5499100" y="4389464"/>
            <a:ext cx="1190625" cy="116218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6">
            <a:extLst>
              <a:ext uri="{FF2B5EF4-FFF2-40B4-BE49-F238E27FC236}">
                <a16:creationId xmlns:a16="http://schemas.microsoft.com/office/drawing/2014/main" id="{7B63DB04-5D85-02F0-173E-141C1ED5CB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7"/>
          <a:stretch>
            <a:fillRect/>
          </a:stretch>
        </p:blipFill>
        <p:spPr bwMode="auto">
          <a:xfrm>
            <a:off x="872274" y="2289161"/>
            <a:ext cx="1190625" cy="116218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8">
            <a:extLst>
              <a:ext uri="{FF2B5EF4-FFF2-40B4-BE49-F238E27FC236}">
                <a16:creationId xmlns:a16="http://schemas.microsoft.com/office/drawing/2014/main" id="{3A314349-A401-2A46-8169-4C68E99C07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657"/>
          <a:stretch>
            <a:fillRect/>
          </a:stretch>
        </p:blipFill>
        <p:spPr bwMode="auto">
          <a:xfrm>
            <a:off x="3184734" y="4382564"/>
            <a:ext cx="1190625" cy="116218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9EE3DC9-BC86-A895-1C25-E96EE3200078}"/>
              </a:ext>
            </a:extLst>
          </p:cNvPr>
          <p:cNvSpPr txBox="1"/>
          <p:nvPr/>
        </p:nvSpPr>
        <p:spPr>
          <a:xfrm>
            <a:off x="204834" y="1492650"/>
            <a:ext cx="2525504" cy="701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Olav W. Bertelsen</a:t>
            </a:r>
            <a:br>
              <a:rPr lang="en-US" sz="1200" b="1" dirty="0">
                <a:latin typeface="AU Passata Light" panose="020B0303030902030804" pitchFamily="34" charset="0"/>
              </a:rPr>
            </a:br>
            <a:r>
              <a:rPr lang="en-US" sz="1200" b="1" dirty="0">
                <a:latin typeface="AU Passata Light" panose="020B0303030902030804" pitchFamily="34" charset="0"/>
              </a:rPr>
              <a:t>(Associate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Participatory Design, Computer Supported Collaborative Work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34B89D-3EFB-693A-DAED-CA60DF8AED68}"/>
              </a:ext>
            </a:extLst>
          </p:cNvPr>
          <p:cNvSpPr txBox="1"/>
          <p:nvPr/>
        </p:nvSpPr>
        <p:spPr>
          <a:xfrm>
            <a:off x="2517294" y="1492650"/>
            <a:ext cx="2525504" cy="701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Susanne Bødker (Professor)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Participatory Design, Computer Supported Collaborative Work, Interaction Design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04E6F00-ED75-B08E-8EC9-96319280AF5A}"/>
              </a:ext>
            </a:extLst>
          </p:cNvPr>
          <p:cNvSpPr txBox="1"/>
          <p:nvPr/>
        </p:nvSpPr>
        <p:spPr>
          <a:xfrm>
            <a:off x="4829754" y="1492650"/>
            <a:ext cx="2525504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Niklas Elmqvist (Professor)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Data Visualization, Visual Analytics, Human-Centered AI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465977-C68D-175F-80D5-82210EF1D39B}"/>
              </a:ext>
            </a:extLst>
          </p:cNvPr>
          <p:cNvSpPr txBox="1"/>
          <p:nvPr/>
        </p:nvSpPr>
        <p:spPr>
          <a:xfrm>
            <a:off x="7144119" y="1492650"/>
            <a:ext cx="2525504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Hans </a:t>
            </a:r>
            <a:r>
              <a:rPr lang="en-US" sz="1200" b="1" dirty="0" err="1">
                <a:latin typeface="AU Passata Light" panose="020B0303030902030804" pitchFamily="34" charset="0"/>
              </a:rPr>
              <a:t>Gellersen</a:t>
            </a:r>
            <a:r>
              <a:rPr lang="en-US" sz="1200" b="1" dirty="0">
                <a:latin typeface="AU Passata Light" panose="020B0303030902030804" pitchFamily="34" charset="0"/>
              </a:rPr>
              <a:t> (Professor)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Ubiquitous Computing, Gaze Interaction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A299A7-D41D-0E80-7DA7-B1A06DB68CFE}"/>
              </a:ext>
            </a:extLst>
          </p:cNvPr>
          <p:cNvSpPr txBox="1"/>
          <p:nvPr/>
        </p:nvSpPr>
        <p:spPr>
          <a:xfrm>
            <a:off x="9454673" y="1492650"/>
            <a:ext cx="273415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Marianne Graves Pedersen (Professor)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Shape-Changing Interfaces, Tangible Interaction, Child-Computer Interaction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F350E2-4FDB-378C-64FD-26EB37D86F0E}"/>
              </a:ext>
            </a:extLst>
          </p:cNvPr>
          <p:cNvSpPr txBox="1"/>
          <p:nvPr/>
        </p:nvSpPr>
        <p:spPr>
          <a:xfrm>
            <a:off x="204834" y="3520805"/>
            <a:ext cx="2525504" cy="701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Jens Emil Grønbæk</a:t>
            </a:r>
            <a:br>
              <a:rPr lang="en-US" sz="1200" b="1" dirty="0">
                <a:latin typeface="AU Passata Light" panose="020B0303030902030804" pitchFamily="34" charset="0"/>
              </a:rPr>
            </a:br>
            <a:r>
              <a:rPr lang="en-US" sz="1200" b="1" dirty="0">
                <a:latin typeface="AU Passata Light" panose="020B0303030902030804" pitchFamily="34" charset="0"/>
              </a:rPr>
              <a:t>(Assistant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Proxemics, Mixed Reality  Collaboration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B56767-9EE2-F20F-A3AB-30CAA8E6103C}"/>
              </a:ext>
            </a:extLst>
          </p:cNvPr>
          <p:cNvSpPr txBox="1"/>
          <p:nvPr/>
        </p:nvSpPr>
        <p:spPr>
          <a:xfrm>
            <a:off x="2517294" y="3565637"/>
            <a:ext cx="2525504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Clemens Nylandsted Klokmose (Associate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HCI, Interactive Systems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B817531-E816-0F7B-64B0-01A7FD2B1E72}"/>
              </a:ext>
            </a:extLst>
          </p:cNvPr>
          <p:cNvSpPr txBox="1"/>
          <p:nvPr/>
        </p:nvSpPr>
        <p:spPr>
          <a:xfrm>
            <a:off x="4830123" y="3554633"/>
            <a:ext cx="2525504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Tobias Langlotz (Professor)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Augmented Reality, Visual Computing, Vision Augmentation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4143E8-4E0D-8940-6A3D-4D13FB2FD798}"/>
              </a:ext>
            </a:extLst>
          </p:cNvPr>
          <p:cNvSpPr txBox="1"/>
          <p:nvPr/>
        </p:nvSpPr>
        <p:spPr>
          <a:xfrm>
            <a:off x="7142583" y="3591437"/>
            <a:ext cx="2525504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Ken Pfeuffer (Associate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Eye Tracking, Ubiquitous Computing, Gaze Interaction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F20AED-1818-0259-451F-47421E6427BF}"/>
              </a:ext>
            </a:extLst>
          </p:cNvPr>
          <p:cNvSpPr txBox="1"/>
          <p:nvPr/>
        </p:nvSpPr>
        <p:spPr>
          <a:xfrm>
            <a:off x="9558996" y="3591437"/>
            <a:ext cx="2525504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Eve Hoggan (Associate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Multimodal Interaction, Mobile Interaction, CSCW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2A8DD4-B17E-F222-E50E-E23CC6E25E08}"/>
              </a:ext>
            </a:extLst>
          </p:cNvPr>
          <p:cNvSpPr txBox="1"/>
          <p:nvPr/>
        </p:nvSpPr>
        <p:spPr>
          <a:xfrm>
            <a:off x="204834" y="5588875"/>
            <a:ext cx="2525504" cy="701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Hans-Jörg Schulz</a:t>
            </a:r>
            <a:br>
              <a:rPr lang="en-US" sz="1200" b="1" dirty="0">
                <a:latin typeface="AU Passata Light" panose="020B0303030902030804" pitchFamily="34" charset="0"/>
              </a:rPr>
            </a:br>
            <a:r>
              <a:rPr lang="en-US" sz="1200" b="1" dirty="0">
                <a:latin typeface="AU Passata Light" panose="020B0303030902030804" pitchFamily="34" charset="0"/>
              </a:rPr>
              <a:t>(Associate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: Visual Analytics, Data Visualization, Human-Data Interaction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F6E5D5-ABCC-1393-E54F-7B812D9BFCCE}"/>
              </a:ext>
            </a:extLst>
          </p:cNvPr>
          <p:cNvSpPr txBox="1"/>
          <p:nvPr/>
        </p:nvSpPr>
        <p:spPr>
          <a:xfrm>
            <a:off x="2517294" y="5636051"/>
            <a:ext cx="2525504" cy="7017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Michael Wessely</a:t>
            </a:r>
            <a:br>
              <a:rPr lang="en-US" sz="1200" b="1" dirty="0">
                <a:latin typeface="AU Passata Light" panose="020B0303030902030804" pitchFamily="34" charset="0"/>
              </a:rPr>
            </a:br>
            <a:r>
              <a:rPr lang="en-US" sz="1200" b="1" dirty="0">
                <a:latin typeface="AU Passata Light" panose="020B0303030902030804" pitchFamily="34" charset="0"/>
              </a:rPr>
              <a:t>(Assistant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Fabrication, Engineering,</a:t>
            </a:r>
            <a:br>
              <a:rPr lang="en-US" sz="1200" dirty="0">
                <a:latin typeface="AU Passata Light" panose="020B0303030902030804" pitchFamily="34" charset="0"/>
              </a:rPr>
            </a:br>
            <a:r>
              <a:rPr lang="en-US" sz="1200" dirty="0">
                <a:latin typeface="AU Passata Light" panose="020B0303030902030804" pitchFamily="34" charset="0"/>
              </a:rPr>
              <a:t>Interactive Systems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87DC04-8F2B-F45D-FE78-9666EC76D8A4}"/>
              </a:ext>
            </a:extLst>
          </p:cNvPr>
          <p:cNvSpPr txBox="1"/>
          <p:nvPr/>
        </p:nvSpPr>
        <p:spPr>
          <a:xfrm>
            <a:off x="4830123" y="5616616"/>
            <a:ext cx="2525504" cy="8771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200" b="1" dirty="0">
                <a:latin typeface="AU Passata Light" panose="020B0303030902030804" pitchFamily="34" charset="0"/>
              </a:rPr>
              <a:t>Stefanie </a:t>
            </a:r>
            <a:r>
              <a:rPr lang="en-US" sz="1200" b="1" dirty="0" err="1">
                <a:latin typeface="AU Passata Light" panose="020B0303030902030804" pitchFamily="34" charset="0"/>
              </a:rPr>
              <a:t>Zollmann</a:t>
            </a:r>
            <a:br>
              <a:rPr lang="en-US" sz="1200" b="1" dirty="0">
                <a:latin typeface="AU Passata Light" panose="020B0303030902030804" pitchFamily="34" charset="0"/>
              </a:rPr>
            </a:br>
            <a:r>
              <a:rPr lang="en-US" sz="1200" b="1" dirty="0">
                <a:latin typeface="AU Passata Light" panose="020B0303030902030804" pitchFamily="34" charset="0"/>
              </a:rPr>
              <a:t>(Associate Professor)</a:t>
            </a:r>
          </a:p>
          <a:p>
            <a:pPr algn="ctr">
              <a:lnSpc>
                <a:spcPct val="95000"/>
              </a:lnSpc>
            </a:pPr>
            <a:r>
              <a:rPr lang="en-US" sz="1200" dirty="0">
                <a:latin typeface="AU Passata Light" panose="020B0303030902030804" pitchFamily="34" charset="0"/>
              </a:rPr>
              <a:t>Visual Computing, Visualization, Augmented Reality, XR, Computer Graphics</a:t>
            </a:r>
            <a:endParaRPr lang="LID4096" sz="1200" dirty="0">
              <a:latin typeface="AU Passata Light" panose="020B03030309020308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6999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1D980-6C05-661D-C7D3-A93B18480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4247" y="4927807"/>
            <a:ext cx="10220325" cy="1087024"/>
          </a:xfrm>
        </p:spPr>
        <p:txBody>
          <a:bodyPr/>
          <a:lstStyle/>
          <a:p>
            <a:r>
              <a:rPr lang="en-US" dirty="0"/>
              <a:t>Binned </a:t>
            </a:r>
            <a:r>
              <a:rPr lang="en-US" dirty="0" err="1"/>
              <a:t>RadViz</a:t>
            </a:r>
            <a:r>
              <a:rPr lang="en-US" dirty="0"/>
              <a:t> </a:t>
            </a:r>
            <a:r>
              <a:rPr lang="en-US" dirty="0" err="1"/>
              <a:t>Visualisation</a:t>
            </a:r>
            <a:endParaRPr lang="en-US" dirty="0"/>
          </a:p>
          <a:p>
            <a:r>
              <a:rPr lang="en-US" dirty="0"/>
              <a:t>Interaction Techniques for the Triangulation Model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0F9C34-326B-B924-F118-8C338874C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DB478EB-2B02-324F-AAD5-6FABFF2D12C8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1C1907-8D22-07B0-2874-F6B044B6C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Human-Data Interaction</a:t>
            </a:r>
          </a:p>
        </p:txBody>
      </p:sp>
      <p:pic>
        <p:nvPicPr>
          <p:cNvPr id="5" name="Picture 4" descr="A diagram of a person's face&#10;&#10;AI-generated content may be incorrect.">
            <a:extLst>
              <a:ext uri="{FF2B5EF4-FFF2-40B4-BE49-F238E27FC236}">
                <a16:creationId xmlns:a16="http://schemas.microsoft.com/office/drawing/2014/main" id="{2A849A11-4923-5F6B-9915-5FBAE6179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2528" y="1675698"/>
            <a:ext cx="7923765" cy="3034854"/>
          </a:xfrm>
          <a:prstGeom prst="rect">
            <a:avLst/>
          </a:prstGeom>
        </p:spPr>
      </p:pic>
      <p:pic>
        <p:nvPicPr>
          <p:cNvPr id="7" name="Picture 22">
            <a:extLst>
              <a:ext uri="{FF2B5EF4-FFF2-40B4-BE49-F238E27FC236}">
                <a16:creationId xmlns:a16="http://schemas.microsoft.com/office/drawing/2014/main" id="{B0309299-E93D-AC3E-D1D7-8B8FC11A70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6919"/>
          <a:stretch>
            <a:fillRect/>
          </a:stretch>
        </p:blipFill>
        <p:spPr bwMode="auto">
          <a:xfrm>
            <a:off x="10682287" y="271432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E2626E-2D3A-AF87-C603-C429F052E364}"/>
              </a:ext>
            </a:extLst>
          </p:cNvPr>
          <p:cNvSpPr txBox="1"/>
          <p:nvPr/>
        </p:nvSpPr>
        <p:spPr>
          <a:xfrm>
            <a:off x="10499341" y="1580760"/>
            <a:ext cx="1556516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Hans-Jörg Schulz</a:t>
            </a:r>
          </a:p>
        </p:txBody>
      </p:sp>
    </p:spTree>
    <p:extLst>
      <p:ext uri="{BB962C8B-B14F-4D97-AF65-F5344CB8AC3E}">
        <p14:creationId xmlns:p14="http://schemas.microsoft.com/office/powerpoint/2010/main" val="365218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F36D2D2-80DC-96CD-AD87-3C2BD31D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VR and 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95A46-DBF4-9F5D-BFE8-8CC83F981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Perceptually-Aware Foveated Rendering in VR</a:t>
            </a:r>
          </a:p>
          <a:p>
            <a:r>
              <a:rPr lang="en-US" dirty="0"/>
              <a:t>Stable VR360 </a:t>
            </a:r>
            <a:r>
              <a:rPr lang="en-US" dirty="0" err="1"/>
              <a:t>Outpainting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Comparing Plane-Based 3D Selection Techniques in Augmented Reality</a:t>
            </a:r>
          </a:p>
          <a:p>
            <a:br>
              <a:rPr lang="en-US" dirty="0"/>
            </a:br>
            <a:r>
              <a:rPr lang="en-US" dirty="0"/>
              <a:t>Exploration Of Interaction Techniques In XR</a:t>
            </a:r>
          </a:p>
          <a:p>
            <a:endParaRPr lang="en-US" dirty="0"/>
          </a:p>
          <a:p>
            <a:r>
              <a:rPr lang="en-US" dirty="0"/>
              <a:t>Virtual Tourism</a:t>
            </a:r>
          </a:p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2DA981-6CE9-E1C1-A12D-0C2291D8E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D1AC7AE-57CB-7C46-986D-4F35D73F528B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BF8212-C124-BE84-148C-54732D5CD548}"/>
              </a:ext>
            </a:extLst>
          </p:cNvPr>
          <p:cNvSpPr txBox="1"/>
          <p:nvPr/>
        </p:nvSpPr>
        <p:spPr>
          <a:xfrm>
            <a:off x="10499341" y="1458443"/>
            <a:ext cx="1661417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Stefanie </a:t>
            </a:r>
            <a:r>
              <a:rPr lang="en-US" sz="1600" dirty="0" err="1">
                <a:latin typeface="+mn-lt"/>
              </a:rPr>
              <a:t>Zollmann</a:t>
            </a:r>
            <a:endParaRPr lang="en-US" sz="1600" dirty="0">
              <a:latin typeface="+mn-lt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ECFBF30-C190-53A0-9D63-286834F91430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56"/>
          <a:stretch>
            <a:fillRect/>
          </a:stretch>
        </p:blipFill>
        <p:spPr bwMode="auto">
          <a:xfrm>
            <a:off x="10683239" y="1726108"/>
            <a:ext cx="1188720" cy="118872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4">
            <a:extLst>
              <a:ext uri="{FF2B5EF4-FFF2-40B4-BE49-F238E27FC236}">
                <a16:creationId xmlns:a16="http://schemas.microsoft.com/office/drawing/2014/main" id="{C62883A2-C00C-1CD5-19BD-DA95EB447E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8"/>
          <a:stretch>
            <a:fillRect/>
          </a:stretch>
        </p:blipFill>
        <p:spPr bwMode="auto">
          <a:xfrm>
            <a:off x="10682287" y="297250"/>
            <a:ext cx="1190625" cy="116218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5D11D840-8480-37E1-5654-39E34AE4C8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71"/>
          <a:stretch>
            <a:fillRect/>
          </a:stretch>
        </p:blipFill>
        <p:spPr bwMode="auto">
          <a:xfrm>
            <a:off x="10682287" y="4679820"/>
            <a:ext cx="1190625" cy="119484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8">
            <a:extLst>
              <a:ext uri="{FF2B5EF4-FFF2-40B4-BE49-F238E27FC236}">
                <a16:creationId xmlns:a16="http://schemas.microsoft.com/office/drawing/2014/main" id="{4E9A335E-06AF-C677-78AC-4E3A53C2C7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96"/>
          <a:stretch>
            <a:fillRect/>
          </a:stretch>
        </p:blipFill>
        <p:spPr bwMode="auto">
          <a:xfrm>
            <a:off x="10682287" y="3181502"/>
            <a:ext cx="1190625" cy="123164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A609EA-3A13-209F-7CDF-1A44A1E25FAA}"/>
              </a:ext>
            </a:extLst>
          </p:cNvPr>
          <p:cNvSpPr txBox="1"/>
          <p:nvPr/>
        </p:nvSpPr>
        <p:spPr>
          <a:xfrm>
            <a:off x="10656788" y="2942662"/>
            <a:ext cx="1346522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Niklas Elmqvist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A5B419-E4F5-04F4-D42C-8AC182A79D81}"/>
              </a:ext>
            </a:extLst>
          </p:cNvPr>
          <p:cNvSpPr txBox="1"/>
          <p:nvPr/>
        </p:nvSpPr>
        <p:spPr>
          <a:xfrm>
            <a:off x="10722607" y="4447815"/>
            <a:ext cx="1109984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Ken Pfeuffer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21AF74-9CBF-1194-9D91-71753F32C006}"/>
              </a:ext>
            </a:extLst>
          </p:cNvPr>
          <p:cNvSpPr txBox="1"/>
          <p:nvPr/>
        </p:nvSpPr>
        <p:spPr>
          <a:xfrm>
            <a:off x="10631268" y="5932232"/>
            <a:ext cx="1397562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Tobias Langlotz</a:t>
            </a:r>
          </a:p>
        </p:txBody>
      </p:sp>
    </p:spTree>
    <p:extLst>
      <p:ext uri="{BB962C8B-B14F-4D97-AF65-F5344CB8AC3E}">
        <p14:creationId xmlns:p14="http://schemas.microsoft.com/office/powerpoint/2010/main" val="15127079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E6CE55-E20D-D95B-45C7-D06FBE24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fabrication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CC7A43-D653-8B2B-0F1B-98AB3CDC3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Parametric Design: Bridging LLMs and 3D Manufacturing</a:t>
            </a:r>
          </a:p>
          <a:p>
            <a:r>
              <a:rPr lang="en-US" dirty="0"/>
              <a:t>Flexible, Soft, Skin-Mounted E-Ink Displays</a:t>
            </a:r>
          </a:p>
          <a:p>
            <a:endParaRPr lang="en-US" dirty="0"/>
          </a:p>
          <a:p>
            <a:r>
              <a:rPr lang="en-US" dirty="0"/>
              <a:t>Smart Sunglasses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1876A8-5E54-37B3-7876-7BB248755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3B2E695-3B1F-CC44-AB3F-EB7D05D0C8FC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29A10F20-AD2D-AC14-CC0A-0DEA74C2D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6919"/>
          <a:stretch>
            <a:fillRect/>
          </a:stretch>
        </p:blipFill>
        <p:spPr bwMode="auto">
          <a:xfrm>
            <a:off x="10682287" y="271432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5DA6B8-ECF1-1389-3288-38C2D20BD76C}"/>
              </a:ext>
            </a:extLst>
          </p:cNvPr>
          <p:cNvSpPr txBox="1"/>
          <p:nvPr/>
        </p:nvSpPr>
        <p:spPr>
          <a:xfrm>
            <a:off x="10499341" y="1580760"/>
            <a:ext cx="1514645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Michael Wessely</a:t>
            </a:r>
          </a:p>
        </p:txBody>
      </p:sp>
      <p:pic>
        <p:nvPicPr>
          <p:cNvPr id="7" name="Picture 28">
            <a:extLst>
              <a:ext uri="{FF2B5EF4-FFF2-40B4-BE49-F238E27FC236}">
                <a16:creationId xmlns:a16="http://schemas.microsoft.com/office/drawing/2014/main" id="{8737B455-EB5E-1AB6-18E2-61945C51B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657"/>
          <a:stretch>
            <a:fillRect/>
          </a:stretch>
        </p:blipFill>
        <p:spPr bwMode="auto">
          <a:xfrm>
            <a:off x="10682287" y="283845"/>
            <a:ext cx="1190625" cy="116218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61D7C191-86D5-3806-AF05-30691A2A9E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71"/>
          <a:stretch>
            <a:fillRect/>
          </a:stretch>
        </p:blipFill>
        <p:spPr bwMode="auto">
          <a:xfrm>
            <a:off x="10682287" y="2116883"/>
            <a:ext cx="1190625" cy="119484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0763B2-9E75-9DA4-56AE-C5608562EEFF}"/>
              </a:ext>
            </a:extLst>
          </p:cNvPr>
          <p:cNvSpPr txBox="1"/>
          <p:nvPr/>
        </p:nvSpPr>
        <p:spPr>
          <a:xfrm>
            <a:off x="10614564" y="3457132"/>
            <a:ext cx="1399422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Tobias Langlotz</a:t>
            </a:r>
          </a:p>
        </p:txBody>
      </p:sp>
    </p:spTree>
    <p:extLst>
      <p:ext uri="{BB962C8B-B14F-4D97-AF65-F5344CB8AC3E}">
        <p14:creationId xmlns:p14="http://schemas.microsoft.com/office/powerpoint/2010/main" val="601359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317FE8-6BA7-18B3-6FB0-AA4E2A05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Hybrid/remote collaboration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BAB1-B800-DED9-6DA3-E271F0C8D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Generative Interfaces for AI-Augmented Meeting Histories </a:t>
            </a:r>
          </a:p>
          <a:p>
            <a:endParaRPr lang="en-US" dirty="0"/>
          </a:p>
          <a:p>
            <a:r>
              <a:rPr lang="en-US" dirty="0"/>
              <a:t>How can Mixed Reality blend different spaces for collaboration?</a:t>
            </a:r>
            <a:br>
              <a:rPr lang="en-US" dirty="0"/>
            </a:br>
            <a:r>
              <a:rPr lang="en-US" dirty="0"/>
              <a:t>Mixed Reality Whiteboard Collaboration</a:t>
            </a:r>
          </a:p>
          <a:p>
            <a:endParaRPr lang="en-US" dirty="0"/>
          </a:p>
          <a:p>
            <a:r>
              <a:rPr lang="en-US" dirty="0"/>
              <a:t>Multimodal Physical Computing Interfaces for Mobile Hybrid Meetings</a:t>
            </a:r>
            <a:br>
              <a:rPr lang="en-US" dirty="0"/>
            </a:b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1ED47D-8D04-2B20-1215-2F88B2A6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B96EDEF-8950-384D-B2D0-8064F133E05D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37DEEFAB-CAB5-C8D9-176E-50D06E1CA7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6919"/>
          <a:stretch>
            <a:fillRect/>
          </a:stretch>
        </p:blipFill>
        <p:spPr bwMode="auto">
          <a:xfrm>
            <a:off x="10682287" y="271432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089C714-9814-D8DA-58AA-8EEE4BC7F59A}"/>
              </a:ext>
            </a:extLst>
          </p:cNvPr>
          <p:cNvSpPr txBox="1"/>
          <p:nvPr/>
        </p:nvSpPr>
        <p:spPr>
          <a:xfrm>
            <a:off x="10393541" y="1592306"/>
            <a:ext cx="1752083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Clemens Klokmose</a:t>
            </a:r>
          </a:p>
        </p:txBody>
      </p:sp>
      <p:pic>
        <p:nvPicPr>
          <p:cNvPr id="7" name="Picture 16">
            <a:extLst>
              <a:ext uri="{FF2B5EF4-FFF2-40B4-BE49-F238E27FC236}">
                <a16:creationId xmlns:a16="http://schemas.microsoft.com/office/drawing/2014/main" id="{0396C1B8-EF92-4C4D-F5B7-A5271A45F8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20"/>
          <a:stretch>
            <a:fillRect/>
          </a:stretch>
        </p:blipFill>
        <p:spPr bwMode="auto">
          <a:xfrm>
            <a:off x="10682286" y="271432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6">
            <a:extLst>
              <a:ext uri="{FF2B5EF4-FFF2-40B4-BE49-F238E27FC236}">
                <a16:creationId xmlns:a16="http://schemas.microsoft.com/office/drawing/2014/main" id="{78A7206B-E364-1676-EE10-028C01515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57"/>
          <a:stretch>
            <a:fillRect/>
          </a:stretch>
        </p:blipFill>
        <p:spPr bwMode="auto">
          <a:xfrm>
            <a:off x="10780069" y="1960079"/>
            <a:ext cx="1190625" cy="1162184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421B8A-3D8A-5B6A-3DB5-8253022F2015}"/>
              </a:ext>
            </a:extLst>
          </p:cNvPr>
          <p:cNvSpPr txBox="1"/>
          <p:nvPr/>
        </p:nvSpPr>
        <p:spPr>
          <a:xfrm>
            <a:off x="10393541" y="3195090"/>
            <a:ext cx="1768113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Jens Emil Grønbæk</a:t>
            </a:r>
          </a:p>
        </p:txBody>
      </p:sp>
      <p:pic>
        <p:nvPicPr>
          <p:cNvPr id="10" name="Picture 14">
            <a:extLst>
              <a:ext uri="{FF2B5EF4-FFF2-40B4-BE49-F238E27FC236}">
                <a16:creationId xmlns:a16="http://schemas.microsoft.com/office/drawing/2014/main" id="{776A2338-19A7-693B-BE91-645753EC92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20"/>
          <a:stretch>
            <a:fillRect/>
          </a:stretch>
        </p:blipFill>
        <p:spPr bwMode="auto">
          <a:xfrm>
            <a:off x="10780068" y="3610863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41F6EF-330E-C203-644B-623E8E71D07E}"/>
              </a:ext>
            </a:extLst>
          </p:cNvPr>
          <p:cNvSpPr txBox="1"/>
          <p:nvPr/>
        </p:nvSpPr>
        <p:spPr>
          <a:xfrm>
            <a:off x="10814329" y="4862782"/>
            <a:ext cx="1122102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Eve Hoggan</a:t>
            </a:r>
          </a:p>
        </p:txBody>
      </p:sp>
    </p:spTree>
    <p:extLst>
      <p:ext uri="{BB962C8B-B14F-4D97-AF65-F5344CB8AC3E}">
        <p14:creationId xmlns:p14="http://schemas.microsoft.com/office/powerpoint/2010/main" val="1106168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4D214-AED0-8F03-91AE-BFCA5159B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0C71A-3785-6595-35AD-94D991AE7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Designing Tools for Cryptography Education</a:t>
            </a:r>
          </a:p>
          <a:p>
            <a:r>
              <a:rPr lang="en-US" dirty="0"/>
              <a:t>Tools, Activities and Resources for Education about Generative AI</a:t>
            </a:r>
          </a:p>
          <a:p>
            <a:r>
              <a:rPr lang="en-US" dirty="0"/>
              <a:t>Building Playful Educational Tools to Introduce Young People to Computer Science</a:t>
            </a:r>
            <a:br>
              <a:rPr lang="en-US" dirty="0"/>
            </a:br>
            <a:endParaRPr lang="en-US" dirty="0"/>
          </a:p>
          <a:p>
            <a:r>
              <a:rPr lang="en-US" dirty="0"/>
              <a:t>Multimodal Declarative </a:t>
            </a:r>
            <a:r>
              <a:rPr lang="en-US" dirty="0" err="1"/>
              <a:t>NetLogo</a:t>
            </a:r>
            <a:r>
              <a:rPr lang="en-US" dirty="0"/>
              <a:t> Simulations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EA109-4D56-10B8-B974-E4EF2E2A1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7A710C2-BC4E-3145-816F-05ED91870518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pic>
        <p:nvPicPr>
          <p:cNvPr id="5" name="Picture 22">
            <a:extLst>
              <a:ext uri="{FF2B5EF4-FFF2-40B4-BE49-F238E27FC236}">
                <a16:creationId xmlns:a16="http://schemas.microsoft.com/office/drawing/2014/main" id="{13F6EB7B-6F52-D0FB-A1B5-EA9FF50216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6919"/>
          <a:stretch>
            <a:fillRect/>
          </a:stretch>
        </p:blipFill>
        <p:spPr bwMode="auto">
          <a:xfrm>
            <a:off x="10682287" y="271432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95FF1B-65FF-F598-DEA6-EAFDB6146C75}"/>
              </a:ext>
            </a:extLst>
          </p:cNvPr>
          <p:cNvSpPr txBox="1"/>
          <p:nvPr/>
        </p:nvSpPr>
        <p:spPr>
          <a:xfrm>
            <a:off x="10499341" y="1580759"/>
            <a:ext cx="1533633" cy="4678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1600" dirty="0">
                <a:latin typeface="+mn-lt"/>
              </a:rPr>
              <a:t>Marianne Graves Pedersen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ADFDEF1B-06CB-944D-165F-B9EE14CE7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479"/>
          <a:stretch>
            <a:fillRect/>
          </a:stretch>
        </p:blipFill>
        <p:spPr bwMode="auto">
          <a:xfrm>
            <a:off x="10682287" y="261142"/>
            <a:ext cx="1190625" cy="120759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6">
            <a:extLst>
              <a:ext uri="{FF2B5EF4-FFF2-40B4-BE49-F238E27FC236}">
                <a16:creationId xmlns:a16="http://schemas.microsoft.com/office/drawing/2014/main" id="{20B8D388-43D5-DF48-81BA-70773E7713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920"/>
          <a:stretch>
            <a:fillRect/>
          </a:stretch>
        </p:blipFill>
        <p:spPr bwMode="auto">
          <a:xfrm>
            <a:off x="10682287" y="2192554"/>
            <a:ext cx="1190625" cy="1187011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535387-DC65-0189-97DD-9326FD877799}"/>
              </a:ext>
            </a:extLst>
          </p:cNvPr>
          <p:cNvSpPr txBox="1"/>
          <p:nvPr/>
        </p:nvSpPr>
        <p:spPr>
          <a:xfrm>
            <a:off x="10390115" y="3478436"/>
            <a:ext cx="1752083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Clemens Klokmose</a:t>
            </a:r>
          </a:p>
        </p:txBody>
      </p:sp>
    </p:spTree>
    <p:extLst>
      <p:ext uri="{BB962C8B-B14F-4D97-AF65-F5344CB8AC3E}">
        <p14:creationId xmlns:p14="http://schemas.microsoft.com/office/powerpoint/2010/main" val="3625765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7ECE-1524-92E5-950C-A4D1B5225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Critical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D7880-B4DC-D67A-4327-494E47705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Practical experiments with a Design Satire Card Deck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E2DE78-4908-BF48-05FD-C3E5B27E5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E5562A6-F646-BA46-B850-32F9EFA3796E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9EEF3-B140-0D6B-B612-6B3DC7B5797E}"/>
              </a:ext>
            </a:extLst>
          </p:cNvPr>
          <p:cNvSpPr txBox="1"/>
          <p:nvPr/>
        </p:nvSpPr>
        <p:spPr>
          <a:xfrm>
            <a:off x="10682286" y="1579052"/>
            <a:ext cx="1323183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Olav Bertelsen</a:t>
            </a:r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F6331DA7-C9B4-1BC2-7DFF-25AA5C7A5D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800"/>
          <a:stretch>
            <a:fillRect/>
          </a:stretch>
        </p:blipFill>
        <p:spPr bwMode="auto">
          <a:xfrm>
            <a:off x="10682286" y="269724"/>
            <a:ext cx="1190625" cy="1188719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55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3F7CF-BB36-B02A-5E7A-A7884F72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</a:t>
            </a:r>
            <a:r>
              <a:rPr lang="en-US" dirty="0" err="1"/>
              <a:t>visualisation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838C1-7557-D156-8861-A880BAEAC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Accessibility in Dashboards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Monitoring Agency in Data Visualization Process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118D0-17A3-ADC9-165D-42ACC1A9B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3BB6457-7069-8044-82C2-4BE65286BF9B}" type="datetime1">
              <a:rPr lang="da-DK" smtClean="0"/>
              <a:t>25.11.2025</a:t>
            </a:fld>
            <a:r>
              <a:rPr lang="en-GB"/>
              <a:t>03-09-2019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D1C84-9062-7F1D-D3B1-4881FE94E408}"/>
              </a:ext>
            </a:extLst>
          </p:cNvPr>
          <p:cNvSpPr txBox="1"/>
          <p:nvPr/>
        </p:nvSpPr>
        <p:spPr>
          <a:xfrm>
            <a:off x="10532902" y="1592306"/>
            <a:ext cx="1346522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1600" dirty="0">
                <a:latin typeface="+mn-lt"/>
              </a:rPr>
              <a:t>Niklas Elmqvist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4C9E20BF-541F-2FC5-C313-CC5BF07DB497}"/>
              </a:ext>
            </a:extLst>
          </p:cNvPr>
          <p:cNvPicPr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56"/>
          <a:stretch>
            <a:fillRect/>
          </a:stretch>
        </p:blipFill>
        <p:spPr bwMode="auto">
          <a:xfrm>
            <a:off x="10611803" y="269723"/>
            <a:ext cx="1188720" cy="1188720"/>
          </a:xfrm>
          <a:prstGeom prst="ellipse">
            <a:avLst/>
          </a:prstGeom>
          <a:noFill/>
          <a:ln w="12700"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1041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8403224741803234"/>
</p:tagLst>
</file>

<file path=ppt/theme/theme1.xml><?xml version="1.0" encoding="utf-8"?>
<a:theme xmlns:a="http://schemas.openxmlformats.org/drawingml/2006/main" name="AU 16:9">
  <a:themeElements>
    <a:clrScheme name="Custom 1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3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87D1F4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TemplafySlideFormConfiguration><![CDATA[{"formFields":[],"formDataEntries":[]}]]></TemplafySlideFormConfiguration>
</file>

<file path=customXml/item2.xml><?xml version="1.0" encoding="utf-8"?>
<TemplafySlideTemplateConfiguration><![CDATA[{"slideVersion":1,"isValidatorEnabled":false,"isLocked":false,"elementsMetadata":[],"slideId":"1055063767963664384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C2EC37CA-7C30-46B8-B440-DAE94BE23B40}">
  <ds:schemaRefs/>
</ds:datastoreItem>
</file>

<file path=customXml/itemProps2.xml><?xml version="1.0" encoding="utf-8"?>
<ds:datastoreItem xmlns:ds="http://schemas.openxmlformats.org/officeDocument/2006/customXml" ds:itemID="{5253D668-6226-4D43-8390-B1D5087FE268}">
  <ds:schemaRefs/>
</ds:datastoreItem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581</Words>
  <Application>Microsoft Macintosh PowerPoint</Application>
  <PresentationFormat>Custom</PresentationFormat>
  <Paragraphs>145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AU Peto</vt:lpstr>
      <vt:lpstr>Georgia</vt:lpstr>
      <vt:lpstr>AU Passata Light</vt:lpstr>
      <vt:lpstr>AU Passata</vt:lpstr>
      <vt:lpstr>Arial</vt:lpstr>
      <vt:lpstr>AU 16:9</vt:lpstr>
      <vt:lpstr>PowerPoint Presentation</vt:lpstr>
      <vt:lpstr>Overview: HCC @ CS</vt:lpstr>
      <vt:lpstr>PowerPoint Presentation</vt:lpstr>
      <vt:lpstr>PowerPoint Presentation</vt:lpstr>
      <vt:lpstr>PowerPoint Presentation</vt:lpstr>
      <vt:lpstr>Human-Data Interaction</vt:lpstr>
      <vt:lpstr>VR and AR</vt:lpstr>
      <vt:lpstr>fabrication</vt:lpstr>
      <vt:lpstr>Hybrid/remote collaboration</vt:lpstr>
      <vt:lpstr>education</vt:lpstr>
      <vt:lpstr>Critical design</vt:lpstr>
      <vt:lpstr>Information visualisation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11</cp:revision>
  <dcterms:modified xsi:type="dcterms:W3CDTF">2025-11-25T18:42:19Z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luginDependencies_0">
    <vt:lpwstr>{"635926855539746206:636045261152541358":[{"dependencyType":"DataSource","dependencyId":":","dependencyVersion":null},{"dependencyType":"DataSource","dependencyId":":","dependencyVersion":null},{"dependencyType":"DataSource","dependencyId":":","dependency</vt:lpwstr>
  </property>
  <property fmtid="{D5CDD505-2E9C-101B-9397-08002B2CF9AE}" pid="3" name="PluginDependencies_1">
    <vt:lpwstr>Version":null},{"dependencyType":"DataSource","dependencyId":":","dependencyVersion":null},{"dependencyType":"DataSource","dependencyId":":","dependencyVersion":null},{"dependencyType":"DataSource","dependencyId":":","dependencyVersion":null},{"dependency</vt:lpwstr>
  </property>
  <property fmtid="{D5CDD505-2E9C-101B-9397-08002B2CF9AE}" pid="4" name="PluginDependencies_2">
    <vt:lpwstr>Type":"DataSource","dependencyId":":","dependencyVersion":null},{"dependencyType":"DataSource","dependencyId":":","dependencyVersion":null},{"dependencyType":"DataSource","dependencyId":":","dependencyVersion":null},{"dependencyType":"DataSource","depende</vt:lpwstr>
  </property>
  <property fmtid="{D5CDD505-2E9C-101B-9397-08002B2CF9AE}" pid="5" name="PluginDependencies_3">
    <vt:lpwstr>ncyId":":","dependencyVersion":null},{"dependencyType":"DataSource","dependencyId":":","dependencyVersion":null},{"dependencyType":"DataSource","dependencyId":":","dependencyVersion":null},{"dependencyType":"DataSource","dependencyId":":","dependencyVersi</vt:lpwstr>
  </property>
  <property fmtid="{D5CDD505-2E9C-101B-9397-08002B2CF9AE}" pid="6" name="PluginDependencies_4">
    <vt:lpwstr>on":null},{"dependencyType":"DataSource","dependencyId":":","dependencyVersion":null},{"dependencyType":"DataSource","dependencyId":":","dependencyVersion":null},{"dependencyType":"DataSource","dependencyId":":","dependencyVersion":null},{"dependencyType"</vt:lpwstr>
  </property>
  <property fmtid="{D5CDD505-2E9C-101B-9397-08002B2CF9AE}" pid="7" name="PluginDependencies_5">
    <vt:lpwstr>:"DataSource","dependencyId":":","dependencyVersion":null},{"dependencyType":"DataSource","dependencyId":":","dependencyVersion":null},{"dependencyType":"DataSource","dependencyId":":","dependencyVersion":null},{"dependencyType":"DataSource","dependencyId</vt:lpwstr>
  </property>
  <property fmtid="{D5CDD505-2E9C-101B-9397-08002B2CF9AE}" pid="8" name="PluginDependencies_6">
    <vt:lpwstr>":":","dependencyVersion":null},{"dependencyType":"DataSource","dependencyId":":","dependencyVersion":null},{"dependencyType":"DataSource","dependencyId":":","dependencyVersion":null},{"dependencyType":"DataSource","dependencyId":":","dependencyVersion":n</vt:lpwstr>
  </property>
  <property fmtid="{D5CDD505-2E9C-101B-9397-08002B2CF9AE}" pid="9" name="PluginDependencies_7">
    <vt:lpwstr>ull},{"dependencyType":"DataSource","dependencyId":":","dependencyVersion":null},{"dependencyType":"DataSource","dependencyId":":","dependencyVersion":null},{"dependencyType":"DataSource","dependencyId":":","dependencyVersion":null},{"dependencyType":"Dat</vt:lpwstr>
  </property>
  <property fmtid="{D5CDD505-2E9C-101B-9397-08002B2CF9AE}" pid="10" name="PluginDependencies_8">
    <vt:lpwstr>aSource","dependencyId":":","dependencyVersion":null},{"dependencyType":"DataSource","dependencyId":":","dependencyVersion":null},{"dependencyType":"DataSource","dependencyId":":","dependencyVersion":null},{"dependencyType":"DataSource","dependencyId":":"</vt:lpwstr>
  </property>
  <property fmtid="{D5CDD505-2E9C-101B-9397-08002B2CF9AE}" pid="11" name="PluginDependencies_9">
    <vt:lpwstr>,"dependencyVersion":null},{"dependencyType":"DataSource","dependencyId":":","dependencyVersion":null},{"dependencyType":"DataSource","dependencyId":":","dependencyVersion":null},{"dependencyType":"DataSource","dependencyId":":","dependencyVersion":null},</vt:lpwstr>
  </property>
  <property fmtid="{D5CDD505-2E9C-101B-9397-08002B2CF9AE}" pid="12" name="PluginDependencies_10">
    <vt:lpwstr>{"dependencyType":"DataSource","dependencyId":":","dependencyVersion":null},{"dependencyType":"DataSource","dependencyId":":","dependencyVersion":null},{"dependencyType":"DataSource","dependencyId":":","dependencyVersion":null},{"dependencyType":"DataSour</vt:lpwstr>
  </property>
  <property fmtid="{D5CDD505-2E9C-101B-9397-08002B2CF9AE}" pid="13" name="PluginDependencies_11">
    <vt:lpwstr>ce","dependencyId":":","dependencyVersion":null},{"dependencyType":"DataSource","dependencyId":":","dependencyVersion":null},{"dependencyType":"DataSource","dependencyId":":","dependencyVersion":null},{"dependencyType":"DataSource","dependencyId":":","dep</vt:lpwstr>
  </property>
  <property fmtid="{D5CDD505-2E9C-101B-9397-08002B2CF9AE}" pid="14" name="PluginDependencies_12">
    <vt:lpwstr>endencyVersion":null},{"dependencyType":"DataSource","dependencyId":":","dependencyVersion":null},{"dependencyType":"DataSource","dependencyId":":","dependencyVersion":null},{"dependencyType":"DataSource","dependencyId":":","dependencyVersion":null},{"dep</vt:lpwstr>
  </property>
  <property fmtid="{D5CDD505-2E9C-101B-9397-08002B2CF9AE}" pid="15" name="PluginDependencies_13">
    <vt:lpwstr>endencyType":"DataSource","dependencyId":":","dependencyVersion":null},{"dependencyType":"DataSource","dependencyId":":","dependencyVersion":null},{"dependencyType":"DataSource","dependencyId":":","dependencyVersion":null},{"dependencyType":"DataSource","</vt:lpwstr>
  </property>
  <property fmtid="{D5CDD505-2E9C-101B-9397-08002B2CF9AE}" pid="16" name="PluginDependencies_14">
    <vt:lpwstr>dependencyId":":","dependencyVersion":null},{"dependencyType":"DataSource","dependencyId":":","dependencyVersion":null},{"dependencyType":"DataSource","dependencyId":":","dependencyVersion":null},{"dependencyType":"DataSource","dependencyId":":","dependen</vt:lpwstr>
  </property>
  <property fmtid="{D5CDD505-2E9C-101B-9397-08002B2CF9AE}" pid="17" name="PluginDependencies_15">
    <vt:lpwstr>cyVersion":null},{"dependencyType":"DataSource","dependencyId":":","dependencyVersion":null},{"dependencyType":"DataSource","dependencyId":":","dependencyVersion":null},{"dependencyType":"DataSource","dependencyId":":","dependencyVersion":null},{"dependen</vt:lpwstr>
  </property>
  <property fmtid="{D5CDD505-2E9C-101B-9397-08002B2CF9AE}" pid="18" name="PluginDependencies_16">
    <vt:lpwstr>cyType":"DataSource","dependencyId":":","dependencyVersion":null},{"dependencyType":"DataSource","dependencyId":":","dependencyVersion":null},{"dependencyType":"DataSource","dependencyId":":","dependencyVersion":null},{"dependencyType":"DataSource","depen</vt:lpwstr>
  </property>
  <property fmtid="{D5CDD505-2E9C-101B-9397-08002B2CF9AE}" pid="19" name="PluginDependencies_17">
    <vt:lpwstr>dencyId":":","dependencyVersion":null},{"dependencyType":"DataSource","dependencyId":":","dependencyVersion":null},{"dependencyType":"DataSource","dependencyId":":","dependencyVersion":null},{"dependencyType":"DataSource","dependencyId":":","dependencyVer</vt:lpwstr>
  </property>
  <property fmtid="{D5CDD505-2E9C-101B-9397-08002B2CF9AE}" pid="20" name="PluginDependencies_18">
    <vt:lpwstr>sion":null},{"dependencyType":"DataSource","dependencyId":":","dependencyVersion":null},{"dependencyType":"DataSource","dependencyId":":","dependencyVersion":null},{"dependencyType":"DataSource","dependencyId":":","dependencyVersion":null},{"dependencyTyp</vt:lpwstr>
  </property>
  <property fmtid="{D5CDD505-2E9C-101B-9397-08002B2CF9AE}" pid="21" name="PluginDependencies_19">
    <vt:lpwstr>e":"DataSource","dependencyId":":","dependencyVersion":null},{"dependencyType":"DataSource","dependencyId":":","dependencyVersion":null},{"dependencyType":"DataSource","dependencyId":":","dependencyVersion":null},{"dependencyType":"DataSource","dependency</vt:lpwstr>
  </property>
  <property fmtid="{D5CDD505-2E9C-101B-9397-08002B2CF9AE}" pid="22" name="PluginDependencies_20">
    <vt:lpwstr>Id":":","dependencyVersion":null},{"dependencyType":"DataSource","dependencyId":":","dependencyVersion":null},{"dependencyType":"DataSource","dependencyId":":","dependencyVersion":null},{"dependencyType":"DataSource","dependencyId":":","dependencyVersion"</vt:lpwstr>
  </property>
  <property fmtid="{D5CDD505-2E9C-101B-9397-08002B2CF9AE}" pid="23" name="PluginDependencies_21">
    <vt:lpwstr>:null},{"dependencyType":"DataSource","dependencyId":":","dependencyVersion":null},{"dependencyType":"DataSource","dependencyId":":","dependencyVersion":null},{"dependencyType":"DataSource","dependencyId":":","dependencyVersion":null},{"dependencyType":"D</vt:lpwstr>
  </property>
  <property fmtid="{D5CDD505-2E9C-101B-9397-08002B2CF9AE}" pid="24" name="PluginDependencies_22">
    <vt:lpwstr>ataSource","dependencyId":":","dependencyVersion":null},{"dependencyType":"DataSource","dependencyId":":","dependencyVersion":null},{"dependencyType":"DataSource","dependencyId":":","dependencyVersion":null},{"dependencyType":"DataSource","dependencyId":"</vt:lpwstr>
  </property>
  <property fmtid="{D5CDD505-2E9C-101B-9397-08002B2CF9AE}" pid="25" name="PluginDependencies_23">
    <vt:lpwstr>:","dependencyVersion":null},{"dependencyType":"DataSource","dependencyId":":","dependencyVersion":null},{"dependencyType":"DataSource","dependencyId":":","dependencyVersion":null},{"dependencyType":"DataSource","dependencyId":":","dependencyVersion":null</vt:lpwstr>
  </property>
  <property fmtid="{D5CDD505-2E9C-101B-9397-08002B2CF9AE}" pid="26" name="PluginDependencies_24">
    <vt:lpwstr>},{"dependencyType":"DataSource","dependencyId":":","dependencyVersion":null},{"dependencyType":"DataSource","dependencyId":":","dependencyVersion":null},{"dependencyType":"DataSource","dependencyId":":","dependencyVersion":null},{"dependencyType":"DataSo</vt:lpwstr>
  </property>
  <property fmtid="{D5CDD505-2E9C-101B-9397-08002B2CF9AE}" pid="27" name="PluginDependencies_25">
    <vt:lpwstr>urce","dependencyId":":","dependencyVersion":null},{"dependencyType":"DataSource","dependencyId":":","dependencyVersion":null},{"dependencyType":"DataSource","dependencyId":":","dependencyVersion":null},{"dependencyType":"DataSource","dependencyId":":","d</vt:lpwstr>
  </property>
  <property fmtid="{D5CDD505-2E9C-101B-9397-08002B2CF9AE}" pid="28" name="PluginDependencies_26">
    <vt:lpwstr>ependencyVersion":null},{"dependencyType":"DataSource","dependencyId":":","dependencyVersion":null},{"dependencyType":"DataSource","dependencyId":":","dependencyVersion":null},{"dependencyType":"DataSource","dependencyId":":","dependencyVersion":null},{"d</vt:lpwstr>
  </property>
  <property fmtid="{D5CDD505-2E9C-101B-9397-08002B2CF9AE}" pid="29" name="PluginDependencies_27">
    <vt:lpwstr>ependencyType":"DataSource","dependencyId":":","dependencyVersion":null},{"dependencyType":"DataSource","dependencyId":":","dependencyVersion":null},{"dependencyType":"DataSource","dependencyId":":","dependencyVersion":null},{"dependencyType":"DataSource"</vt:lpwstr>
  </property>
  <property fmtid="{D5CDD505-2E9C-101B-9397-08002B2CF9AE}" pid="30" name="PluginDependencies_28">
    <vt:lpwstr>,"dependencyId":":","dependencyVersion":null},{"dependencyType":"DataSource","dependencyId":":","dependencyVersion":null},{"dependencyType":"DataSource","dependencyId":":","dependencyVersion":null},{"dependencyType":"DataSource","dependencyId":":","depend</vt:lpwstr>
  </property>
  <property fmtid="{D5CDD505-2E9C-101B-9397-08002B2CF9AE}" pid="31" name="PluginDependencies_29">
    <vt:lpwstr>encyVersion":null},{"dependencyType":"DataSource","dependencyId":":","dependencyVersion":null},{"dependencyType":"DataSource","dependencyId":":","dependencyVersion":null},{"dependencyType":"DataSource","dependencyId":":","dependencyVersion":null},{"depend</vt:lpwstr>
  </property>
  <property fmtid="{D5CDD505-2E9C-101B-9397-08002B2CF9AE}" pid="32" name="PluginDependencies_30">
    <vt:lpwstr>encyType":"DataSource","dependencyId":":","dependencyVersion":null},{"dependencyType":"DataSource","dependencyId":":","dependencyVersion":null},{"dependencyType":"DataSource","dependencyId":":","dependencyVersion":null},{"dependencyType":"DataSource","dep</vt:lpwstr>
  </property>
  <property fmtid="{D5CDD505-2E9C-101B-9397-08002B2CF9AE}" pid="33" name="PluginDependencies_31">
    <vt:lpwstr>endencyId":":","dependencyVersion":null},{"dependencyType":"DataSource","dependencyId":":","dependencyVersion":null},{"dependencyType":"DataSource","dependencyId":":","dependencyVersion":null},{"dependencyType":"DataSource","dependencyId":":","dependencyV</vt:lpwstr>
  </property>
  <property fmtid="{D5CDD505-2E9C-101B-9397-08002B2CF9AE}" pid="34" name="PluginDependencies_32">
    <vt:lpwstr>ersion":null},{"dependencyType":"DataSource","dependencyId":":","dependencyVersion":null},{"dependencyType":"DataSource","dependencyId":":","dependencyVersion":null},{"dependencyType":"DataSource","dependencyId":":","dependencyVersion":null},{"dependencyT</vt:lpwstr>
  </property>
  <property fmtid="{D5CDD505-2E9C-101B-9397-08002B2CF9AE}" pid="35" name="PluginDependencies_33">
    <vt:lpwstr>ype":"DataSource","dependencyId":":","dependencyVersion":null},{"dependencyType":"DataSource","dependencyId":":","dependencyVersion":null},{"dependencyType":"DataSource","dependencyId":":","dependencyVersion":null},{"dependencyType":"DataSource","dependen</vt:lpwstr>
  </property>
  <property fmtid="{D5CDD505-2E9C-101B-9397-08002B2CF9AE}" pid="36" name="PluginDependencies_34">
    <vt:lpwstr>cyId":":","dependencyVersion":null},{"dependencyType":"DataSource","dependencyId":":","dependencyVersion":null},{"dependencyType":"DataSource","dependencyId":":","dependencyVersion":null},{"dependencyType":"DataSource","dependencyId":":","dependencyVersio</vt:lpwstr>
  </property>
  <property fmtid="{D5CDD505-2E9C-101B-9397-08002B2CF9AE}" pid="37" name="PluginDependencies_35">
    <vt:lpwstr>n":null},{"dependencyType":"DataSource","dependencyId":":","dependencyVersion":null},{"dependencyType":"DataSource","dependencyId":":","dependencyVersion":null},{"dependencyType":"DataSource","dependencyId":":","dependencyVersion":null},{"dependencyType":</vt:lpwstr>
  </property>
  <property fmtid="{D5CDD505-2E9C-101B-9397-08002B2CF9AE}" pid="38" name="PluginDependencies_36">
    <vt:lpwstr>"DataSource","dependencyId":":","dependencyVersion":null},{"dependencyType":"DataSource","dependencyId":":","dependencyVersion":null},{"dependencyType":"DataSource","dependencyId":":","dependencyVersion":null},{"dependencyType":"DataSource","dependencyId"</vt:lpwstr>
  </property>
  <property fmtid="{D5CDD505-2E9C-101B-9397-08002B2CF9AE}" pid="39" name="PluginDependencies_37">
    <vt:lpwstr>:":","dependencyVersion":null},{"dependencyType":"DataSource","dependencyId":":","dependencyVersion":null},{"dependencyType":"DataSource","dependencyId":":","dependencyVersion":null},{"dependencyType":"DataSource","dependencyId":":","dependencyVersion":nu</vt:lpwstr>
  </property>
  <property fmtid="{D5CDD505-2E9C-101B-9397-08002B2CF9AE}" pid="40" name="PluginDependencies_38">
    <vt:lpwstr>ll},{"dependencyType":"DataSource","dependencyId":":","dependencyVersion":null},{"dependencyType":"DataSource","dependencyId":":","dependencyVersion":null},{"dependencyType":"DataSource","dependencyId":":","dependencyVersion":null},{"dependencyType":"Data</vt:lpwstr>
  </property>
  <property fmtid="{D5CDD505-2E9C-101B-9397-08002B2CF9AE}" pid="41" name="PluginDependencies_39">
    <vt:lpwstr>Source","dependencyId":":","dependencyVersion":null},{"dependencyType":"DataSource","dependencyId":":","dependencyVersion":null},{"dependencyType":"DataSource","dependencyId":":","dependencyVersion":null},{"dependencyType":"DataSource","dependencyId":":",</vt:lpwstr>
  </property>
  <property fmtid="{D5CDD505-2E9C-101B-9397-08002B2CF9AE}" pid="42" name="PluginDependencies_40">
    <vt:lpwstr>"dependencyVersion":null},{"dependencyType":"DataSource","dependencyId":":","dependencyVersion":null},{"dependencyType":"DataSource","dependencyId":":","dependencyVersion":null},{"dependencyType":"DataSource","dependencyId":":","dependencyVersion":null},{</vt:lpwstr>
  </property>
  <property fmtid="{D5CDD505-2E9C-101B-9397-08002B2CF9AE}" pid="43" name="PluginDependencies_41">
    <vt:lpwstr>"dependencyType":"DataSource","dependencyId":":","dependencyVersion":null},{"dependencyType":"DataSource","dependencyId":":","dependencyVersion":null},{"dependencyType":"DataSource","dependencyId":":","dependencyVersion":null},{"dependencyType":"DataSourc</vt:lpwstr>
  </property>
  <property fmtid="{D5CDD505-2E9C-101B-9397-08002B2CF9AE}" pid="44" name="PluginDependencies_42">
    <vt:lpwstr>e","dependencyId":":","dependencyVersion":null},{"dependencyType":"DataSource","dependencyId":":","dependencyVersion":null},{"dependencyType":"DataSource","dependencyId":":","dependencyVersion":null},{"dependencyType":"DataSource","dependencyId":":","depe</vt:lpwstr>
  </property>
  <property fmtid="{D5CDD505-2E9C-101B-9397-08002B2CF9AE}" pid="45" name="PluginDependencies_43">
    <vt:lpwstr>ndencyVersion":null},{"dependencyType":"DataSource","dependencyId":":","dependencyVersion":null},{"dependencyType":"DataSource","dependencyId":":","dependencyVersion":null},{"dependencyType":"DataSource","dependencyId":":","dependencyVersion":null},{"depe</vt:lpwstr>
  </property>
  <property fmtid="{D5CDD505-2E9C-101B-9397-08002B2CF9AE}" pid="46" name="PluginDependencies_44">
    <vt:lpwstr>ndencyType":"DataSource","dependencyId":":","dependencyVersion":null},{"dependencyType":"DataSource","dependencyId":":","dependencyVersion":null},{"dependencyType":"DataSource","dependencyId":":","dependencyVersion":null},{"dependencyType":"DataSource","d</vt:lpwstr>
  </property>
  <property fmtid="{D5CDD505-2E9C-101B-9397-08002B2CF9AE}" pid="47" name="PluginDependencies_45">
    <vt:lpwstr>ependencyId":":","dependencyVersion":null},{"dependencyType":"DataSource","dependencyId":":","dependencyVersion":null},{"dependencyType":"DataSource","dependencyId":":","dependencyVersion":null},{"dependencyType":"DataSource","dependencyId":":","dependenc</vt:lpwstr>
  </property>
  <property fmtid="{D5CDD505-2E9C-101B-9397-08002B2CF9AE}" pid="48" name="PluginDependencies_46">
    <vt:lpwstr>yVersion":null},{"dependencyType":"DataSource","dependencyId":":","dependencyVersion":null},{"dependencyType":"DataSource","dependencyId":":","dependencyVersion":null},{"dependencyType":"DataSource","dependencyId":":","dependencyVersion":null},{"dependenc</vt:lpwstr>
  </property>
  <property fmtid="{D5CDD505-2E9C-101B-9397-08002B2CF9AE}" pid="49" name="PluginDependencies_47">
    <vt:lpwstr>yType":"DataSource","dependencyId":":","dependencyVersion":null},{"dependencyType":"DataSource","dependencyId":":","dependencyVersion":null},{"dependencyType":"DataSource","dependencyId":":","dependencyVersion":null},{"dependencyType":"DataSource","depend</vt:lpwstr>
  </property>
  <property fmtid="{D5CDD505-2E9C-101B-9397-08002B2CF9AE}" pid="50" name="PluginDependencies_48">
    <vt:lpwstr>encyId":":","dependencyVersion":null},{"dependencyType":"DataSource","dependencyId":":","dependencyVersion":null},{"dependencyType":"DataSource","dependencyId":":","dependencyVersion":null},{"dependencyType":"DataSource","dependencyId":":","dependencyVers</vt:lpwstr>
  </property>
  <property fmtid="{D5CDD505-2E9C-101B-9397-08002B2CF9AE}" pid="51" name="PluginDependencies_49">
    <vt:lpwstr>ion":null},{"dependencyType":"DataSource","dependencyId":":","dependencyVersion":null},{"dependencyType":"DataSource","dependencyId":":","dependencyVersion":null},{"dependencyType":"DataSource","dependencyId":":","dependencyVersion":null},{"dependencyType</vt:lpwstr>
  </property>
  <property fmtid="{D5CDD505-2E9C-101B-9397-08002B2CF9AE}" pid="52" name="PluginDependencies_50">
    <vt:lpwstr>":"DataSource","dependencyId":":","dependencyVersion":null},{"dependencyType":"DataSource","dependencyId":":","dependencyVersion":null},{"dependencyType":"DataSource","dependencyId":":","dependencyVersion":null},{"dependencyType":"DataSource","dependencyI</vt:lpwstr>
  </property>
  <property fmtid="{D5CDD505-2E9C-101B-9397-08002B2CF9AE}" pid="53" name="PluginDependencies_51">
    <vt:lpwstr>d":":","dependencyVersion":null},{"dependencyType":"DataSource","dependencyId":":","dependencyVersion":null},{"dependencyType":"DataSource","dependencyId":":","dependencyVersion":null},{"dependencyType":"DataSource","dependencyId":":","dependencyVersion":</vt:lpwstr>
  </property>
  <property fmtid="{D5CDD505-2E9C-101B-9397-08002B2CF9AE}" pid="54" name="PluginDependencies_52">
    <vt:lpwstr>null},{"dependencyType":"DataSource","dependencyId":":","dependencyVersion":null},{"dependencyType":"DataSource","dependencyId":":","dependencyVersion":null},{"dependencyType":"DataSource","dependencyId":":","dependencyVersion":null},{"dependencyType":"Da</vt:lpwstr>
  </property>
  <property fmtid="{D5CDD505-2E9C-101B-9397-08002B2CF9AE}" pid="55" name="PluginDependencies_53">
    <vt:lpwstr>taSource","dependencyId":":","dependencyVersion":null}],"635926855539746206:636045261152541359":[],"635926855539746206:636045261152541360":[],"635926855539746206:636045261152541361":[],"635926855539746206:636045261152541362":[],"635690283596553901:6357565</vt:lpwstr>
  </property>
  <property fmtid="{D5CDD505-2E9C-101B-9397-08002B2CF9AE}" pid="56" name="PluginDependencies_54">
    <vt:lpwstr>74568773657":[]}</vt:lpwstr>
  </property>
  <property fmtid="{D5CDD505-2E9C-101B-9397-08002B2CF9AE}" pid="57" name="colorthemechange">
    <vt:lpwstr>True</vt:lpwstr>
  </property>
  <property fmtid="{D5CDD505-2E9C-101B-9397-08002B2CF9AE}" pid="58" name="TemplafyTimeStamp">
    <vt:lpwstr>2024-11-22T14:13:08</vt:lpwstr>
  </property>
</Properties>
</file>