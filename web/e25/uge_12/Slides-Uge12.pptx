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439" r:id="rId2"/>
    <p:sldId id="503" r:id="rId3"/>
    <p:sldId id="475" r:id="rId4"/>
    <p:sldId id="462" r:id="rId5"/>
    <p:sldId id="463" r:id="rId6"/>
    <p:sldId id="477" r:id="rId7"/>
    <p:sldId id="504" r:id="rId8"/>
    <p:sldId id="464" r:id="rId9"/>
    <p:sldId id="483" r:id="rId10"/>
    <p:sldId id="476" r:id="rId11"/>
    <p:sldId id="465" r:id="rId12"/>
    <p:sldId id="487" r:id="rId13"/>
    <p:sldId id="478" r:id="rId14"/>
    <p:sldId id="515" r:id="rId15"/>
    <p:sldId id="516" r:id="rId16"/>
    <p:sldId id="501" r:id="rId17"/>
    <p:sldId id="502" r:id="rId18"/>
    <p:sldId id="453" r:id="rId19"/>
    <p:sldId id="454" r:id="rId20"/>
    <p:sldId id="455" r:id="rId21"/>
    <p:sldId id="484" r:id="rId22"/>
    <p:sldId id="460" r:id="rId23"/>
    <p:sldId id="510" r:id="rId24"/>
    <p:sldId id="517" r:id="rId25"/>
    <p:sldId id="490" r:id="rId26"/>
    <p:sldId id="514" r:id="rId27"/>
    <p:sldId id="505" r:id="rId28"/>
    <p:sldId id="493" r:id="rId29"/>
    <p:sldId id="506" r:id="rId30"/>
    <p:sldId id="509" r:id="rId31"/>
    <p:sldId id="507" r:id="rId32"/>
    <p:sldId id="494" r:id="rId33"/>
    <p:sldId id="508" r:id="rId34"/>
    <p:sldId id="497" r:id="rId35"/>
    <p:sldId id="513" r:id="rId36"/>
    <p:sldId id="512" r:id="rId37"/>
    <p:sldId id="500" r:id="rId38"/>
    <p:sldId id="518" r:id="rId39"/>
    <p:sldId id="451" r:id="rId40"/>
    <p:sldId id="452" r:id="rId41"/>
  </p:sldIdLst>
  <p:sldSz cx="9144000" cy="6858000" type="screen4x3"/>
  <p:notesSz cx="7315200" cy="9601200"/>
  <p:defaultTextStyle>
    <a:defPPr>
      <a:defRPr lang="da-DK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A5002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A5002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A5002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A5002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A5002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rgbClr val="A5002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rgbClr val="A5002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rgbClr val="A5002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rgbClr val="A5002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CCFFCC"/>
    <a:srgbClr val="FFFFCC"/>
    <a:srgbClr val="000066"/>
    <a:srgbClr val="000000"/>
    <a:srgbClr val="0000FF"/>
    <a:srgbClr val="6699FF"/>
    <a:srgbClr val="A50021"/>
    <a:srgbClr val="CCEC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DA51F5-E0D3-4FBD-A2C2-AF9EF7ECE469}" v="8" dt="2025-11-05T09:58:23.887"/>
    <p1510:client id="{499FC34B-52C3-4D59-A44A-F8F76B6B190E}" v="1" dt="2025-11-05T10:29:37.6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 autoAdjust="0"/>
    <p:restoredTop sz="95506" autoAdjust="0"/>
  </p:normalViewPr>
  <p:slideViewPr>
    <p:cSldViewPr>
      <p:cViewPr varScale="1">
        <p:scale>
          <a:sx n="99" d="100"/>
          <a:sy n="99" d="100"/>
        </p:scale>
        <p:origin x="96" y="4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4075"/>
    </p:cViewPr>
  </p:sorterViewPr>
  <p:notesViewPr>
    <p:cSldViewPr>
      <p:cViewPr varScale="1">
        <p:scale>
          <a:sx n="88" d="100"/>
          <a:sy n="88" d="100"/>
        </p:scale>
        <p:origin x="-2220" y="-102"/>
      </p:cViewPr>
      <p:guideLst>
        <p:guide orient="horz" pos="3024"/>
        <p:guide pos="230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15.xml"/><Relationship Id="rId1" Type="http://schemas.openxmlformats.org/officeDocument/2006/relationships/slide" Target="slides/slide1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rt Jensen" userId="536d7847-4321-45c6-997a-4b9f60543789" providerId="ADAL" clId="{E17C5AF6-11E3-421A-B6F2-416B0C981305}"/>
    <pc:docChg chg="modSld modNotesMaster modHandout">
      <pc:chgData name="Kurt Jensen" userId="536d7847-4321-45c6-997a-4b9f60543789" providerId="ADAL" clId="{E17C5AF6-11E3-421A-B6F2-416B0C981305}" dt="2025-11-05T10:29:37.628" v="13"/>
      <pc:docMkLst>
        <pc:docMk/>
      </pc:docMkLst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26334521" sldId="439"/>
        </pc:sldMkLst>
      </pc:sldChg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2308363236" sldId="451"/>
        </pc:sldMkLst>
      </pc:sldChg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102805149" sldId="452"/>
        </pc:sldMkLst>
      </pc:sldChg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1373275084" sldId="453"/>
        </pc:sldMkLst>
      </pc:sldChg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1674124452" sldId="454"/>
        </pc:sldMkLst>
      </pc:sldChg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2761968187" sldId="455"/>
        </pc:sldMkLst>
      </pc:sldChg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2739762043" sldId="460"/>
        </pc:sldMkLst>
      </pc:sldChg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1891537739" sldId="462"/>
        </pc:sldMkLst>
      </pc:sldChg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1524734185" sldId="463"/>
        </pc:sldMkLst>
      </pc:sldChg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3654200083" sldId="464"/>
        </pc:sldMkLst>
      </pc:sldChg>
      <pc:sldChg chg="modSp modNotes">
        <pc:chgData name="Kurt Jensen" userId="536d7847-4321-45c6-997a-4b9f60543789" providerId="ADAL" clId="{E17C5AF6-11E3-421A-B6F2-416B0C981305}" dt="2025-11-05T10:29:37.628" v="13"/>
        <pc:sldMkLst>
          <pc:docMk/>
          <pc:sldMk cId="4213967732" sldId="465"/>
        </pc:sldMkLst>
        <pc:spChg chg="mod">
          <ac:chgData name="Kurt Jensen" userId="536d7847-4321-45c6-997a-4b9f60543789" providerId="ADAL" clId="{E17C5AF6-11E3-421A-B6F2-416B0C981305}" dt="2025-11-05T09:58:23.887" v="7" actId="20577"/>
          <ac:spMkLst>
            <pc:docMk/>
            <pc:sldMk cId="4213967732" sldId="465"/>
            <ac:spMk id="40" creationId="{00000000-0000-0000-0000-000000000000}"/>
          </ac:spMkLst>
        </pc:spChg>
      </pc:sldChg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797024500" sldId="475"/>
        </pc:sldMkLst>
      </pc:sldChg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2097804701" sldId="476"/>
        </pc:sldMkLst>
      </pc:sldChg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390968519" sldId="477"/>
        </pc:sldMkLst>
      </pc:sldChg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3566987380" sldId="483"/>
        </pc:sldMkLst>
      </pc:sldChg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63235591" sldId="484"/>
        </pc:sldMkLst>
      </pc:sldChg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2356946527" sldId="487"/>
        </pc:sldMkLst>
      </pc:sldChg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4219999770" sldId="490"/>
        </pc:sldMkLst>
      </pc:sldChg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3759478729" sldId="493"/>
        </pc:sldMkLst>
      </pc:sldChg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446178167" sldId="494"/>
        </pc:sldMkLst>
      </pc:sldChg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246305709" sldId="497"/>
        </pc:sldMkLst>
      </pc:sldChg>
      <pc:sldChg chg="modSp mod modNotes">
        <pc:chgData name="Kurt Jensen" userId="536d7847-4321-45c6-997a-4b9f60543789" providerId="ADAL" clId="{E17C5AF6-11E3-421A-B6F2-416B0C981305}" dt="2025-11-05T10:29:37.628" v="13"/>
        <pc:sldMkLst>
          <pc:docMk/>
          <pc:sldMk cId="2610024354" sldId="500"/>
        </pc:sldMkLst>
        <pc:spChg chg="mod">
          <ac:chgData name="Kurt Jensen" userId="536d7847-4321-45c6-997a-4b9f60543789" providerId="ADAL" clId="{E17C5AF6-11E3-421A-B6F2-416B0C981305}" dt="2025-11-05T10:27:44.951" v="12" actId="20577"/>
          <ac:spMkLst>
            <pc:docMk/>
            <pc:sldMk cId="2610024354" sldId="500"/>
            <ac:spMk id="7" creationId="{00000000-0000-0000-0000-000000000000}"/>
          </ac:spMkLst>
        </pc:spChg>
      </pc:sldChg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1475903621" sldId="503"/>
        </pc:sldMkLst>
      </pc:sldChg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87957896" sldId="504"/>
        </pc:sldMkLst>
      </pc:sldChg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2976888753" sldId="505"/>
        </pc:sldMkLst>
      </pc:sldChg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3317232425" sldId="506"/>
        </pc:sldMkLst>
      </pc:sldChg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3476292977" sldId="507"/>
        </pc:sldMkLst>
      </pc:sldChg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2969472544" sldId="508"/>
        </pc:sldMkLst>
      </pc:sldChg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4215133974" sldId="509"/>
        </pc:sldMkLst>
      </pc:sldChg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2522087918" sldId="510"/>
        </pc:sldMkLst>
      </pc:sldChg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2327442247" sldId="512"/>
        </pc:sldMkLst>
      </pc:sldChg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3301909830" sldId="513"/>
        </pc:sldMkLst>
      </pc:sldChg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87562055" sldId="514"/>
        </pc:sldMkLst>
      </pc:sldChg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2531261244" sldId="515"/>
        </pc:sldMkLst>
      </pc:sldChg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4231893434" sldId="516"/>
        </pc:sldMkLst>
      </pc:sldChg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3000266336" sldId="517"/>
        </pc:sldMkLst>
      </pc:sldChg>
      <pc:sldChg chg="modNotes">
        <pc:chgData name="Kurt Jensen" userId="536d7847-4321-45c6-997a-4b9f60543789" providerId="ADAL" clId="{E17C5AF6-11E3-421A-B6F2-416B0C981305}" dt="2025-11-05T10:29:37.628" v="13"/>
        <pc:sldMkLst>
          <pc:docMk/>
          <pc:sldMk cId="1989861738" sldId="51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40" tIns="47719" rIns="95440" bIns="47719" numCol="1" anchor="t" anchorCtr="0" compatLnSpc="1">
            <a:prstTxWarp prst="textNoShape">
              <a:avLst/>
            </a:prstTxWarp>
          </a:bodyPr>
          <a:lstStyle>
            <a:lvl1pPr defTabSz="954506">
              <a:defRPr sz="1300">
                <a:solidFill>
                  <a:schemeClr val="tx1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428" y="0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40" tIns="47719" rIns="95440" bIns="47719" numCol="1" anchor="t" anchorCtr="0" compatLnSpc="1">
            <a:prstTxWarp prst="textNoShape">
              <a:avLst/>
            </a:prstTxWarp>
          </a:bodyPr>
          <a:lstStyle>
            <a:lvl1pPr algn="r" defTabSz="954506">
              <a:defRPr sz="1300">
                <a:solidFill>
                  <a:schemeClr val="tx1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120172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40" tIns="47719" rIns="95440" bIns="47719" numCol="1" anchor="b" anchorCtr="0" compatLnSpc="1">
            <a:prstTxWarp prst="textNoShape">
              <a:avLst/>
            </a:prstTxWarp>
          </a:bodyPr>
          <a:lstStyle>
            <a:lvl1pPr defTabSz="954506">
              <a:defRPr sz="1300">
                <a:solidFill>
                  <a:schemeClr val="tx1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1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428" y="9120172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40" tIns="47719" rIns="95440" bIns="47719" numCol="1" anchor="b" anchorCtr="0" compatLnSpc="1">
            <a:prstTxWarp prst="textNoShape">
              <a:avLst/>
            </a:prstTxWarp>
          </a:bodyPr>
          <a:lstStyle>
            <a:lvl1pPr algn="r" defTabSz="954506"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3897A82C-780D-4210-8377-8FEE4ACB15B5}" type="slidenum">
              <a:rPr lang="da-DK" altLang="da-DK"/>
              <a:pPr/>
              <a:t>‹#›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2787097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40" tIns="47719" rIns="95440" bIns="47719" numCol="1" anchor="t" anchorCtr="0" compatLnSpc="1">
            <a:prstTxWarp prst="textNoShape">
              <a:avLst/>
            </a:prstTxWarp>
          </a:bodyPr>
          <a:lstStyle>
            <a:lvl1pPr defTabSz="954506">
              <a:defRPr sz="1300" b="1">
                <a:solidFill>
                  <a:srgbClr val="CC0000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065" y="0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40" tIns="47719" rIns="95440" bIns="47719" numCol="1" anchor="t" anchorCtr="0" compatLnSpc="1">
            <a:prstTxWarp prst="textNoShape">
              <a:avLst/>
            </a:prstTxWarp>
          </a:bodyPr>
          <a:lstStyle>
            <a:lvl1pPr algn="r" defTabSz="954506">
              <a:defRPr sz="1300" b="1">
                <a:solidFill>
                  <a:srgbClr val="CC0000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0725"/>
            <a:ext cx="4797425" cy="3598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925" y="4560086"/>
            <a:ext cx="5365353" cy="4320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40" tIns="47719" rIns="95440" bIns="47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21662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40" tIns="47719" rIns="95440" bIns="47719" numCol="1" anchor="b" anchorCtr="0" compatLnSpc="1">
            <a:prstTxWarp prst="textNoShape">
              <a:avLst/>
            </a:prstTxWarp>
          </a:bodyPr>
          <a:lstStyle>
            <a:lvl1pPr defTabSz="954506">
              <a:defRPr sz="1300" b="1">
                <a:solidFill>
                  <a:srgbClr val="CC0000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065" y="9121662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40" tIns="47719" rIns="95440" bIns="47719" numCol="1" anchor="b" anchorCtr="0" compatLnSpc="1">
            <a:prstTxWarp prst="textNoShape">
              <a:avLst/>
            </a:prstTxWarp>
          </a:bodyPr>
          <a:lstStyle>
            <a:lvl1pPr algn="r" defTabSz="954506">
              <a:defRPr sz="1300" b="1">
                <a:solidFill>
                  <a:srgbClr val="CC0000"/>
                </a:solidFill>
                <a:latin typeface="Times New Roman" pitchFamily="18" charset="0"/>
              </a:defRPr>
            </a:lvl1pPr>
          </a:lstStyle>
          <a:p>
            <a:fld id="{4B17CE37-4641-4131-A94A-505FEC827471}" type="slidenum">
              <a:rPr lang="da-DK" altLang="da-DK"/>
              <a:pPr/>
              <a:t>‹#›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40694889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pitchFamily="-106" charset="-128"/>
        <a:cs typeface="ＭＳ Ｐゴシック" pitchFamily="-106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15880" indent="-275338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01354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541896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1982438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422979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863520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304061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744603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D0D15BEC-A969-4B4E-A419-C8485F5E417F}" type="slidenum">
              <a:rPr lang="da-DK" altLang="da-DK" sz="1300">
                <a:solidFill>
                  <a:srgbClr val="CC0000"/>
                </a:solidFill>
                <a:latin typeface="Times New Roman" pitchFamily="18" charset="0"/>
              </a:rPr>
              <a:pPr eaLnBrk="1" hangingPunct="1"/>
              <a:t>1</a:t>
            </a:fld>
            <a:endParaRPr lang="da-DK" altLang="da-DK" sz="1300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da-DK" dirty="0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8888" y="720725"/>
            <a:ext cx="47974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BDC66-5FD4-4D91-9FD7-3639CA8D149D}" type="slidenum">
              <a:rPr lang="da-DK" altLang="da-DK" smtClean="0"/>
              <a:pPr/>
              <a:t>2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3495165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15880" indent="-275338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01354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541896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1982438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422979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863520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304061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744603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D0D15BEC-A969-4B4E-A419-C8485F5E417F}" type="slidenum">
              <a:rPr lang="da-DK" altLang="da-DK" sz="1300">
                <a:solidFill>
                  <a:srgbClr val="CC0000"/>
                </a:solidFill>
                <a:latin typeface="Times New Roman" pitchFamily="18" charset="0"/>
              </a:rPr>
              <a:pPr eaLnBrk="1" hangingPunct="1"/>
              <a:t>3</a:t>
            </a:fld>
            <a:endParaRPr lang="da-DK" altLang="da-DK" sz="1300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da-DK" dirty="0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15880" indent="-275338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01354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541896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1982438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422979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863520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304061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744603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D0D15BEC-A969-4B4E-A419-C8485F5E417F}" type="slidenum">
              <a:rPr lang="da-DK" altLang="da-DK" sz="1300">
                <a:solidFill>
                  <a:srgbClr val="CC0000"/>
                </a:solidFill>
                <a:latin typeface="Times New Roman" pitchFamily="18" charset="0"/>
              </a:rPr>
              <a:pPr eaLnBrk="1" hangingPunct="1"/>
              <a:t>4</a:t>
            </a:fld>
            <a:endParaRPr lang="da-DK" altLang="da-DK" sz="1300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da-DK" dirty="0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15880" indent="-275338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01354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541896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1982438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422979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863520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304061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744603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D0D15BEC-A969-4B4E-A419-C8485F5E417F}" type="slidenum">
              <a:rPr lang="da-DK" altLang="da-DK" sz="1300">
                <a:solidFill>
                  <a:srgbClr val="CC0000"/>
                </a:solidFill>
                <a:latin typeface="Times New Roman" pitchFamily="18" charset="0"/>
              </a:rPr>
              <a:pPr eaLnBrk="1" hangingPunct="1"/>
              <a:t>5</a:t>
            </a:fld>
            <a:endParaRPr lang="da-DK" altLang="da-DK" sz="1300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da-DK" dirty="0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15880" indent="-275338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01354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541896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1982438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422979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863520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304061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744603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D0D15BEC-A969-4B4E-A419-C8485F5E417F}" type="slidenum">
              <a:rPr lang="da-DK" altLang="da-DK" sz="1300">
                <a:solidFill>
                  <a:srgbClr val="CC0000"/>
                </a:solidFill>
                <a:latin typeface="Times New Roman" pitchFamily="18" charset="0"/>
              </a:rPr>
              <a:pPr eaLnBrk="1" hangingPunct="1"/>
              <a:t>6</a:t>
            </a:fld>
            <a:endParaRPr lang="da-DK" altLang="da-DK" sz="1300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da-DK" dirty="0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15880" indent="-275338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01354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541896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1982438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422979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863520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304061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744603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D0D15BEC-A969-4B4E-A419-C8485F5E417F}" type="slidenum">
              <a:rPr lang="da-DK" altLang="da-DK" sz="1300">
                <a:solidFill>
                  <a:srgbClr val="CC0000"/>
                </a:solidFill>
                <a:latin typeface="Times New Roman" pitchFamily="18" charset="0"/>
              </a:rPr>
              <a:pPr eaLnBrk="1" hangingPunct="1"/>
              <a:t>7</a:t>
            </a:fld>
            <a:endParaRPr lang="da-DK" altLang="da-DK" sz="1300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da-DK" dirty="0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207886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15880" indent="-275338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01354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541896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1982438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422979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863520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304061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744603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D0D15BEC-A969-4B4E-A419-C8485F5E417F}" type="slidenum">
              <a:rPr lang="da-DK" altLang="da-DK" sz="1300">
                <a:solidFill>
                  <a:srgbClr val="CC0000"/>
                </a:solidFill>
                <a:latin typeface="Times New Roman" pitchFamily="18" charset="0"/>
              </a:rPr>
              <a:pPr eaLnBrk="1" hangingPunct="1"/>
              <a:t>8</a:t>
            </a:fld>
            <a:endParaRPr lang="da-DK" altLang="da-DK" sz="1300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da-DK" dirty="0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15880" indent="-275338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01354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541896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1982438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422979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863520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304061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744603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D0D15BEC-A969-4B4E-A419-C8485F5E417F}" type="slidenum">
              <a:rPr lang="da-DK" altLang="da-DK" sz="1300">
                <a:solidFill>
                  <a:srgbClr val="CC0000"/>
                </a:solidFill>
                <a:latin typeface="Times New Roman" pitchFamily="18" charset="0"/>
              </a:rPr>
              <a:pPr eaLnBrk="1" hangingPunct="1"/>
              <a:t>9</a:t>
            </a:fld>
            <a:endParaRPr lang="da-DK" altLang="da-DK" sz="1300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da-DK" dirty="0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15880" indent="-275338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01354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541896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1982438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422979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863520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304061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744603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D0D15BEC-A969-4B4E-A419-C8485F5E417F}" type="slidenum">
              <a:rPr lang="da-DK" altLang="da-DK" sz="1300">
                <a:solidFill>
                  <a:srgbClr val="CC0000"/>
                </a:solidFill>
                <a:latin typeface="Times New Roman" pitchFamily="18" charset="0"/>
              </a:rPr>
              <a:pPr eaLnBrk="1" hangingPunct="1"/>
              <a:t>10</a:t>
            </a:fld>
            <a:endParaRPr lang="da-DK" altLang="da-DK" sz="1300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da-DK" dirty="0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15880" indent="-275338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01354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541896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1982438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422979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863520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304061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744603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FF10E69B-73AF-4860-8691-E429F7DCEA38}" type="slidenum">
              <a:rPr lang="da-DK" altLang="da-DK" sz="1300">
                <a:solidFill>
                  <a:srgbClr val="CC0000"/>
                </a:solidFill>
                <a:latin typeface="Times New Roman" pitchFamily="18" charset="0"/>
              </a:rPr>
              <a:pPr eaLnBrk="1" hangingPunct="1"/>
              <a:t>11</a:t>
            </a:fld>
            <a:endParaRPr lang="da-DK" altLang="da-DK" sz="1300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da-DK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15880" indent="-275338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01354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541896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1982438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422979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863520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304061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744603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FF10E69B-73AF-4860-8691-E429F7DCEA38}" type="slidenum">
              <a:rPr lang="da-DK" altLang="da-DK" sz="1300">
                <a:solidFill>
                  <a:srgbClr val="CC0000"/>
                </a:solidFill>
                <a:latin typeface="Times New Roman" pitchFamily="18" charset="0"/>
              </a:rPr>
              <a:pPr eaLnBrk="1" hangingPunct="1"/>
              <a:t>12</a:t>
            </a:fld>
            <a:endParaRPr lang="da-DK" altLang="da-DK" sz="1300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da-DK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252653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17CE37-4641-4131-A94A-505FEC827471}" type="slidenum">
              <a:rPr lang="da-DK" altLang="da-DK" smtClean="0"/>
              <a:pPr/>
              <a:t>13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41843989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897" indent="-285730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2918" indent="-228584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085" indent="-228584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252" indent="-228584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419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585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8752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5919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91DE2EC4-A1BB-48A6-ABA9-31ED8F6E82A3}" type="slidenum">
              <a:rPr lang="da-DK" altLang="da-DK" sz="1300">
                <a:solidFill>
                  <a:srgbClr val="CC0000"/>
                </a:solidFill>
              </a:rPr>
              <a:pPr eaLnBrk="1" hangingPunct="1">
                <a:spcBef>
                  <a:spcPct val="0"/>
                </a:spcBef>
              </a:pPr>
              <a:t>14</a:t>
            </a:fld>
            <a:endParaRPr lang="da-DK" altLang="da-DK" sz="1300">
              <a:solidFill>
                <a:srgbClr val="CC0000"/>
              </a:solidFill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0013" y="741363"/>
            <a:ext cx="4940300" cy="3705225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da-DK" dirty="0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00402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897" indent="-285730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2918" indent="-228584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085" indent="-228584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252" indent="-228584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419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585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8752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5919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91DE2EC4-A1BB-48A6-ABA9-31ED8F6E82A3}" type="slidenum">
              <a:rPr lang="da-DK" altLang="da-DK" sz="1300">
                <a:solidFill>
                  <a:srgbClr val="CC0000"/>
                </a:solidFill>
              </a:rPr>
              <a:pPr eaLnBrk="1" hangingPunct="1">
                <a:spcBef>
                  <a:spcPct val="0"/>
                </a:spcBef>
              </a:pPr>
              <a:t>15</a:t>
            </a:fld>
            <a:endParaRPr lang="da-DK" altLang="da-DK" sz="1300">
              <a:solidFill>
                <a:srgbClr val="CC0000"/>
              </a:solidFill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0013" y="741363"/>
            <a:ext cx="4940300" cy="3705225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da-DK" dirty="0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992760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17CE37-4641-4131-A94A-505FEC827471}" type="slidenum">
              <a:rPr lang="da-DK" altLang="da-DK" smtClean="0"/>
              <a:pPr/>
              <a:t>16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6557786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17CE37-4641-4131-A94A-505FEC827471}" type="slidenum">
              <a:rPr lang="da-DK" altLang="da-DK" smtClean="0"/>
              <a:pPr/>
              <a:t>17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15752866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22" indent="-285739"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2958" indent="-228592"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141" indent="-228592"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324" indent="-228592"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506" indent="-228592" defTabSz="9905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689" indent="-228592" defTabSz="9905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8872" indent="-228592" defTabSz="9905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055" indent="-228592" defTabSz="9905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16B0D70C-2929-4386-8050-DC4284CB5E07}" type="slidenum">
              <a:rPr lang="da-DK" altLang="da-DK" sz="1300">
                <a:solidFill>
                  <a:srgbClr val="CC0000"/>
                </a:solidFill>
                <a:latin typeface="Times New Roman" pitchFamily="18" charset="0"/>
              </a:rPr>
              <a:pPr eaLnBrk="1" hangingPunct="1"/>
              <a:t>18</a:t>
            </a:fld>
            <a:endParaRPr lang="da-DK" altLang="da-DK" sz="1300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925" y="4560087"/>
            <a:ext cx="5365352" cy="432031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da-DK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22" indent="-285739"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2958" indent="-228592"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141" indent="-228592"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324" indent="-228592"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506" indent="-228592" defTabSz="9905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689" indent="-228592" defTabSz="9905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8872" indent="-228592" defTabSz="9905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055" indent="-228592" defTabSz="9905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16B0D70C-2929-4386-8050-DC4284CB5E07}" type="slidenum">
              <a:rPr lang="da-DK" altLang="da-DK" sz="1300">
                <a:solidFill>
                  <a:srgbClr val="CC0000"/>
                </a:solidFill>
                <a:latin typeface="Times New Roman" pitchFamily="18" charset="0"/>
              </a:rPr>
              <a:pPr eaLnBrk="1" hangingPunct="1"/>
              <a:t>19</a:t>
            </a:fld>
            <a:endParaRPr lang="da-DK" altLang="da-DK" sz="1300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925" y="4560087"/>
            <a:ext cx="5365352" cy="432031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da-DK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22" indent="-285739"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2958" indent="-228592"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141" indent="-228592"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324" indent="-228592"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506" indent="-228592" defTabSz="9905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689" indent="-228592" defTabSz="9905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8872" indent="-228592" defTabSz="9905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055" indent="-228592" defTabSz="9905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16B0D70C-2929-4386-8050-DC4284CB5E07}" type="slidenum">
              <a:rPr lang="da-DK" altLang="da-DK" sz="1300">
                <a:solidFill>
                  <a:srgbClr val="CC0000"/>
                </a:solidFill>
                <a:latin typeface="Times New Roman" pitchFamily="18" charset="0"/>
              </a:rPr>
              <a:pPr eaLnBrk="1" hangingPunct="1"/>
              <a:t>20</a:t>
            </a:fld>
            <a:endParaRPr lang="da-DK" altLang="da-DK" sz="1300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925" y="4560087"/>
            <a:ext cx="5365352" cy="432031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da-DK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22" indent="-285739"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2958" indent="-228592"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141" indent="-228592"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324" indent="-228592"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506" indent="-228592" defTabSz="9905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689" indent="-228592" defTabSz="9905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8872" indent="-228592" defTabSz="9905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055" indent="-228592" defTabSz="9905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16B0D70C-2929-4386-8050-DC4284CB5E07}" type="slidenum">
              <a:rPr lang="da-DK" altLang="da-DK" sz="1300">
                <a:solidFill>
                  <a:srgbClr val="CC0000"/>
                </a:solidFill>
                <a:latin typeface="Times New Roman" pitchFamily="18" charset="0"/>
              </a:rPr>
              <a:pPr eaLnBrk="1" hangingPunct="1"/>
              <a:t>21</a:t>
            </a:fld>
            <a:endParaRPr lang="da-DK" altLang="da-DK" sz="1300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925" y="4560087"/>
            <a:ext cx="5365352" cy="432031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da-DK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22" indent="-285739"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2958" indent="-228592"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141" indent="-228592"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324" indent="-228592"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506" indent="-228592" defTabSz="9905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689" indent="-228592" defTabSz="9905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8872" indent="-228592" defTabSz="9905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055" indent="-228592" defTabSz="9905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16B0D70C-2929-4386-8050-DC4284CB5E07}" type="slidenum">
              <a:rPr lang="da-DK" altLang="da-DK" sz="1300">
                <a:solidFill>
                  <a:srgbClr val="CC0000"/>
                </a:solidFill>
                <a:latin typeface="Times New Roman" pitchFamily="18" charset="0"/>
              </a:rPr>
              <a:pPr eaLnBrk="1" hangingPunct="1"/>
              <a:t>22</a:t>
            </a:fld>
            <a:endParaRPr lang="da-DK" altLang="da-DK" sz="1300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925" y="4560087"/>
            <a:ext cx="5365352" cy="432031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da-DK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22" indent="-285739"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2958" indent="-228592"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141" indent="-228592"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324" indent="-228592"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506" indent="-228592" defTabSz="9905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689" indent="-228592" defTabSz="9905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8872" indent="-228592" defTabSz="9905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055" indent="-228592" defTabSz="9905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16B0D70C-2929-4386-8050-DC4284CB5E07}" type="slidenum">
              <a:rPr lang="da-DK" altLang="da-DK" sz="1300">
                <a:solidFill>
                  <a:srgbClr val="CC0000"/>
                </a:solidFill>
                <a:latin typeface="Times New Roman" pitchFamily="18" charset="0"/>
              </a:rPr>
              <a:pPr eaLnBrk="1" hangingPunct="1"/>
              <a:t>23</a:t>
            </a:fld>
            <a:endParaRPr lang="da-DK" altLang="da-DK" sz="1300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925" y="4560087"/>
            <a:ext cx="5365352" cy="432031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da-DK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601885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22" indent="-285739"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2958" indent="-228592"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141" indent="-228592"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324" indent="-228592" defTabSz="990563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506" indent="-228592" defTabSz="9905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689" indent="-228592" defTabSz="9905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8872" indent="-228592" defTabSz="9905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055" indent="-228592" defTabSz="9905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16B0D70C-2929-4386-8050-DC4284CB5E07}" type="slidenum">
              <a:rPr lang="da-DK" altLang="da-DK" sz="1300">
                <a:solidFill>
                  <a:srgbClr val="CC0000"/>
                </a:solidFill>
                <a:latin typeface="Times New Roman" pitchFamily="18" charset="0"/>
              </a:rPr>
              <a:pPr eaLnBrk="1" hangingPunct="1"/>
              <a:t>24</a:t>
            </a:fld>
            <a:endParaRPr lang="da-DK" altLang="da-DK" sz="1300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925" y="4560087"/>
            <a:ext cx="5365352" cy="432031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da-DK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643030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2538" y="727075"/>
            <a:ext cx="4837112" cy="3627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BDC66-5FD4-4D91-9FD7-3639CA8D149D}" type="slidenum">
              <a:rPr lang="da-DK" altLang="da-DK" smtClean="0"/>
              <a:pPr/>
              <a:t>25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9251159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2538" y="727075"/>
            <a:ext cx="4837112" cy="3627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BDC66-5FD4-4D91-9FD7-3639CA8D149D}" type="slidenum">
              <a:rPr lang="da-DK" altLang="da-DK" smtClean="0"/>
              <a:pPr/>
              <a:t>26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32722014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39888" y="695325"/>
            <a:ext cx="4637087" cy="3476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BDC66-5FD4-4D91-9FD7-3639CA8D149D}" type="slidenum">
              <a:rPr lang="da-DK" altLang="da-DK" smtClean="0"/>
              <a:pPr/>
              <a:t>27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3316812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2538" y="727075"/>
            <a:ext cx="4837112" cy="3627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BDC66-5FD4-4D91-9FD7-3639CA8D149D}" type="slidenum">
              <a:rPr lang="da-DK" altLang="da-DK" smtClean="0"/>
              <a:pPr/>
              <a:t>28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17159141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2538" y="727075"/>
            <a:ext cx="4837112" cy="3627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BDC66-5FD4-4D91-9FD7-3639CA8D149D}" type="slidenum">
              <a:rPr lang="da-DK" altLang="da-DK" smtClean="0"/>
              <a:pPr/>
              <a:t>29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22205249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2538" y="727075"/>
            <a:ext cx="4837112" cy="3627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BDC66-5FD4-4D91-9FD7-3639CA8D149D}" type="slidenum">
              <a:rPr lang="da-DK" altLang="da-DK" smtClean="0"/>
              <a:pPr/>
              <a:t>30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13677217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2538" y="727075"/>
            <a:ext cx="4837112" cy="3627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BDC66-5FD4-4D91-9FD7-3639CA8D149D}" type="slidenum">
              <a:rPr lang="da-DK" altLang="da-DK" smtClean="0"/>
              <a:pPr/>
              <a:t>31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299388028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2538" y="727075"/>
            <a:ext cx="4837112" cy="3627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BDC66-5FD4-4D91-9FD7-3639CA8D149D}" type="slidenum">
              <a:rPr lang="da-DK" altLang="da-DK" smtClean="0"/>
              <a:pPr/>
              <a:t>32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72778624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2538" y="727075"/>
            <a:ext cx="4837112" cy="3627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BDC66-5FD4-4D91-9FD7-3639CA8D149D}" type="slidenum">
              <a:rPr lang="da-DK" altLang="da-DK" smtClean="0"/>
              <a:pPr/>
              <a:t>33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226643366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2538" y="727075"/>
            <a:ext cx="4837112" cy="3627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BDC66-5FD4-4D91-9FD7-3639CA8D149D}" type="slidenum">
              <a:rPr lang="da-DK" altLang="da-DK" smtClean="0"/>
              <a:pPr/>
              <a:t>34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185511533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2538" y="727075"/>
            <a:ext cx="4837112" cy="3627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BDC66-5FD4-4D91-9FD7-3639CA8D149D}" type="slidenum">
              <a:rPr lang="da-DK" altLang="da-DK" smtClean="0"/>
              <a:pPr/>
              <a:t>35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168400348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36713" y="701675"/>
            <a:ext cx="4670425" cy="3502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BDC66-5FD4-4D91-9FD7-3639CA8D149D}" type="slidenum">
              <a:rPr lang="da-DK" altLang="da-DK" smtClean="0"/>
              <a:pPr/>
              <a:t>36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120336645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36713" y="701675"/>
            <a:ext cx="4670425" cy="3502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BDC66-5FD4-4D91-9FD7-3639CA8D149D}" type="slidenum">
              <a:rPr lang="da-DK" altLang="da-DK" smtClean="0"/>
              <a:pPr/>
              <a:t>37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75383541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36713" y="701675"/>
            <a:ext cx="4670425" cy="3502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BDC66-5FD4-4D91-9FD7-3639CA8D149D}" type="slidenum">
              <a:rPr lang="da-DK" altLang="da-DK" smtClean="0"/>
              <a:pPr/>
              <a:t>38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220126772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15880" indent="-275338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01354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541896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1982438" indent="-220271" defTabSz="954506" eaLnBrk="0" hangingPunct="0"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422979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863520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304061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744603" indent="-220271" defTabSz="95450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D0D15BEC-A969-4B4E-A419-C8485F5E417F}" type="slidenum">
              <a:rPr lang="da-DK" altLang="da-DK" sz="1300">
                <a:solidFill>
                  <a:srgbClr val="CC0000"/>
                </a:solidFill>
                <a:latin typeface="Times New Roman" pitchFamily="18" charset="0"/>
              </a:rPr>
              <a:pPr eaLnBrk="1" hangingPunct="1"/>
              <a:t>39</a:t>
            </a:fld>
            <a:endParaRPr lang="da-DK" altLang="da-DK" sz="1300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da-DK" dirty="0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5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15880" indent="-275338" defTabSz="9545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01354" indent="-220271" defTabSz="9545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541896" indent="-220271" defTabSz="9545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1982438" indent="-220271" defTabSz="954506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422979" indent="-220271" defTabSz="9545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863520" indent="-220271" defTabSz="9545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304061" indent="-220271" defTabSz="9545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744603" indent="-220271" defTabSz="95450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0A7C83F2-97F6-4FF2-A03C-029400408B2C}" type="slidenum">
              <a:rPr lang="da-DK" altLang="da-DK" sz="1300">
                <a:solidFill>
                  <a:srgbClr val="CC0000"/>
                </a:solidFill>
              </a:rPr>
              <a:pPr eaLnBrk="1" hangingPunct="1">
                <a:spcBef>
                  <a:spcPct val="0"/>
                </a:spcBef>
              </a:pPr>
              <a:t>40</a:t>
            </a:fld>
            <a:endParaRPr lang="da-DK" altLang="da-DK" sz="1300">
              <a:solidFill>
                <a:srgbClr val="CC0000"/>
              </a:solidFill>
            </a:endParaRPr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da-DK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Click to edit Master text styles</a:t>
            </a:r>
          </a:p>
          <a:p>
            <a:pPr lvl="1"/>
            <a:r>
              <a:rPr lang="da-DK"/>
              <a:t>Second level</a:t>
            </a:r>
          </a:p>
          <a:p>
            <a:pPr lvl="2"/>
            <a:r>
              <a:rPr lang="da-DK"/>
              <a:t>Third level</a:t>
            </a:r>
          </a:p>
          <a:p>
            <a:pPr lvl="3"/>
            <a:r>
              <a:rPr lang="da-DK"/>
              <a:t>Fourth level</a:t>
            </a:r>
          </a:p>
          <a:p>
            <a:pPr lvl="4"/>
            <a:r>
              <a:rPr lang="da-DK"/>
              <a:t>Fifth level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88424" y="6400800"/>
            <a:ext cx="784143" cy="457200"/>
          </a:xfrm>
          <a:prstGeom prst="rect">
            <a:avLst/>
          </a:prstGeom>
          <a:ln/>
        </p:spPr>
        <p:txBody>
          <a:bodyPr/>
          <a:lstStyle>
            <a:lvl1pPr algn="ctr">
              <a:defRPr sz="1800" b="1"/>
            </a:lvl1pPr>
          </a:lstStyle>
          <a:p>
            <a:fld id="{AFFA0464-6430-46B6-9821-63ECB517BF02}" type="slidenum">
              <a:rPr lang="da-DK" altLang="da-DK" smtClean="0"/>
              <a:pPr/>
              <a:t>‹#›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2802838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Click to edit Master title style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88424" y="6400800"/>
            <a:ext cx="784143" cy="457200"/>
          </a:xfrm>
          <a:ln/>
        </p:spPr>
        <p:txBody>
          <a:bodyPr/>
          <a:lstStyle>
            <a:lvl1pPr algn="ctr">
              <a:defRPr sz="1800" b="1"/>
            </a:lvl1pPr>
          </a:lstStyle>
          <a:p>
            <a:fld id="{AFFA0464-6430-46B6-9821-63ECB517BF02}" type="slidenum">
              <a:rPr lang="da-DK" altLang="da-DK" smtClean="0"/>
              <a:pPr/>
              <a:t>‹#›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3813216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260350"/>
            <a:ext cx="8207375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052513"/>
            <a:ext cx="8207375" cy="519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Click to edit Master text styles</a:t>
            </a:r>
          </a:p>
          <a:p>
            <a:pPr lvl="1"/>
            <a:r>
              <a:rPr lang="da-DK" altLang="da-DK"/>
              <a:t>Second level</a:t>
            </a:r>
          </a:p>
          <a:p>
            <a:pPr lvl="2"/>
            <a:r>
              <a:rPr lang="da-DK" altLang="da-DK"/>
              <a:t>Third level</a:t>
            </a:r>
          </a:p>
          <a:p>
            <a:pPr lvl="3"/>
            <a:r>
              <a:rPr lang="da-DK" altLang="da-DK"/>
              <a:t>Fourth level</a:t>
            </a:r>
          </a:p>
          <a:p>
            <a:pPr lvl="4"/>
            <a:r>
              <a:rPr lang="da-DK" altLang="da-DK"/>
              <a:t>Fifth level</a:t>
            </a:r>
          </a:p>
        </p:txBody>
      </p:sp>
      <p:sp>
        <p:nvSpPr>
          <p:cNvPr id="1031" name="Line 9"/>
          <p:cNvSpPr>
            <a:spLocks noChangeShapeType="1"/>
          </p:cNvSpPr>
          <p:nvPr/>
        </p:nvSpPr>
        <p:spPr bwMode="auto">
          <a:xfrm flipV="1">
            <a:off x="468313" y="981075"/>
            <a:ext cx="8207375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388424" y="6400800"/>
            <a:ext cx="784143" cy="457200"/>
          </a:xfrm>
          <a:prstGeom prst="rect">
            <a:avLst/>
          </a:prstGeom>
          <a:ln/>
        </p:spPr>
        <p:txBody>
          <a:bodyPr/>
          <a:lstStyle>
            <a:lvl1pPr algn="ctr">
              <a:defRPr sz="1800" b="1">
                <a:solidFill>
                  <a:srgbClr val="002060"/>
                </a:solidFill>
              </a:defRPr>
            </a:lvl1pPr>
          </a:lstStyle>
          <a:p>
            <a:fld id="{AFFA0464-6430-46B6-9821-63ECB517BF02}" type="slidenum">
              <a:rPr lang="da-DK" altLang="da-DK" smtClean="0"/>
              <a:pPr/>
              <a:t>‹#›</a:t>
            </a:fld>
            <a:endParaRPr lang="da-DK" altLang="da-DK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+mj-lt"/>
          <a:ea typeface="ＭＳ Ｐゴシック" pitchFamily="-106" charset="-128"/>
          <a:cs typeface="ＭＳ Ｐゴシック" pitchFamily="-106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A50021"/>
          </a:solidFill>
          <a:latin typeface="+mn-lt"/>
          <a:ea typeface="ＭＳ Ｐゴシック" pitchFamily="-106" charset="-128"/>
          <a:cs typeface="ＭＳ Ｐゴシック" pitchFamily="-106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0066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Times New Roman" charset="0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Times New Roman" charset="0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Times New Roman" charset="0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Times New Roman" charset="0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Times New Roman" charset="0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Times New Roman" charset="0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tutorial/extra/generics/wildcards.html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124744"/>
            <a:ext cx="8208912" cy="5654090"/>
          </a:xfrm>
        </p:spPr>
        <p:txBody>
          <a:bodyPr/>
          <a:lstStyle/>
          <a:p>
            <a:pPr>
              <a:spcBef>
                <a:spcPts val="800"/>
              </a:spcBef>
            </a:pPr>
            <a:r>
              <a:rPr lang="da-DK" sz="2000" dirty="0"/>
              <a:t>Andre former for </a:t>
            </a:r>
            <a:r>
              <a:rPr lang="da-DK" sz="2000" dirty="0" err="1"/>
              <a:t>nedarvning</a:t>
            </a:r>
            <a:endParaRPr lang="da-DK" sz="2000" dirty="0"/>
          </a:p>
          <a:p>
            <a:pPr lvl="1">
              <a:spcBef>
                <a:spcPts val="300"/>
              </a:spcBef>
            </a:pPr>
            <a:r>
              <a:rPr lang="da-DK" sz="1800" dirty="0"/>
              <a:t>Interfaces</a:t>
            </a:r>
          </a:p>
          <a:p>
            <a:pPr lvl="1">
              <a:spcBef>
                <a:spcPts val="300"/>
              </a:spcBef>
            </a:pPr>
            <a:r>
              <a:rPr lang="da-DK" sz="1800" dirty="0"/>
              <a:t>Abstrakte klasser, der er en ”mellemting” mellem interfaces og almindelige klasser</a:t>
            </a:r>
          </a:p>
          <a:p>
            <a:pPr lvl="1">
              <a:spcBef>
                <a:spcPts val="300"/>
              </a:spcBef>
            </a:pPr>
            <a:r>
              <a:rPr lang="da-DK" sz="1800" dirty="0"/>
              <a:t>Funktionelle interfaces, som er nyttige i funktionel programmering (og som I har brugt mange gange – uden at vide det)</a:t>
            </a:r>
          </a:p>
          <a:p>
            <a:pPr>
              <a:spcBef>
                <a:spcPts val="1800"/>
              </a:spcBef>
            </a:pPr>
            <a:r>
              <a:rPr lang="da-DK" sz="2000" dirty="0"/>
              <a:t>Wildcards (jokere)</a:t>
            </a:r>
          </a:p>
          <a:p>
            <a:pPr lvl="1">
              <a:spcBef>
                <a:spcPts val="300"/>
              </a:spcBef>
            </a:pPr>
            <a:r>
              <a:rPr lang="da-DK" sz="1800" dirty="0"/>
              <a:t>Gør det muligt at beskrive forskellige krav til typerne for en metodes parametre</a:t>
            </a:r>
          </a:p>
          <a:p>
            <a:pPr marL="342900" lvl="1" indent="-342900">
              <a:spcBef>
                <a:spcPts val="1800"/>
              </a:spcBef>
              <a:buFontTx/>
              <a:buChar char="•"/>
            </a:pPr>
            <a:r>
              <a:rPr lang="da-DK" altLang="da-DK" b="1" dirty="0">
                <a:solidFill>
                  <a:srgbClr val="A50021"/>
                </a:solidFill>
                <a:ea typeface="ＭＳ Ｐゴシック" pitchFamily="34" charset="-128"/>
                <a:cs typeface="ＭＳ Ｐゴシック" pitchFamily="-106" charset="-128"/>
              </a:rPr>
              <a:t>Afleveringsopgave: Computerspil 2</a:t>
            </a:r>
          </a:p>
          <a:p>
            <a:pPr lvl="1">
              <a:spcBef>
                <a:spcPts val="300"/>
              </a:spcBef>
            </a:pPr>
            <a:r>
              <a:rPr lang="da-DK" altLang="da-DK" sz="1800" dirty="0">
                <a:ea typeface="ＭＳ Ｐゴシック" pitchFamily="34" charset="-128"/>
              </a:rPr>
              <a:t>T</a:t>
            </a:r>
            <a:r>
              <a:rPr lang="da-DK" sz="1800" dirty="0"/>
              <a:t>est af de klasser, som I har implementeret i</a:t>
            </a:r>
            <a:br>
              <a:rPr lang="da-DK" sz="1800" dirty="0"/>
            </a:br>
            <a:r>
              <a:rPr lang="da-DK" sz="1800" dirty="0"/>
              <a:t>den første delaflevering</a:t>
            </a:r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  <a:tabLst>
                <a:tab pos="180975" algn="l"/>
              </a:tabLst>
            </a:pPr>
            <a:endParaRPr lang="da-DK" altLang="da-DK" sz="2000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67544" y="332656"/>
            <a:ext cx="8207375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9pPr>
          </a:lstStyle>
          <a:p>
            <a:pPr eaLnBrk="1" hangingPunct="1"/>
            <a:r>
              <a:rPr lang="da-DK" altLang="en-US" sz="3200" kern="0" dirty="0">
                <a:ea typeface="ＭＳ Ｐゴシック" pitchFamily="34" charset="-128"/>
              </a:rPr>
              <a:t>Forelæsning </a:t>
            </a:r>
            <a:r>
              <a:rPr lang="da-DK" altLang="en-US" sz="3200" kern="0">
                <a:ea typeface="ＭＳ Ｐゴシック" pitchFamily="34" charset="-128"/>
              </a:rPr>
              <a:t>Uge 12</a:t>
            </a:r>
            <a:endParaRPr lang="da-DK" altLang="da-DK" sz="3200" kern="0" dirty="0">
              <a:ea typeface="ＭＳ Ｐゴシック" pitchFamily="34" charset="-128"/>
            </a:endParaRPr>
          </a:p>
        </p:txBody>
      </p:sp>
      <p:pic>
        <p:nvPicPr>
          <p:cNvPr id="1026" name="Picture 2" descr="\\ad.nfit.au.dk\NFDFS\Users\kjensen\Desktop\wildcar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3819360"/>
            <a:ext cx="2097782" cy="2925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34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568952" cy="682625"/>
          </a:xfrm>
        </p:spPr>
        <p:txBody>
          <a:bodyPr/>
          <a:lstStyle/>
          <a:p>
            <a:r>
              <a:rPr lang="da-DK" altLang="da-DK" sz="3200" dirty="0">
                <a:ea typeface="ＭＳ Ｐゴシック" pitchFamily="34" charset="-128"/>
              </a:rPr>
              <a:t>Træning i mundtlig præsentation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532440" y="6400800"/>
            <a:ext cx="61156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CA5836E-6711-417F-AF48-31ACC3CF4030}" type="slidenum">
              <a:rPr lang="da-DK" altLang="da-DK" smtClean="0"/>
              <a:pPr>
                <a:defRPr/>
              </a:pPr>
              <a:t>2</a:t>
            </a:fld>
            <a:endParaRPr lang="da-DK" altLang="da-DK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11560" y="1124744"/>
            <a:ext cx="8216569" cy="44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342900" lvl="1" indent="-342900">
              <a:spcBef>
                <a:spcPts val="1200"/>
              </a:spcBef>
              <a:buFontTx/>
              <a:buChar char="•"/>
            </a:pPr>
            <a:r>
              <a:rPr lang="da-DK" altLang="da-DK" b="1" kern="0" dirty="0">
                <a:solidFill>
                  <a:srgbClr val="A50021"/>
                </a:solidFill>
                <a:ea typeface="ＭＳ Ｐゴシック" pitchFamily="34" charset="-128"/>
                <a:cs typeface="ＭＳ Ｐゴシック" pitchFamily="-106" charset="-128"/>
              </a:rPr>
              <a:t>Deltag i træningen i mundtlig præsentation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da-DK" altLang="da-DK" sz="1800" kern="0" dirty="0">
                <a:ea typeface="ＭＳ Ｐゴシック" pitchFamily="34" charset="-128"/>
              </a:rPr>
              <a:t>Den er uhyre vigtig for jeres succes ved mundtlig eksamen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da-DK" altLang="da-DK" sz="1800" kern="0" dirty="0">
                <a:ea typeface="ＭＳ Ｐゴシック" pitchFamily="34" charset="-128"/>
              </a:rPr>
              <a:t>Eneste gang under jeres studier, hvor I får systematisk træning heri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da-DK" altLang="da-DK" sz="1800" kern="0" dirty="0">
                <a:ea typeface="ＭＳ Ｐゴシック" pitchFamily="34" charset="-128"/>
              </a:rPr>
              <a:t>Træning gør mester – de timer I bruger på det, er godt givet ud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da-DK" altLang="da-DK" sz="1800" kern="0" dirty="0">
                <a:ea typeface="ＭＳ Ｐゴシック" pitchFamily="34" charset="-128"/>
              </a:rPr>
              <a:t>Se videoerne om den "perfekte" eksamenspræstation og hør jeres medstuderendes præsentationer – det lærer I også af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da-DK" altLang="da-DK" sz="1800" kern="0" dirty="0">
                <a:ea typeface="ＭＳ Ｐゴシック" pitchFamily="34" charset="-128"/>
              </a:rPr>
              <a:t>Hvis I er nervøse og usikre omkring eksamen og det at skulle lave præsentationer for andre, har I netop brug for træning</a:t>
            </a:r>
          </a:p>
          <a:p>
            <a:pPr marL="342900" lvl="1" indent="-342900">
              <a:spcBef>
                <a:spcPts val="1800"/>
              </a:spcBef>
              <a:buChar char="•"/>
            </a:pPr>
            <a:r>
              <a:rPr lang="da-DK" altLang="da-DK" b="1" kern="0" dirty="0">
                <a:solidFill>
                  <a:srgbClr val="A50021"/>
                </a:solidFill>
                <a:ea typeface="ＭＳ Ｐゴシック" pitchFamily="34" charset="-128"/>
                <a:cs typeface="ＭＳ Ｐゴシック" pitchFamily="-106" charset="-128"/>
              </a:rPr>
              <a:t>Det er vigtigt for it-folk at kunne præsentere tekniske problemstillinger for fagfæller og lægfolk</a:t>
            </a:r>
          </a:p>
          <a:p>
            <a:pPr lvl="1">
              <a:spcBef>
                <a:spcPts val="600"/>
              </a:spcBef>
            </a:pPr>
            <a:r>
              <a:rPr lang="da-DK" altLang="da-DK" sz="1800" kern="0" dirty="0">
                <a:ea typeface="ＭＳ Ｐゴシック" pitchFamily="34" charset="-128"/>
              </a:rPr>
              <a:t>Det er en essentiel del af vores faglige kompetencer, og I kommer alle til at gøre det i jeres daglige arbejde</a:t>
            </a:r>
          </a:p>
        </p:txBody>
      </p:sp>
    </p:spTree>
    <p:extLst>
      <p:ext uri="{BB962C8B-B14F-4D97-AF65-F5344CB8AC3E}">
        <p14:creationId xmlns:p14="http://schemas.microsoft.com/office/powerpoint/2010/main" val="147590362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67544" y="332656"/>
            <a:ext cx="8676456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9pPr>
          </a:lstStyle>
          <a:p>
            <a:pPr eaLnBrk="1" hangingPunct="1"/>
            <a:r>
              <a:rPr lang="da-DK" altLang="da-DK" sz="2800" dirty="0">
                <a:solidFill>
                  <a:srgbClr val="C00000"/>
                </a:solidFill>
                <a:cs typeface="Arial"/>
              </a:rPr>
              <a:t>●</a:t>
            </a:r>
            <a:r>
              <a:rPr lang="da-DK" altLang="da-DK" sz="2800" dirty="0">
                <a:cs typeface="Arial"/>
              </a:rPr>
              <a:t> </a:t>
            </a:r>
            <a:r>
              <a:rPr lang="da-DK" altLang="en-US" sz="3200" kern="0" dirty="0">
                <a:ea typeface="ＭＳ Ｐゴシック" pitchFamily="34" charset="-128"/>
              </a:rPr>
              <a:t>Abstrakte klasser og interfaces</a:t>
            </a:r>
            <a:endParaRPr lang="da-DK" altLang="da-DK" sz="3200" kern="0" dirty="0">
              <a:ea typeface="ＭＳ Ｐゴシック" pitchFamily="34" charset="-128"/>
            </a:endParaRPr>
          </a:p>
        </p:txBody>
      </p:sp>
      <p:sp>
        <p:nvSpPr>
          <p:cNvPr id="14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496696" y="6376621"/>
            <a:ext cx="647304" cy="457200"/>
          </a:xfrm>
          <a:prstGeom prst="rect">
            <a:avLst/>
          </a:prstGeom>
        </p:spPr>
        <p:txBody>
          <a:bodyPr/>
          <a:lstStyle/>
          <a:p>
            <a:fld id="{D5F120ED-4883-459A-AC97-4FAD8D591FCC}" type="slidenum">
              <a:rPr lang="da-DK" altLang="da-DK" smtClean="0"/>
              <a:pPr/>
              <a:t>3</a:t>
            </a:fld>
            <a:endParaRPr lang="da-DK" altLang="da-DK" dirty="0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395536" y="1052736"/>
            <a:ext cx="8280920" cy="3357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rgbClr val="000066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ts val="1800"/>
              </a:spcBef>
            </a:pPr>
            <a:r>
              <a:rPr lang="da-DK" sz="2000" kern="0" dirty="0"/>
              <a:t>En abstrakt klasse er en klasse, som man ikke kan lave instanser af</a:t>
            </a:r>
          </a:p>
          <a:p>
            <a:pPr lvl="1">
              <a:spcBef>
                <a:spcPts val="600"/>
              </a:spcBef>
            </a:pPr>
            <a:r>
              <a:rPr lang="da-DK" sz="1800" b="1" kern="0" dirty="0"/>
              <a:t>new</a:t>
            </a:r>
            <a:r>
              <a:rPr lang="da-DK" sz="1800" kern="0" dirty="0"/>
              <a:t> operatoren kan ikke anvendes på klassen</a:t>
            </a:r>
          </a:p>
          <a:p>
            <a:pPr marL="342900" lvl="1" indent="-342900">
              <a:spcBef>
                <a:spcPts val="1200"/>
              </a:spcBef>
              <a:buChar char="•"/>
            </a:pPr>
            <a:r>
              <a:rPr lang="da-DK" b="1" kern="0" dirty="0">
                <a:solidFill>
                  <a:srgbClr val="A50021"/>
                </a:solidFill>
                <a:cs typeface="ＭＳ Ｐゴシック" charset="-128"/>
              </a:rPr>
              <a:t>I vores Newsfeed system vil det være oplagt at erklære Post til at være en abstrakt klasse</a:t>
            </a:r>
          </a:p>
          <a:p>
            <a:pPr lvl="1">
              <a:spcBef>
                <a:spcPts val="600"/>
              </a:spcBef>
            </a:pPr>
            <a:r>
              <a:rPr lang="da-DK" sz="1800" kern="0" dirty="0"/>
              <a:t>Det signalerer, at vi ikke vil lave instanser af Post, men kun instanser af dens subklasser MessagePost og PhotoPost</a:t>
            </a:r>
          </a:p>
          <a:p>
            <a:pPr lvl="1">
              <a:spcBef>
                <a:spcPts val="600"/>
              </a:spcBef>
            </a:pPr>
            <a:r>
              <a:rPr lang="da-DK" sz="1800" kern="0" dirty="0"/>
              <a:t>Formålet med Post er udelukkende at samle de ting, der er fælles for MessagePost og PhotoPost, og på den måde undgå kodedublering og opnå større læsbarhed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4427984" y="4235921"/>
            <a:ext cx="2877632" cy="2434005"/>
            <a:chOff x="2699792" y="1988840"/>
            <a:chExt cx="2877632" cy="2434005"/>
          </a:xfrm>
        </p:grpSpPr>
        <p:grpSp>
          <p:nvGrpSpPr>
            <p:cNvPr id="5" name="Group 4"/>
            <p:cNvGrpSpPr/>
            <p:nvPr/>
          </p:nvGrpSpPr>
          <p:grpSpPr>
            <a:xfrm>
              <a:off x="2699792" y="1988840"/>
              <a:ext cx="2877632" cy="2434005"/>
              <a:chOff x="2699792" y="1988840"/>
              <a:chExt cx="2877632" cy="2434005"/>
            </a:xfrm>
          </p:grpSpPr>
          <p:grpSp>
            <p:nvGrpSpPr>
              <p:cNvPr id="9" name="Group 8"/>
              <p:cNvGrpSpPr/>
              <p:nvPr/>
            </p:nvGrpSpPr>
            <p:grpSpPr>
              <a:xfrm>
                <a:off x="2699792" y="1988840"/>
                <a:ext cx="2877632" cy="2434005"/>
                <a:chOff x="683568" y="2218216"/>
                <a:chExt cx="3225640" cy="2821854"/>
              </a:xfrm>
            </p:grpSpPr>
            <p:sp>
              <p:nvSpPr>
                <p:cNvPr id="20" name="Rectangle 19"/>
                <p:cNvSpPr/>
                <p:nvPr/>
              </p:nvSpPr>
              <p:spPr bwMode="auto">
                <a:xfrm>
                  <a:off x="2258066" y="3051902"/>
                  <a:ext cx="1164338" cy="936104"/>
                </a:xfrm>
                <a:prstGeom prst="rect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a-DK" sz="2000" b="0" i="0" u="none" strike="noStrike" cap="none" normalizeH="0" baseline="0">
                    <a:ln>
                      <a:noFill/>
                    </a:ln>
                    <a:solidFill>
                      <a:srgbClr val="A50021"/>
                    </a:solidFill>
                    <a:effectLst/>
                    <a:latin typeface="Arial" charset="0"/>
                  </a:endParaRPr>
                </a:p>
              </p:txBody>
            </p:sp>
            <p:grpSp>
              <p:nvGrpSpPr>
                <p:cNvPr id="21" name="Group 20"/>
                <p:cNvGrpSpPr/>
                <p:nvPr/>
              </p:nvGrpSpPr>
              <p:grpSpPr>
                <a:xfrm>
                  <a:off x="683568" y="2218216"/>
                  <a:ext cx="2808312" cy="2592288"/>
                  <a:chOff x="683568" y="2218216"/>
                  <a:chExt cx="2808312" cy="2592288"/>
                </a:xfrm>
              </p:grpSpPr>
              <p:pic>
                <p:nvPicPr>
                  <p:cNvPr id="33" name="Picture 1" descr="fig8-4.png"/>
                  <p:cNvPicPr>
                    <a:picLocks noChangeAspect="1"/>
                  </p:cNvPicPr>
                  <p:nvPr/>
                </p:nvPicPr>
                <p:blipFill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r="50000"/>
                  <a:stretch/>
                </p:blipFill>
                <p:spPr bwMode="auto">
                  <a:xfrm>
                    <a:off x="683568" y="2218217"/>
                    <a:ext cx="1592026" cy="259228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34" name="Picture 1" descr="fig8-4.png"/>
                  <p:cNvPicPr>
                    <a:picLocks noChangeAspect="1"/>
                  </p:cNvPicPr>
                  <p:nvPr/>
                </p:nvPicPr>
                <p:blipFill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53367"/>
                  <a:stretch/>
                </p:blipFill>
                <p:spPr bwMode="auto">
                  <a:xfrm>
                    <a:off x="2007065" y="2218216"/>
                    <a:ext cx="1484815" cy="259228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sp>
              <p:nvSpPr>
                <p:cNvPr id="22" name="Rectangle 21"/>
                <p:cNvSpPr/>
                <p:nvPr/>
              </p:nvSpPr>
              <p:spPr bwMode="auto">
                <a:xfrm>
                  <a:off x="1187624" y="3846705"/>
                  <a:ext cx="2304256" cy="936104"/>
                </a:xfrm>
                <a:prstGeom prst="rect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a-DK" sz="2000" b="0" i="0" u="none" strike="noStrike" cap="none" normalizeH="0" baseline="0">
                    <a:ln>
                      <a:noFill/>
                    </a:ln>
                    <a:solidFill>
                      <a:srgbClr val="A50021"/>
                    </a:solidFill>
                    <a:effectLst/>
                    <a:latin typeface="Arial" charset="0"/>
                  </a:endParaRPr>
                </a:p>
              </p:txBody>
            </p:sp>
            <p:pic>
              <p:nvPicPr>
                <p:cNvPr id="23" name="Picture 4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320758" y="2962017"/>
                  <a:ext cx="122873" cy="10157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4" name="Picture 6"/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4707" r="63696"/>
                <a:stretch/>
              </p:blipFill>
              <p:spPr bwMode="auto">
                <a:xfrm>
                  <a:off x="1848558" y="3832473"/>
                  <a:ext cx="735853" cy="6480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5" name="Picture 6"/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72401" t="4707"/>
                <a:stretch/>
              </p:blipFill>
              <p:spPr bwMode="auto">
                <a:xfrm>
                  <a:off x="2819737" y="3827140"/>
                  <a:ext cx="559410" cy="6480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6" name="Picture 3"/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62398" y="4388752"/>
                  <a:ext cx="1146810" cy="6225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7" name="Picture 2"/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513987" y="4409324"/>
                  <a:ext cx="1146810" cy="6307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28" name="Group 27"/>
                <p:cNvGrpSpPr/>
                <p:nvPr/>
              </p:nvGrpSpPr>
              <p:grpSpPr>
                <a:xfrm>
                  <a:off x="2201667" y="3196600"/>
                  <a:ext cx="1146810" cy="622554"/>
                  <a:chOff x="5724128" y="1844824"/>
                  <a:chExt cx="1146810" cy="622554"/>
                </a:xfrm>
              </p:grpSpPr>
              <p:pic>
                <p:nvPicPr>
                  <p:cNvPr id="29" name="Picture 3"/>
                  <p:cNvPicPr>
                    <a:picLocks noChangeAspect="1" noChangeArrowheads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5724128" y="1844824"/>
                    <a:ext cx="1146810" cy="6225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30" name="Picture 3"/>
                  <p:cNvPicPr>
                    <a:picLocks noChangeAspect="1" noChangeArrowheads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5805488" y="1882814"/>
                    <a:ext cx="851916" cy="11058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31" name="Picture 3"/>
                  <p:cNvPicPr>
                    <a:picLocks noChangeAspect="1" noChangeArrowheads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5843588" y="1926451"/>
                    <a:ext cx="851916" cy="11058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32" name="Picture 4"/>
                  <p:cNvPicPr>
                    <a:picLocks noChangeAspect="1"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099091" y="1902428"/>
                    <a:ext cx="309563" cy="1238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sp>
            <p:nvSpPr>
              <p:cNvPr id="8" name="Rectangle 7"/>
              <p:cNvSpPr/>
              <p:nvPr/>
            </p:nvSpPr>
            <p:spPr bwMode="auto">
              <a:xfrm>
                <a:off x="4088832" y="2862813"/>
                <a:ext cx="918937" cy="463793"/>
              </a:xfrm>
              <a:prstGeom prst="rect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0000" tIns="46800" rIns="90000" bIns="468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a-DK" sz="2000" b="0" i="0" u="none" strike="noStrike" cap="none" normalizeH="0" baseline="0">
                  <a:ln>
                    <a:noFill/>
                  </a:ln>
                  <a:solidFill>
                    <a:srgbClr val="A50021"/>
                  </a:solidFill>
                  <a:effectLst/>
                  <a:latin typeface="Arial" charset="0"/>
                </a:endParaRPr>
              </a:p>
            </p:txBody>
          </p:sp>
        </p:grp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-31876" b="50000"/>
            <a:stretch/>
          </p:blipFill>
          <p:spPr bwMode="auto">
            <a:xfrm>
              <a:off x="4069705" y="2677252"/>
              <a:ext cx="1253534" cy="204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Text Box 21"/>
            <p:cNvSpPr txBox="1">
              <a:spLocks noChangeArrowheads="1"/>
            </p:cNvSpPr>
            <p:nvPr/>
          </p:nvSpPr>
          <p:spPr bwMode="auto">
            <a:xfrm>
              <a:off x="4163418" y="2694436"/>
              <a:ext cx="797768" cy="20005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defPPr>
                <a:defRPr lang="da-DK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da-DK" altLang="da-DK" sz="700" b="1" dirty="0">
                  <a:solidFill>
                    <a:schemeClr val="tx1"/>
                  </a:solidFill>
                </a:rPr>
                <a:t>&lt;&lt;abstract&gt;&gt;</a:t>
              </a:r>
            </a:p>
          </p:txBody>
        </p:sp>
      </p:grpSp>
      <p:sp>
        <p:nvSpPr>
          <p:cNvPr id="37" name="Rectangle 36"/>
          <p:cNvSpPr/>
          <p:nvPr/>
        </p:nvSpPr>
        <p:spPr bwMode="auto">
          <a:xfrm>
            <a:off x="923688" y="5463849"/>
            <a:ext cx="3718720" cy="989487"/>
          </a:xfrm>
          <a:prstGeom prst="rect">
            <a:avLst/>
          </a:prstGeom>
          <a:solidFill>
            <a:srgbClr val="FFFFCC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90000" rIns="90000" bIns="4680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800" b="1" kern="0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abstract</a:t>
            </a:r>
            <a:r>
              <a:rPr lang="en-US" sz="1800" b="1" kern="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kern="0" spc="-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800" b="1" kern="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Post {</a:t>
            </a:r>
          </a:p>
          <a:p>
            <a:pPr>
              <a:lnSpc>
                <a:spcPct val="70000"/>
              </a:lnSpc>
            </a:pPr>
            <a:r>
              <a:rPr lang="en-US" sz="1800" b="1" kern="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pPr>
              <a:lnSpc>
                <a:spcPct val="70000"/>
              </a:lnSpc>
            </a:pPr>
            <a:r>
              <a:rPr lang="en-US" sz="1800" b="1" kern="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pPr>
              <a:lnSpc>
                <a:spcPct val="70000"/>
              </a:lnSpc>
            </a:pPr>
            <a:r>
              <a:rPr lang="en-US" sz="1800" b="1" kern="0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da-DK" sz="1800" b="1" kern="0" spc="-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8" name="Rectangle 28"/>
          <p:cNvSpPr>
            <a:spLocks noChangeArrowheads="1"/>
          </p:cNvSpPr>
          <p:nvPr/>
        </p:nvSpPr>
        <p:spPr bwMode="auto">
          <a:xfrm>
            <a:off x="1832467" y="5547017"/>
            <a:ext cx="1090423" cy="264720"/>
          </a:xfrm>
          <a:prstGeom prst="rect">
            <a:avLst/>
          </a:prstGeom>
          <a:noFill/>
          <a:ln w="254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endParaRPr lang="en-US" altLang="da-DK" dirty="0"/>
          </a:p>
        </p:txBody>
      </p:sp>
      <p:sp>
        <p:nvSpPr>
          <p:cNvPr id="39" name="Text Box 21"/>
          <p:cNvSpPr txBox="1">
            <a:spLocks noChangeArrowheads="1"/>
          </p:cNvSpPr>
          <p:nvPr/>
        </p:nvSpPr>
        <p:spPr bwMode="auto">
          <a:xfrm>
            <a:off x="1187624" y="4627177"/>
            <a:ext cx="2856224" cy="67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da-DK" altLang="da-DK" sz="1400" b="1" dirty="0">
                <a:solidFill>
                  <a:srgbClr val="0000FF"/>
                </a:solidFill>
              </a:rPr>
              <a:t>Angiver at klassen er abstrakt (rækkefølgen af public og abstract er uden betydning)</a:t>
            </a:r>
          </a:p>
        </p:txBody>
      </p:sp>
      <p:sp>
        <p:nvSpPr>
          <p:cNvPr id="36" name="Line 22"/>
          <p:cNvSpPr>
            <a:spLocks noChangeShapeType="1"/>
          </p:cNvSpPr>
          <p:nvPr/>
        </p:nvSpPr>
        <p:spPr bwMode="auto">
          <a:xfrm flipH="1">
            <a:off x="2394119" y="5245123"/>
            <a:ext cx="0" cy="301894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r>
              <a:rPr lang="da-DK" dirty="0"/>
              <a:t>    </a:t>
            </a:r>
          </a:p>
        </p:txBody>
      </p:sp>
      <p:sp>
        <p:nvSpPr>
          <p:cNvPr id="40" name="Rectangle 28"/>
          <p:cNvSpPr>
            <a:spLocks noChangeArrowheads="1"/>
          </p:cNvSpPr>
          <p:nvPr/>
        </p:nvSpPr>
        <p:spPr bwMode="auto">
          <a:xfrm>
            <a:off x="5956570" y="4974194"/>
            <a:ext cx="598803" cy="143373"/>
          </a:xfrm>
          <a:prstGeom prst="rect">
            <a:avLst/>
          </a:prstGeom>
          <a:noFill/>
          <a:ln w="254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endParaRPr lang="en-US" altLang="da-DK" dirty="0"/>
          </a:p>
        </p:txBody>
      </p:sp>
      <p:sp>
        <p:nvSpPr>
          <p:cNvPr id="41" name="Text Box 21"/>
          <p:cNvSpPr txBox="1">
            <a:spLocks noChangeArrowheads="1"/>
          </p:cNvSpPr>
          <p:nvPr/>
        </p:nvSpPr>
        <p:spPr bwMode="auto">
          <a:xfrm>
            <a:off x="5721440" y="4411095"/>
            <a:ext cx="2710942" cy="286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da-DK" altLang="da-DK" sz="1400" b="1" dirty="0">
                <a:solidFill>
                  <a:srgbClr val="0000FF"/>
                </a:solidFill>
              </a:rPr>
              <a:t>Angiver at klassen er abstrakt</a:t>
            </a:r>
          </a:p>
        </p:txBody>
      </p:sp>
      <p:sp>
        <p:nvSpPr>
          <p:cNvPr id="42" name="Line 22"/>
          <p:cNvSpPr>
            <a:spLocks noChangeShapeType="1"/>
          </p:cNvSpPr>
          <p:nvPr/>
        </p:nvSpPr>
        <p:spPr bwMode="auto">
          <a:xfrm flipH="1">
            <a:off x="6254889" y="4672300"/>
            <a:ext cx="0" cy="301894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r>
              <a:rPr lang="da-DK" dirty="0"/>
              <a:t>    </a:t>
            </a:r>
          </a:p>
        </p:txBody>
      </p:sp>
      <p:sp>
        <p:nvSpPr>
          <p:cNvPr id="43" name="Text Box 21"/>
          <p:cNvSpPr txBox="1">
            <a:spLocks noChangeArrowheads="1"/>
          </p:cNvSpPr>
          <p:nvPr/>
        </p:nvSpPr>
        <p:spPr bwMode="auto">
          <a:xfrm>
            <a:off x="6826808" y="4985744"/>
            <a:ext cx="2149889" cy="67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da-DK" altLang="da-DK" sz="1400" b="1" dirty="0">
                <a:solidFill>
                  <a:srgbClr val="FF0000"/>
                </a:solidFill>
              </a:rPr>
              <a:t>Hvis man højre-klikker i Blue J, er der ikke en new indgang</a:t>
            </a:r>
          </a:p>
        </p:txBody>
      </p:sp>
    </p:spTree>
    <p:extLst>
      <p:ext uri="{BB962C8B-B14F-4D97-AF65-F5344CB8AC3E}">
        <p14:creationId xmlns:p14="http://schemas.microsoft.com/office/powerpoint/2010/main" val="797024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6032161" y="2636912"/>
            <a:ext cx="3076343" cy="2880320"/>
            <a:chOff x="6032161" y="2924443"/>
            <a:chExt cx="3076343" cy="2880320"/>
          </a:xfrm>
        </p:grpSpPr>
        <p:grpSp>
          <p:nvGrpSpPr>
            <p:cNvPr id="10" name="Group 9"/>
            <p:cNvGrpSpPr/>
            <p:nvPr/>
          </p:nvGrpSpPr>
          <p:grpSpPr>
            <a:xfrm>
              <a:off x="6032161" y="2924443"/>
              <a:ext cx="3076343" cy="2880320"/>
              <a:chOff x="5185832" y="1988840"/>
              <a:chExt cx="3922670" cy="4024752"/>
            </a:xfrm>
          </p:grpSpPr>
          <p:pic>
            <p:nvPicPr>
              <p:cNvPr id="11" name="Picture 1" descr="fig8-5.png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85832" y="1988840"/>
                <a:ext cx="3922670" cy="40247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" name="Picture 3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38191" y="5454015"/>
                <a:ext cx="1410081" cy="247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" name="Picture 3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57135" y="5716143"/>
                <a:ext cx="1410081" cy="247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9" name="Rectangle 28"/>
            <p:cNvSpPr>
              <a:spLocks noChangeArrowheads="1"/>
            </p:cNvSpPr>
            <p:nvPr/>
          </p:nvSpPr>
          <p:spPr bwMode="auto">
            <a:xfrm>
              <a:off x="6202829" y="5398636"/>
              <a:ext cx="368887" cy="139040"/>
            </a:xfrm>
            <a:prstGeom prst="rect">
              <a:avLst/>
            </a:prstGeom>
            <a:noFill/>
            <a:ln w="254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endParaRPr lang="en-US" altLang="da-DK" dirty="0"/>
            </a:p>
          </p:txBody>
        </p:sp>
        <p:sp>
          <p:nvSpPr>
            <p:cNvPr id="20" name="Rectangle 28"/>
            <p:cNvSpPr>
              <a:spLocks noChangeArrowheads="1"/>
            </p:cNvSpPr>
            <p:nvPr/>
          </p:nvSpPr>
          <p:spPr bwMode="auto">
            <a:xfrm>
              <a:off x="7936201" y="5585219"/>
              <a:ext cx="368887" cy="139040"/>
            </a:xfrm>
            <a:prstGeom prst="rect">
              <a:avLst/>
            </a:prstGeom>
            <a:noFill/>
            <a:ln w="254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endParaRPr lang="en-US" altLang="da-DK" dirty="0"/>
            </a:p>
          </p:txBody>
        </p:sp>
        <p:sp>
          <p:nvSpPr>
            <p:cNvPr id="21" name="Rectangle 28"/>
            <p:cNvSpPr>
              <a:spLocks noChangeArrowheads="1"/>
            </p:cNvSpPr>
            <p:nvPr/>
          </p:nvSpPr>
          <p:spPr bwMode="auto">
            <a:xfrm>
              <a:off x="7071651" y="4182284"/>
              <a:ext cx="368887" cy="139040"/>
            </a:xfrm>
            <a:prstGeom prst="rect">
              <a:avLst/>
            </a:prstGeom>
            <a:noFill/>
            <a:ln w="254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endParaRPr lang="en-US" altLang="da-DK" dirty="0"/>
            </a:p>
          </p:txBody>
        </p:sp>
      </p:grp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67544" y="332656"/>
            <a:ext cx="8676456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9pPr>
          </a:lstStyle>
          <a:p>
            <a:pPr eaLnBrk="1" hangingPunct="1"/>
            <a:r>
              <a:rPr lang="da-DK" altLang="en-US" sz="3200" kern="0" dirty="0">
                <a:ea typeface="ＭＳ Ｐゴシック" pitchFamily="34" charset="-128"/>
              </a:rPr>
              <a:t>Abstrakte metoder</a:t>
            </a:r>
            <a:endParaRPr lang="da-DK" altLang="da-DK" sz="3200" kern="0" dirty="0">
              <a:ea typeface="ＭＳ Ｐゴシック" pitchFamily="34" charset="-128"/>
            </a:endParaRPr>
          </a:p>
        </p:txBody>
      </p:sp>
      <p:sp>
        <p:nvSpPr>
          <p:cNvPr id="14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496696" y="6395842"/>
            <a:ext cx="647304" cy="457200"/>
          </a:xfrm>
          <a:prstGeom prst="rect">
            <a:avLst/>
          </a:prstGeom>
        </p:spPr>
        <p:txBody>
          <a:bodyPr/>
          <a:lstStyle/>
          <a:p>
            <a:fld id="{D5F120ED-4883-459A-AC97-4FAD8D591FCC}" type="slidenum">
              <a:rPr lang="da-DK" altLang="da-DK" smtClean="0"/>
              <a:pPr/>
              <a:t>4</a:t>
            </a:fld>
            <a:endParaRPr lang="da-DK" altLang="da-DK" dirty="0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395536" y="1052736"/>
            <a:ext cx="8136904" cy="216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rgbClr val="000066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ts val="1800"/>
              </a:spcBef>
            </a:pPr>
            <a:r>
              <a:rPr lang="da-DK" sz="2000" kern="0" dirty="0"/>
              <a:t>En abstrakt klasse kan indeholde abstrakte metoder</a:t>
            </a:r>
          </a:p>
          <a:p>
            <a:pPr lvl="1">
              <a:spcBef>
                <a:spcPts val="600"/>
              </a:spcBef>
            </a:pPr>
            <a:r>
              <a:rPr lang="da-DK" sz="1800" kern="0" dirty="0"/>
              <a:t>En abstrakt metode er en metode, der ikke er implementeret i klassen</a:t>
            </a:r>
          </a:p>
          <a:p>
            <a:pPr lvl="1">
              <a:spcBef>
                <a:spcPts val="600"/>
              </a:spcBef>
            </a:pPr>
            <a:r>
              <a:rPr lang="da-DK" sz="1800" kern="0" dirty="0"/>
              <a:t>Vi angiver kun metodens </a:t>
            </a:r>
            <a:r>
              <a:rPr lang="da-DK" sz="1800" b="1" kern="0" dirty="0">
                <a:solidFill>
                  <a:srgbClr val="008000"/>
                </a:solidFill>
              </a:rPr>
              <a:t>hoved</a:t>
            </a:r>
            <a:r>
              <a:rPr lang="da-DK" sz="1800" kern="0" dirty="0"/>
              <a:t>, mens kroppen udelades</a:t>
            </a:r>
          </a:p>
          <a:p>
            <a:pPr marL="342900" lvl="1" indent="-342900">
              <a:spcBef>
                <a:spcPts val="1800"/>
              </a:spcBef>
              <a:buFontTx/>
              <a:buChar char="•"/>
            </a:pPr>
            <a:r>
              <a:rPr lang="da-DK" b="1" kern="0" dirty="0">
                <a:solidFill>
                  <a:srgbClr val="A50021"/>
                </a:solidFill>
                <a:cs typeface="ＭＳ Ｐゴシック" charset="-128"/>
              </a:rPr>
              <a:t>I vores Newsfeed system har vi en display metode i hver af klasserne Post, MessagePost og PhotoPost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1259632" y="4221088"/>
            <a:ext cx="4104456" cy="432048"/>
          </a:xfrm>
          <a:prstGeom prst="rect">
            <a:avLst/>
          </a:prstGeom>
          <a:solidFill>
            <a:srgbClr val="FFFFCC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90000" rIns="90000" bIns="9000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600" b="1" kern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abstract</a:t>
            </a:r>
            <a:r>
              <a:rPr lang="en-US" sz="1600" b="1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600" b="1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display();</a:t>
            </a: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433556" y="2924944"/>
            <a:ext cx="8386916" cy="36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rgbClr val="000066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lvl="1">
              <a:spcBef>
                <a:spcPts val="600"/>
              </a:spcBef>
            </a:pPr>
            <a:r>
              <a:rPr lang="da-DK" sz="1800" kern="0" dirty="0"/>
              <a:t>Lad os for et øjeblik antage, at display metoden i</a:t>
            </a:r>
            <a:br>
              <a:rPr lang="da-DK" sz="1800" kern="0" dirty="0"/>
            </a:br>
            <a:r>
              <a:rPr lang="da-DK" sz="1800" kern="0" dirty="0"/>
              <a:t>Post klassen ikke har noget fornuftigt at lave,</a:t>
            </a:r>
            <a:br>
              <a:rPr lang="da-DK" sz="1800" kern="0" dirty="0"/>
            </a:br>
            <a:r>
              <a:rPr lang="da-DK" sz="1800" kern="0" dirty="0"/>
              <a:t>f.eks. fordi Post klassen ingen feltvariabler har</a:t>
            </a:r>
          </a:p>
          <a:p>
            <a:pPr lvl="1">
              <a:spcBef>
                <a:spcPts val="600"/>
              </a:spcBef>
            </a:pPr>
            <a:r>
              <a:rPr lang="da-DK" sz="1800" kern="0" dirty="0"/>
              <a:t>Så kan vi erklære display metoden til at være abstrakt</a:t>
            </a:r>
          </a:p>
          <a:p>
            <a:pPr lvl="1">
              <a:spcBef>
                <a:spcPts val="600"/>
              </a:spcBef>
            </a:pPr>
            <a:endParaRPr lang="da-DK" sz="1800" kern="0" dirty="0"/>
          </a:p>
          <a:p>
            <a:pPr marL="342900" lvl="1" indent="-342900">
              <a:spcBef>
                <a:spcPts val="2700"/>
              </a:spcBef>
              <a:buFontTx/>
              <a:buChar char="•"/>
            </a:pPr>
            <a:r>
              <a:rPr lang="da-DK" b="1" kern="0" dirty="0">
                <a:solidFill>
                  <a:srgbClr val="A50021"/>
                </a:solidFill>
                <a:cs typeface="ＭＳ Ｐゴシック" charset="-128"/>
              </a:rPr>
              <a:t>Betyder at implementationen af metoden</a:t>
            </a:r>
            <a:br>
              <a:rPr lang="da-DK" b="1" kern="0" dirty="0">
                <a:solidFill>
                  <a:srgbClr val="A50021"/>
                </a:solidFill>
                <a:cs typeface="ＭＳ Ｐゴシック" charset="-128"/>
              </a:rPr>
            </a:br>
            <a:r>
              <a:rPr lang="da-DK" b="1" kern="0" dirty="0">
                <a:solidFill>
                  <a:srgbClr val="A50021"/>
                </a:solidFill>
                <a:cs typeface="ＭＳ Ｐゴシック" charset="-128"/>
              </a:rPr>
              <a:t>overlades til subklasserne</a:t>
            </a:r>
          </a:p>
          <a:p>
            <a:pPr lvl="1">
              <a:spcBef>
                <a:spcPts val="600"/>
              </a:spcBef>
            </a:pPr>
            <a:r>
              <a:rPr lang="da-DK" sz="1800" kern="0" dirty="0"/>
              <a:t>Hvis en subklasse ikke implementerer metoden, skal subklassen selv være abstrakt</a:t>
            </a:r>
          </a:p>
          <a:p>
            <a:pPr lvl="1">
              <a:spcBef>
                <a:spcPts val="600"/>
              </a:spcBef>
            </a:pPr>
            <a:r>
              <a:rPr lang="da-DK" sz="1800" kern="0" dirty="0"/>
              <a:t>Det sikrer, at alle konkrete subklasser har en implementation af metoden</a:t>
            </a:r>
          </a:p>
        </p:txBody>
      </p:sp>
    </p:spTree>
    <p:extLst>
      <p:ext uri="{BB962C8B-B14F-4D97-AF65-F5344CB8AC3E}">
        <p14:creationId xmlns:p14="http://schemas.microsoft.com/office/powerpoint/2010/main" val="1891537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2" y="1050632"/>
            <a:ext cx="8496176" cy="1503269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da-DK" sz="2000" spc="-40" dirty="0"/>
              <a:t>Et interface ligner en abstrakt klasse, hvor </a:t>
            </a:r>
            <a:r>
              <a:rPr lang="da-DK" sz="2000" spc="-40" dirty="0">
                <a:solidFill>
                  <a:srgbClr val="008000"/>
                </a:solidFill>
              </a:rPr>
              <a:t>alle</a:t>
            </a:r>
            <a:r>
              <a:rPr lang="da-DK" sz="2000" spc="-40" dirty="0"/>
              <a:t> metoder er abstrakte</a:t>
            </a:r>
          </a:p>
          <a:p>
            <a:pPr lvl="1">
              <a:spcBef>
                <a:spcPts val="400"/>
              </a:spcBef>
            </a:pPr>
            <a:r>
              <a:rPr lang="da-DK" sz="1800" dirty="0"/>
              <a:t>Derudover er der hverken konstruktører eller feltvariabler</a:t>
            </a:r>
          </a:p>
          <a:p>
            <a:pPr marL="342900" lvl="1" indent="-342900">
              <a:spcBef>
                <a:spcPts val="800"/>
              </a:spcBef>
              <a:buChar char="•"/>
            </a:pPr>
            <a:r>
              <a:rPr lang="da-DK" b="1" dirty="0">
                <a:solidFill>
                  <a:srgbClr val="A50021"/>
                </a:solidFill>
                <a:ea typeface="ＭＳ Ｐゴシック" pitchFamily="-106" charset="-128"/>
                <a:cs typeface="ＭＳ Ｐゴシック" pitchFamily="-106" charset="-128"/>
              </a:rPr>
              <a:t>De abstrakte metoder implementeres i de klasser, der </a:t>
            </a:r>
            <a:r>
              <a:rPr lang="da-DK" b="1" dirty="0">
                <a:solidFill>
                  <a:srgbClr val="008000"/>
                </a:solidFill>
                <a:ea typeface="ＭＳ Ｐゴシック" pitchFamily="-106" charset="-128"/>
                <a:cs typeface="ＭＳ Ｐゴシック" pitchFamily="-106" charset="-128"/>
              </a:rPr>
              <a:t>implementerer</a:t>
            </a:r>
            <a:r>
              <a:rPr lang="da-DK" b="1" dirty="0">
                <a:solidFill>
                  <a:srgbClr val="A50021"/>
                </a:solidFill>
                <a:ea typeface="ＭＳ Ｐゴシック" pitchFamily="-106" charset="-128"/>
                <a:cs typeface="ＭＳ Ｐゴシック" pitchFamily="-106" charset="-128"/>
              </a:rPr>
              <a:t> interfacet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59230" y="353571"/>
            <a:ext cx="8207375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9pPr>
          </a:lstStyle>
          <a:p>
            <a:pPr eaLnBrk="1" hangingPunct="1"/>
            <a:r>
              <a:rPr lang="da-DK" altLang="en-US" sz="3200" kern="0" dirty="0">
                <a:ea typeface="ＭＳ Ｐゴシック" pitchFamily="34" charset="-128"/>
              </a:rPr>
              <a:t>Interfaces</a:t>
            </a:r>
            <a:endParaRPr lang="da-DK" altLang="da-DK" sz="3200" kern="0" dirty="0">
              <a:ea typeface="ＭＳ Ｐゴシック" pitchFamily="34" charset="-128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856655" y="3001107"/>
            <a:ext cx="4179841" cy="859941"/>
          </a:xfrm>
          <a:prstGeom prst="rect">
            <a:avLst/>
          </a:prstGeom>
          <a:solidFill>
            <a:srgbClr val="FFFFCC"/>
          </a:solidFill>
          <a:ln w="28575" cmpd="sng">
            <a:solidFill>
              <a:srgbClr val="0000FF"/>
            </a:solidFill>
            <a:miter lim="800000"/>
            <a:headEnd/>
            <a:tailEnd/>
          </a:ln>
        </p:spPr>
        <p:txBody>
          <a:bodyPr tIns="90000"/>
          <a:lstStyle>
            <a:lvl1pPr marL="342900" indent="-3429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20000"/>
              </a:spcBef>
            </a:pPr>
            <a:r>
              <a:rPr lang="da-DK" altLang="da-DK" sz="1600" b="1" dirty="0">
                <a:solidFill>
                  <a:srgbClr val="7030A0"/>
                </a:solidFill>
                <a:latin typeface="Courier New" pitchFamily="49" charset="0"/>
              </a:rPr>
              <a:t>public </a:t>
            </a:r>
            <a:r>
              <a:rPr lang="da-DK" altLang="da-DK" sz="1600" b="1" dirty="0">
                <a:solidFill>
                  <a:srgbClr val="FF0000"/>
                </a:solidFill>
                <a:latin typeface="Courier New" pitchFamily="49" charset="0"/>
              </a:rPr>
              <a:t>interface </a:t>
            </a:r>
            <a:r>
              <a:rPr lang="da-DK" altLang="da-DK" sz="1600" b="1" dirty="0" err="1">
                <a:solidFill>
                  <a:schemeClr val="tx1"/>
                </a:solidFill>
                <a:latin typeface="Courier New" pitchFamily="49" charset="0"/>
              </a:rPr>
              <a:t>Comparable</a:t>
            </a:r>
            <a:r>
              <a:rPr lang="da-DK" altLang="da-DK" sz="1600" b="1" dirty="0">
                <a:solidFill>
                  <a:schemeClr val="tx1"/>
                </a:solidFill>
                <a:latin typeface="Courier New" pitchFamily="49" charset="0"/>
              </a:rPr>
              <a:t>&lt;T&gt; {</a:t>
            </a:r>
            <a:r>
              <a:rPr lang="da-DK" altLang="da-DK" sz="24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endParaRPr lang="da-DK" altLang="da-DK" sz="1600" b="1" dirty="0">
              <a:solidFill>
                <a:schemeClr val="tx1"/>
              </a:solidFill>
              <a:latin typeface="Courier New" pitchFamily="49" charset="0"/>
            </a:endParaRPr>
          </a:p>
          <a:p>
            <a:pPr eaLnBrk="1" hangingPunct="1">
              <a:lnSpc>
                <a:spcPct val="70000"/>
              </a:lnSpc>
              <a:spcBef>
                <a:spcPts val="600"/>
              </a:spcBef>
            </a:pPr>
            <a:r>
              <a:rPr lang="da-DK" altLang="da-DK" sz="1600" b="1" dirty="0">
                <a:solidFill>
                  <a:srgbClr val="FF0000"/>
                </a:solidFill>
                <a:latin typeface="Courier New" pitchFamily="49" charset="0"/>
              </a:rPr>
              <a:t>  </a:t>
            </a:r>
            <a:r>
              <a:rPr lang="da-DK" altLang="da-DK" sz="1600" b="1" dirty="0" err="1">
                <a:solidFill>
                  <a:srgbClr val="FF0000"/>
                </a:solidFill>
                <a:latin typeface="Courier New" pitchFamily="49" charset="0"/>
              </a:rPr>
              <a:t>int</a:t>
            </a:r>
            <a:r>
              <a:rPr lang="da-DK" altLang="da-DK" sz="1600" b="1" dirty="0">
                <a:solidFill>
                  <a:srgbClr val="FF0000"/>
                </a:solidFill>
                <a:latin typeface="Courier New" pitchFamily="49" charset="0"/>
              </a:rPr>
              <a:t> </a:t>
            </a:r>
            <a:r>
              <a:rPr lang="da-DK" altLang="da-DK" sz="1600" b="1" dirty="0" err="1">
                <a:solidFill>
                  <a:schemeClr val="tx1"/>
                </a:solidFill>
                <a:latin typeface="Courier New" pitchFamily="49" charset="0"/>
              </a:rPr>
              <a:t>compareTo</a:t>
            </a:r>
            <a:r>
              <a:rPr lang="da-DK" altLang="da-DK" sz="1600" b="1" dirty="0">
                <a:solidFill>
                  <a:schemeClr val="tx1"/>
                </a:solidFill>
                <a:latin typeface="Courier New" pitchFamily="49" charset="0"/>
              </a:rPr>
              <a:t>(T o);</a:t>
            </a:r>
          </a:p>
          <a:p>
            <a:pPr eaLnBrk="1" hangingPunct="1">
              <a:lnSpc>
                <a:spcPct val="70000"/>
              </a:lnSpc>
              <a:spcBef>
                <a:spcPct val="20000"/>
              </a:spcBef>
            </a:pPr>
            <a:r>
              <a:rPr lang="da-DK" altLang="da-DK" sz="1600" b="1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8" name="Text Box 21"/>
          <p:cNvSpPr txBox="1">
            <a:spLocks noChangeArrowheads="1"/>
          </p:cNvSpPr>
          <p:nvPr/>
        </p:nvSpPr>
        <p:spPr bwMode="auto">
          <a:xfrm>
            <a:off x="5490359" y="2569059"/>
            <a:ext cx="3421814" cy="286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da-DK" altLang="da-DK" sz="1400" b="1" dirty="0">
                <a:solidFill>
                  <a:srgbClr val="FF0000"/>
                </a:solidFill>
              </a:rPr>
              <a:t>Angiver at Comparable er et interface</a:t>
            </a:r>
          </a:p>
        </p:txBody>
      </p:sp>
      <p:sp>
        <p:nvSpPr>
          <p:cNvPr id="9" name="Line 22"/>
          <p:cNvSpPr>
            <a:spLocks noChangeShapeType="1"/>
          </p:cNvSpPr>
          <p:nvPr/>
        </p:nvSpPr>
        <p:spPr bwMode="auto">
          <a:xfrm flipH="1">
            <a:off x="6311339" y="2838582"/>
            <a:ext cx="0" cy="25243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r>
              <a:rPr lang="da-DK" dirty="0"/>
              <a:t>                          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5777599" y="3091013"/>
            <a:ext cx="1200936" cy="23244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pitchFamily="-105" charset="0"/>
            </a:endParaRPr>
          </a:p>
        </p:txBody>
      </p:sp>
      <p:sp>
        <p:nvSpPr>
          <p:cNvPr id="11" name="Line 22"/>
          <p:cNvSpPr>
            <a:spLocks noChangeShapeType="1"/>
          </p:cNvSpPr>
          <p:nvPr/>
        </p:nvSpPr>
        <p:spPr bwMode="auto">
          <a:xfrm flipV="1">
            <a:off x="4513759" y="3497839"/>
            <a:ext cx="591479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endParaRPr lang="da-DK"/>
          </a:p>
        </p:txBody>
      </p:sp>
      <p:sp>
        <p:nvSpPr>
          <p:cNvPr id="12" name="Rectangle 11"/>
          <p:cNvSpPr/>
          <p:nvPr/>
        </p:nvSpPr>
        <p:spPr bwMode="auto">
          <a:xfrm>
            <a:off x="5151957" y="3371750"/>
            <a:ext cx="2389790" cy="252178"/>
          </a:xfrm>
          <a:prstGeom prst="rect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pitchFamily="-105" charset="0"/>
            </a:endParaRPr>
          </a:p>
        </p:txBody>
      </p:sp>
      <p:sp>
        <p:nvSpPr>
          <p:cNvPr id="13" name="Text Box 21"/>
          <p:cNvSpPr txBox="1">
            <a:spLocks noChangeArrowheads="1"/>
          </p:cNvSpPr>
          <p:nvPr/>
        </p:nvSpPr>
        <p:spPr bwMode="auto">
          <a:xfrm>
            <a:off x="1305769" y="2941551"/>
            <a:ext cx="3518747" cy="1332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marL="176213" indent="-176213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da-DK" altLang="da-DK" sz="1400" b="1" dirty="0">
                <a:solidFill>
                  <a:srgbClr val="0000FF"/>
                </a:solidFill>
              </a:rPr>
              <a:t>For hver metode angives hovedet, mens kroppen udelades</a:t>
            </a:r>
          </a:p>
          <a:p>
            <a:pPr marL="176213" indent="-176213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da-DK" altLang="da-DK" sz="1400" b="1" dirty="0">
                <a:solidFill>
                  <a:srgbClr val="0000FF"/>
                </a:solidFill>
              </a:rPr>
              <a:t>Alle metoder er public og abstract (hvorfor dette ikke angives)</a:t>
            </a:r>
          </a:p>
          <a:p>
            <a:pPr marL="176213" indent="-176213" eaLnBrk="1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da-DK" altLang="da-DK" sz="1400" b="1" dirty="0">
                <a:solidFill>
                  <a:srgbClr val="0000FF"/>
                </a:solidFill>
              </a:rPr>
              <a:t>Comparable har kun én metode, compareTo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2702355" y="4282715"/>
            <a:ext cx="6334141" cy="1642926"/>
          </a:xfrm>
          <a:prstGeom prst="rect">
            <a:avLst/>
          </a:prstGeom>
          <a:solidFill>
            <a:srgbClr val="FFFFCC"/>
          </a:solidFill>
          <a:ln w="28575" cmpd="sng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 marL="342900" indent="-3429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da-DK" altLang="da-DK" sz="100" b="1" dirty="0">
              <a:solidFill>
                <a:srgbClr val="0000FF"/>
              </a:solidFill>
              <a:latin typeface="Courier New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da-DK" altLang="da-DK" sz="1600" b="1" spc="-40" dirty="0">
                <a:solidFill>
                  <a:srgbClr val="7030A0"/>
                </a:solidFill>
                <a:latin typeface="Courier New" pitchFamily="49" charset="0"/>
              </a:rPr>
              <a:t>public</a:t>
            </a:r>
            <a:r>
              <a:rPr lang="da-DK" altLang="da-DK" sz="900" b="1" spc="-40" dirty="0">
                <a:solidFill>
                  <a:srgbClr val="7030A0"/>
                </a:solidFill>
                <a:latin typeface="Courier New" pitchFamily="49" charset="0"/>
              </a:rPr>
              <a:t> </a:t>
            </a:r>
            <a:r>
              <a:rPr lang="da-DK" altLang="da-DK" sz="1600" b="1" spc="-40" dirty="0" err="1">
                <a:solidFill>
                  <a:srgbClr val="FF0000"/>
                </a:solidFill>
                <a:latin typeface="Courier New" pitchFamily="49" charset="0"/>
              </a:rPr>
              <a:t>class</a:t>
            </a:r>
            <a:r>
              <a:rPr lang="da-DK" altLang="da-DK" sz="900" b="1" spc="-40" dirty="0">
                <a:solidFill>
                  <a:srgbClr val="FF0000"/>
                </a:solidFill>
                <a:latin typeface="Courier New" pitchFamily="49" charset="0"/>
              </a:rPr>
              <a:t> </a:t>
            </a:r>
            <a:r>
              <a:rPr lang="da-DK" altLang="da-DK" sz="1600" b="1" spc="-40" dirty="0">
                <a:solidFill>
                  <a:schemeClr val="tx1"/>
                </a:solidFill>
                <a:latin typeface="Courier New" pitchFamily="49" charset="0"/>
              </a:rPr>
              <a:t>Person</a:t>
            </a:r>
            <a:r>
              <a:rPr lang="da-DK" altLang="da-DK" sz="1800" b="1" spc="-40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da-DK" altLang="da-DK" sz="1600" b="1" spc="-40" dirty="0" err="1">
                <a:solidFill>
                  <a:srgbClr val="7030A0"/>
                </a:solidFill>
                <a:latin typeface="Courier New" pitchFamily="49" charset="0"/>
              </a:rPr>
              <a:t>implements</a:t>
            </a:r>
            <a:r>
              <a:rPr lang="da-DK" altLang="da-DK" sz="1800" b="1" spc="-40" dirty="0">
                <a:solidFill>
                  <a:srgbClr val="7030A0"/>
                </a:solidFill>
                <a:latin typeface="Courier New" pitchFamily="49" charset="0"/>
              </a:rPr>
              <a:t> </a:t>
            </a:r>
            <a:r>
              <a:rPr lang="da-DK" altLang="da-DK" sz="1600" b="1" spc="-40" dirty="0" err="1">
                <a:solidFill>
                  <a:schemeClr val="tx1"/>
                </a:solidFill>
                <a:latin typeface="Courier New" pitchFamily="49" charset="0"/>
              </a:rPr>
              <a:t>Comparable</a:t>
            </a:r>
            <a:r>
              <a:rPr lang="da-DK" altLang="da-DK" sz="1600" b="1" spc="-40" dirty="0">
                <a:solidFill>
                  <a:schemeClr val="tx1"/>
                </a:solidFill>
                <a:latin typeface="Courier New" pitchFamily="49" charset="0"/>
              </a:rPr>
              <a:t>&lt;Person&gt;</a:t>
            </a:r>
            <a:r>
              <a:rPr lang="da-DK" altLang="da-DK" sz="900" b="1" spc="-40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da-DK" altLang="da-DK" sz="1600" b="1" spc="-40" dirty="0">
                <a:solidFill>
                  <a:schemeClr val="tx1"/>
                </a:solidFill>
                <a:latin typeface="Courier New" pitchFamily="49" charset="0"/>
              </a:rPr>
              <a:t>{</a:t>
            </a:r>
          </a:p>
          <a:p>
            <a:pPr eaLnBrk="1" hangingPunct="1">
              <a:lnSpc>
                <a:spcPct val="60000"/>
              </a:lnSpc>
              <a:spcBef>
                <a:spcPct val="20000"/>
              </a:spcBef>
            </a:pPr>
            <a:r>
              <a:rPr lang="da-DK" altLang="da-DK" sz="1600" b="1" dirty="0">
                <a:solidFill>
                  <a:schemeClr val="tx1"/>
                </a:solidFill>
                <a:latin typeface="Courier New" pitchFamily="49" charset="0"/>
              </a:rPr>
              <a:t>  ...</a:t>
            </a:r>
          </a:p>
          <a:p>
            <a:pPr eaLnBrk="1" hangingPunct="1">
              <a:lnSpc>
                <a:spcPct val="80000"/>
              </a:lnSpc>
              <a:spcBef>
                <a:spcPts val="200"/>
              </a:spcBef>
            </a:pPr>
            <a:r>
              <a:rPr lang="da-DK" altLang="da-DK" sz="1600" b="1" dirty="0">
                <a:latin typeface="Courier New" pitchFamily="49" charset="0"/>
              </a:rPr>
              <a:t>  </a:t>
            </a:r>
            <a:r>
              <a:rPr lang="da-DK" altLang="da-DK" sz="1600" b="1" dirty="0">
                <a:solidFill>
                  <a:srgbClr val="7030A0"/>
                </a:solidFill>
                <a:latin typeface="Courier New" pitchFamily="49" charset="0"/>
              </a:rPr>
              <a:t>public </a:t>
            </a:r>
            <a:r>
              <a:rPr lang="da-DK" altLang="da-DK" sz="1600" b="1" dirty="0">
                <a:solidFill>
                  <a:srgbClr val="FF0000"/>
                </a:solidFill>
                <a:latin typeface="Courier New" pitchFamily="49" charset="0"/>
              </a:rPr>
              <a:t>int </a:t>
            </a:r>
            <a:r>
              <a:rPr lang="da-DK" altLang="da-DK" sz="1600" b="1" dirty="0">
                <a:solidFill>
                  <a:schemeClr val="tx1"/>
                </a:solidFill>
                <a:latin typeface="Courier New" pitchFamily="49" charset="0"/>
              </a:rPr>
              <a:t>compareTo(Person p) {</a:t>
            </a:r>
          </a:p>
          <a:p>
            <a:pPr eaLnBrk="1" hangingPunct="1">
              <a:lnSpc>
                <a:spcPct val="60000"/>
              </a:lnSpc>
              <a:spcBef>
                <a:spcPct val="20000"/>
              </a:spcBef>
            </a:pPr>
            <a:r>
              <a:rPr lang="da-DK" altLang="da-DK" sz="1600" b="1" dirty="0">
                <a:solidFill>
                  <a:schemeClr val="tx1"/>
                </a:solidFill>
                <a:latin typeface="Courier New" pitchFamily="49" charset="0"/>
              </a:rPr>
              <a:t>    ...</a:t>
            </a:r>
          </a:p>
          <a:p>
            <a:pPr eaLnBrk="1" hangingPunct="1">
              <a:lnSpc>
                <a:spcPct val="60000"/>
              </a:lnSpc>
              <a:spcBef>
                <a:spcPct val="20000"/>
              </a:spcBef>
            </a:pPr>
            <a:r>
              <a:rPr lang="da-DK" altLang="da-DK" sz="1600" b="1" dirty="0">
                <a:solidFill>
                  <a:schemeClr val="tx1"/>
                </a:solidFill>
                <a:latin typeface="Courier New" pitchFamily="49" charset="0"/>
              </a:rPr>
              <a:t>  }</a:t>
            </a:r>
          </a:p>
          <a:p>
            <a:pPr eaLnBrk="1" hangingPunct="1">
              <a:lnSpc>
                <a:spcPct val="60000"/>
              </a:lnSpc>
              <a:spcBef>
                <a:spcPct val="20000"/>
              </a:spcBef>
            </a:pPr>
            <a:r>
              <a:rPr lang="da-DK" altLang="da-DK" sz="1600" b="1" dirty="0">
                <a:solidFill>
                  <a:schemeClr val="tx1"/>
                </a:solidFill>
                <a:latin typeface="Courier New" pitchFamily="49" charset="0"/>
              </a:rPr>
              <a:t>  ...</a:t>
            </a:r>
          </a:p>
          <a:p>
            <a:pPr eaLnBrk="1" hangingPunct="1">
              <a:lnSpc>
                <a:spcPct val="60000"/>
              </a:lnSpc>
              <a:spcBef>
                <a:spcPct val="20000"/>
              </a:spcBef>
            </a:pPr>
            <a:r>
              <a:rPr lang="da-DK" altLang="da-DK" sz="1600" b="1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5017754" y="4430137"/>
            <a:ext cx="1244293" cy="23244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pitchFamily="-105" charset="0"/>
            </a:endParaRPr>
          </a:p>
        </p:txBody>
      </p:sp>
      <p:sp>
        <p:nvSpPr>
          <p:cNvPr id="17" name="Text Box 21"/>
          <p:cNvSpPr txBox="1">
            <a:spLocks noChangeArrowheads="1"/>
          </p:cNvSpPr>
          <p:nvPr/>
        </p:nvSpPr>
        <p:spPr bwMode="auto">
          <a:xfrm>
            <a:off x="4775822" y="3927078"/>
            <a:ext cx="4082511" cy="286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da-DK" altLang="da-DK" sz="1400" b="1" dirty="0">
                <a:solidFill>
                  <a:srgbClr val="FF0000"/>
                </a:solidFill>
              </a:rPr>
              <a:t>Angiver, at klassen inplementerer interfacet</a:t>
            </a:r>
          </a:p>
        </p:txBody>
      </p:sp>
      <p:sp>
        <p:nvSpPr>
          <p:cNvPr id="18" name="Line 22"/>
          <p:cNvSpPr>
            <a:spLocks noChangeShapeType="1"/>
          </p:cNvSpPr>
          <p:nvPr/>
        </p:nvSpPr>
        <p:spPr bwMode="auto">
          <a:xfrm>
            <a:off x="5859909" y="4149080"/>
            <a:ext cx="0" cy="28105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endParaRPr lang="da-DK"/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459230" y="2564904"/>
            <a:ext cx="4618001" cy="354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da-DK" sz="2000" kern="0" dirty="0"/>
              <a:t>Eksempel: Comparable</a:t>
            </a:r>
          </a:p>
        </p:txBody>
      </p:sp>
      <p:sp>
        <p:nvSpPr>
          <p:cNvPr id="20" name="Line 22"/>
          <p:cNvSpPr>
            <a:spLocks noChangeShapeType="1"/>
          </p:cNvSpPr>
          <p:nvPr/>
        </p:nvSpPr>
        <p:spPr bwMode="auto">
          <a:xfrm>
            <a:off x="2070119" y="5163255"/>
            <a:ext cx="909444" cy="1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endParaRPr lang="da-DK"/>
          </a:p>
        </p:txBody>
      </p: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615836" y="4632340"/>
            <a:ext cx="1952530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da-DK" altLang="da-DK" sz="1400" b="1" spc="-40" dirty="0">
                <a:solidFill>
                  <a:srgbClr val="0000FF"/>
                </a:solidFill>
              </a:rPr>
              <a:t>compareTo metoden implementeres</a:t>
            </a:r>
            <a:br>
              <a:rPr lang="da-DK" altLang="da-DK" sz="1400" b="1" spc="-40" dirty="0">
                <a:solidFill>
                  <a:srgbClr val="0000FF"/>
                </a:solidFill>
              </a:rPr>
            </a:br>
            <a:r>
              <a:rPr lang="da-DK" altLang="da-DK" sz="1400" b="1" spc="-40" dirty="0">
                <a:solidFill>
                  <a:srgbClr val="0000FF"/>
                </a:solidFill>
              </a:rPr>
              <a:t>i de klasser, der implementerer Comparable interfacet</a:t>
            </a:r>
          </a:p>
        </p:txBody>
      </p:sp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2702355" y="6123673"/>
            <a:ext cx="5326029" cy="512961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FF"/>
            </a:solidFill>
          </a:ln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marL="171450" indent="-17145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da-DK" altLang="da-DK" sz="1200" b="1" dirty="0">
                <a:solidFill>
                  <a:srgbClr val="0000FF"/>
                </a:solidFill>
              </a:rPr>
              <a:t>Interfaces kan </a:t>
            </a:r>
            <a:r>
              <a:rPr lang="da-DK" altLang="da-DK" sz="1200" b="1" dirty="0">
                <a:solidFill>
                  <a:srgbClr val="008000"/>
                </a:solidFill>
              </a:rPr>
              <a:t>nedarve</a:t>
            </a:r>
            <a:r>
              <a:rPr lang="da-DK" altLang="da-DK" sz="1200" b="1" dirty="0">
                <a:solidFill>
                  <a:srgbClr val="0000FF"/>
                </a:solidFill>
              </a:rPr>
              <a:t> fra hinanden på samme måde som klasser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da-DK" altLang="da-DK" sz="1200" b="1" dirty="0">
                <a:solidFill>
                  <a:srgbClr val="0000FF"/>
                </a:solidFill>
              </a:rPr>
              <a:t>Det betyder, at vi taler om </a:t>
            </a:r>
            <a:r>
              <a:rPr lang="da-DK" altLang="da-DK" sz="1200" b="1" dirty="0">
                <a:solidFill>
                  <a:srgbClr val="008000"/>
                </a:solidFill>
              </a:rPr>
              <a:t>subinterfaces</a:t>
            </a:r>
            <a:r>
              <a:rPr lang="da-DK" altLang="da-DK" sz="1200" b="1" dirty="0">
                <a:solidFill>
                  <a:srgbClr val="0000FF"/>
                </a:solidFill>
              </a:rPr>
              <a:t> og </a:t>
            </a:r>
            <a:r>
              <a:rPr lang="da-DK" altLang="da-DK" sz="1200" b="1" dirty="0">
                <a:solidFill>
                  <a:srgbClr val="008000"/>
                </a:solidFill>
              </a:rPr>
              <a:t>superinterfaces</a:t>
            </a:r>
            <a:endParaRPr lang="en-US" altLang="da-DK" sz="1100" b="1" dirty="0">
              <a:solidFill>
                <a:srgbClr val="008000"/>
              </a:solidFill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2958892" y="4875773"/>
            <a:ext cx="4020204" cy="609600"/>
          </a:xfrm>
          <a:prstGeom prst="rect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pitchFamily="-105" charset="0"/>
            </a:endParaRPr>
          </a:p>
        </p:txBody>
      </p:sp>
      <p:sp>
        <p:nvSpPr>
          <p:cNvPr id="14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496696" y="6395842"/>
            <a:ext cx="647304" cy="457200"/>
          </a:xfrm>
          <a:prstGeom prst="rect">
            <a:avLst/>
          </a:prstGeom>
        </p:spPr>
        <p:txBody>
          <a:bodyPr/>
          <a:lstStyle/>
          <a:p>
            <a:fld id="{D5F120ED-4883-459A-AC97-4FAD8D591FCC}" type="slidenum">
              <a:rPr lang="da-DK" altLang="da-DK" smtClean="0"/>
              <a:pPr/>
              <a:t>5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1524734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9" grpId="0" animBg="1"/>
      <p:bldP spid="10" grpId="0" animBg="1"/>
      <p:bldP spid="11" grpId="0" animBg="1"/>
      <p:bldP spid="12" grpId="0" animBg="1"/>
      <p:bldP spid="13" grpId="0"/>
      <p:bldP spid="15" grpId="0" animBg="1"/>
      <p:bldP spid="16" grpId="0" animBg="1"/>
      <p:bldP spid="17" grpId="0"/>
      <p:bldP spid="18" grpId="0" animBg="1"/>
      <p:bldP spid="19" grpId="0"/>
      <p:bldP spid="20" grpId="0" animBg="1"/>
      <p:bldP spid="21" grpId="0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771801" y="5013176"/>
            <a:ext cx="2880319" cy="1697279"/>
            <a:chOff x="2809727" y="4293096"/>
            <a:chExt cx="3305919" cy="2201335"/>
          </a:xfrm>
        </p:grpSpPr>
        <p:grpSp>
          <p:nvGrpSpPr>
            <p:cNvPr id="3" name="Group 2"/>
            <p:cNvGrpSpPr/>
            <p:nvPr/>
          </p:nvGrpSpPr>
          <p:grpSpPr>
            <a:xfrm>
              <a:off x="2809727" y="4293096"/>
              <a:ext cx="3305919" cy="2201335"/>
              <a:chOff x="1619672" y="4107985"/>
              <a:chExt cx="3305919" cy="2201335"/>
            </a:xfrm>
          </p:grpSpPr>
          <p:pic>
            <p:nvPicPr>
              <p:cNvPr id="2050" name="Picture 2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19672" y="4107985"/>
                <a:ext cx="3305919" cy="22013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" name="Rectangle 1"/>
              <p:cNvSpPr/>
              <p:nvPr/>
            </p:nvSpPr>
            <p:spPr bwMode="auto">
              <a:xfrm>
                <a:off x="3587951" y="5205863"/>
                <a:ext cx="180020" cy="7200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0000" tIns="46800" rIns="90000" bIns="468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a-DK" sz="2000" b="0" i="0" u="none" strike="noStrike" cap="none" normalizeH="0" baseline="0">
                  <a:ln>
                    <a:noFill/>
                  </a:ln>
                  <a:solidFill>
                    <a:srgbClr val="A5002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9" name="Rectangle 18"/>
              <p:cNvSpPr/>
              <p:nvPr/>
            </p:nvSpPr>
            <p:spPr bwMode="auto">
              <a:xfrm>
                <a:off x="3748372" y="5414410"/>
                <a:ext cx="180020" cy="7200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0000" tIns="46800" rIns="90000" bIns="468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a-DK" sz="2000" b="0" i="0" u="none" strike="noStrike" cap="none" normalizeH="0" baseline="0">
                  <a:ln>
                    <a:noFill/>
                  </a:ln>
                  <a:solidFill>
                    <a:srgbClr val="A5002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0" name="Rectangle 19"/>
              <p:cNvSpPr/>
              <p:nvPr/>
            </p:nvSpPr>
            <p:spPr bwMode="auto">
              <a:xfrm>
                <a:off x="2737719" y="5213883"/>
                <a:ext cx="180020" cy="7200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0000" tIns="46800" rIns="90000" bIns="468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a-DK" sz="2000" b="0" i="0" u="none" strike="noStrike" cap="none" normalizeH="0" baseline="0">
                  <a:ln>
                    <a:noFill/>
                  </a:ln>
                  <a:solidFill>
                    <a:srgbClr val="A5002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1" name="Rectangle 20"/>
              <p:cNvSpPr/>
              <p:nvPr/>
            </p:nvSpPr>
            <p:spPr bwMode="auto">
              <a:xfrm>
                <a:off x="2577299" y="5390347"/>
                <a:ext cx="180020" cy="7200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0000" tIns="46800" rIns="90000" bIns="468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a-DK" sz="2000" b="0" i="0" u="none" strike="noStrike" cap="none" normalizeH="0" baseline="0">
                  <a:ln>
                    <a:noFill/>
                  </a:ln>
                  <a:solidFill>
                    <a:srgbClr val="A50021"/>
                  </a:solidFill>
                  <a:effectLst/>
                  <a:latin typeface="Arial" charset="0"/>
                </a:endParaRPr>
              </a:p>
            </p:txBody>
          </p:sp>
        </p:grpSp>
        <p:sp>
          <p:nvSpPr>
            <p:cNvPr id="11" name="Text Box 21"/>
            <p:cNvSpPr txBox="1">
              <a:spLocks noChangeArrowheads="1"/>
            </p:cNvSpPr>
            <p:nvPr/>
          </p:nvSpPr>
          <p:spPr bwMode="auto">
            <a:xfrm>
              <a:off x="4231973" y="5718263"/>
              <a:ext cx="555845" cy="286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da-DK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FontTx/>
                <a:buNone/>
              </a:pPr>
              <a:r>
                <a:rPr lang="da-DK" altLang="da-DK" sz="1400" b="1" dirty="0">
                  <a:solidFill>
                    <a:schemeClr val="tx1"/>
                  </a:solidFill>
                </a:rPr>
                <a:t>……</a:t>
              </a:r>
            </a:p>
          </p:txBody>
        </p:sp>
      </p:grp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5251" y="3370477"/>
            <a:ext cx="8616095" cy="2421938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da-DK" sz="2000" spc="-80" dirty="0"/>
              <a:t>List interfacet gør det let at skifte mellem de forskelige implementationer</a:t>
            </a:r>
          </a:p>
          <a:p>
            <a:pPr lvl="1">
              <a:spcBef>
                <a:spcPts val="600"/>
              </a:spcBef>
            </a:pPr>
            <a:r>
              <a:rPr lang="da-DK" sz="1800" dirty="0"/>
              <a:t>Hvis man har erklæret alle sine variable til at være af typen </a:t>
            </a:r>
            <a:r>
              <a:rPr lang="da-DK" sz="1800" b="1" dirty="0">
                <a:solidFill>
                  <a:srgbClr val="008000"/>
                </a:solidFill>
              </a:rPr>
              <a:t>List</a:t>
            </a:r>
            <a:br>
              <a:rPr lang="da-DK" sz="1800" dirty="0"/>
            </a:br>
            <a:r>
              <a:rPr lang="da-DK" sz="1800" dirty="0"/>
              <a:t>(i stedet for ArrayList eller LinkedList), er det eneste, der skal ændres, det sted hvor listen instantieres</a:t>
            </a:r>
          </a:p>
          <a:p>
            <a:pPr lvl="1">
              <a:spcBef>
                <a:spcPts val="600"/>
              </a:spcBef>
            </a:pPr>
            <a:r>
              <a:rPr lang="da-DK" sz="1800" dirty="0"/>
              <a:t>Her skal man udskifte </a:t>
            </a:r>
            <a:r>
              <a:rPr lang="da-DK" sz="1800" b="1" dirty="0">
                <a:solidFill>
                  <a:srgbClr val="008000"/>
                </a:solidFill>
              </a:rPr>
              <a:t>new ArrayList&lt;&gt;()</a:t>
            </a:r>
            <a:r>
              <a:rPr lang="da-DK" sz="1800" dirty="0"/>
              <a:t> med </a:t>
            </a:r>
            <a:r>
              <a:rPr lang="da-DK" sz="1800" b="1" dirty="0">
                <a:solidFill>
                  <a:srgbClr val="008000"/>
                </a:solidFill>
              </a:rPr>
              <a:t>new LinkedList&lt;&gt;()</a:t>
            </a:r>
            <a:br>
              <a:rPr lang="da-DK" sz="1800" b="1" dirty="0">
                <a:solidFill>
                  <a:schemeClr val="tx1"/>
                </a:solidFill>
              </a:rPr>
            </a:br>
            <a:r>
              <a:rPr lang="da-DK" sz="1800" dirty="0"/>
              <a:t>(eller omvendt)</a:t>
            </a:r>
          </a:p>
          <a:p>
            <a:pPr lvl="1">
              <a:spcBef>
                <a:spcPts val="400"/>
              </a:spcBef>
            </a:pPr>
            <a:endParaRPr lang="da-DK" sz="1800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67544" y="332656"/>
            <a:ext cx="8207375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9pPr>
          </a:lstStyle>
          <a:p>
            <a:pPr eaLnBrk="1" hangingPunct="1"/>
            <a:r>
              <a:rPr lang="da-DK" altLang="en-US" sz="3200" kern="0" dirty="0">
                <a:ea typeface="ＭＳ Ｐゴシック" pitchFamily="34" charset="-128"/>
              </a:rPr>
              <a:t>List interfacet</a:t>
            </a:r>
            <a:endParaRPr lang="da-DK" altLang="da-DK" sz="3200" kern="0" dirty="0">
              <a:ea typeface="ＭＳ Ｐゴシック" pitchFamily="34" charset="-128"/>
            </a:endParaRPr>
          </a:p>
        </p:txBody>
      </p:sp>
      <p:sp>
        <p:nvSpPr>
          <p:cNvPr id="14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496696" y="6395842"/>
            <a:ext cx="647304" cy="457200"/>
          </a:xfrm>
          <a:prstGeom prst="rect">
            <a:avLst/>
          </a:prstGeom>
        </p:spPr>
        <p:txBody>
          <a:bodyPr/>
          <a:lstStyle/>
          <a:p>
            <a:fld id="{D5F120ED-4883-459A-AC97-4FAD8D591FCC}" type="slidenum">
              <a:rPr lang="da-DK" altLang="da-DK" smtClean="0"/>
              <a:pPr/>
              <a:t>6</a:t>
            </a:fld>
            <a:endParaRPr lang="da-DK" altLang="da-DK" dirty="0"/>
          </a:p>
        </p:txBody>
      </p:sp>
      <p:grpSp>
        <p:nvGrpSpPr>
          <p:cNvPr id="10" name="Group 9"/>
          <p:cNvGrpSpPr/>
          <p:nvPr/>
        </p:nvGrpSpPr>
        <p:grpSpPr>
          <a:xfrm>
            <a:off x="1434769" y="2664256"/>
            <a:ext cx="4499594" cy="718222"/>
            <a:chOff x="2555777" y="2668229"/>
            <a:chExt cx="4499594" cy="718222"/>
          </a:xfrm>
        </p:grpSpPr>
        <p:grpSp>
          <p:nvGrpSpPr>
            <p:cNvPr id="9" name="Group 8"/>
            <p:cNvGrpSpPr/>
            <p:nvPr/>
          </p:nvGrpSpPr>
          <p:grpSpPr>
            <a:xfrm>
              <a:off x="2555777" y="2668229"/>
              <a:ext cx="852340" cy="703462"/>
              <a:chOff x="2555777" y="2668229"/>
              <a:chExt cx="852340" cy="703462"/>
            </a:xfrm>
          </p:grpSpPr>
          <p:sp>
            <p:nvSpPr>
              <p:cNvPr id="16" name="Arc 15"/>
              <p:cNvSpPr/>
              <p:nvPr/>
            </p:nvSpPr>
            <p:spPr bwMode="auto">
              <a:xfrm rot="19208452" flipH="1" flipV="1">
                <a:off x="2975532" y="2668229"/>
                <a:ext cx="429548" cy="457117"/>
              </a:xfrm>
              <a:prstGeom prst="arc">
                <a:avLst/>
              </a:prstGeom>
              <a:noFill/>
              <a:ln w="9525" cap="flat" cmpd="sng" algn="ctr">
                <a:solidFill>
                  <a:srgbClr val="000066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0000" tIns="46800" rIns="90000" bIns="468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a-DK" sz="2000" b="0" i="0" u="none" strike="noStrike" cap="none" normalizeH="0" baseline="0">
                  <a:ln>
                    <a:noFill/>
                  </a:ln>
                  <a:solidFill>
                    <a:srgbClr val="A5002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5" name="Rounded Rectangle 4"/>
              <p:cNvSpPr/>
              <p:nvPr/>
            </p:nvSpPr>
            <p:spPr bwMode="auto">
              <a:xfrm>
                <a:off x="2555777" y="2851586"/>
                <a:ext cx="432048" cy="288032"/>
              </a:xfrm>
              <a:prstGeom prst="roundRect">
                <a:avLst/>
              </a:prstGeom>
              <a:noFill/>
              <a:ln w="19050" cap="flat" cmpd="sng" algn="ctr">
                <a:solidFill>
                  <a:srgbClr val="000066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0000" tIns="46800" rIns="90000" bIns="468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a-DK" sz="2000" b="0" i="0" u="none" strike="noStrike" cap="none" normalizeH="0" baseline="0">
                  <a:ln>
                    <a:noFill/>
                  </a:ln>
                  <a:solidFill>
                    <a:srgbClr val="A5002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6" name="Arc 5"/>
              <p:cNvSpPr/>
              <p:nvPr/>
            </p:nvSpPr>
            <p:spPr bwMode="auto">
              <a:xfrm rot="19208452">
                <a:off x="2893224" y="2886391"/>
                <a:ext cx="514893" cy="485300"/>
              </a:xfrm>
              <a:prstGeom prst="arc">
                <a:avLst/>
              </a:prstGeom>
              <a:noFill/>
              <a:ln w="9525" cap="flat" cmpd="sng" algn="ctr">
                <a:solidFill>
                  <a:srgbClr val="000066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0000" tIns="46800" rIns="90000" bIns="468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a-DK" sz="2000" b="0" i="0" u="none" strike="noStrike" cap="none" normalizeH="0" baseline="0">
                  <a:ln>
                    <a:noFill/>
                  </a:ln>
                  <a:solidFill>
                    <a:srgbClr val="A5002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7" name="Text Box 21"/>
              <p:cNvSpPr txBox="1">
                <a:spLocks noChangeArrowheads="1"/>
              </p:cNvSpPr>
              <p:nvPr/>
            </p:nvSpPr>
            <p:spPr bwMode="auto">
              <a:xfrm>
                <a:off x="2588473" y="2844998"/>
                <a:ext cx="389765" cy="286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da-DK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da-DK" altLang="da-DK" sz="1400" b="1" dirty="0">
                    <a:solidFill>
                      <a:srgbClr val="000066"/>
                    </a:solidFill>
                  </a:rPr>
                  <a:t>e</a:t>
                </a:r>
                <a:r>
                  <a:rPr lang="da-DK" altLang="da-DK" sz="1400" b="1" baseline="-25000" dirty="0">
                    <a:solidFill>
                      <a:srgbClr val="000066"/>
                    </a:solidFill>
                  </a:rPr>
                  <a:t>1</a:t>
                </a:r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3367830" y="2675767"/>
              <a:ext cx="852340" cy="703462"/>
              <a:chOff x="2555777" y="2668229"/>
              <a:chExt cx="852340" cy="703462"/>
            </a:xfrm>
          </p:grpSpPr>
          <p:sp>
            <p:nvSpPr>
              <p:cNvPr id="35" name="Arc 34"/>
              <p:cNvSpPr/>
              <p:nvPr/>
            </p:nvSpPr>
            <p:spPr bwMode="auto">
              <a:xfrm rot="19208452" flipH="1" flipV="1">
                <a:off x="2975532" y="2668229"/>
                <a:ext cx="429548" cy="457117"/>
              </a:xfrm>
              <a:prstGeom prst="arc">
                <a:avLst/>
              </a:prstGeom>
              <a:noFill/>
              <a:ln w="9525" cap="flat" cmpd="sng" algn="ctr">
                <a:solidFill>
                  <a:srgbClr val="000066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0000" tIns="46800" rIns="90000" bIns="468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a-DK" sz="2000" b="0" i="0" u="none" strike="noStrike" cap="none" normalizeH="0" baseline="0">
                  <a:ln>
                    <a:noFill/>
                  </a:ln>
                  <a:solidFill>
                    <a:srgbClr val="A5002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36" name="Rounded Rectangle 35"/>
              <p:cNvSpPr/>
              <p:nvPr/>
            </p:nvSpPr>
            <p:spPr bwMode="auto">
              <a:xfrm>
                <a:off x="2555777" y="2851586"/>
                <a:ext cx="432048" cy="288032"/>
              </a:xfrm>
              <a:prstGeom prst="roundRect">
                <a:avLst/>
              </a:prstGeom>
              <a:noFill/>
              <a:ln w="19050" cap="flat" cmpd="sng" algn="ctr">
                <a:solidFill>
                  <a:srgbClr val="000066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0000" tIns="46800" rIns="90000" bIns="468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a-DK" sz="2000" b="0" i="0" u="none" strike="noStrike" cap="none" normalizeH="0" baseline="0">
                  <a:ln>
                    <a:noFill/>
                  </a:ln>
                  <a:solidFill>
                    <a:srgbClr val="A5002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37" name="Arc 36"/>
              <p:cNvSpPr/>
              <p:nvPr/>
            </p:nvSpPr>
            <p:spPr bwMode="auto">
              <a:xfrm rot="19208452">
                <a:off x="2893224" y="2886391"/>
                <a:ext cx="514893" cy="485300"/>
              </a:xfrm>
              <a:prstGeom prst="arc">
                <a:avLst/>
              </a:prstGeom>
              <a:noFill/>
              <a:ln w="9525" cap="flat" cmpd="sng" algn="ctr">
                <a:solidFill>
                  <a:srgbClr val="000066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0000" tIns="46800" rIns="90000" bIns="468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a-DK" sz="2000" b="0" i="0" u="none" strike="noStrike" cap="none" normalizeH="0" baseline="0">
                  <a:ln>
                    <a:noFill/>
                  </a:ln>
                  <a:solidFill>
                    <a:srgbClr val="A5002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38" name="Text Box 21"/>
              <p:cNvSpPr txBox="1">
                <a:spLocks noChangeArrowheads="1"/>
              </p:cNvSpPr>
              <p:nvPr/>
            </p:nvSpPr>
            <p:spPr bwMode="auto">
              <a:xfrm>
                <a:off x="2588473" y="2844998"/>
                <a:ext cx="389765" cy="286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da-DK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da-DK" altLang="da-DK" sz="1400" b="1" dirty="0">
                    <a:solidFill>
                      <a:srgbClr val="000066"/>
                    </a:solidFill>
                  </a:rPr>
                  <a:t>e</a:t>
                </a:r>
                <a:r>
                  <a:rPr lang="da-DK" altLang="da-DK" sz="1400" b="1" baseline="-25000" dirty="0">
                    <a:solidFill>
                      <a:srgbClr val="000066"/>
                    </a:solidFill>
                  </a:rPr>
                  <a:t>2</a:t>
                </a:r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4179883" y="2680043"/>
              <a:ext cx="852340" cy="703462"/>
              <a:chOff x="2555777" y="2668229"/>
              <a:chExt cx="852340" cy="703462"/>
            </a:xfrm>
          </p:grpSpPr>
          <p:sp>
            <p:nvSpPr>
              <p:cNvPr id="40" name="Arc 39"/>
              <p:cNvSpPr/>
              <p:nvPr/>
            </p:nvSpPr>
            <p:spPr bwMode="auto">
              <a:xfrm rot="19208452" flipH="1" flipV="1">
                <a:off x="2975532" y="2668229"/>
                <a:ext cx="429548" cy="457117"/>
              </a:xfrm>
              <a:prstGeom prst="arc">
                <a:avLst/>
              </a:prstGeom>
              <a:noFill/>
              <a:ln w="9525" cap="flat" cmpd="sng" algn="ctr">
                <a:solidFill>
                  <a:srgbClr val="000066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0000" tIns="46800" rIns="90000" bIns="468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a-DK" sz="2000" b="0" i="0" u="none" strike="noStrike" cap="none" normalizeH="0" baseline="0">
                  <a:ln>
                    <a:noFill/>
                  </a:ln>
                  <a:solidFill>
                    <a:srgbClr val="A5002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41" name="Rounded Rectangle 40"/>
              <p:cNvSpPr/>
              <p:nvPr/>
            </p:nvSpPr>
            <p:spPr bwMode="auto">
              <a:xfrm>
                <a:off x="2555777" y="2851586"/>
                <a:ext cx="432048" cy="288032"/>
              </a:xfrm>
              <a:prstGeom prst="roundRect">
                <a:avLst/>
              </a:prstGeom>
              <a:noFill/>
              <a:ln w="19050" cap="flat" cmpd="sng" algn="ctr">
                <a:solidFill>
                  <a:srgbClr val="000066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0000" tIns="46800" rIns="90000" bIns="468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a-DK" sz="2000" b="0" i="0" u="none" strike="noStrike" cap="none" normalizeH="0" baseline="0">
                  <a:ln>
                    <a:noFill/>
                  </a:ln>
                  <a:solidFill>
                    <a:srgbClr val="A5002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42" name="Arc 41"/>
              <p:cNvSpPr/>
              <p:nvPr/>
            </p:nvSpPr>
            <p:spPr bwMode="auto">
              <a:xfrm rot="19208452">
                <a:off x="2893224" y="2886391"/>
                <a:ext cx="514893" cy="485300"/>
              </a:xfrm>
              <a:prstGeom prst="arc">
                <a:avLst/>
              </a:prstGeom>
              <a:noFill/>
              <a:ln w="9525" cap="flat" cmpd="sng" algn="ctr">
                <a:solidFill>
                  <a:srgbClr val="000066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0000" tIns="46800" rIns="90000" bIns="468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a-DK" sz="2000" b="0" i="0" u="none" strike="noStrike" cap="none" normalizeH="0" baseline="0">
                  <a:ln>
                    <a:noFill/>
                  </a:ln>
                  <a:solidFill>
                    <a:srgbClr val="A5002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43" name="Text Box 21"/>
              <p:cNvSpPr txBox="1">
                <a:spLocks noChangeArrowheads="1"/>
              </p:cNvSpPr>
              <p:nvPr/>
            </p:nvSpPr>
            <p:spPr bwMode="auto">
              <a:xfrm>
                <a:off x="2588473" y="2844998"/>
                <a:ext cx="389765" cy="286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da-DK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da-DK" altLang="da-DK" sz="1400" b="1" dirty="0">
                    <a:solidFill>
                      <a:srgbClr val="000066"/>
                    </a:solidFill>
                  </a:rPr>
                  <a:t>e</a:t>
                </a:r>
                <a:r>
                  <a:rPr lang="da-DK" altLang="da-DK" sz="1400" b="1" baseline="-25000" dirty="0">
                    <a:solidFill>
                      <a:srgbClr val="000066"/>
                    </a:solidFill>
                  </a:rPr>
                  <a:t>3</a:t>
                </a:r>
              </a:p>
            </p:txBody>
          </p:sp>
        </p:grpSp>
        <p:grpSp>
          <p:nvGrpSpPr>
            <p:cNvPr id="44" name="Group 43"/>
            <p:cNvGrpSpPr/>
            <p:nvPr/>
          </p:nvGrpSpPr>
          <p:grpSpPr>
            <a:xfrm>
              <a:off x="5789822" y="2682989"/>
              <a:ext cx="875111" cy="703462"/>
              <a:chOff x="2533006" y="2668229"/>
              <a:chExt cx="875111" cy="703462"/>
            </a:xfrm>
          </p:grpSpPr>
          <p:sp>
            <p:nvSpPr>
              <p:cNvPr id="45" name="Arc 44"/>
              <p:cNvSpPr/>
              <p:nvPr/>
            </p:nvSpPr>
            <p:spPr bwMode="auto">
              <a:xfrm rot="19208452" flipH="1" flipV="1">
                <a:off x="2975532" y="2668229"/>
                <a:ext cx="429548" cy="457117"/>
              </a:xfrm>
              <a:prstGeom prst="arc">
                <a:avLst/>
              </a:prstGeom>
              <a:noFill/>
              <a:ln w="9525" cap="flat" cmpd="sng" algn="ctr">
                <a:solidFill>
                  <a:srgbClr val="000066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0000" tIns="46800" rIns="90000" bIns="468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a-DK" sz="2000" b="0" i="0" u="none" strike="noStrike" cap="none" normalizeH="0" baseline="0">
                  <a:ln>
                    <a:noFill/>
                  </a:ln>
                  <a:solidFill>
                    <a:srgbClr val="A5002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46" name="Rounded Rectangle 45"/>
              <p:cNvSpPr/>
              <p:nvPr/>
            </p:nvSpPr>
            <p:spPr bwMode="auto">
              <a:xfrm>
                <a:off x="2555777" y="2851586"/>
                <a:ext cx="432048" cy="288032"/>
              </a:xfrm>
              <a:prstGeom prst="roundRect">
                <a:avLst/>
              </a:prstGeom>
              <a:noFill/>
              <a:ln w="19050" cap="flat" cmpd="sng" algn="ctr">
                <a:solidFill>
                  <a:srgbClr val="000066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0000" tIns="46800" rIns="90000" bIns="468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a-DK" sz="2000" b="0" i="0" u="none" strike="noStrike" cap="none" normalizeH="0" baseline="0">
                  <a:ln>
                    <a:noFill/>
                  </a:ln>
                  <a:solidFill>
                    <a:srgbClr val="A5002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47" name="Arc 46"/>
              <p:cNvSpPr/>
              <p:nvPr/>
            </p:nvSpPr>
            <p:spPr bwMode="auto">
              <a:xfrm rot="19208452">
                <a:off x="2893224" y="2886391"/>
                <a:ext cx="514893" cy="485300"/>
              </a:xfrm>
              <a:prstGeom prst="arc">
                <a:avLst/>
              </a:prstGeom>
              <a:noFill/>
              <a:ln w="9525" cap="flat" cmpd="sng" algn="ctr">
                <a:solidFill>
                  <a:srgbClr val="000066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0000" tIns="46800" rIns="90000" bIns="468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a-DK" sz="2000" b="0" i="0" u="none" strike="noStrike" cap="none" normalizeH="0" baseline="0">
                  <a:ln>
                    <a:noFill/>
                  </a:ln>
                  <a:solidFill>
                    <a:srgbClr val="A5002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48" name="Text Box 21"/>
              <p:cNvSpPr txBox="1">
                <a:spLocks noChangeArrowheads="1"/>
              </p:cNvSpPr>
              <p:nvPr/>
            </p:nvSpPr>
            <p:spPr bwMode="auto">
              <a:xfrm>
                <a:off x="2533006" y="2845264"/>
                <a:ext cx="589045" cy="286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da-DK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da-DK" altLang="da-DK" sz="1400" b="1" dirty="0">
                    <a:solidFill>
                      <a:srgbClr val="000066"/>
                    </a:solidFill>
                  </a:rPr>
                  <a:t>e</a:t>
                </a:r>
                <a:r>
                  <a:rPr lang="da-DK" altLang="da-DK" sz="1400" b="1" baseline="-25000" dirty="0">
                    <a:solidFill>
                      <a:srgbClr val="000066"/>
                    </a:solidFill>
                  </a:rPr>
                  <a:t>n-1</a:t>
                </a:r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6623323" y="2850422"/>
              <a:ext cx="432048" cy="294620"/>
              <a:chOff x="2555777" y="2844998"/>
              <a:chExt cx="432048" cy="294620"/>
            </a:xfrm>
          </p:grpSpPr>
          <p:sp>
            <p:nvSpPr>
              <p:cNvPr id="51" name="Rounded Rectangle 50"/>
              <p:cNvSpPr/>
              <p:nvPr/>
            </p:nvSpPr>
            <p:spPr bwMode="auto">
              <a:xfrm>
                <a:off x="2555777" y="2851586"/>
                <a:ext cx="432048" cy="288032"/>
              </a:xfrm>
              <a:prstGeom prst="roundRect">
                <a:avLst/>
              </a:prstGeom>
              <a:noFill/>
              <a:ln w="19050" cap="flat" cmpd="sng" algn="ctr">
                <a:solidFill>
                  <a:srgbClr val="000066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0000" tIns="46800" rIns="90000" bIns="468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a-DK" sz="2000" b="0" i="0" u="none" strike="noStrike" cap="none" normalizeH="0" baseline="0">
                  <a:ln>
                    <a:noFill/>
                  </a:ln>
                  <a:solidFill>
                    <a:srgbClr val="A5002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53" name="Text Box 21"/>
              <p:cNvSpPr txBox="1">
                <a:spLocks noChangeArrowheads="1"/>
              </p:cNvSpPr>
              <p:nvPr/>
            </p:nvSpPr>
            <p:spPr bwMode="auto">
              <a:xfrm>
                <a:off x="2588473" y="2844998"/>
                <a:ext cx="389765" cy="286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da-DK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5pPr>
                <a:lvl6pPr marL="2286000" algn="l" defTabSz="914400" rtl="0" eaLnBrk="1" latinLnBrk="0" hangingPunct="1"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6pPr>
                <a:lvl7pPr marL="2743200" algn="l" defTabSz="914400" rtl="0" eaLnBrk="1" latinLnBrk="0" hangingPunct="1"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7pPr>
                <a:lvl8pPr marL="3200400" algn="l" defTabSz="914400" rtl="0" eaLnBrk="1" latinLnBrk="0" hangingPunct="1"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8pPr>
                <a:lvl9pPr marL="3657600" algn="l" defTabSz="914400" rtl="0" eaLnBrk="1" latinLnBrk="0" hangingPunct="1">
                  <a:defRPr sz="2000" kern="12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  <a:cs typeface="+mn-cs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da-DK" altLang="da-DK" sz="1400" b="1" dirty="0">
                    <a:solidFill>
                      <a:srgbClr val="000066"/>
                    </a:solidFill>
                  </a:rPr>
                  <a:t>e</a:t>
                </a:r>
                <a:r>
                  <a:rPr lang="da-DK" altLang="da-DK" sz="1400" b="1" baseline="-25000" dirty="0">
                    <a:solidFill>
                      <a:srgbClr val="000066"/>
                    </a:solidFill>
                  </a:rPr>
                  <a:t>n</a:t>
                </a:r>
              </a:p>
            </p:txBody>
          </p:sp>
        </p:grpSp>
        <p:grpSp>
          <p:nvGrpSpPr>
            <p:cNvPr id="54" name="Group 53"/>
            <p:cNvGrpSpPr/>
            <p:nvPr/>
          </p:nvGrpSpPr>
          <p:grpSpPr>
            <a:xfrm>
              <a:off x="5348683" y="2680686"/>
              <a:ext cx="514893" cy="703462"/>
              <a:chOff x="2893224" y="2668229"/>
              <a:chExt cx="514893" cy="703462"/>
            </a:xfrm>
          </p:grpSpPr>
          <p:sp>
            <p:nvSpPr>
              <p:cNvPr id="55" name="Arc 54"/>
              <p:cNvSpPr/>
              <p:nvPr/>
            </p:nvSpPr>
            <p:spPr bwMode="auto">
              <a:xfrm rot="19208452" flipH="1" flipV="1">
                <a:off x="2975532" y="2668229"/>
                <a:ext cx="429548" cy="457117"/>
              </a:xfrm>
              <a:prstGeom prst="arc">
                <a:avLst/>
              </a:prstGeom>
              <a:noFill/>
              <a:ln w="9525" cap="flat" cmpd="sng" algn="ctr">
                <a:solidFill>
                  <a:srgbClr val="000066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0000" tIns="46800" rIns="90000" bIns="468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a-DK" sz="2000" b="0" i="0" u="none" strike="noStrike" cap="none" normalizeH="0" baseline="0">
                  <a:ln>
                    <a:noFill/>
                  </a:ln>
                  <a:solidFill>
                    <a:srgbClr val="A5002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57" name="Arc 56"/>
              <p:cNvSpPr/>
              <p:nvPr/>
            </p:nvSpPr>
            <p:spPr bwMode="auto">
              <a:xfrm rot="19208452">
                <a:off x="2893224" y="2886391"/>
                <a:ext cx="514893" cy="485300"/>
              </a:xfrm>
              <a:prstGeom prst="arc">
                <a:avLst/>
              </a:prstGeom>
              <a:noFill/>
              <a:ln w="9525" cap="flat" cmpd="sng" algn="ctr">
                <a:solidFill>
                  <a:srgbClr val="000066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0000" tIns="46800" rIns="90000" bIns="468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a-DK" sz="2000" b="0" i="0" u="none" strike="noStrike" cap="none" normalizeH="0" baseline="0">
                  <a:ln>
                    <a:noFill/>
                  </a:ln>
                  <a:solidFill>
                    <a:srgbClr val="A50021"/>
                  </a:solidFill>
                  <a:effectLst/>
                  <a:latin typeface="Arial" charset="0"/>
                </a:endParaRPr>
              </a:p>
            </p:txBody>
          </p:sp>
        </p:grpSp>
        <p:sp>
          <p:nvSpPr>
            <p:cNvPr id="64" name="Text Box 21"/>
            <p:cNvSpPr txBox="1">
              <a:spLocks noChangeArrowheads="1"/>
            </p:cNvSpPr>
            <p:nvPr/>
          </p:nvSpPr>
          <p:spPr bwMode="auto">
            <a:xfrm>
              <a:off x="5016626" y="2766819"/>
              <a:ext cx="40598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da-DK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FontTx/>
                <a:buNone/>
              </a:pPr>
              <a:r>
                <a:rPr lang="da-DK" altLang="da-DK" b="1" dirty="0">
                  <a:solidFill>
                    <a:srgbClr val="000066"/>
                  </a:solidFill>
                </a:rPr>
                <a:t>...</a:t>
              </a:r>
            </a:p>
          </p:txBody>
        </p:sp>
      </p:grpSp>
      <p:sp>
        <p:nvSpPr>
          <p:cNvPr id="65" name="Rectangle 3"/>
          <p:cNvSpPr txBox="1">
            <a:spLocks noChangeArrowheads="1"/>
          </p:cNvSpPr>
          <p:nvPr/>
        </p:nvSpPr>
        <p:spPr bwMode="auto">
          <a:xfrm>
            <a:off x="575048" y="1064187"/>
            <a:ext cx="8568952" cy="1631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ts val="1800"/>
              </a:spcBef>
            </a:pPr>
            <a:r>
              <a:rPr lang="da-DK" sz="2000" kern="0" dirty="0"/>
              <a:t>List interfacet beskriver en </a:t>
            </a:r>
            <a:r>
              <a:rPr lang="da-DK" sz="2000" kern="0" dirty="0">
                <a:solidFill>
                  <a:srgbClr val="008000"/>
                </a:solidFill>
              </a:rPr>
              <a:t>sekvens</a:t>
            </a:r>
            <a:r>
              <a:rPr lang="da-DK" sz="2000" kern="0" dirty="0"/>
              <a:t> af elementer. Det har mange forskellige </a:t>
            </a:r>
            <a:r>
              <a:rPr lang="da-DK" sz="2000" kern="0" dirty="0" err="1"/>
              <a:t>implementationer</a:t>
            </a:r>
            <a:r>
              <a:rPr lang="da-DK" sz="2000" kern="0" dirty="0"/>
              <a:t>, bl.a.</a:t>
            </a:r>
            <a:endParaRPr lang="da-DK" sz="1800" kern="0" dirty="0"/>
          </a:p>
          <a:p>
            <a:pPr lvl="1">
              <a:spcBef>
                <a:spcPts val="600"/>
              </a:spcBef>
            </a:pPr>
            <a:r>
              <a:rPr lang="da-DK" sz="1800" kern="0" dirty="0"/>
              <a:t>ArrayList, som opbevarer elementerne i et array</a:t>
            </a:r>
          </a:p>
          <a:p>
            <a:pPr lvl="1">
              <a:spcBef>
                <a:spcPts val="600"/>
              </a:spcBef>
            </a:pPr>
            <a:r>
              <a:rPr lang="da-DK" sz="1800" kern="0" dirty="0"/>
              <a:t>LinkedList, som opbevarer elementer i en dobbeltkædet liste, hvor hvert element har pegepinde til det foregående og det efterfølgende element</a:t>
            </a:r>
          </a:p>
        </p:txBody>
      </p:sp>
    </p:spTree>
    <p:extLst>
      <p:ext uri="{BB962C8B-B14F-4D97-AF65-F5344CB8AC3E}">
        <p14:creationId xmlns:p14="http://schemas.microsoft.com/office/powerpoint/2010/main" val="390968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2" y="1080120"/>
            <a:ext cx="8568184" cy="5517232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da-DK" sz="2000" dirty="0"/>
              <a:t>Set interfacet beskriver en </a:t>
            </a:r>
            <a:r>
              <a:rPr lang="da-DK" sz="2000" dirty="0">
                <a:solidFill>
                  <a:srgbClr val="008000"/>
                </a:solidFill>
              </a:rPr>
              <a:t>mængde</a:t>
            </a:r>
            <a:r>
              <a:rPr lang="da-DK" sz="2000" dirty="0"/>
              <a:t>. Det har mange forskellige implementationer, bl.a.</a:t>
            </a:r>
            <a:endParaRPr lang="da-DK" sz="1800" dirty="0"/>
          </a:p>
          <a:p>
            <a:pPr lvl="1">
              <a:spcBef>
                <a:spcPts val="600"/>
              </a:spcBef>
            </a:pPr>
            <a:r>
              <a:rPr lang="da-DK" sz="1800" dirty="0"/>
              <a:t>HashSet, som opbevarer mængden i en hashtabel, hvor nøglerne er elementernes hashkoder</a:t>
            </a:r>
          </a:p>
          <a:p>
            <a:pPr lvl="1">
              <a:spcBef>
                <a:spcPts val="600"/>
              </a:spcBef>
            </a:pPr>
            <a:r>
              <a:rPr lang="da-DK" sz="1800" dirty="0" err="1"/>
              <a:t>LinkedHashSet</a:t>
            </a:r>
            <a:r>
              <a:rPr lang="da-DK" sz="1800" dirty="0"/>
              <a:t>, som opbevarer mængden i en hashtabel og derudover har en dobbeltkædet liste, der bestemmer den </a:t>
            </a:r>
            <a:r>
              <a:rPr lang="da-DK" sz="1800" spc="-20" dirty="0"/>
              <a:t>rækkefølge, som de besøges i, når man bruger en iterator (eller en for-</a:t>
            </a:r>
            <a:r>
              <a:rPr lang="da-DK" sz="1800" spc="-20" dirty="0" err="1"/>
              <a:t>each</a:t>
            </a:r>
            <a:r>
              <a:rPr lang="da-DK" sz="1800" spc="-20" dirty="0"/>
              <a:t> løkke) </a:t>
            </a:r>
          </a:p>
          <a:p>
            <a:pPr lvl="1">
              <a:spcBef>
                <a:spcPts val="600"/>
              </a:spcBef>
            </a:pPr>
            <a:r>
              <a:rPr lang="da-DK" sz="1800" dirty="0" err="1"/>
              <a:t>TreeSet</a:t>
            </a:r>
            <a:r>
              <a:rPr lang="da-DK" sz="1800" dirty="0"/>
              <a:t>, som opbevarer mængden i en træstruktur, hvilket bevirker, at de fleste operationer kan udføres i logaritmisk tid</a:t>
            </a:r>
          </a:p>
          <a:p>
            <a:pPr>
              <a:spcBef>
                <a:spcPts val="1800"/>
              </a:spcBef>
            </a:pPr>
            <a:r>
              <a:rPr lang="da-DK" sz="2000" spc="-30" dirty="0"/>
              <a:t>Map interfacet beskriver en </a:t>
            </a:r>
            <a:r>
              <a:rPr lang="da-DK" sz="2000" spc="-30" dirty="0">
                <a:solidFill>
                  <a:srgbClr val="008000"/>
                </a:solidFill>
              </a:rPr>
              <a:t>afbildning</a:t>
            </a:r>
            <a:r>
              <a:rPr lang="da-DK" sz="2000" spc="-30" dirty="0"/>
              <a:t>, hvor man ud fra en nøgle kan slå en værdi op. Det har mange forskellige implementationer, bl.a. </a:t>
            </a:r>
          </a:p>
          <a:p>
            <a:pPr lvl="1">
              <a:spcBef>
                <a:spcPts val="600"/>
              </a:spcBef>
            </a:pPr>
            <a:r>
              <a:rPr lang="da-DK" sz="1800" dirty="0"/>
              <a:t>HashMap</a:t>
            </a:r>
          </a:p>
          <a:p>
            <a:pPr lvl="1">
              <a:spcBef>
                <a:spcPts val="600"/>
              </a:spcBef>
            </a:pPr>
            <a:r>
              <a:rPr lang="da-DK" sz="1800" dirty="0" err="1"/>
              <a:t>LinkedHashMap</a:t>
            </a:r>
            <a:endParaRPr lang="da-DK" sz="1800" dirty="0"/>
          </a:p>
          <a:p>
            <a:pPr lvl="1">
              <a:spcBef>
                <a:spcPts val="600"/>
              </a:spcBef>
            </a:pPr>
            <a:r>
              <a:rPr lang="da-DK" sz="1800" dirty="0" err="1"/>
              <a:t>TreeMap</a:t>
            </a:r>
            <a:endParaRPr lang="da-DK" sz="1800" dirty="0"/>
          </a:p>
          <a:p>
            <a:pPr lvl="1">
              <a:spcBef>
                <a:spcPts val="400"/>
              </a:spcBef>
            </a:pPr>
            <a:endParaRPr lang="da-DK" sz="1800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67544" y="332656"/>
            <a:ext cx="8207375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9pPr>
          </a:lstStyle>
          <a:p>
            <a:pPr eaLnBrk="1" hangingPunct="1"/>
            <a:r>
              <a:rPr lang="da-DK" altLang="en-US" sz="3200" kern="0" dirty="0">
                <a:ea typeface="ＭＳ Ｐゴシック" pitchFamily="34" charset="-128"/>
              </a:rPr>
              <a:t>Set og Map interfacet</a:t>
            </a:r>
            <a:endParaRPr lang="da-DK" altLang="da-DK" sz="3200" kern="0" dirty="0">
              <a:ea typeface="ＭＳ Ｐゴシック" pitchFamily="34" charset="-128"/>
            </a:endParaRPr>
          </a:p>
        </p:txBody>
      </p:sp>
      <p:sp>
        <p:nvSpPr>
          <p:cNvPr id="14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496696" y="6395842"/>
            <a:ext cx="647304" cy="457200"/>
          </a:xfrm>
          <a:prstGeom prst="rect">
            <a:avLst/>
          </a:prstGeom>
        </p:spPr>
        <p:txBody>
          <a:bodyPr/>
          <a:lstStyle/>
          <a:p>
            <a:fld id="{D5F120ED-4883-459A-AC97-4FAD8D591FCC}" type="slidenum">
              <a:rPr lang="da-DK" altLang="da-DK" smtClean="0"/>
              <a:pPr/>
              <a:t>7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87957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2" y="1052736"/>
            <a:ext cx="8280152" cy="288245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da-DK" sz="2000" dirty="0"/>
              <a:t>Fælles for abstrakte klasser og interfaces</a:t>
            </a:r>
          </a:p>
          <a:p>
            <a:pPr lvl="1">
              <a:spcBef>
                <a:spcPts val="600"/>
              </a:spcBef>
            </a:pPr>
            <a:r>
              <a:rPr lang="da-DK" sz="1800" dirty="0"/>
              <a:t>De bestemmer en </a:t>
            </a:r>
            <a:r>
              <a:rPr lang="da-DK" sz="1800" b="1" dirty="0">
                <a:solidFill>
                  <a:srgbClr val="008000"/>
                </a:solidFill>
              </a:rPr>
              <a:t>type</a:t>
            </a:r>
          </a:p>
          <a:p>
            <a:pPr lvl="1">
              <a:spcBef>
                <a:spcPts val="600"/>
              </a:spcBef>
            </a:pPr>
            <a:r>
              <a:rPr lang="da-DK" sz="1800" dirty="0"/>
              <a:t>Man kan lave </a:t>
            </a:r>
            <a:r>
              <a:rPr lang="da-DK" sz="1800" b="1" dirty="0">
                <a:solidFill>
                  <a:srgbClr val="008000"/>
                </a:solidFill>
              </a:rPr>
              <a:t>polymorfe metoder</a:t>
            </a:r>
            <a:r>
              <a:rPr lang="da-DK" sz="1800" dirty="0"/>
              <a:t>, som kan bruges på objekter fra</a:t>
            </a:r>
          </a:p>
          <a:p>
            <a:pPr lvl="2">
              <a:spcBef>
                <a:spcPts val="200"/>
              </a:spcBef>
            </a:pPr>
            <a:r>
              <a:rPr lang="da-DK" sz="1800" dirty="0">
                <a:solidFill>
                  <a:srgbClr val="000066"/>
                </a:solidFill>
              </a:rPr>
              <a:t>alle subklasser af en abstrakt klasse</a:t>
            </a:r>
          </a:p>
          <a:p>
            <a:pPr lvl="2">
              <a:spcBef>
                <a:spcPts val="200"/>
              </a:spcBef>
            </a:pPr>
            <a:r>
              <a:rPr lang="da-DK" sz="1800" dirty="0">
                <a:solidFill>
                  <a:srgbClr val="000066"/>
                </a:solidFill>
              </a:rPr>
              <a:t>alle de klasser, der implementerer et interface</a:t>
            </a:r>
          </a:p>
          <a:p>
            <a:pPr lvl="1">
              <a:spcBef>
                <a:spcPts val="600"/>
              </a:spcBef>
            </a:pPr>
            <a:r>
              <a:rPr lang="da-DK" sz="1800" dirty="0"/>
              <a:t>F.eks. kan </a:t>
            </a:r>
            <a:r>
              <a:rPr lang="da-DK" sz="1800" b="1" dirty="0" err="1">
                <a:solidFill>
                  <a:srgbClr val="008000"/>
                </a:solidFill>
              </a:rPr>
              <a:t>reverse</a:t>
            </a:r>
            <a:r>
              <a:rPr lang="da-DK" sz="1800" dirty="0"/>
              <a:t> og </a:t>
            </a:r>
            <a:r>
              <a:rPr lang="da-DK" sz="1800" b="1" dirty="0" err="1">
                <a:solidFill>
                  <a:srgbClr val="008000"/>
                </a:solidFill>
              </a:rPr>
              <a:t>shuffle</a:t>
            </a:r>
            <a:r>
              <a:rPr lang="da-DK" sz="1800" dirty="0"/>
              <a:t> metoderne i Collections klassen bruges på alle objektsamlinger, der implementerer </a:t>
            </a:r>
            <a:r>
              <a:rPr lang="da-DK" sz="1800" b="1" dirty="0">
                <a:solidFill>
                  <a:srgbClr val="008000"/>
                </a:solidFill>
              </a:rPr>
              <a:t>List</a:t>
            </a:r>
            <a:r>
              <a:rPr lang="da-DK" sz="1800" dirty="0"/>
              <a:t> interfacet, mens</a:t>
            </a:r>
            <a:br>
              <a:rPr lang="da-DK" sz="1800" dirty="0"/>
            </a:br>
            <a:r>
              <a:rPr lang="da-DK" sz="1800" b="1">
                <a:solidFill>
                  <a:srgbClr val="008000"/>
                </a:solidFill>
              </a:rPr>
              <a:t>sort</a:t>
            </a:r>
            <a:r>
              <a:rPr lang="da-DK" sz="1800"/>
              <a:t> metoden </a:t>
            </a:r>
            <a:r>
              <a:rPr lang="da-DK" sz="1800" dirty="0"/>
              <a:t>endvidere kræver, at elementtypen i objektsamlingen implementerer </a:t>
            </a:r>
            <a:r>
              <a:rPr lang="da-DK" sz="1800" b="1" dirty="0">
                <a:solidFill>
                  <a:srgbClr val="008000"/>
                </a:solidFill>
              </a:rPr>
              <a:t>Comparable</a:t>
            </a:r>
            <a:r>
              <a:rPr lang="da-DK" sz="1800" dirty="0"/>
              <a:t> interfacet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67544" y="332656"/>
            <a:ext cx="8207375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9pPr>
          </a:lstStyle>
          <a:p>
            <a:pPr eaLnBrk="1" hangingPunct="1"/>
            <a:r>
              <a:rPr lang="da-DK" altLang="en-US" sz="3200" kern="0" dirty="0">
                <a:ea typeface="ＭＳ Ｐゴシック" pitchFamily="34" charset="-128"/>
              </a:rPr>
              <a:t>Hvad opnår vi?</a:t>
            </a:r>
            <a:endParaRPr lang="da-DK" altLang="da-DK" sz="3200" kern="0" dirty="0">
              <a:ea typeface="ＭＳ Ｐゴシック" pitchFamily="34" charset="-128"/>
            </a:endParaRPr>
          </a:p>
        </p:txBody>
      </p:sp>
      <p:sp>
        <p:nvSpPr>
          <p:cNvPr id="14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496696" y="6395842"/>
            <a:ext cx="647304" cy="457200"/>
          </a:xfrm>
          <a:prstGeom prst="rect">
            <a:avLst/>
          </a:prstGeom>
        </p:spPr>
        <p:txBody>
          <a:bodyPr/>
          <a:lstStyle/>
          <a:p>
            <a:fld id="{D5F120ED-4883-459A-AC97-4FAD8D591FCC}" type="slidenum">
              <a:rPr lang="da-DK" altLang="da-DK" smtClean="0"/>
              <a:pPr/>
              <a:t>8</a:t>
            </a:fld>
            <a:endParaRPr lang="da-DK" altLang="da-DK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33923" y="3956078"/>
            <a:ext cx="7916112" cy="2780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rgbClr val="000066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ts val="1200"/>
              </a:spcBef>
            </a:pPr>
            <a:r>
              <a:rPr lang="da-DK" sz="2000" kern="0" dirty="0"/>
              <a:t>Nedarvning fra abstrakt eller konkret superklasse</a:t>
            </a:r>
          </a:p>
          <a:p>
            <a:pPr lvl="1">
              <a:spcBef>
                <a:spcPts val="600"/>
              </a:spcBef>
            </a:pPr>
            <a:r>
              <a:rPr lang="da-DK" sz="1800" kern="0" dirty="0"/>
              <a:t>Vi arver både noget </a:t>
            </a:r>
            <a:r>
              <a:rPr lang="da-DK" sz="1800" b="1" kern="0" dirty="0">
                <a:solidFill>
                  <a:srgbClr val="008000"/>
                </a:solidFill>
              </a:rPr>
              <a:t>implementation</a:t>
            </a:r>
            <a:r>
              <a:rPr lang="da-DK" sz="1800" kern="0" dirty="0"/>
              <a:t> og en </a:t>
            </a:r>
            <a:r>
              <a:rPr lang="da-DK" sz="1800" b="1" kern="0" dirty="0">
                <a:solidFill>
                  <a:srgbClr val="008000"/>
                </a:solidFill>
              </a:rPr>
              <a:t>type</a:t>
            </a:r>
          </a:p>
          <a:p>
            <a:pPr lvl="1">
              <a:spcBef>
                <a:spcPts val="600"/>
              </a:spcBef>
            </a:pPr>
            <a:r>
              <a:rPr lang="da-DK" sz="1800" kern="0" dirty="0"/>
              <a:t>Klassen bliver en subtype af superklassen, og dens objekter kan bruges alle de steder superklassens objekter kan bruges</a:t>
            </a:r>
          </a:p>
          <a:p>
            <a:pPr>
              <a:spcBef>
                <a:spcPts val="1000"/>
              </a:spcBef>
            </a:pPr>
            <a:r>
              <a:rPr lang="da-DK" sz="2000" kern="0" dirty="0"/>
              <a:t>Implementation af interface</a:t>
            </a:r>
          </a:p>
          <a:p>
            <a:pPr lvl="1">
              <a:spcBef>
                <a:spcPts val="600"/>
              </a:spcBef>
            </a:pPr>
            <a:r>
              <a:rPr lang="da-DK" sz="1800" kern="0" dirty="0"/>
              <a:t>Vi arver </a:t>
            </a:r>
            <a:r>
              <a:rPr lang="da-DK" sz="1800" b="1" kern="0" dirty="0">
                <a:solidFill>
                  <a:srgbClr val="008000"/>
                </a:solidFill>
              </a:rPr>
              <a:t>kun typen</a:t>
            </a:r>
            <a:r>
              <a:rPr lang="da-DK" sz="1800" kern="0" dirty="0"/>
              <a:t> (der er jo ingen implementation at arve)</a:t>
            </a:r>
          </a:p>
          <a:p>
            <a:pPr lvl="1">
              <a:spcBef>
                <a:spcPts val="600"/>
              </a:spcBef>
            </a:pPr>
            <a:r>
              <a:rPr lang="da-DK" sz="1800" kern="0" dirty="0"/>
              <a:t>Klassen bliver en subtype af interfacet, og dens objekter kan bruges alle de steder, hvor der kræves et objekt af interface typen</a:t>
            </a:r>
          </a:p>
          <a:p>
            <a:pPr lvl="1">
              <a:spcBef>
                <a:spcPts val="600"/>
              </a:spcBef>
            </a:pPr>
            <a:endParaRPr lang="da-DK" sz="1800" kern="0" dirty="0"/>
          </a:p>
        </p:txBody>
      </p:sp>
    </p:spTree>
    <p:extLst>
      <p:ext uri="{BB962C8B-B14F-4D97-AF65-F5344CB8AC3E}">
        <p14:creationId xmlns:p14="http://schemas.microsoft.com/office/powerpoint/2010/main" val="3654200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4161060" y="2132856"/>
            <a:ext cx="4335636" cy="2981856"/>
            <a:chOff x="4161060" y="2132856"/>
            <a:chExt cx="4335636" cy="2981856"/>
          </a:xfrm>
        </p:grpSpPr>
        <p:pic>
          <p:nvPicPr>
            <p:cNvPr id="5" name="Picture 4" descr="fig10-4-colour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61060" y="2132856"/>
              <a:ext cx="4335636" cy="2981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28"/>
            <p:cNvSpPr>
              <a:spLocks noChangeArrowheads="1"/>
            </p:cNvSpPr>
            <p:nvPr/>
          </p:nvSpPr>
          <p:spPr bwMode="auto">
            <a:xfrm>
              <a:off x="4770217" y="2663256"/>
              <a:ext cx="724496" cy="163071"/>
            </a:xfrm>
            <a:prstGeom prst="rect">
              <a:avLst/>
            </a:prstGeom>
            <a:noFill/>
            <a:ln w="254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endParaRPr lang="en-US" altLang="da-DK" dirty="0"/>
            </a:p>
          </p:txBody>
        </p:sp>
        <p:sp>
          <p:nvSpPr>
            <p:cNvPr id="10" name="Rectangle 28"/>
            <p:cNvSpPr>
              <a:spLocks noChangeArrowheads="1"/>
            </p:cNvSpPr>
            <p:nvPr/>
          </p:nvSpPr>
          <p:spPr bwMode="auto">
            <a:xfrm>
              <a:off x="6660232" y="2657714"/>
              <a:ext cx="576064" cy="168613"/>
            </a:xfrm>
            <a:prstGeom prst="rect">
              <a:avLst/>
            </a:prstGeom>
            <a:noFill/>
            <a:ln w="254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endParaRPr lang="en-US" altLang="da-DK" dirty="0"/>
            </a:p>
          </p:txBody>
        </p:sp>
        <p:sp>
          <p:nvSpPr>
            <p:cNvPr id="11" name="Rectangle 28"/>
            <p:cNvSpPr>
              <a:spLocks noChangeArrowheads="1"/>
            </p:cNvSpPr>
            <p:nvPr/>
          </p:nvSpPr>
          <p:spPr bwMode="auto">
            <a:xfrm>
              <a:off x="7452457" y="3525008"/>
              <a:ext cx="724496" cy="163071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endParaRPr lang="en-US" altLang="da-DK" dirty="0"/>
            </a:p>
          </p:txBody>
        </p:sp>
        <p:sp>
          <p:nvSpPr>
            <p:cNvPr id="12" name="Rectangle 28"/>
            <p:cNvSpPr>
              <a:spLocks noChangeArrowheads="1"/>
            </p:cNvSpPr>
            <p:nvPr/>
          </p:nvSpPr>
          <p:spPr bwMode="auto">
            <a:xfrm>
              <a:off x="5724127" y="4383990"/>
              <a:ext cx="576065" cy="165842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endParaRPr lang="en-US" altLang="da-DK" dirty="0"/>
            </a:p>
          </p:txBody>
        </p:sp>
        <p:sp>
          <p:nvSpPr>
            <p:cNvPr id="13" name="Rectangle 28"/>
            <p:cNvSpPr>
              <a:spLocks noChangeArrowheads="1"/>
            </p:cNvSpPr>
            <p:nvPr/>
          </p:nvSpPr>
          <p:spPr bwMode="auto">
            <a:xfrm>
              <a:off x="4473730" y="4386761"/>
              <a:ext cx="724496" cy="163071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endParaRPr lang="en-US" altLang="da-DK" dirty="0"/>
            </a:p>
          </p:txBody>
        </p:sp>
      </p:grp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2" y="1008112"/>
            <a:ext cx="8640192" cy="1700808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da-DK" sz="2000" dirty="0"/>
              <a:t>Hvorfor har Java både abstrakte klasser og interfaces?</a:t>
            </a:r>
          </a:p>
          <a:p>
            <a:pPr lvl="1">
              <a:spcBef>
                <a:spcPts val="600"/>
              </a:spcBef>
            </a:pPr>
            <a:r>
              <a:rPr lang="da-DK" sz="1800" dirty="0"/>
              <a:t>En abstrakt klasse kan indeholde implementation (og feltvariabler) ‒ det kan et interface ikke</a:t>
            </a:r>
          </a:p>
          <a:p>
            <a:pPr lvl="1">
              <a:spcBef>
                <a:spcPts val="600"/>
              </a:spcBef>
            </a:pPr>
            <a:r>
              <a:rPr lang="da-DK" sz="1800" dirty="0"/>
              <a:t>En klasse kan implementere flere interfaces ‒ men kun være (direkte) subklasse af én anden klasse</a:t>
            </a:r>
          </a:p>
          <a:p>
            <a:pPr lvl="1">
              <a:spcBef>
                <a:spcPts val="600"/>
              </a:spcBef>
            </a:pPr>
            <a:endParaRPr lang="da-DK" sz="1800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67544" y="332656"/>
            <a:ext cx="8207375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9pPr>
          </a:lstStyle>
          <a:p>
            <a:pPr eaLnBrk="1" hangingPunct="1"/>
            <a:r>
              <a:rPr lang="da-DK" altLang="en-US" sz="3200" kern="0" dirty="0">
                <a:ea typeface="ＭＳ Ｐゴシック" pitchFamily="34" charset="-128"/>
              </a:rPr>
              <a:t>Abstrakt klasse eller interface?</a:t>
            </a:r>
            <a:endParaRPr lang="da-DK" altLang="da-DK" sz="3200" kern="0" dirty="0">
              <a:ea typeface="ＭＳ Ｐゴシック" pitchFamily="34" charset="-128"/>
            </a:endParaRPr>
          </a:p>
        </p:txBody>
      </p:sp>
      <p:sp>
        <p:nvSpPr>
          <p:cNvPr id="14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496696" y="6395842"/>
            <a:ext cx="647304" cy="457200"/>
          </a:xfrm>
          <a:prstGeom prst="rect">
            <a:avLst/>
          </a:prstGeom>
        </p:spPr>
        <p:txBody>
          <a:bodyPr/>
          <a:lstStyle/>
          <a:p>
            <a:fld id="{D5F120ED-4883-459A-AC97-4FAD8D591FCC}" type="slidenum">
              <a:rPr lang="da-DK" altLang="da-DK" smtClean="0"/>
              <a:pPr/>
              <a:t>9</a:t>
            </a:fld>
            <a:endParaRPr lang="da-DK" altLang="da-DK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67544" y="2772309"/>
            <a:ext cx="3888432" cy="2024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ts val="1800"/>
              </a:spcBef>
            </a:pPr>
            <a:r>
              <a:rPr lang="da-DK" sz="2000" kern="0" dirty="0"/>
              <a:t>Multipel </a:t>
            </a:r>
            <a:r>
              <a:rPr lang="da-DK" sz="2000" kern="0" dirty="0" err="1"/>
              <a:t>nedarvning</a:t>
            </a:r>
            <a:endParaRPr lang="da-DK" sz="2000" kern="0" dirty="0"/>
          </a:p>
          <a:p>
            <a:pPr lvl="1">
              <a:spcBef>
                <a:spcPts val="600"/>
              </a:spcBef>
            </a:pPr>
            <a:r>
              <a:rPr lang="da-DK" sz="1800" dirty="0"/>
              <a:t>De tre </a:t>
            </a:r>
            <a:r>
              <a:rPr lang="da-DK" sz="1800" b="1" dirty="0">
                <a:solidFill>
                  <a:srgbClr val="FF0000"/>
                </a:solidFill>
              </a:rPr>
              <a:t>røde</a:t>
            </a:r>
            <a:r>
              <a:rPr lang="da-DK" sz="1800" dirty="0"/>
              <a:t> klasser nedarver fra </a:t>
            </a:r>
            <a:r>
              <a:rPr lang="da-DK" sz="1800" b="1" dirty="0">
                <a:solidFill>
                  <a:srgbClr val="008000"/>
                </a:solidFill>
              </a:rPr>
              <a:t>begge</a:t>
            </a:r>
            <a:r>
              <a:rPr lang="da-DK" sz="1800" dirty="0"/>
              <a:t> </a:t>
            </a:r>
            <a:r>
              <a:rPr lang="da-DK" sz="1800" b="1" dirty="0">
                <a:solidFill>
                  <a:srgbClr val="0000FF"/>
                </a:solidFill>
              </a:rPr>
              <a:t>blå </a:t>
            </a:r>
            <a:r>
              <a:rPr lang="da-DK" sz="1800" dirty="0"/>
              <a:t>klasser</a:t>
            </a:r>
          </a:p>
          <a:p>
            <a:pPr lvl="1">
              <a:spcBef>
                <a:spcPts val="600"/>
              </a:spcBef>
            </a:pPr>
            <a:r>
              <a:rPr lang="da-DK" sz="1800" dirty="0"/>
              <a:t>Dette kan kun lade sig gøre, hvis </a:t>
            </a:r>
            <a:r>
              <a:rPr lang="da-DK" sz="1800" b="1" dirty="0">
                <a:solidFill>
                  <a:srgbClr val="008000"/>
                </a:solidFill>
              </a:rPr>
              <a:t>mindst en</a:t>
            </a:r>
            <a:r>
              <a:rPr lang="da-DK" sz="1800" dirty="0"/>
              <a:t> af de </a:t>
            </a:r>
            <a:r>
              <a:rPr lang="da-DK" sz="1800" b="1" dirty="0">
                <a:solidFill>
                  <a:srgbClr val="0000FF"/>
                </a:solidFill>
              </a:rPr>
              <a:t>blå</a:t>
            </a:r>
            <a:r>
              <a:rPr lang="da-DK" sz="1800" dirty="0"/>
              <a:t> er et interface</a:t>
            </a:r>
          </a:p>
          <a:p>
            <a:pPr lvl="1">
              <a:spcBef>
                <a:spcPts val="600"/>
              </a:spcBef>
            </a:pPr>
            <a:endParaRPr lang="da-DK" sz="1800" kern="0"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468312" y="5013176"/>
            <a:ext cx="8496176" cy="1628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ts val="1800"/>
              </a:spcBef>
            </a:pPr>
            <a:r>
              <a:rPr lang="da-DK" sz="2000" kern="0" dirty="0"/>
              <a:t>Hvor meget er implementeret?</a:t>
            </a:r>
          </a:p>
          <a:p>
            <a:pPr lvl="1">
              <a:spcBef>
                <a:spcPts val="400"/>
              </a:spcBef>
            </a:pPr>
            <a:r>
              <a:rPr lang="da-DK" sz="1800" kern="0" dirty="0"/>
              <a:t>Almindelig konkret klasse: </a:t>
            </a:r>
            <a:r>
              <a:rPr lang="da-DK" sz="1800" b="1" kern="0" dirty="0">
                <a:solidFill>
                  <a:srgbClr val="008000"/>
                </a:solidFill>
              </a:rPr>
              <a:t>alt</a:t>
            </a:r>
            <a:r>
              <a:rPr lang="da-DK" sz="1800" kern="0" dirty="0">
                <a:solidFill>
                  <a:srgbClr val="008000"/>
                </a:solidFill>
              </a:rPr>
              <a:t> </a:t>
            </a:r>
            <a:r>
              <a:rPr lang="da-DK" sz="1800" kern="0" dirty="0"/>
              <a:t>er implementeret (100%)</a:t>
            </a:r>
          </a:p>
          <a:p>
            <a:pPr lvl="1">
              <a:spcBef>
                <a:spcPts val="400"/>
              </a:spcBef>
            </a:pPr>
            <a:r>
              <a:rPr lang="da-DK" sz="1800" kern="0" dirty="0"/>
              <a:t>Interface: </a:t>
            </a:r>
            <a:r>
              <a:rPr lang="da-DK" sz="1800" b="1" kern="0" dirty="0">
                <a:solidFill>
                  <a:srgbClr val="008000"/>
                </a:solidFill>
              </a:rPr>
              <a:t>ingen</a:t>
            </a:r>
            <a:r>
              <a:rPr lang="da-DK" sz="1800" kern="0" dirty="0"/>
              <a:t> implementation (0%)</a:t>
            </a:r>
          </a:p>
          <a:p>
            <a:pPr lvl="1">
              <a:spcBef>
                <a:spcPts val="400"/>
              </a:spcBef>
            </a:pPr>
            <a:r>
              <a:rPr lang="da-DK" sz="1800" kern="0" dirty="0"/>
              <a:t>Abstrakt klasse: </a:t>
            </a:r>
            <a:r>
              <a:rPr lang="da-DK" sz="1800" b="1" kern="0" dirty="0">
                <a:solidFill>
                  <a:srgbClr val="008000"/>
                </a:solidFill>
              </a:rPr>
              <a:t>delvis</a:t>
            </a:r>
            <a:r>
              <a:rPr lang="da-DK" sz="1800" kern="0" dirty="0"/>
              <a:t> implementation (0-100%)</a:t>
            </a:r>
          </a:p>
        </p:txBody>
      </p:sp>
    </p:spTree>
    <p:extLst>
      <p:ext uri="{BB962C8B-B14F-4D97-AF65-F5344CB8AC3E}">
        <p14:creationId xmlns:p14="http://schemas.microsoft.com/office/powerpoint/2010/main" val="3566987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17898" y="5293940"/>
            <a:ext cx="8136295" cy="676321"/>
          </a:xfrm>
          <a:prstGeom prst="rect">
            <a:avLst/>
          </a:prstGeom>
          <a:solidFill>
            <a:srgbClr val="FFFFCC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square" lIns="90000" tIns="72000" rIns="90000" bIns="72000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n-US" altLang="da-DK" sz="1600" b="1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Collections.sort</a:t>
            </a:r>
            <a:r>
              <a:rPr lang="en-US" altLang="da-DK" sz="16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(persons,</a:t>
            </a:r>
            <a:r>
              <a:rPr lang="en-US" altLang="da-DK" sz="8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Comparator.comparing</a:t>
            </a:r>
            <a:r>
              <a:rPr lang="en-US" altLang="da-DK" sz="16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da-DK" sz="4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(Person p)</a:t>
            </a:r>
            <a:r>
              <a:rPr lang="en-US" altLang="da-DK" sz="8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 p.getName())</a:t>
            </a:r>
            <a:endParaRPr lang="en-US" altLang="da-DK" sz="800" b="1" spc="-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ts val="300"/>
              </a:spcBef>
            </a:pPr>
            <a:r>
              <a:rPr lang="en-US" altLang="da-DK" sz="800" b="1" spc="-6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               </a:t>
            </a:r>
            <a:r>
              <a:rPr lang="en-US" altLang="da-DK" sz="1600" b="1" spc="-6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800" b="1" spc="-6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da-DK" sz="1600" b="1" spc="-6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da-DK" sz="5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thenComparing</a:t>
            </a:r>
            <a:r>
              <a:rPr lang="en-US" altLang="da-DK" sz="8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 -&gt; </a:t>
            </a:r>
            <a:r>
              <a:rPr lang="en-US" altLang="da-DK" sz="1600" b="1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p.getAge</a:t>
            </a:r>
            <a:r>
              <a:rPr lang="en-US" altLang="da-DK" sz="16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  <a:r>
              <a:rPr lang="en-US" altLang="da-DK" sz="800" b="1" spc="-6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en-US" altLang="da-DK" sz="8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da-DK" sz="1600" b="1" spc="-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2" y="1080121"/>
            <a:ext cx="8568184" cy="3645023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200"/>
              </a:spcBef>
              <a:buFontTx/>
              <a:buChar char="•"/>
            </a:pPr>
            <a:r>
              <a:rPr lang="da-DK" altLang="da-DK" sz="2000" dirty="0"/>
              <a:t>Virkeligheden er (desværre) ikke helt så pæn og simpel som beskrevet på de foregående slides</a:t>
            </a:r>
          </a:p>
          <a:p>
            <a:pPr lvl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–"/>
            </a:pPr>
            <a:r>
              <a:rPr lang="da-DK" altLang="da-DK" sz="1800" dirty="0"/>
              <a:t>Fra og med Java 8 kan et interface indeholde implementation i form af </a:t>
            </a:r>
            <a:r>
              <a:rPr lang="da-DK" altLang="da-DK" sz="1800" b="1" dirty="0">
                <a:solidFill>
                  <a:srgbClr val="008000"/>
                </a:solidFill>
              </a:rPr>
              <a:t>klassemetoder</a:t>
            </a:r>
            <a:r>
              <a:rPr lang="da-DK" altLang="da-DK" sz="1800" dirty="0"/>
              <a:t> og såkaldte </a:t>
            </a:r>
            <a:r>
              <a:rPr lang="da-DK" altLang="da-DK" sz="1800" b="1" dirty="0">
                <a:solidFill>
                  <a:srgbClr val="008000"/>
                </a:solidFill>
              </a:rPr>
              <a:t>default metoder </a:t>
            </a:r>
            <a:r>
              <a:rPr lang="da-DK" altLang="da-DK" sz="1800" dirty="0"/>
              <a:t>(almindelige metoder)</a:t>
            </a:r>
          </a:p>
          <a:p>
            <a:pPr marL="342900" lvl="1" indent="-342900">
              <a:lnSpc>
                <a:spcPct val="90000"/>
              </a:lnSpc>
              <a:spcBef>
                <a:spcPts val="1800"/>
              </a:spcBef>
              <a:buFontTx/>
              <a:buChar char="•"/>
            </a:pPr>
            <a:r>
              <a:rPr lang="da-DK" altLang="da-DK" b="1" dirty="0">
                <a:solidFill>
                  <a:srgbClr val="A50021"/>
                </a:solidFill>
                <a:ea typeface="ＭＳ Ｐゴシック" pitchFamily="-106" charset="-128"/>
                <a:cs typeface="ＭＳ Ｐゴシック" pitchFamily="-106" charset="-128"/>
              </a:rPr>
              <a:t>Implementationen af disse metoder nedarves til de klasser, der implementerer interfacet</a:t>
            </a:r>
          </a:p>
          <a:p>
            <a:pPr lvl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–"/>
            </a:pPr>
            <a:r>
              <a:rPr lang="da-DK" altLang="da-DK" sz="1800" dirty="0"/>
              <a:t>Default metoder er primært indført for at kunne tilføje nye metoder til et eksisterende interface uden at genere de klasser, der allerede implementerer det</a:t>
            </a:r>
          </a:p>
          <a:p>
            <a:pPr lvl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–"/>
            </a:pPr>
            <a:r>
              <a:rPr lang="da-DK" altLang="da-DK" sz="1800" dirty="0"/>
              <a:t>Da et interface ikke har feltvariabler og konstruktører, er det begrænset, hvad man kan gøre i en default metode (der er ingen tilstand at operere på)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58456" y="302536"/>
            <a:ext cx="8685544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9pPr>
          </a:lstStyle>
          <a:p>
            <a:pPr eaLnBrk="1" hangingPunct="1"/>
            <a:r>
              <a:rPr lang="da-DK" altLang="en-US" sz="3200" kern="0" dirty="0">
                <a:ea typeface="ＭＳ Ｐゴシック" pitchFamily="34" charset="-128"/>
              </a:rPr>
              <a:t>Interfaces i Java 8 og fremad</a:t>
            </a:r>
            <a:endParaRPr lang="da-DK" altLang="da-DK" sz="3200" kern="0" dirty="0">
              <a:ea typeface="ＭＳ Ｐゴシック" pitchFamily="34" charset="-128"/>
            </a:endParaRPr>
          </a:p>
        </p:txBody>
      </p:sp>
      <p:sp>
        <p:nvSpPr>
          <p:cNvPr id="14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496696" y="6395842"/>
            <a:ext cx="647304" cy="457200"/>
          </a:xfrm>
          <a:prstGeom prst="rect">
            <a:avLst/>
          </a:prstGeom>
        </p:spPr>
        <p:txBody>
          <a:bodyPr/>
          <a:lstStyle/>
          <a:p>
            <a:fld id="{D5F120ED-4883-459A-AC97-4FAD8D591FCC}" type="slidenum">
              <a:rPr lang="da-DK" altLang="da-DK" smtClean="0"/>
              <a:pPr/>
              <a:t>10</a:t>
            </a:fld>
            <a:endParaRPr lang="da-DK" altLang="da-DK" dirty="0"/>
          </a:p>
        </p:txBody>
      </p:sp>
      <p:sp>
        <p:nvSpPr>
          <p:cNvPr id="6" name="Line 22"/>
          <p:cNvSpPr>
            <a:spLocks noChangeShapeType="1"/>
          </p:cNvSpPr>
          <p:nvPr/>
        </p:nvSpPr>
        <p:spPr bwMode="auto">
          <a:xfrm flipH="1" flipV="1">
            <a:off x="5556773" y="5841049"/>
            <a:ext cx="3007" cy="32404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endParaRPr lang="da-DK">
              <a:solidFill>
                <a:srgbClr val="0000FF"/>
              </a:solidFill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759201" y="5358063"/>
            <a:ext cx="2264610" cy="23579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 dirty="0">
              <a:ln>
                <a:noFill/>
              </a:ln>
              <a:solidFill>
                <a:srgbClr val="A50021"/>
              </a:solidFill>
              <a:effectLst/>
              <a:latin typeface="Arial" charset="0"/>
            </a:endParaRPr>
          </a:p>
        </p:txBody>
      </p:sp>
      <p:sp>
        <p:nvSpPr>
          <p:cNvPr id="10" name="Line 22"/>
          <p:cNvSpPr>
            <a:spLocks noChangeShapeType="1"/>
          </p:cNvSpPr>
          <p:nvPr/>
        </p:nvSpPr>
        <p:spPr bwMode="auto">
          <a:xfrm flipH="1">
            <a:off x="5559779" y="5039030"/>
            <a:ext cx="2" cy="29295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endParaRPr lang="da-DK" dirty="0">
              <a:solidFill>
                <a:srgbClr val="0000FF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5039415" y="5636708"/>
            <a:ext cx="1510965" cy="23261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</a:endParaRP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466619" y="4859434"/>
            <a:ext cx="4681445" cy="38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342900" lvl="1" indent="-342900">
              <a:lnSpc>
                <a:spcPct val="90000"/>
              </a:lnSpc>
              <a:spcBef>
                <a:spcPts val="1200"/>
              </a:spcBef>
              <a:buFontTx/>
              <a:buChar char="•"/>
            </a:pPr>
            <a:r>
              <a:rPr lang="da-DK" altLang="da-DK" b="1" kern="0" dirty="0">
                <a:solidFill>
                  <a:srgbClr val="A50021"/>
                </a:solidFill>
                <a:ea typeface="ＭＳ Ｐゴシック" pitchFamily="-106" charset="-128"/>
                <a:cs typeface="ＭＳ Ｐゴシック" pitchFamily="-106" charset="-128"/>
              </a:rPr>
              <a:t>Eksempel fra funktionel sortering</a:t>
            </a:r>
          </a:p>
        </p:txBody>
      </p:sp>
      <p:sp>
        <p:nvSpPr>
          <p:cNvPr id="18" name="Text Box 21"/>
          <p:cNvSpPr txBox="1">
            <a:spLocks noChangeArrowheads="1"/>
          </p:cNvSpPr>
          <p:nvPr/>
        </p:nvSpPr>
        <p:spPr bwMode="auto">
          <a:xfrm>
            <a:off x="4283967" y="6150437"/>
            <a:ext cx="3994619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600"/>
              </a:spcBef>
            </a:pPr>
            <a:r>
              <a:rPr lang="da-DK" altLang="da-DK" sz="1200" b="1" dirty="0">
                <a:solidFill>
                  <a:srgbClr val="008000"/>
                </a:solidFill>
              </a:rPr>
              <a:t>Default metode</a:t>
            </a:r>
            <a:r>
              <a:rPr lang="da-DK" altLang="da-DK" sz="1200" b="1" dirty="0">
                <a:solidFill>
                  <a:srgbClr val="FF0000"/>
                </a:solidFill>
              </a:rPr>
              <a:t> i Comparator interfacet (kaldes på det Comparator objekt, som </a:t>
            </a:r>
            <a:r>
              <a:rPr lang="da-DK" altLang="da-DK" sz="1200" b="1" dirty="0" err="1">
                <a:solidFill>
                  <a:srgbClr val="FF0000"/>
                </a:solidFill>
              </a:rPr>
              <a:t>comparing</a:t>
            </a:r>
            <a:r>
              <a:rPr lang="da-DK" altLang="da-DK" sz="1200" b="1" dirty="0">
                <a:solidFill>
                  <a:srgbClr val="FF0000"/>
                </a:solidFill>
              </a:rPr>
              <a:t> metoden returnerede, og returnerer et nyt Comparator objekt)</a:t>
            </a:r>
          </a:p>
        </p:txBody>
      </p:sp>
      <p:sp>
        <p:nvSpPr>
          <p:cNvPr id="19" name="Text Box 21"/>
          <p:cNvSpPr txBox="1">
            <a:spLocks noChangeArrowheads="1"/>
          </p:cNvSpPr>
          <p:nvPr/>
        </p:nvSpPr>
        <p:spPr bwMode="auto">
          <a:xfrm>
            <a:off x="5359054" y="4476142"/>
            <a:ext cx="3112990" cy="5909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600"/>
              </a:spcBef>
              <a:buFontTx/>
              <a:buNone/>
            </a:pPr>
            <a:r>
              <a:rPr lang="da-DK" altLang="da-DK" sz="1200" b="1" dirty="0">
                <a:solidFill>
                  <a:srgbClr val="008000"/>
                </a:solidFill>
              </a:rPr>
              <a:t>Klassemetode</a:t>
            </a:r>
            <a:r>
              <a:rPr lang="da-DK" altLang="da-DK" sz="1200" b="1" dirty="0">
                <a:solidFill>
                  <a:srgbClr val="FF0000"/>
                </a:solidFill>
              </a:rPr>
              <a:t> i Comparator interfacet</a:t>
            </a:r>
            <a:br>
              <a:rPr lang="da-DK" altLang="da-DK" sz="1200" b="1" dirty="0">
                <a:solidFill>
                  <a:srgbClr val="FF0000"/>
                </a:solidFill>
              </a:rPr>
            </a:br>
            <a:r>
              <a:rPr lang="da-DK" altLang="da-DK" sz="1200" b="1" dirty="0">
                <a:solidFill>
                  <a:srgbClr val="FF0000"/>
                </a:solidFill>
              </a:rPr>
              <a:t>(tager en lambda som parameter og returnerer et Comparator objekt)</a:t>
            </a:r>
          </a:p>
        </p:txBody>
      </p:sp>
    </p:spTree>
    <p:extLst>
      <p:ext uri="{BB962C8B-B14F-4D97-AF65-F5344CB8AC3E}">
        <p14:creationId xmlns:p14="http://schemas.microsoft.com/office/powerpoint/2010/main" val="2097804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  <p:bldP spid="12" grpId="0" animBg="1"/>
      <p:bldP spid="18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Box 21"/>
          <p:cNvSpPr txBox="1">
            <a:spLocks noChangeArrowheads="1"/>
          </p:cNvSpPr>
          <p:nvPr/>
        </p:nvSpPr>
        <p:spPr bwMode="auto">
          <a:xfrm>
            <a:off x="529905" y="1151063"/>
            <a:ext cx="2383656" cy="693523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FF"/>
            </a:solidFill>
          </a:ln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da-DK" altLang="da-DK" sz="1200" b="1" dirty="0">
                <a:solidFill>
                  <a:srgbClr val="0000FF"/>
                </a:solidFill>
              </a:rPr>
              <a:t>2 forskellige slags UML pile</a:t>
            </a:r>
          </a:p>
          <a:p>
            <a:pPr marL="176213" indent="-176213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da-DK" altLang="da-DK" sz="1200" b="1" dirty="0">
                <a:solidFill>
                  <a:srgbClr val="7030A0"/>
                </a:solidFill>
              </a:rPr>
              <a:t>Fuldt </a:t>
            </a:r>
            <a:r>
              <a:rPr lang="da-DK" altLang="da-DK" sz="1200" b="1" spc="-30" dirty="0">
                <a:solidFill>
                  <a:srgbClr val="7030A0"/>
                </a:solidFill>
              </a:rPr>
              <a:t>optrukne:</a:t>
            </a:r>
            <a:r>
              <a:rPr lang="da-DK" altLang="da-DK" sz="1200" b="1" dirty="0">
                <a:solidFill>
                  <a:srgbClr val="7030A0"/>
                </a:solidFill>
              </a:rPr>
              <a:t> nedarvning</a:t>
            </a:r>
          </a:p>
          <a:p>
            <a:pPr marL="176213" indent="-176213" eaLnBrk="1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da-DK" altLang="da-DK" sz="1200" b="1" spc="-30" dirty="0">
                <a:solidFill>
                  <a:srgbClr val="008000"/>
                </a:solidFill>
              </a:rPr>
              <a:t>Stiplede: </a:t>
            </a:r>
            <a:r>
              <a:rPr lang="da-DK" altLang="da-DK" sz="1200" b="1" dirty="0">
                <a:solidFill>
                  <a:srgbClr val="008000"/>
                </a:solidFill>
              </a:rPr>
              <a:t>implementation</a:t>
            </a:r>
          </a:p>
        </p:txBody>
      </p:sp>
      <p:sp>
        <p:nvSpPr>
          <p:cNvPr id="41985" name="Rectangle 4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08142" cy="609600"/>
          </a:xfrm>
        </p:spPr>
        <p:txBody>
          <a:bodyPr/>
          <a:lstStyle/>
          <a:p>
            <a:pPr eaLnBrk="1" hangingPunct="1"/>
            <a:r>
              <a:rPr lang="da-DK" altLang="da-DK" sz="3200" noProof="0" dirty="0">
                <a:solidFill>
                  <a:srgbClr val="000066"/>
                </a:solidFill>
                <a:ea typeface="ＭＳ Ｐゴシック" pitchFamily="34" charset="-128"/>
              </a:rPr>
              <a:t>Collection frameworket (udsnit)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496696" y="6395842"/>
            <a:ext cx="647304" cy="457200"/>
          </a:xfrm>
          <a:prstGeom prst="rect">
            <a:avLst/>
          </a:prstGeom>
        </p:spPr>
        <p:txBody>
          <a:bodyPr/>
          <a:lstStyle/>
          <a:p>
            <a:fld id="{D5F120ED-4883-459A-AC97-4FAD8D591FCC}" type="slidenum">
              <a:rPr lang="da-DK" altLang="da-DK" smtClean="0"/>
              <a:pPr/>
              <a:t>11</a:t>
            </a:fld>
            <a:endParaRPr lang="da-DK" altLang="da-DK" dirty="0"/>
          </a:p>
        </p:txBody>
      </p:sp>
      <p:sp>
        <p:nvSpPr>
          <p:cNvPr id="40" name="Text Box 21"/>
          <p:cNvSpPr txBox="1">
            <a:spLocks noChangeArrowheads="1"/>
          </p:cNvSpPr>
          <p:nvPr/>
        </p:nvSpPr>
        <p:spPr bwMode="auto">
          <a:xfrm>
            <a:off x="6163022" y="4028019"/>
            <a:ext cx="2809970" cy="1869743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FF"/>
            </a:solidFill>
          </a:ln>
        </p:spPr>
        <p:txBody>
          <a:bodyPr wrap="square">
            <a:spAutoFit/>
          </a:bodyPr>
          <a:lstStyle>
            <a:defPPr>
              <a:defRPr lang="da-DK"/>
            </a:defPPr>
            <a:lvl1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  <a:defRPr sz="1200" b="1">
                <a:solidFill>
                  <a:srgbClr val="0000FF"/>
                </a:solidFill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altLang="da-DK" dirty="0"/>
              <a:t>AbstractList implementerer nogle </a:t>
            </a:r>
            <a:r>
              <a:rPr lang="da-DK" altLang="da-DK" spc="-30" dirty="0"/>
              <a:t>metoder, der er fælles for alle lister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da-DK" altLang="da-DK" dirty="0" err="1"/>
              <a:t>AbstractCollection</a:t>
            </a:r>
            <a:r>
              <a:rPr lang="da-DK" altLang="da-DK" dirty="0"/>
              <a:t> implementerer nogle metoder, der er fælles for alle collections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da-DK" altLang="da-DK" dirty="0"/>
              <a:t>De to abstrakte klasser gør det nemmere at lave sine egne List og Collection klasser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da-DK" altLang="da-DK" dirty="0"/>
              <a:t>Store dele af implementationen er </a:t>
            </a:r>
            <a:r>
              <a:rPr lang="da-DK" altLang="da-DK" spc="-50" dirty="0"/>
              <a:t>allerede lavet i de abstrakte klasser</a:t>
            </a:r>
          </a:p>
        </p:txBody>
      </p:sp>
      <p:sp>
        <p:nvSpPr>
          <p:cNvPr id="67" name="Text Box 21"/>
          <p:cNvSpPr txBox="1">
            <a:spLocks noChangeArrowheads="1"/>
          </p:cNvSpPr>
          <p:nvPr/>
        </p:nvSpPr>
        <p:spPr bwMode="auto">
          <a:xfrm>
            <a:off x="3421472" y="5023747"/>
            <a:ext cx="2581086" cy="869469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FF"/>
            </a:solidFill>
          </a:ln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da-DK" altLang="da-DK" sz="1200" b="1" dirty="0">
                <a:solidFill>
                  <a:srgbClr val="0000FF"/>
                </a:solidFill>
              </a:rPr>
              <a:t>Collection frameworket består af</a:t>
            </a:r>
          </a:p>
          <a:p>
            <a:pPr marL="176213" indent="-176213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da-DK" altLang="da-DK" sz="1200" b="1" dirty="0">
                <a:solidFill>
                  <a:srgbClr val="0000FF"/>
                </a:solidFill>
              </a:rPr>
              <a:t>12 interfaces</a:t>
            </a:r>
          </a:p>
          <a:p>
            <a:pPr marL="176213" indent="-176213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da-DK" altLang="da-DK" sz="1200" b="1" dirty="0">
                <a:solidFill>
                  <a:srgbClr val="0000FF"/>
                </a:solidFill>
              </a:rPr>
              <a:t>5 abstrakte klasser</a:t>
            </a:r>
          </a:p>
          <a:p>
            <a:pPr marL="176213" indent="-176213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da-DK" altLang="da-DK" sz="1200" b="1" dirty="0">
                <a:solidFill>
                  <a:srgbClr val="0000FF"/>
                </a:solidFill>
              </a:rPr>
              <a:t>30 konkrete klasser</a:t>
            </a:r>
            <a:endParaRPr lang="en-US" altLang="da-DK" sz="1100" b="1" dirty="0">
              <a:solidFill>
                <a:srgbClr val="0000FF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2576320" y="3857257"/>
            <a:ext cx="96206" cy="594640"/>
            <a:chOff x="2792344" y="3857257"/>
            <a:chExt cx="96206" cy="594640"/>
          </a:xfrm>
        </p:grpSpPr>
        <p:sp>
          <p:nvSpPr>
            <p:cNvPr id="101" name="Line 22"/>
            <p:cNvSpPr>
              <a:spLocks noChangeShapeType="1"/>
            </p:cNvSpPr>
            <p:nvPr/>
          </p:nvSpPr>
          <p:spPr bwMode="auto">
            <a:xfrm flipV="1">
              <a:off x="2832709" y="3857257"/>
              <a:ext cx="7738" cy="594640"/>
            </a:xfrm>
            <a:prstGeom prst="line">
              <a:avLst/>
            </a:prstGeom>
            <a:noFill/>
            <a:ln w="38100">
              <a:solidFill>
                <a:srgbClr val="7030A0"/>
              </a:solidFill>
              <a:prstDash val="solid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da-DK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9pPr>
            </a:lstStyle>
            <a:p>
              <a:endParaRPr lang="da-DK"/>
            </a:p>
          </p:txBody>
        </p:sp>
        <p:sp>
          <p:nvSpPr>
            <p:cNvPr id="3" name="Isosceles Triangle 2"/>
            <p:cNvSpPr/>
            <p:nvPr/>
          </p:nvSpPr>
          <p:spPr bwMode="auto">
            <a:xfrm>
              <a:off x="2792344" y="3921924"/>
              <a:ext cx="96206" cy="104295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2000" b="0" i="0" u="none" strike="noStrike" cap="none" normalizeH="0" baseline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2585845" y="4821023"/>
            <a:ext cx="96206" cy="562219"/>
            <a:chOff x="2801869" y="4821023"/>
            <a:chExt cx="96206" cy="562219"/>
          </a:xfrm>
        </p:grpSpPr>
        <p:sp>
          <p:nvSpPr>
            <p:cNvPr id="107" name="Line 22"/>
            <p:cNvSpPr>
              <a:spLocks noChangeShapeType="1"/>
            </p:cNvSpPr>
            <p:nvPr/>
          </p:nvSpPr>
          <p:spPr bwMode="auto">
            <a:xfrm flipV="1">
              <a:off x="2843017" y="4821023"/>
              <a:ext cx="8742" cy="562219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sys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da-DK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9pPr>
            </a:lstStyle>
            <a:p>
              <a:endParaRPr lang="da-DK"/>
            </a:p>
          </p:txBody>
        </p:sp>
        <p:sp>
          <p:nvSpPr>
            <p:cNvPr id="39" name="Isosceles Triangle 38"/>
            <p:cNvSpPr/>
            <p:nvPr/>
          </p:nvSpPr>
          <p:spPr bwMode="auto">
            <a:xfrm>
              <a:off x="2801869" y="4881568"/>
              <a:ext cx="96206" cy="104295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2000" b="0" i="0" u="none" strike="noStrike" cap="none" normalizeH="0" baseline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914475" y="3851647"/>
            <a:ext cx="96206" cy="594640"/>
            <a:chOff x="1130499" y="3851647"/>
            <a:chExt cx="96206" cy="594640"/>
          </a:xfrm>
        </p:grpSpPr>
        <p:sp>
          <p:nvSpPr>
            <p:cNvPr id="62" name="Line 22"/>
            <p:cNvSpPr>
              <a:spLocks noChangeShapeType="1"/>
            </p:cNvSpPr>
            <p:nvPr/>
          </p:nvSpPr>
          <p:spPr bwMode="auto">
            <a:xfrm flipV="1">
              <a:off x="1171148" y="3851647"/>
              <a:ext cx="7738" cy="594640"/>
            </a:xfrm>
            <a:prstGeom prst="line">
              <a:avLst/>
            </a:prstGeom>
            <a:noFill/>
            <a:ln w="38100">
              <a:solidFill>
                <a:srgbClr val="7030A0"/>
              </a:solidFill>
              <a:prstDash val="solid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da-DK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9pPr>
            </a:lstStyle>
            <a:p>
              <a:endParaRPr lang="da-DK"/>
            </a:p>
          </p:txBody>
        </p:sp>
        <p:sp>
          <p:nvSpPr>
            <p:cNvPr id="41" name="Isosceles Triangle 40"/>
            <p:cNvSpPr/>
            <p:nvPr/>
          </p:nvSpPr>
          <p:spPr bwMode="auto">
            <a:xfrm>
              <a:off x="1130499" y="3902966"/>
              <a:ext cx="96206" cy="104295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2000" b="0" i="0" u="none" strike="noStrike" cap="none" normalizeH="0" baseline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248038" y="3857257"/>
            <a:ext cx="96206" cy="592734"/>
            <a:chOff x="4464062" y="3857257"/>
            <a:chExt cx="96206" cy="592734"/>
          </a:xfrm>
        </p:grpSpPr>
        <p:sp>
          <p:nvSpPr>
            <p:cNvPr id="63" name="Line 22"/>
            <p:cNvSpPr>
              <a:spLocks noChangeShapeType="1"/>
            </p:cNvSpPr>
            <p:nvPr/>
          </p:nvSpPr>
          <p:spPr bwMode="auto">
            <a:xfrm flipV="1">
              <a:off x="4513239" y="3857257"/>
              <a:ext cx="2144" cy="592734"/>
            </a:xfrm>
            <a:prstGeom prst="line">
              <a:avLst/>
            </a:prstGeom>
            <a:noFill/>
            <a:ln w="38100">
              <a:solidFill>
                <a:srgbClr val="7030A0"/>
              </a:solidFill>
              <a:prstDash val="solid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da-DK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9pPr>
            </a:lstStyle>
            <a:p>
              <a:endParaRPr lang="da-DK"/>
            </a:p>
          </p:txBody>
        </p:sp>
        <p:sp>
          <p:nvSpPr>
            <p:cNvPr id="42" name="Isosceles Triangle 41"/>
            <p:cNvSpPr/>
            <p:nvPr/>
          </p:nvSpPr>
          <p:spPr bwMode="auto">
            <a:xfrm>
              <a:off x="4464062" y="3909413"/>
              <a:ext cx="96206" cy="104295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2000" b="0" i="0" u="none" strike="noStrike" cap="none" normalizeH="0" baseline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931651" y="3832074"/>
            <a:ext cx="279963" cy="644293"/>
            <a:chOff x="5147675" y="3832074"/>
            <a:chExt cx="279963" cy="644293"/>
          </a:xfrm>
        </p:grpSpPr>
        <p:sp>
          <p:nvSpPr>
            <p:cNvPr id="64" name="Line 22"/>
            <p:cNvSpPr>
              <a:spLocks noChangeShapeType="1"/>
            </p:cNvSpPr>
            <p:nvPr/>
          </p:nvSpPr>
          <p:spPr bwMode="auto">
            <a:xfrm flipH="1" flipV="1">
              <a:off x="5158037" y="3832074"/>
              <a:ext cx="269601" cy="644293"/>
            </a:xfrm>
            <a:prstGeom prst="line">
              <a:avLst/>
            </a:prstGeom>
            <a:noFill/>
            <a:ln w="38100">
              <a:solidFill>
                <a:srgbClr val="7030A0"/>
              </a:solidFill>
              <a:prstDash val="solid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da-DK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9pPr>
            </a:lstStyle>
            <a:p>
              <a:endParaRPr lang="da-DK"/>
            </a:p>
          </p:txBody>
        </p:sp>
        <p:sp>
          <p:nvSpPr>
            <p:cNvPr id="43" name="Isosceles Triangle 42"/>
            <p:cNvSpPr/>
            <p:nvPr/>
          </p:nvSpPr>
          <p:spPr bwMode="auto">
            <a:xfrm rot="20143131">
              <a:off x="5147675" y="3884778"/>
              <a:ext cx="96206" cy="104295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2000" b="0" i="0" u="none" strike="noStrike" cap="none" normalizeH="0" baseline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5237992" y="3544570"/>
            <a:ext cx="958360" cy="96206"/>
            <a:chOff x="5454016" y="3544570"/>
            <a:chExt cx="958360" cy="96206"/>
          </a:xfrm>
        </p:grpSpPr>
        <p:sp>
          <p:nvSpPr>
            <p:cNvPr id="68" name="Line 22"/>
            <p:cNvSpPr>
              <a:spLocks noChangeShapeType="1"/>
            </p:cNvSpPr>
            <p:nvPr/>
          </p:nvSpPr>
          <p:spPr bwMode="auto">
            <a:xfrm flipH="1" flipV="1">
              <a:off x="5454016" y="3592141"/>
              <a:ext cx="958360" cy="8791"/>
            </a:xfrm>
            <a:prstGeom prst="line">
              <a:avLst/>
            </a:prstGeom>
            <a:noFill/>
            <a:ln w="38100">
              <a:solidFill>
                <a:srgbClr val="7030A0"/>
              </a:solidFill>
              <a:prstDash val="solid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da-DK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9pPr>
            </a:lstStyle>
            <a:p>
              <a:endParaRPr lang="da-DK"/>
            </a:p>
          </p:txBody>
        </p:sp>
        <p:sp>
          <p:nvSpPr>
            <p:cNvPr id="44" name="Isosceles Triangle 43"/>
            <p:cNvSpPr/>
            <p:nvPr/>
          </p:nvSpPr>
          <p:spPr bwMode="auto">
            <a:xfrm rot="16200000">
              <a:off x="5509296" y="3540525"/>
              <a:ext cx="96206" cy="104295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2000" b="0" i="0" u="none" strike="noStrike" cap="none" normalizeH="0" baseline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457588" y="2780928"/>
            <a:ext cx="96206" cy="628908"/>
            <a:chOff x="4673612" y="2811464"/>
            <a:chExt cx="96206" cy="628908"/>
          </a:xfrm>
        </p:grpSpPr>
        <p:sp>
          <p:nvSpPr>
            <p:cNvPr id="100" name="Line 22"/>
            <p:cNvSpPr>
              <a:spLocks noChangeShapeType="1"/>
            </p:cNvSpPr>
            <p:nvPr/>
          </p:nvSpPr>
          <p:spPr bwMode="auto">
            <a:xfrm flipH="1" flipV="1">
              <a:off x="4724254" y="2811464"/>
              <a:ext cx="1104" cy="628908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sys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da-DK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9pPr>
            </a:lstStyle>
            <a:p>
              <a:endParaRPr lang="da-DK"/>
            </a:p>
          </p:txBody>
        </p:sp>
        <p:sp>
          <p:nvSpPr>
            <p:cNvPr id="45" name="Isosceles Triangle 44"/>
            <p:cNvSpPr/>
            <p:nvPr/>
          </p:nvSpPr>
          <p:spPr bwMode="auto">
            <a:xfrm>
              <a:off x="4673612" y="2871188"/>
              <a:ext cx="96206" cy="104295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2000" b="0" i="0" u="none" strike="noStrike" cap="none" normalizeH="0" baseline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688819" y="2811464"/>
            <a:ext cx="96206" cy="866264"/>
            <a:chOff x="6904843" y="2811464"/>
            <a:chExt cx="96206" cy="866264"/>
          </a:xfrm>
        </p:grpSpPr>
        <p:sp>
          <p:nvSpPr>
            <p:cNvPr id="103" name="Line 22"/>
            <p:cNvSpPr>
              <a:spLocks noChangeShapeType="1"/>
            </p:cNvSpPr>
            <p:nvPr/>
          </p:nvSpPr>
          <p:spPr bwMode="auto">
            <a:xfrm flipV="1">
              <a:off x="6956502" y="2811464"/>
              <a:ext cx="0" cy="866264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sys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da-DK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9pPr>
            </a:lstStyle>
            <a:p>
              <a:endParaRPr lang="da-DK"/>
            </a:p>
          </p:txBody>
        </p:sp>
        <p:sp>
          <p:nvSpPr>
            <p:cNvPr id="46" name="Isosceles Triangle 45"/>
            <p:cNvSpPr/>
            <p:nvPr/>
          </p:nvSpPr>
          <p:spPr bwMode="auto">
            <a:xfrm>
              <a:off x="6904843" y="2868806"/>
              <a:ext cx="96206" cy="104295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2000" b="0" i="0" u="none" strike="noStrike" cap="none" normalizeH="0" baseline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7298421" y="2811463"/>
            <a:ext cx="287117" cy="735995"/>
            <a:chOff x="7514445" y="2811463"/>
            <a:chExt cx="287117" cy="735995"/>
          </a:xfrm>
        </p:grpSpPr>
        <p:sp>
          <p:nvSpPr>
            <p:cNvPr id="108" name="Line 22"/>
            <p:cNvSpPr>
              <a:spLocks noChangeShapeType="1"/>
            </p:cNvSpPr>
            <p:nvPr/>
          </p:nvSpPr>
          <p:spPr bwMode="auto">
            <a:xfrm flipH="1" flipV="1">
              <a:off x="7524326" y="2811463"/>
              <a:ext cx="277236" cy="735995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sys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da-DK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9pPr>
            </a:lstStyle>
            <a:p>
              <a:endParaRPr lang="da-DK"/>
            </a:p>
          </p:txBody>
        </p:sp>
        <p:sp>
          <p:nvSpPr>
            <p:cNvPr id="66" name="Isosceles Triangle 65"/>
            <p:cNvSpPr/>
            <p:nvPr/>
          </p:nvSpPr>
          <p:spPr bwMode="auto">
            <a:xfrm rot="20350076">
              <a:off x="7514445" y="2868806"/>
              <a:ext cx="96206" cy="104295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2000" b="0" i="0" u="none" strike="noStrike" cap="none" normalizeH="0" baseline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076813" y="1815849"/>
            <a:ext cx="1013383" cy="1624522"/>
            <a:chOff x="5292837" y="1815849"/>
            <a:chExt cx="1013383" cy="1624522"/>
          </a:xfrm>
        </p:grpSpPr>
        <p:sp>
          <p:nvSpPr>
            <p:cNvPr id="65" name="Line 22"/>
            <p:cNvSpPr>
              <a:spLocks noChangeShapeType="1"/>
            </p:cNvSpPr>
            <p:nvPr/>
          </p:nvSpPr>
          <p:spPr bwMode="auto">
            <a:xfrm flipV="1">
              <a:off x="5292837" y="1815849"/>
              <a:ext cx="1013383" cy="1624522"/>
            </a:xfrm>
            <a:prstGeom prst="line">
              <a:avLst/>
            </a:prstGeom>
            <a:noFill/>
            <a:ln w="38100">
              <a:solidFill>
                <a:srgbClr val="7030A0"/>
              </a:solidFill>
              <a:prstDash val="solid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da-DK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9pPr>
            </a:lstStyle>
            <a:p>
              <a:endParaRPr lang="da-DK"/>
            </a:p>
          </p:txBody>
        </p:sp>
        <p:sp>
          <p:nvSpPr>
            <p:cNvPr id="69" name="Isosceles Triangle 68"/>
            <p:cNvSpPr/>
            <p:nvPr/>
          </p:nvSpPr>
          <p:spPr bwMode="auto">
            <a:xfrm rot="2004462">
              <a:off x="6199027" y="1854759"/>
              <a:ext cx="96206" cy="104295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2000" b="0" i="0" u="none" strike="noStrike" cap="none" normalizeH="0" baseline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452825" y="1815850"/>
            <a:ext cx="96206" cy="627245"/>
            <a:chOff x="4668849" y="1815850"/>
            <a:chExt cx="96206" cy="627245"/>
          </a:xfrm>
        </p:grpSpPr>
        <p:sp>
          <p:nvSpPr>
            <p:cNvPr id="99" name="Line 22"/>
            <p:cNvSpPr>
              <a:spLocks noChangeShapeType="1"/>
            </p:cNvSpPr>
            <p:nvPr/>
          </p:nvSpPr>
          <p:spPr bwMode="auto">
            <a:xfrm flipH="1" flipV="1">
              <a:off x="4716016" y="1815850"/>
              <a:ext cx="0" cy="627245"/>
            </a:xfrm>
            <a:prstGeom prst="line">
              <a:avLst/>
            </a:prstGeom>
            <a:noFill/>
            <a:ln w="38100">
              <a:solidFill>
                <a:srgbClr val="7030A0"/>
              </a:solidFill>
              <a:prstDash val="solid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da-DK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9pPr>
            </a:lstStyle>
            <a:p>
              <a:endParaRPr lang="da-DK"/>
            </a:p>
          </p:txBody>
        </p:sp>
        <p:sp>
          <p:nvSpPr>
            <p:cNvPr id="70" name="Isosceles Triangle 69"/>
            <p:cNvSpPr/>
            <p:nvPr/>
          </p:nvSpPr>
          <p:spPr bwMode="auto">
            <a:xfrm>
              <a:off x="4668849" y="1873443"/>
              <a:ext cx="96206" cy="104295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2000" b="0" i="0" u="none" strike="noStrike" cap="none" normalizeH="0" baseline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5145527" y="1506139"/>
            <a:ext cx="918940" cy="96206"/>
            <a:chOff x="5361551" y="1506139"/>
            <a:chExt cx="918940" cy="96206"/>
          </a:xfrm>
        </p:grpSpPr>
        <p:sp>
          <p:nvSpPr>
            <p:cNvPr id="48" name="Line 22"/>
            <p:cNvSpPr>
              <a:spLocks noChangeShapeType="1"/>
            </p:cNvSpPr>
            <p:nvPr/>
          </p:nvSpPr>
          <p:spPr bwMode="auto">
            <a:xfrm flipH="1" flipV="1">
              <a:off x="5361551" y="1557654"/>
              <a:ext cx="918940" cy="2743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da-DK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9pPr>
            </a:lstStyle>
            <a:p>
              <a:endParaRPr lang="da-DK"/>
            </a:p>
          </p:txBody>
        </p:sp>
        <p:sp>
          <p:nvSpPr>
            <p:cNvPr id="71" name="Isosceles Triangle 70"/>
            <p:cNvSpPr/>
            <p:nvPr/>
          </p:nvSpPr>
          <p:spPr bwMode="auto">
            <a:xfrm rot="16200000">
              <a:off x="5420807" y="1502094"/>
              <a:ext cx="96206" cy="104295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dash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2000" b="0" i="0" u="none" strike="noStrike" cap="none" normalizeH="0" baseline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151102" y="1788550"/>
            <a:ext cx="1150998" cy="663894"/>
            <a:chOff x="5367126" y="1788550"/>
            <a:chExt cx="1150998" cy="663894"/>
          </a:xfrm>
        </p:grpSpPr>
        <p:sp>
          <p:nvSpPr>
            <p:cNvPr id="98" name="Line 22"/>
            <p:cNvSpPr>
              <a:spLocks noChangeShapeType="1"/>
            </p:cNvSpPr>
            <p:nvPr/>
          </p:nvSpPr>
          <p:spPr bwMode="auto">
            <a:xfrm flipH="1" flipV="1">
              <a:off x="5367126" y="1788550"/>
              <a:ext cx="1150998" cy="663894"/>
            </a:xfrm>
            <a:prstGeom prst="line">
              <a:avLst/>
            </a:prstGeom>
            <a:noFill/>
            <a:ln w="38100">
              <a:solidFill>
                <a:srgbClr val="7030A0"/>
              </a:solidFill>
              <a:prstDash val="solid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da-DK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9pPr>
            </a:lstStyle>
            <a:p>
              <a:endParaRPr lang="da-DK"/>
            </a:p>
          </p:txBody>
        </p:sp>
        <p:sp>
          <p:nvSpPr>
            <p:cNvPr id="72" name="Isosceles Triangle 71"/>
            <p:cNvSpPr/>
            <p:nvPr/>
          </p:nvSpPr>
          <p:spPr bwMode="auto">
            <a:xfrm rot="18011788">
              <a:off x="5412107" y="1789344"/>
              <a:ext cx="96206" cy="104295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2000" b="0" i="0" u="none" strike="noStrike" cap="none" normalizeH="0" baseline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298622" y="2811464"/>
            <a:ext cx="239356" cy="576647"/>
            <a:chOff x="2514646" y="2811464"/>
            <a:chExt cx="239356" cy="576647"/>
          </a:xfrm>
        </p:grpSpPr>
        <p:sp>
          <p:nvSpPr>
            <p:cNvPr id="97" name="Line 22"/>
            <p:cNvSpPr>
              <a:spLocks noChangeShapeType="1"/>
            </p:cNvSpPr>
            <p:nvPr/>
          </p:nvSpPr>
          <p:spPr bwMode="auto">
            <a:xfrm flipH="1" flipV="1">
              <a:off x="2523343" y="2811464"/>
              <a:ext cx="230659" cy="576647"/>
            </a:xfrm>
            <a:prstGeom prst="line">
              <a:avLst/>
            </a:prstGeom>
            <a:noFill/>
            <a:ln w="38100">
              <a:solidFill>
                <a:srgbClr val="7030A0"/>
              </a:solidFill>
              <a:prstDash val="solid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da-DK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9pPr>
            </a:lstStyle>
            <a:p>
              <a:endParaRPr lang="da-DK"/>
            </a:p>
          </p:txBody>
        </p:sp>
        <p:sp>
          <p:nvSpPr>
            <p:cNvPr id="74" name="Isosceles Triangle 73"/>
            <p:cNvSpPr/>
            <p:nvPr/>
          </p:nvSpPr>
          <p:spPr bwMode="auto">
            <a:xfrm rot="20338560">
              <a:off x="2514646" y="2861870"/>
              <a:ext cx="96206" cy="104295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2000" b="0" i="0" u="none" strike="noStrike" cap="none" normalizeH="0" baseline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303711" y="2817405"/>
            <a:ext cx="387969" cy="593638"/>
            <a:chOff x="1519735" y="2817405"/>
            <a:chExt cx="387969" cy="593638"/>
          </a:xfrm>
        </p:grpSpPr>
        <p:sp>
          <p:nvSpPr>
            <p:cNvPr id="105" name="Line 22"/>
            <p:cNvSpPr>
              <a:spLocks noChangeShapeType="1"/>
            </p:cNvSpPr>
            <p:nvPr/>
          </p:nvSpPr>
          <p:spPr bwMode="auto">
            <a:xfrm flipV="1">
              <a:off x="1519735" y="2817405"/>
              <a:ext cx="387969" cy="593638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da-DK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9pPr>
            </a:lstStyle>
            <a:p>
              <a:endParaRPr lang="da-DK"/>
            </a:p>
          </p:txBody>
        </p:sp>
        <p:sp>
          <p:nvSpPr>
            <p:cNvPr id="75" name="Isosceles Triangle 74"/>
            <p:cNvSpPr/>
            <p:nvPr/>
          </p:nvSpPr>
          <p:spPr bwMode="auto">
            <a:xfrm rot="1925722">
              <a:off x="1798424" y="2857108"/>
              <a:ext cx="96206" cy="104295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dash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2000" b="0" i="0" u="none" strike="noStrike" cap="none" normalizeH="0" baseline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625876" y="1814407"/>
            <a:ext cx="1246795" cy="625722"/>
            <a:chOff x="2841900" y="1814407"/>
            <a:chExt cx="1246795" cy="625722"/>
          </a:xfrm>
        </p:grpSpPr>
        <p:sp>
          <p:nvSpPr>
            <p:cNvPr id="73" name="Line 22"/>
            <p:cNvSpPr>
              <a:spLocks noChangeShapeType="1"/>
            </p:cNvSpPr>
            <p:nvPr/>
          </p:nvSpPr>
          <p:spPr bwMode="auto">
            <a:xfrm flipV="1">
              <a:off x="2841900" y="1815848"/>
              <a:ext cx="1246795" cy="624281"/>
            </a:xfrm>
            <a:prstGeom prst="line">
              <a:avLst/>
            </a:prstGeom>
            <a:noFill/>
            <a:ln w="38100">
              <a:solidFill>
                <a:srgbClr val="7030A0"/>
              </a:solidFill>
              <a:prstDash val="solid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da-DK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000" kern="12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9pPr>
            </a:lstStyle>
            <a:p>
              <a:endParaRPr lang="da-DK"/>
            </a:p>
          </p:txBody>
        </p:sp>
        <p:sp>
          <p:nvSpPr>
            <p:cNvPr id="76" name="Isosceles Triangle 75"/>
            <p:cNvSpPr/>
            <p:nvPr/>
          </p:nvSpPr>
          <p:spPr bwMode="auto">
            <a:xfrm rot="3740734">
              <a:off x="3938226" y="1810362"/>
              <a:ext cx="96206" cy="104295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2000" b="0" i="0" u="none" strike="noStrike" cap="none" normalizeH="0" baseline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6" name="Rectangle 5"/>
          <p:cNvSpPr/>
          <p:nvPr/>
        </p:nvSpPr>
        <p:spPr bwMode="auto">
          <a:xfrm>
            <a:off x="3856866" y="1292631"/>
            <a:ext cx="1294236" cy="523220"/>
          </a:xfrm>
          <a:prstGeom prst="rect">
            <a:avLst/>
          </a:prstGeom>
          <a:solidFill>
            <a:srgbClr val="FFEB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400" b="0" i="0" u="none" strike="noStrike" cap="none" spc="-150" normalizeH="0" baseline="0" dirty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rPr>
              <a:t>&lt;&lt;</a:t>
            </a:r>
            <a:r>
              <a:rPr kumimoji="0" lang="da-DK" sz="1400" b="0" i="0" u="none" strike="noStrike" cap="none" normalizeH="0" baseline="0" dirty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rPr>
              <a:t>interface</a:t>
            </a:r>
            <a:r>
              <a:rPr kumimoji="0" lang="da-DK" sz="1400" b="0" i="0" u="none" strike="noStrike" cap="none" spc="-150" normalizeH="0" baseline="0" dirty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rPr>
              <a:t>&gt;&gt;</a:t>
            </a:r>
            <a:br>
              <a:rPr kumimoji="0" lang="da-DK" sz="1400" b="0" i="0" u="none" strike="noStrike" cap="none" normalizeH="0" baseline="0" dirty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rPr>
            </a:br>
            <a:r>
              <a:rPr kumimoji="0" lang="da-DK" sz="1400" b="1" i="0" u="none" strike="noStrike" cap="none" normalizeH="0" baseline="0" dirty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rPr>
              <a:t>Collection</a:t>
            </a:r>
          </a:p>
        </p:txBody>
      </p:sp>
      <p:sp>
        <p:nvSpPr>
          <p:cNvPr id="96" name="Rectangle 95"/>
          <p:cNvSpPr/>
          <p:nvPr/>
        </p:nvSpPr>
        <p:spPr bwMode="auto">
          <a:xfrm>
            <a:off x="479842" y="3310539"/>
            <a:ext cx="1067822" cy="517212"/>
          </a:xfrm>
          <a:prstGeom prst="rect">
            <a:avLst/>
          </a:prstGeom>
          <a:solidFill>
            <a:srgbClr val="CCFF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HashSet</a:t>
            </a:r>
            <a:endParaRPr kumimoji="0" lang="da-DK" sz="14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charset="0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6302100" y="2307408"/>
            <a:ext cx="1294236" cy="523220"/>
          </a:xfrm>
          <a:prstGeom prst="rect">
            <a:avLst/>
          </a:prstGeom>
          <a:solidFill>
            <a:srgbClr val="FFEB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400" b="0" i="0" u="none" strike="noStrike" cap="none" spc="-150" normalizeH="0" baseline="0" dirty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rPr>
              <a:t>&lt;&lt;</a:t>
            </a:r>
            <a:r>
              <a:rPr kumimoji="0" lang="da-DK" sz="1400" b="0" i="0" u="none" strike="noStrike" cap="none" normalizeH="0" baseline="0" dirty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rPr>
              <a:t>interface</a:t>
            </a:r>
            <a:r>
              <a:rPr kumimoji="0" lang="da-DK" sz="1400" b="0" i="0" u="none" strike="noStrike" cap="none" spc="-150" normalizeH="0" baseline="0" dirty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rPr>
              <a:t>&gt;&gt;</a:t>
            </a:r>
            <a:br>
              <a:rPr kumimoji="0" lang="da-DK" sz="1400" b="0" i="0" u="none" strike="noStrike" cap="none" normalizeH="0" baseline="0" dirty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rPr>
            </a:br>
            <a:r>
              <a:rPr kumimoji="0" lang="da-DK" sz="1400" b="1" i="0" u="none" strike="noStrike" cap="none" normalizeH="0" baseline="0" dirty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rPr>
              <a:t>Queue</a:t>
            </a:r>
          </a:p>
        </p:txBody>
      </p:sp>
      <p:sp>
        <p:nvSpPr>
          <p:cNvPr id="53" name="Rectangle 52"/>
          <p:cNvSpPr/>
          <p:nvPr/>
        </p:nvSpPr>
        <p:spPr bwMode="auto">
          <a:xfrm>
            <a:off x="3851292" y="2307408"/>
            <a:ext cx="1294236" cy="523220"/>
          </a:xfrm>
          <a:prstGeom prst="rect">
            <a:avLst/>
          </a:prstGeom>
          <a:solidFill>
            <a:srgbClr val="FFEB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400" b="0" i="0" u="none" strike="noStrike" cap="none" spc="-150" normalizeH="0" baseline="0" dirty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rPr>
              <a:t>&lt;&lt;</a:t>
            </a:r>
            <a:r>
              <a:rPr kumimoji="0" lang="da-DK" sz="1400" b="0" i="0" u="none" strike="noStrike" cap="none" normalizeH="0" baseline="0" dirty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rPr>
              <a:t>interface</a:t>
            </a:r>
            <a:r>
              <a:rPr kumimoji="0" lang="da-DK" sz="1400" b="0" i="0" u="none" strike="noStrike" cap="none" spc="-150" normalizeH="0" baseline="0" dirty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rPr>
              <a:t>&gt;&gt;</a:t>
            </a:r>
            <a:br>
              <a:rPr kumimoji="0" lang="da-DK" sz="1400" b="0" i="0" u="none" strike="noStrike" cap="none" normalizeH="0" baseline="0" dirty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rPr>
            </a:br>
            <a:r>
              <a:rPr kumimoji="0" lang="da-DK" sz="1400" b="1" i="0" u="none" strike="noStrike" cap="none" normalizeH="0" baseline="0" dirty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rPr>
              <a:t>List</a:t>
            </a:r>
          </a:p>
        </p:txBody>
      </p:sp>
      <p:sp>
        <p:nvSpPr>
          <p:cNvPr id="54" name="Rectangle 53"/>
          <p:cNvSpPr/>
          <p:nvPr/>
        </p:nvSpPr>
        <p:spPr bwMode="auto">
          <a:xfrm>
            <a:off x="1331640" y="2307408"/>
            <a:ext cx="1294236" cy="523220"/>
          </a:xfrm>
          <a:prstGeom prst="rect">
            <a:avLst/>
          </a:prstGeom>
          <a:solidFill>
            <a:srgbClr val="FFEB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400" b="0" i="0" u="none" strike="noStrike" cap="none" spc="-150" normalizeH="0" baseline="0" dirty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rPr>
              <a:t>&lt;&lt;</a:t>
            </a:r>
            <a:r>
              <a:rPr kumimoji="0" lang="da-DK" sz="1400" b="0" i="0" u="none" strike="noStrike" cap="none" normalizeH="0" baseline="0" dirty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rPr>
              <a:t>interface</a:t>
            </a:r>
            <a:r>
              <a:rPr kumimoji="0" lang="da-DK" sz="1400" b="0" i="0" u="none" strike="noStrike" cap="none" spc="-150" normalizeH="0" baseline="0" dirty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rPr>
              <a:t>&gt;&gt;</a:t>
            </a:r>
            <a:br>
              <a:rPr kumimoji="0" lang="da-DK" sz="1400" b="0" i="0" u="none" strike="noStrike" cap="none" normalizeH="0" baseline="0" dirty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rPr>
            </a:br>
            <a:r>
              <a:rPr kumimoji="0" lang="da-DK" sz="1400" b="1" i="0" u="none" strike="noStrike" cap="none" normalizeH="0" baseline="0" dirty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rPr>
              <a:t>Set</a:t>
            </a:r>
          </a:p>
        </p:txBody>
      </p:sp>
      <p:sp>
        <p:nvSpPr>
          <p:cNvPr id="55" name="Rectangle 54"/>
          <p:cNvSpPr/>
          <p:nvPr/>
        </p:nvSpPr>
        <p:spPr bwMode="auto">
          <a:xfrm>
            <a:off x="1960169" y="4316967"/>
            <a:ext cx="1344948" cy="523220"/>
          </a:xfrm>
          <a:prstGeom prst="rect">
            <a:avLst/>
          </a:prstGeom>
          <a:solidFill>
            <a:srgbClr val="FFEB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400" b="0" i="0" u="none" strike="noStrike" cap="none" spc="-150" normalizeH="0" baseline="0" dirty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rPr>
              <a:t>&lt;&lt;</a:t>
            </a:r>
            <a:r>
              <a:rPr kumimoji="0" lang="da-DK" sz="1400" b="0" i="0" u="none" strike="noStrike" cap="none" normalizeH="0" baseline="0" dirty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rPr>
              <a:t>interface</a:t>
            </a:r>
            <a:r>
              <a:rPr kumimoji="0" lang="da-DK" sz="1400" b="0" i="0" u="none" strike="noStrike" cap="none" spc="-150" normalizeH="0" baseline="0" dirty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rPr>
              <a:t>&gt;&gt;</a:t>
            </a:r>
            <a:br>
              <a:rPr kumimoji="0" lang="da-DK" sz="1400" b="0" i="0" u="none" strike="noStrike" cap="none" normalizeH="0" baseline="0" dirty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rPr>
            </a:br>
            <a:r>
              <a:rPr kumimoji="0" lang="da-DK" sz="1400" b="1" i="0" u="none" strike="noStrike" cap="none" normalizeH="0" baseline="0" dirty="0" err="1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rPr>
              <a:t>NavigableSet</a:t>
            </a:r>
            <a:endParaRPr kumimoji="0" lang="da-DK" sz="1400" b="1" i="0" u="none" strike="noStrike" cap="none" normalizeH="0" baseline="0" dirty="0">
              <a:ln>
                <a:noFill/>
              </a:ln>
              <a:solidFill>
                <a:srgbClr val="A50021"/>
              </a:solidFill>
              <a:effectLst/>
              <a:latin typeface="Arial" charset="0"/>
            </a:endParaRPr>
          </a:p>
        </p:txBody>
      </p:sp>
      <p:sp>
        <p:nvSpPr>
          <p:cNvPr id="56" name="Rectangle 55"/>
          <p:cNvSpPr/>
          <p:nvPr/>
        </p:nvSpPr>
        <p:spPr bwMode="auto">
          <a:xfrm>
            <a:off x="179512" y="4316967"/>
            <a:ext cx="1512168" cy="517212"/>
          </a:xfrm>
          <a:prstGeom prst="rect">
            <a:avLst/>
          </a:prstGeom>
          <a:solidFill>
            <a:srgbClr val="CCFF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LinkedHashSet</a:t>
            </a:r>
            <a:r>
              <a:rPr kumimoji="0" lang="da-DK" sz="1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charset="0"/>
              </a:rPr>
              <a:t> </a:t>
            </a:r>
          </a:p>
        </p:txBody>
      </p:sp>
      <p:sp>
        <p:nvSpPr>
          <p:cNvPr id="57" name="Rectangle 56"/>
          <p:cNvSpPr/>
          <p:nvPr/>
        </p:nvSpPr>
        <p:spPr bwMode="auto">
          <a:xfrm>
            <a:off x="2026679" y="5318414"/>
            <a:ext cx="1067822" cy="517212"/>
          </a:xfrm>
          <a:prstGeom prst="rect">
            <a:avLst/>
          </a:prstGeom>
          <a:solidFill>
            <a:srgbClr val="CCFF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TreeSet</a:t>
            </a:r>
            <a:endParaRPr kumimoji="0" lang="da-DK" sz="14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charset="0"/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7380312" y="3324576"/>
            <a:ext cx="1440160" cy="517212"/>
          </a:xfrm>
          <a:prstGeom prst="rect">
            <a:avLst/>
          </a:prstGeom>
          <a:solidFill>
            <a:srgbClr val="CCFF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PriorityQueue</a:t>
            </a:r>
            <a:endParaRPr kumimoji="0" lang="da-DK" sz="14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charset="0"/>
            </a:endParaRPr>
          </a:p>
        </p:txBody>
      </p:sp>
      <p:sp>
        <p:nvSpPr>
          <p:cNvPr id="59" name="Rectangle 58"/>
          <p:cNvSpPr/>
          <p:nvPr/>
        </p:nvSpPr>
        <p:spPr bwMode="auto">
          <a:xfrm>
            <a:off x="6163022" y="3324576"/>
            <a:ext cx="1067822" cy="517212"/>
          </a:xfrm>
          <a:prstGeom prst="rect">
            <a:avLst/>
          </a:prstGeom>
          <a:solidFill>
            <a:srgbClr val="CCFF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LinkedList</a:t>
            </a:r>
          </a:p>
        </p:txBody>
      </p:sp>
      <p:sp>
        <p:nvSpPr>
          <p:cNvPr id="60" name="Rectangle 59"/>
          <p:cNvSpPr/>
          <p:nvPr/>
        </p:nvSpPr>
        <p:spPr bwMode="auto">
          <a:xfrm>
            <a:off x="4945731" y="4316967"/>
            <a:ext cx="1067822" cy="517212"/>
          </a:xfrm>
          <a:prstGeom prst="rect">
            <a:avLst/>
          </a:prstGeom>
          <a:solidFill>
            <a:srgbClr val="CCFF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Vector</a:t>
            </a:r>
            <a:endParaRPr kumimoji="0" lang="da-DK" sz="14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charset="0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3635896" y="4316967"/>
            <a:ext cx="1067822" cy="517212"/>
          </a:xfrm>
          <a:prstGeom prst="rect">
            <a:avLst/>
          </a:prstGeom>
          <a:solidFill>
            <a:srgbClr val="CCFF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ArrayList</a:t>
            </a:r>
          </a:p>
        </p:txBody>
      </p:sp>
      <p:sp>
        <p:nvSpPr>
          <p:cNvPr id="47" name="Rectangle 46"/>
          <p:cNvSpPr/>
          <p:nvPr/>
        </p:nvSpPr>
        <p:spPr bwMode="auto">
          <a:xfrm>
            <a:off x="6090197" y="1292631"/>
            <a:ext cx="1796107" cy="523220"/>
          </a:xfrm>
          <a:prstGeom prst="rect">
            <a:avLst/>
          </a:prstGeom>
          <a:solidFill>
            <a:srgbClr val="FFFF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400" b="0" i="0" u="none" strike="noStrike" cap="none" spc="-100" normalizeH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&lt;&lt;abstract </a:t>
            </a:r>
            <a:r>
              <a:rPr kumimoji="0" lang="da-DK" sz="1400" b="0" i="0" u="none" strike="noStrike" cap="none" spc="-100" normalizeH="0" dirty="0" err="1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class</a:t>
            </a:r>
            <a:r>
              <a:rPr kumimoji="0" lang="da-DK" sz="1400" b="0" i="0" u="none" strike="noStrike" cap="none" spc="-100" normalizeH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&gt;&gt;</a:t>
            </a:r>
            <a:br>
              <a:rPr kumimoji="0" lang="da-DK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</a:br>
            <a:r>
              <a:rPr kumimoji="0" lang="da-DK" sz="1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AbstractCollection</a:t>
            </a:r>
            <a:endParaRPr kumimoji="0" lang="da-DK" sz="14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3644134" y="3331789"/>
            <a:ext cx="1584176" cy="523220"/>
          </a:xfrm>
          <a:prstGeom prst="rect">
            <a:avLst/>
          </a:prstGeom>
          <a:solidFill>
            <a:srgbClr val="FFFFCC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400" b="0" i="0" u="none" strike="noStrike" cap="none" spc="-100" normalizeH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&lt;&lt;abstract </a:t>
            </a:r>
            <a:r>
              <a:rPr kumimoji="0" lang="da-DK" sz="1400" b="0" i="0" u="none" strike="noStrike" cap="none" spc="-100" normalizeH="0" dirty="0" err="1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class</a:t>
            </a:r>
            <a:r>
              <a:rPr kumimoji="0" lang="da-DK" sz="1400" b="0" i="0" u="none" strike="noStrike" cap="none" spc="-100" normalizeH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&gt;&gt;</a:t>
            </a:r>
            <a:br>
              <a:rPr kumimoji="0" lang="da-DK" sz="1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</a:br>
            <a:r>
              <a:rPr kumimoji="0" lang="da-DK" sz="1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AbstractList</a:t>
            </a:r>
          </a:p>
        </p:txBody>
      </p:sp>
      <p:sp>
        <p:nvSpPr>
          <p:cNvPr id="51" name="Rectangle 50"/>
          <p:cNvSpPr/>
          <p:nvPr/>
        </p:nvSpPr>
        <p:spPr bwMode="auto">
          <a:xfrm>
            <a:off x="1979712" y="3308855"/>
            <a:ext cx="1294236" cy="523220"/>
          </a:xfrm>
          <a:prstGeom prst="rect">
            <a:avLst/>
          </a:prstGeom>
          <a:solidFill>
            <a:srgbClr val="FFEB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400" b="0" i="0" u="none" strike="noStrike" cap="none" spc="-150" normalizeH="0" baseline="0" dirty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rPr>
              <a:t>&lt;&lt;</a:t>
            </a:r>
            <a:r>
              <a:rPr kumimoji="0" lang="da-DK" sz="1400" b="0" i="0" u="none" strike="noStrike" cap="none" normalizeH="0" baseline="0" dirty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rPr>
              <a:t>interface</a:t>
            </a:r>
            <a:r>
              <a:rPr kumimoji="0" lang="da-DK" sz="1400" b="0" i="0" u="none" strike="noStrike" cap="none" spc="-150" normalizeH="0" baseline="0" dirty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rPr>
              <a:t>&gt;&gt;</a:t>
            </a:r>
            <a:br>
              <a:rPr kumimoji="0" lang="da-DK" sz="1400" b="0" i="0" u="none" strike="noStrike" cap="none" normalizeH="0" baseline="0" dirty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rPr>
            </a:br>
            <a:r>
              <a:rPr kumimoji="0" lang="da-DK" sz="1400" b="1" i="0" u="none" strike="noStrike" cap="none" normalizeH="0" baseline="0" dirty="0" err="1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rPr>
              <a:t>SortedSet</a:t>
            </a:r>
            <a:endParaRPr kumimoji="0" lang="da-DK" sz="1400" b="1" i="0" u="none" strike="noStrike" cap="none" normalizeH="0" baseline="0" dirty="0">
              <a:ln>
                <a:noFill/>
              </a:ln>
              <a:solidFill>
                <a:srgbClr val="A50021"/>
              </a:solidFill>
              <a:effectLst/>
              <a:latin typeface="Arial" charset="0"/>
            </a:endParaRPr>
          </a:p>
        </p:txBody>
      </p:sp>
      <p:sp>
        <p:nvSpPr>
          <p:cNvPr id="77" name="Text Box 21"/>
          <p:cNvSpPr txBox="1">
            <a:spLocks noChangeArrowheads="1"/>
          </p:cNvSpPr>
          <p:nvPr/>
        </p:nvSpPr>
        <p:spPr bwMode="auto">
          <a:xfrm>
            <a:off x="3421472" y="6054575"/>
            <a:ext cx="4695545" cy="461665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FF"/>
            </a:solidFill>
          </a:ln>
        </p:spPr>
        <p:txBody>
          <a:bodyPr wrap="square">
            <a:spAutoFit/>
          </a:bodyPr>
          <a:lstStyle>
            <a:defPPr>
              <a:defRPr lang="da-DK"/>
            </a:defPPr>
            <a:lvl1pPr>
              <a:spcBef>
                <a:spcPct val="50000"/>
              </a:spcBef>
              <a:defRPr sz="1200" b="1">
                <a:solidFill>
                  <a:srgbClr val="0000FF"/>
                </a:solidFill>
              </a:defRPr>
            </a:lvl1pPr>
          </a:lstStyle>
          <a:p>
            <a:r>
              <a:rPr lang="da-DK" altLang="da-DK" dirty="0"/>
              <a:t>Bemærk at Map&lt;K,V&gt; </a:t>
            </a:r>
            <a:r>
              <a:rPr lang="da-DK" altLang="da-DK" dirty="0">
                <a:solidFill>
                  <a:srgbClr val="008000"/>
                </a:solidFill>
              </a:rPr>
              <a:t>ikke</a:t>
            </a:r>
            <a:r>
              <a:rPr lang="da-DK" altLang="da-DK" dirty="0"/>
              <a:t> er et subinterface af Collection&lt;E&gt; (selvom Map indgår i det såkaldte collection framework)</a:t>
            </a:r>
          </a:p>
        </p:txBody>
      </p:sp>
    </p:spTree>
    <p:extLst>
      <p:ext uri="{BB962C8B-B14F-4D97-AF65-F5344CB8AC3E}">
        <p14:creationId xmlns:p14="http://schemas.microsoft.com/office/powerpoint/2010/main" val="4213967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67" grpId="0" animBg="1"/>
      <p:bldP spid="96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47" grpId="0" animBg="1"/>
      <p:bldP spid="49" grpId="0" animBg="1"/>
      <p:bldP spid="7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4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568183" cy="609600"/>
          </a:xfrm>
        </p:spPr>
        <p:txBody>
          <a:bodyPr/>
          <a:lstStyle/>
          <a:p>
            <a:pPr eaLnBrk="1" hangingPunct="1"/>
            <a:r>
              <a:rPr lang="da-DK" altLang="da-DK" sz="3200" dirty="0">
                <a:ea typeface="ＭＳ Ｐゴシック" pitchFamily="34" charset="-128"/>
              </a:rPr>
              <a:t>B</a:t>
            </a:r>
            <a:r>
              <a:rPr lang="da-DK" altLang="da-DK" sz="3200" spc="-150" dirty="0">
                <a:ea typeface="ＭＳ Ｐゴシック" pitchFamily="34" charset="-128"/>
              </a:rPr>
              <a:t>rug af Collection og Comparable</a:t>
            </a:r>
            <a:endParaRPr lang="da-DK" altLang="da-DK" sz="3200" noProof="0" dirty="0">
              <a:solidFill>
                <a:srgbClr val="000066"/>
              </a:solidFill>
              <a:ea typeface="ＭＳ Ｐゴシック" pitchFamily="34" charset="-128"/>
            </a:endParaRPr>
          </a:p>
        </p:txBody>
      </p:sp>
      <p:sp>
        <p:nvSpPr>
          <p:cNvPr id="41988" name="Text Box 7"/>
          <p:cNvSpPr txBox="1">
            <a:spLocks noChangeArrowheads="1"/>
          </p:cNvSpPr>
          <p:nvPr/>
        </p:nvSpPr>
        <p:spPr bwMode="auto">
          <a:xfrm>
            <a:off x="6675598" y="5134498"/>
            <a:ext cx="1080120" cy="378624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no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altLang="da-DK" sz="1800" b="1" dirty="0"/>
              <a:t>Person</a:t>
            </a:r>
          </a:p>
          <a:p>
            <a:pPr algn="ctr" eaLnBrk="1" hangingPunct="1"/>
            <a:endParaRPr lang="en-US" altLang="da-DK" sz="1200" b="1" dirty="0"/>
          </a:p>
        </p:txBody>
      </p:sp>
      <p:cxnSp>
        <p:nvCxnSpPr>
          <p:cNvPr id="41989" name="AutoShape 8"/>
          <p:cNvCxnSpPr>
            <a:cxnSpLocks noChangeShapeType="1"/>
          </p:cNvCxnSpPr>
          <p:nvPr/>
        </p:nvCxnSpPr>
        <p:spPr bwMode="auto">
          <a:xfrm>
            <a:off x="7228136" y="2023380"/>
            <a:ext cx="3541" cy="730791"/>
          </a:xfrm>
          <a:prstGeom prst="straightConnector1">
            <a:avLst/>
          </a:prstGeom>
          <a:noFill/>
          <a:ln w="28575">
            <a:solidFill>
              <a:srgbClr val="FF0000"/>
            </a:solidFill>
            <a:prstDash val="dash"/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1" name="Group 10"/>
          <p:cNvGrpSpPr/>
          <p:nvPr/>
        </p:nvGrpSpPr>
        <p:grpSpPr>
          <a:xfrm>
            <a:off x="7179657" y="3801998"/>
            <a:ext cx="209991" cy="1332504"/>
            <a:chOff x="7080067" y="4166143"/>
            <a:chExt cx="233964" cy="1021795"/>
          </a:xfrm>
        </p:grpSpPr>
        <p:sp>
          <p:nvSpPr>
            <p:cNvPr id="41990" name="AutoShape 10"/>
            <p:cNvSpPr>
              <a:spLocks noChangeArrowheads="1"/>
            </p:cNvSpPr>
            <p:nvPr/>
          </p:nvSpPr>
          <p:spPr bwMode="auto">
            <a:xfrm>
              <a:off x="7080067" y="4166143"/>
              <a:ext cx="233964" cy="187767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rgbClr val="008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endParaRPr lang="en-US" altLang="da-DK"/>
            </a:p>
          </p:txBody>
        </p:sp>
        <p:sp>
          <p:nvSpPr>
            <p:cNvPr id="41991" name="Line 11"/>
            <p:cNvSpPr>
              <a:spLocks noChangeShapeType="1"/>
            </p:cNvSpPr>
            <p:nvPr/>
          </p:nvSpPr>
          <p:spPr bwMode="auto">
            <a:xfrm>
              <a:off x="7199749" y="4382041"/>
              <a:ext cx="2" cy="805897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da-DK"/>
            </a:p>
          </p:txBody>
        </p:sp>
      </p:grpSp>
      <p:sp>
        <p:nvSpPr>
          <p:cNvPr id="41993" name="Text Box 14"/>
          <p:cNvSpPr txBox="1">
            <a:spLocks noChangeArrowheads="1"/>
          </p:cNvSpPr>
          <p:nvPr/>
        </p:nvSpPr>
        <p:spPr bwMode="auto">
          <a:xfrm>
            <a:off x="8187767" y="5134498"/>
            <a:ext cx="864096" cy="378624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no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altLang="da-DK" sz="1800" b="1" dirty="0"/>
              <a:t>String</a:t>
            </a:r>
          </a:p>
          <a:p>
            <a:pPr algn="ctr" eaLnBrk="1" hangingPunct="1"/>
            <a:endParaRPr lang="en-US" altLang="da-DK" sz="1200" b="1" dirty="0"/>
          </a:p>
        </p:txBody>
      </p:sp>
      <p:sp>
        <p:nvSpPr>
          <p:cNvPr id="41994" name="Text Box 15"/>
          <p:cNvSpPr txBox="1">
            <a:spLocks noChangeArrowheads="1"/>
          </p:cNvSpPr>
          <p:nvPr/>
        </p:nvSpPr>
        <p:spPr bwMode="auto">
          <a:xfrm>
            <a:off x="5652120" y="5134498"/>
            <a:ext cx="879462" cy="378624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no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altLang="da-DK" sz="1800" b="1" dirty="0"/>
              <a:t>Pixel</a:t>
            </a:r>
          </a:p>
          <a:p>
            <a:pPr algn="ctr" eaLnBrk="1" hangingPunct="1"/>
            <a:endParaRPr lang="en-US" altLang="da-DK" sz="1200" b="1" dirty="0"/>
          </a:p>
        </p:txBody>
      </p:sp>
      <p:sp>
        <p:nvSpPr>
          <p:cNvPr id="41995" name="Line 16"/>
          <p:cNvSpPr>
            <a:spLocks noChangeShapeType="1"/>
          </p:cNvSpPr>
          <p:nvPr/>
        </p:nvSpPr>
        <p:spPr bwMode="auto">
          <a:xfrm>
            <a:off x="6171540" y="4613558"/>
            <a:ext cx="1" cy="520940"/>
          </a:xfrm>
          <a:prstGeom prst="line">
            <a:avLst/>
          </a:prstGeom>
          <a:noFill/>
          <a:ln w="28575">
            <a:solidFill>
              <a:srgbClr val="008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da-DK"/>
          </a:p>
        </p:txBody>
      </p:sp>
      <p:sp>
        <p:nvSpPr>
          <p:cNvPr id="41996" name="Line 17"/>
          <p:cNvSpPr>
            <a:spLocks noChangeShapeType="1"/>
          </p:cNvSpPr>
          <p:nvPr/>
        </p:nvSpPr>
        <p:spPr bwMode="auto">
          <a:xfrm>
            <a:off x="8619814" y="4613556"/>
            <a:ext cx="0" cy="520942"/>
          </a:xfrm>
          <a:prstGeom prst="line">
            <a:avLst/>
          </a:prstGeom>
          <a:noFill/>
          <a:ln w="28575">
            <a:solidFill>
              <a:srgbClr val="008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da-DK"/>
          </a:p>
        </p:txBody>
      </p:sp>
      <p:sp>
        <p:nvSpPr>
          <p:cNvPr id="41997" name="Line 18"/>
          <p:cNvSpPr>
            <a:spLocks noChangeShapeType="1"/>
          </p:cNvSpPr>
          <p:nvPr/>
        </p:nvSpPr>
        <p:spPr bwMode="auto">
          <a:xfrm flipV="1">
            <a:off x="6152954" y="4609826"/>
            <a:ext cx="2451494" cy="3729"/>
          </a:xfrm>
          <a:prstGeom prst="line">
            <a:avLst/>
          </a:prstGeom>
          <a:noFill/>
          <a:ln w="28575">
            <a:solidFill>
              <a:srgbClr val="008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da-DK"/>
          </a:p>
        </p:txBody>
      </p:sp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7755718" y="5153082"/>
            <a:ext cx="455431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da-DK" altLang="da-DK" sz="1600" b="1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496696" y="6395842"/>
            <a:ext cx="647304" cy="457200"/>
          </a:xfrm>
          <a:prstGeom prst="rect">
            <a:avLst/>
          </a:prstGeom>
        </p:spPr>
        <p:txBody>
          <a:bodyPr/>
          <a:lstStyle/>
          <a:p>
            <a:fld id="{D5F120ED-4883-459A-AC97-4FAD8D591FCC}" type="slidenum">
              <a:rPr lang="da-DK" altLang="da-DK" smtClean="0"/>
              <a:pPr/>
              <a:t>12</a:t>
            </a:fld>
            <a:endParaRPr lang="da-DK" altLang="da-DK" dirty="0"/>
          </a:p>
        </p:txBody>
      </p:sp>
      <p:sp>
        <p:nvSpPr>
          <p:cNvPr id="26" name="Line 18"/>
          <p:cNvSpPr>
            <a:spLocks noChangeShapeType="1"/>
          </p:cNvSpPr>
          <p:nvPr/>
        </p:nvSpPr>
        <p:spPr bwMode="auto">
          <a:xfrm flipV="1">
            <a:off x="6105723" y="2005262"/>
            <a:ext cx="1137288" cy="3659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da-DK"/>
          </a:p>
        </p:txBody>
      </p:sp>
      <p:grpSp>
        <p:nvGrpSpPr>
          <p:cNvPr id="30" name="Group 29"/>
          <p:cNvGrpSpPr/>
          <p:nvPr/>
        </p:nvGrpSpPr>
        <p:grpSpPr>
          <a:xfrm>
            <a:off x="756906" y="2715868"/>
            <a:ext cx="2806982" cy="1354217"/>
            <a:chOff x="544328" y="1557983"/>
            <a:chExt cx="2802549" cy="1354217"/>
          </a:xfrm>
        </p:grpSpPr>
        <p:sp>
          <p:nvSpPr>
            <p:cNvPr id="31" name="Rectangle 19"/>
            <p:cNvSpPr>
              <a:spLocks noChangeArrowheads="1"/>
            </p:cNvSpPr>
            <p:nvPr/>
          </p:nvSpPr>
          <p:spPr bwMode="auto">
            <a:xfrm>
              <a:off x="544328" y="1557983"/>
              <a:ext cx="2742715" cy="1354217"/>
            </a:xfrm>
            <a:prstGeom prst="rect">
              <a:avLst/>
            </a:prstGeom>
            <a:solidFill>
              <a:srgbClr val="FFEB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>
              <a:lvl1pPr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endParaRPr lang="en-US" altLang="da-DK"/>
            </a:p>
          </p:txBody>
        </p:sp>
        <p:sp>
          <p:nvSpPr>
            <p:cNvPr id="32" name="Text Box 5"/>
            <p:cNvSpPr txBox="1">
              <a:spLocks noChangeArrowheads="1"/>
            </p:cNvSpPr>
            <p:nvPr/>
          </p:nvSpPr>
          <p:spPr bwMode="auto">
            <a:xfrm>
              <a:off x="585867" y="1570727"/>
              <a:ext cx="2761010" cy="1338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altLang="da-DK" sz="1400" b="1" dirty="0"/>
                <a:t>&lt;&lt;interface&gt;&gt;</a:t>
              </a:r>
              <a:endParaRPr lang="en-US" altLang="da-DK" b="1" dirty="0"/>
            </a:p>
            <a:p>
              <a:pPr algn="ctr" eaLnBrk="1" hangingPunct="1"/>
              <a:r>
                <a:rPr lang="en-US" altLang="da-DK" b="1" dirty="0"/>
                <a:t>Collection</a:t>
              </a:r>
              <a:endParaRPr lang="en-US" altLang="da-DK" sz="1400" b="1" dirty="0"/>
            </a:p>
            <a:p>
              <a:pPr eaLnBrk="1" hangingPunct="1">
                <a:spcBef>
                  <a:spcPts val="600"/>
                </a:spcBef>
              </a:pPr>
              <a:r>
                <a:rPr lang="en-US" altLang="da-DK" sz="1400" b="1" dirty="0" err="1">
                  <a:solidFill>
                    <a:schemeClr val="tx1"/>
                  </a:solidFill>
                  <a:latin typeface="Courier New" pitchFamily="49" charset="0"/>
                </a:rPr>
                <a:t>boolean</a:t>
              </a:r>
              <a:r>
                <a:rPr lang="en-US" altLang="da-DK" sz="1400" b="1" dirty="0">
                  <a:solidFill>
                    <a:schemeClr val="tx1"/>
                  </a:solidFill>
                  <a:latin typeface="Courier New" pitchFamily="49" charset="0"/>
                </a:rPr>
                <a:t> add(E e)</a:t>
              </a:r>
            </a:p>
            <a:p>
              <a:pPr eaLnBrk="1" hangingPunct="1"/>
              <a:r>
                <a:rPr lang="en-US" altLang="da-DK" sz="1400" b="1" dirty="0" err="1">
                  <a:solidFill>
                    <a:schemeClr val="tx1"/>
                  </a:solidFill>
                  <a:latin typeface="Courier New" pitchFamily="49" charset="0"/>
                </a:rPr>
                <a:t>boolean</a:t>
              </a:r>
              <a:r>
                <a:rPr lang="en-US" altLang="da-DK" sz="1400" b="1" dirty="0">
                  <a:solidFill>
                    <a:schemeClr val="tx1"/>
                  </a:solidFill>
                  <a:latin typeface="Courier New" pitchFamily="49" charset="0"/>
                </a:rPr>
                <a:t> </a:t>
              </a:r>
              <a:r>
                <a:rPr lang="en-US" altLang="da-DK" sz="1400" b="1" spc="-100" dirty="0">
                  <a:solidFill>
                    <a:schemeClr val="tx1"/>
                  </a:solidFill>
                  <a:latin typeface="Courier New" pitchFamily="49" charset="0"/>
                </a:rPr>
                <a:t>contains(Object o)</a:t>
              </a:r>
            </a:p>
            <a:p>
              <a:pPr eaLnBrk="1" hangingPunct="1"/>
              <a:r>
                <a:rPr lang="en-US" altLang="da-DK" sz="1400" b="1" dirty="0">
                  <a:solidFill>
                    <a:schemeClr val="tx1"/>
                  </a:solidFill>
                  <a:latin typeface="Courier New" pitchFamily="49" charset="0"/>
                </a:rPr>
                <a:t>...</a:t>
              </a:r>
            </a:p>
          </p:txBody>
        </p:sp>
        <p:sp>
          <p:nvSpPr>
            <p:cNvPr id="33" name="Line 13"/>
            <p:cNvSpPr>
              <a:spLocks noChangeShapeType="1"/>
            </p:cNvSpPr>
            <p:nvPr/>
          </p:nvSpPr>
          <p:spPr bwMode="auto">
            <a:xfrm flipV="1">
              <a:off x="544328" y="2161964"/>
              <a:ext cx="2734490" cy="47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da-DK"/>
            </a:p>
          </p:txBody>
        </p:sp>
      </p:grpSp>
      <p:cxnSp>
        <p:nvCxnSpPr>
          <p:cNvPr id="34" name="AutoShape 8"/>
          <p:cNvCxnSpPr>
            <a:cxnSpLocks noChangeShapeType="1"/>
          </p:cNvCxnSpPr>
          <p:nvPr/>
        </p:nvCxnSpPr>
        <p:spPr bwMode="auto">
          <a:xfrm flipH="1">
            <a:off x="2115415" y="2057400"/>
            <a:ext cx="18339" cy="658468"/>
          </a:xfrm>
          <a:prstGeom prst="straightConnector1">
            <a:avLst/>
          </a:prstGeom>
          <a:noFill/>
          <a:ln w="28575">
            <a:solidFill>
              <a:srgbClr val="FF0000"/>
            </a:solidFill>
            <a:prstDash val="dash"/>
            <a:round/>
            <a:headEnd type="none" w="med" len="med"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Line 18"/>
          <p:cNvSpPr>
            <a:spLocks noChangeShapeType="1"/>
          </p:cNvSpPr>
          <p:nvPr/>
        </p:nvSpPr>
        <p:spPr bwMode="auto">
          <a:xfrm flipV="1">
            <a:off x="2121314" y="2039633"/>
            <a:ext cx="1610626" cy="10345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da-DK"/>
          </a:p>
        </p:txBody>
      </p:sp>
      <p:grpSp>
        <p:nvGrpSpPr>
          <p:cNvPr id="12" name="Group 11"/>
          <p:cNvGrpSpPr/>
          <p:nvPr/>
        </p:nvGrpSpPr>
        <p:grpSpPr>
          <a:xfrm>
            <a:off x="1990474" y="4084020"/>
            <a:ext cx="205262" cy="1072401"/>
            <a:chOff x="1906811" y="4077072"/>
            <a:chExt cx="288925" cy="1072401"/>
          </a:xfrm>
        </p:grpSpPr>
        <p:sp>
          <p:nvSpPr>
            <p:cNvPr id="38" name="AutoShape 10"/>
            <p:cNvSpPr>
              <a:spLocks noChangeArrowheads="1"/>
            </p:cNvSpPr>
            <p:nvPr/>
          </p:nvSpPr>
          <p:spPr bwMode="auto">
            <a:xfrm>
              <a:off x="1906811" y="4077072"/>
              <a:ext cx="288925" cy="215900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rgbClr val="703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endParaRPr lang="en-US" altLang="da-DK"/>
            </a:p>
          </p:txBody>
        </p:sp>
        <p:sp>
          <p:nvSpPr>
            <p:cNvPr id="39" name="Line 11"/>
            <p:cNvSpPr>
              <a:spLocks noChangeShapeType="1"/>
            </p:cNvSpPr>
            <p:nvPr/>
          </p:nvSpPr>
          <p:spPr bwMode="auto">
            <a:xfrm>
              <a:off x="2057399" y="4294414"/>
              <a:ext cx="11105" cy="855059"/>
            </a:xfrm>
            <a:prstGeom prst="line">
              <a:avLst/>
            </a:prstGeom>
            <a:noFill/>
            <a:ln w="28575">
              <a:solidFill>
                <a:srgbClr val="7030A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da-DK"/>
            </a:p>
          </p:txBody>
        </p:sp>
      </p:grpSp>
      <p:sp>
        <p:nvSpPr>
          <p:cNvPr id="42" name="Line 16"/>
          <p:cNvSpPr>
            <a:spLocks noChangeShapeType="1"/>
          </p:cNvSpPr>
          <p:nvPr/>
        </p:nvSpPr>
        <p:spPr bwMode="auto">
          <a:xfrm flipH="1">
            <a:off x="827583" y="4706878"/>
            <a:ext cx="6942" cy="502258"/>
          </a:xfrm>
          <a:prstGeom prst="line">
            <a:avLst/>
          </a:prstGeom>
          <a:noFill/>
          <a:ln w="28575">
            <a:solidFill>
              <a:srgbClr val="7030A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da-DK"/>
          </a:p>
        </p:txBody>
      </p:sp>
      <p:sp>
        <p:nvSpPr>
          <p:cNvPr id="43" name="Line 17"/>
          <p:cNvSpPr>
            <a:spLocks noChangeShapeType="1"/>
          </p:cNvSpPr>
          <p:nvPr/>
        </p:nvSpPr>
        <p:spPr bwMode="auto">
          <a:xfrm flipH="1">
            <a:off x="3707903" y="4706878"/>
            <a:ext cx="0" cy="502258"/>
          </a:xfrm>
          <a:prstGeom prst="line">
            <a:avLst/>
          </a:prstGeom>
          <a:noFill/>
          <a:ln w="28575">
            <a:solidFill>
              <a:srgbClr val="7030A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da-DK"/>
          </a:p>
        </p:txBody>
      </p:sp>
      <p:sp>
        <p:nvSpPr>
          <p:cNvPr id="44" name="Line 18"/>
          <p:cNvSpPr>
            <a:spLocks noChangeShapeType="1"/>
          </p:cNvSpPr>
          <p:nvPr/>
        </p:nvSpPr>
        <p:spPr bwMode="auto">
          <a:xfrm>
            <a:off x="834525" y="4706554"/>
            <a:ext cx="2899829" cy="324"/>
          </a:xfrm>
          <a:prstGeom prst="line">
            <a:avLst/>
          </a:prstGeom>
          <a:noFill/>
          <a:ln w="28575">
            <a:solidFill>
              <a:srgbClr val="7030A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da-DK"/>
          </a:p>
        </p:txBody>
      </p:sp>
      <p:sp>
        <p:nvSpPr>
          <p:cNvPr id="66" name="Text Box 21"/>
          <p:cNvSpPr txBox="1">
            <a:spLocks noChangeArrowheads="1"/>
          </p:cNvSpPr>
          <p:nvPr/>
        </p:nvSpPr>
        <p:spPr bwMode="auto">
          <a:xfrm>
            <a:off x="523630" y="1061438"/>
            <a:ext cx="2702169" cy="872547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FF"/>
            </a:solidFill>
          </a:ln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da-DK" altLang="da-DK" sz="1200" b="1" dirty="0">
                <a:solidFill>
                  <a:srgbClr val="0000FF"/>
                </a:solidFill>
              </a:rPr>
              <a:t>3 forskellige slags UML pile</a:t>
            </a:r>
          </a:p>
          <a:p>
            <a:pPr marL="176213" indent="-176213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da-DK" altLang="da-DK" sz="1200" b="1" dirty="0">
                <a:solidFill>
                  <a:srgbClr val="7030A0"/>
                </a:solidFill>
              </a:rPr>
              <a:t>Fuldt optrukne: nedarvning</a:t>
            </a:r>
          </a:p>
          <a:p>
            <a:pPr marL="176213" indent="-176213" eaLnBrk="1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da-DK" altLang="da-DK" sz="1200" b="1" dirty="0">
                <a:solidFill>
                  <a:srgbClr val="008000"/>
                </a:solidFill>
              </a:rPr>
              <a:t>Stiplede pile: implementation</a:t>
            </a:r>
          </a:p>
          <a:p>
            <a:pPr marL="176213" indent="-176213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da-DK" altLang="da-DK" sz="1200" b="1" dirty="0">
                <a:solidFill>
                  <a:srgbClr val="FF0000"/>
                </a:solidFill>
              </a:rPr>
              <a:t>Stiplede med åbent hoved: brug</a:t>
            </a:r>
            <a:r>
              <a:rPr lang="da-DK" altLang="da-DK" sz="1200" b="1" dirty="0">
                <a:solidFill>
                  <a:srgbClr val="008000"/>
                </a:solidFill>
              </a:rPr>
              <a:t>                  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563888" y="1124744"/>
            <a:ext cx="2598609" cy="1390124"/>
            <a:chOff x="3765173" y="1246788"/>
            <a:chExt cx="2598609" cy="1390124"/>
          </a:xfrm>
        </p:grpSpPr>
        <p:sp>
          <p:nvSpPr>
            <p:cNvPr id="78" name="Rectangle 19"/>
            <p:cNvSpPr>
              <a:spLocks noChangeArrowheads="1"/>
            </p:cNvSpPr>
            <p:nvPr/>
          </p:nvSpPr>
          <p:spPr bwMode="auto">
            <a:xfrm>
              <a:off x="3779388" y="1268760"/>
              <a:ext cx="2520803" cy="1368152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>
              <a:lvl1pPr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endParaRPr lang="en-US" altLang="da-DK"/>
            </a:p>
          </p:txBody>
        </p:sp>
        <p:sp>
          <p:nvSpPr>
            <p:cNvPr id="79" name="Text Box 5"/>
            <p:cNvSpPr txBox="1">
              <a:spLocks noChangeArrowheads="1"/>
            </p:cNvSpPr>
            <p:nvPr/>
          </p:nvSpPr>
          <p:spPr bwMode="auto">
            <a:xfrm>
              <a:off x="3786205" y="1246788"/>
              <a:ext cx="2577577" cy="1390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altLang="da-DK" b="1" dirty="0"/>
                <a:t>Collections</a:t>
              </a:r>
            </a:p>
            <a:p>
              <a:pPr eaLnBrk="1" hangingPunct="1">
                <a:spcBef>
                  <a:spcPts val="1000"/>
                </a:spcBef>
              </a:pPr>
              <a:r>
                <a:rPr lang="en-US" altLang="da-DK" sz="1400" b="1" dirty="0">
                  <a:solidFill>
                    <a:schemeClr val="tx1"/>
                  </a:solidFill>
                  <a:latin typeface="Courier New" pitchFamily="49" charset="0"/>
                </a:rPr>
                <a:t>T min(Collection&lt;T&gt; c)</a:t>
              </a:r>
            </a:p>
            <a:p>
              <a:pPr eaLnBrk="1" hangingPunct="1"/>
              <a:r>
                <a:rPr lang="en-US" altLang="da-DK" sz="1400" b="1" dirty="0">
                  <a:solidFill>
                    <a:schemeClr val="tx1"/>
                  </a:solidFill>
                  <a:latin typeface="Courier New" pitchFamily="49" charset="0"/>
                </a:rPr>
                <a:t>T max(Collection&lt;T&gt; c)</a:t>
              </a:r>
            </a:p>
            <a:p>
              <a:pPr eaLnBrk="1" hangingPunct="1"/>
              <a:r>
                <a:rPr lang="en-US" altLang="da-DK" sz="1400" b="1" dirty="0">
                  <a:solidFill>
                    <a:schemeClr val="tx1"/>
                  </a:solidFill>
                  <a:latin typeface="Courier New" pitchFamily="49" charset="0"/>
                </a:rPr>
                <a:t>void sort(List&lt;T&gt; l)</a:t>
              </a:r>
            </a:p>
            <a:p>
              <a:pPr eaLnBrk="1" hangingPunct="1"/>
              <a:r>
                <a:rPr lang="en-US" altLang="da-DK" sz="1400" b="1" dirty="0">
                  <a:solidFill>
                    <a:schemeClr val="tx1"/>
                  </a:solidFill>
                  <a:latin typeface="Courier New" pitchFamily="49" charset="0"/>
                </a:rPr>
                <a:t>...</a:t>
              </a:r>
            </a:p>
          </p:txBody>
        </p:sp>
        <p:sp>
          <p:nvSpPr>
            <p:cNvPr id="80" name="Line 13"/>
            <p:cNvSpPr>
              <a:spLocks noChangeShapeType="1"/>
            </p:cNvSpPr>
            <p:nvPr/>
          </p:nvSpPr>
          <p:spPr bwMode="auto">
            <a:xfrm flipV="1">
              <a:off x="3765173" y="1649751"/>
              <a:ext cx="2512059" cy="82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da-DK"/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6012160" y="2590600"/>
            <a:ext cx="2348048" cy="1271438"/>
            <a:chOff x="5633362" y="2674362"/>
            <a:chExt cx="2561728" cy="1271438"/>
          </a:xfrm>
        </p:grpSpPr>
        <p:sp>
          <p:nvSpPr>
            <p:cNvPr id="84" name="Rectangle 20"/>
            <p:cNvSpPr>
              <a:spLocks noChangeArrowheads="1"/>
            </p:cNvSpPr>
            <p:nvPr/>
          </p:nvSpPr>
          <p:spPr bwMode="auto">
            <a:xfrm>
              <a:off x="6012160" y="2817193"/>
              <a:ext cx="2014306" cy="1079500"/>
            </a:xfrm>
            <a:prstGeom prst="rect">
              <a:avLst/>
            </a:prstGeom>
            <a:solidFill>
              <a:srgbClr val="FFEB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>
              <a:lvl1pPr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endParaRPr lang="en-US" altLang="da-DK"/>
            </a:p>
          </p:txBody>
        </p:sp>
        <p:sp>
          <p:nvSpPr>
            <p:cNvPr id="85" name="Text Box 6"/>
            <p:cNvSpPr txBox="1">
              <a:spLocks noChangeArrowheads="1"/>
            </p:cNvSpPr>
            <p:nvPr/>
          </p:nvSpPr>
          <p:spPr bwMode="auto">
            <a:xfrm>
              <a:off x="5633362" y="2674362"/>
              <a:ext cx="2561728" cy="12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altLang="da-DK" sz="1400" b="1" dirty="0"/>
                <a:t>      &lt;&lt;interface&gt;&gt;</a:t>
              </a:r>
              <a:r>
                <a:rPr lang="en-US" altLang="da-DK" b="1" dirty="0"/>
                <a:t> </a:t>
              </a:r>
            </a:p>
            <a:p>
              <a:pPr algn="ctr" eaLnBrk="1" hangingPunct="1">
                <a:lnSpc>
                  <a:spcPct val="80000"/>
                </a:lnSpc>
              </a:pPr>
              <a:r>
                <a:rPr lang="en-US" altLang="da-DK" b="1" dirty="0"/>
                <a:t>   Comparable</a:t>
              </a:r>
            </a:p>
            <a:p>
              <a:pPr algn="ctr" eaLnBrk="1" hangingPunct="1">
                <a:spcBef>
                  <a:spcPts val="400"/>
                </a:spcBef>
              </a:pPr>
              <a:r>
                <a:rPr lang="da-DK" altLang="da-DK" sz="2400" b="1" dirty="0">
                  <a:solidFill>
                    <a:srgbClr val="FF0000"/>
                  </a:solidFill>
                  <a:latin typeface="Courier New" pitchFamily="49" charset="0"/>
                </a:rPr>
                <a:t> </a:t>
              </a:r>
              <a:r>
                <a:rPr lang="da-DK" altLang="da-DK" sz="1400" b="1" spc="-150" dirty="0">
                  <a:solidFill>
                    <a:schemeClr val="tx1"/>
                  </a:solidFill>
                  <a:latin typeface="Courier New" pitchFamily="49" charset="0"/>
                </a:rPr>
                <a:t>int compareTo(T o)</a:t>
              </a:r>
              <a:endParaRPr lang="en-US" altLang="da-DK" sz="1800" b="1" spc="-150" dirty="0"/>
            </a:p>
          </p:txBody>
        </p:sp>
        <p:sp>
          <p:nvSpPr>
            <p:cNvPr id="86" name="Line 13"/>
            <p:cNvSpPr>
              <a:spLocks noChangeShapeType="1"/>
            </p:cNvSpPr>
            <p:nvPr/>
          </p:nvSpPr>
          <p:spPr bwMode="auto">
            <a:xfrm>
              <a:off x="6012805" y="3463181"/>
              <a:ext cx="2013661" cy="63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da-DK"/>
            </a:p>
          </p:txBody>
        </p:sp>
      </p:grpSp>
      <p:sp>
        <p:nvSpPr>
          <p:cNvPr id="76" name="Text Box 15"/>
          <p:cNvSpPr txBox="1">
            <a:spLocks noChangeArrowheads="1"/>
          </p:cNvSpPr>
          <p:nvPr/>
        </p:nvSpPr>
        <p:spPr bwMode="auto">
          <a:xfrm>
            <a:off x="251520" y="5072983"/>
            <a:ext cx="1117164" cy="513200"/>
          </a:xfrm>
          <a:prstGeom prst="rect">
            <a:avLst/>
          </a:prstGeom>
          <a:solidFill>
            <a:srgbClr val="FFEB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no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altLang="da-DK" sz="1100" b="1" dirty="0"/>
              <a:t>&lt;&lt;interface&gt;&gt;</a:t>
            </a:r>
          </a:p>
          <a:p>
            <a:pPr algn="ctr" eaLnBrk="1" hangingPunct="1"/>
            <a:r>
              <a:rPr lang="en-US" altLang="da-DK" sz="1800" b="1" dirty="0"/>
              <a:t>List</a:t>
            </a:r>
          </a:p>
          <a:p>
            <a:pPr algn="ctr" eaLnBrk="1" hangingPunct="1"/>
            <a:endParaRPr lang="en-US" altLang="da-DK" sz="1200" b="1" dirty="0"/>
          </a:p>
        </p:txBody>
      </p:sp>
      <p:sp>
        <p:nvSpPr>
          <p:cNvPr id="77" name="Text Box 21"/>
          <p:cNvSpPr txBox="1">
            <a:spLocks noChangeArrowheads="1"/>
          </p:cNvSpPr>
          <p:nvPr/>
        </p:nvSpPr>
        <p:spPr bwMode="auto">
          <a:xfrm>
            <a:off x="2627784" y="5186954"/>
            <a:ext cx="455431" cy="254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da-DK" altLang="da-DK" sz="1600" b="1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81" name="Text Box 15"/>
          <p:cNvSpPr txBox="1">
            <a:spLocks noChangeArrowheads="1"/>
          </p:cNvSpPr>
          <p:nvPr/>
        </p:nvSpPr>
        <p:spPr bwMode="auto">
          <a:xfrm>
            <a:off x="1531258" y="5066918"/>
            <a:ext cx="1096526" cy="517814"/>
          </a:xfrm>
          <a:prstGeom prst="rect">
            <a:avLst/>
          </a:prstGeom>
          <a:solidFill>
            <a:srgbClr val="FFEB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no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altLang="da-DK" sz="1100" b="1" dirty="0"/>
              <a:t>&lt;&lt;interface&gt;&gt;</a:t>
            </a:r>
          </a:p>
          <a:p>
            <a:pPr algn="ctr" eaLnBrk="1" hangingPunct="1"/>
            <a:r>
              <a:rPr lang="en-US" altLang="da-DK" sz="1800" b="1" dirty="0"/>
              <a:t>Queue</a:t>
            </a:r>
          </a:p>
          <a:p>
            <a:pPr algn="ctr" eaLnBrk="1" hangingPunct="1"/>
            <a:endParaRPr lang="en-US" altLang="da-DK" sz="1200" b="1" dirty="0"/>
          </a:p>
        </p:txBody>
      </p:sp>
      <p:sp>
        <p:nvSpPr>
          <p:cNvPr id="89" name="Text Box 15"/>
          <p:cNvSpPr txBox="1">
            <a:spLocks noChangeArrowheads="1"/>
          </p:cNvSpPr>
          <p:nvPr/>
        </p:nvSpPr>
        <p:spPr bwMode="auto">
          <a:xfrm>
            <a:off x="3059832" y="5071083"/>
            <a:ext cx="1147352" cy="515099"/>
          </a:xfrm>
          <a:prstGeom prst="rect">
            <a:avLst/>
          </a:prstGeom>
          <a:solidFill>
            <a:srgbClr val="FFEB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no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altLang="da-DK" sz="1100" b="1" dirty="0"/>
              <a:t>&lt;&lt;interface&gt;&gt;</a:t>
            </a:r>
          </a:p>
          <a:p>
            <a:pPr algn="ctr" eaLnBrk="1" hangingPunct="1"/>
            <a:r>
              <a:rPr lang="en-US" altLang="da-DK" sz="1800" b="1" dirty="0"/>
              <a:t>Set</a:t>
            </a:r>
          </a:p>
          <a:p>
            <a:pPr algn="ctr" eaLnBrk="1" hangingPunct="1"/>
            <a:endParaRPr lang="en-US" altLang="da-DK" sz="1200" b="1" dirty="0"/>
          </a:p>
        </p:txBody>
      </p:sp>
      <p:sp>
        <p:nvSpPr>
          <p:cNvPr id="90" name="Text Box 15"/>
          <p:cNvSpPr txBox="1">
            <a:spLocks noChangeArrowheads="1"/>
          </p:cNvSpPr>
          <p:nvPr/>
        </p:nvSpPr>
        <p:spPr bwMode="auto">
          <a:xfrm>
            <a:off x="107504" y="6260967"/>
            <a:ext cx="1239502" cy="378624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no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altLang="da-DK" sz="1800" b="1" dirty="0" err="1"/>
              <a:t>ArrayList</a:t>
            </a:r>
            <a:endParaRPr lang="en-US" altLang="da-DK" sz="1800" b="1" dirty="0"/>
          </a:p>
          <a:p>
            <a:pPr algn="ctr" eaLnBrk="1" hangingPunct="1"/>
            <a:endParaRPr lang="en-US" altLang="da-DK" sz="1200" b="1" dirty="0"/>
          </a:p>
        </p:txBody>
      </p:sp>
      <p:sp>
        <p:nvSpPr>
          <p:cNvPr id="91" name="Text Box 15"/>
          <p:cNvSpPr txBox="1">
            <a:spLocks noChangeArrowheads="1"/>
          </p:cNvSpPr>
          <p:nvPr/>
        </p:nvSpPr>
        <p:spPr bwMode="auto">
          <a:xfrm>
            <a:off x="3064427" y="6256695"/>
            <a:ext cx="1128378" cy="378624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no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altLang="da-DK" sz="1800" b="1" dirty="0" err="1"/>
              <a:t>HashSet</a:t>
            </a:r>
            <a:endParaRPr lang="en-US" altLang="da-DK" sz="1800" b="1" dirty="0"/>
          </a:p>
          <a:p>
            <a:pPr algn="ctr" eaLnBrk="1" hangingPunct="1"/>
            <a:endParaRPr lang="en-US" altLang="da-DK" sz="1200" b="1" dirty="0"/>
          </a:p>
        </p:txBody>
      </p:sp>
      <p:sp>
        <p:nvSpPr>
          <p:cNvPr id="92" name="Text Box 15"/>
          <p:cNvSpPr txBox="1">
            <a:spLocks noChangeArrowheads="1"/>
          </p:cNvSpPr>
          <p:nvPr/>
        </p:nvSpPr>
        <p:spPr bwMode="auto">
          <a:xfrm>
            <a:off x="1474907" y="6260967"/>
            <a:ext cx="1464298" cy="378624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no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altLang="da-DK" sz="1800" b="1" dirty="0" err="1"/>
              <a:t>LinkedList</a:t>
            </a:r>
            <a:endParaRPr lang="en-US" altLang="da-DK" sz="1800" b="1" dirty="0"/>
          </a:p>
          <a:p>
            <a:pPr algn="ctr" eaLnBrk="1" hangingPunct="1"/>
            <a:endParaRPr lang="en-US" altLang="da-DK" sz="1200" b="1" dirty="0"/>
          </a:p>
        </p:txBody>
      </p:sp>
      <p:grpSp>
        <p:nvGrpSpPr>
          <p:cNvPr id="93" name="Group 92"/>
          <p:cNvGrpSpPr/>
          <p:nvPr/>
        </p:nvGrpSpPr>
        <p:grpSpPr>
          <a:xfrm>
            <a:off x="683568" y="5631479"/>
            <a:ext cx="209529" cy="629488"/>
            <a:chOff x="611560" y="5733256"/>
            <a:chExt cx="209529" cy="629488"/>
          </a:xfrm>
        </p:grpSpPr>
        <p:sp>
          <p:nvSpPr>
            <p:cNvPr id="94" name="Line 11"/>
            <p:cNvSpPr>
              <a:spLocks noChangeShapeType="1"/>
            </p:cNvSpPr>
            <p:nvPr/>
          </p:nvSpPr>
          <p:spPr bwMode="auto">
            <a:xfrm flipH="1">
              <a:off x="708971" y="5907011"/>
              <a:ext cx="0" cy="455733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da-DK"/>
            </a:p>
          </p:txBody>
        </p:sp>
        <p:sp>
          <p:nvSpPr>
            <p:cNvPr id="95" name="AutoShape 10"/>
            <p:cNvSpPr>
              <a:spLocks noChangeArrowheads="1"/>
            </p:cNvSpPr>
            <p:nvPr/>
          </p:nvSpPr>
          <p:spPr bwMode="auto">
            <a:xfrm>
              <a:off x="611560" y="5733256"/>
              <a:ext cx="209529" cy="186050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rgbClr val="008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endParaRPr lang="en-US" altLang="da-DK"/>
            </a:p>
          </p:txBody>
        </p:sp>
      </p:grpSp>
      <p:sp>
        <p:nvSpPr>
          <p:cNvPr id="96" name="Line 11"/>
          <p:cNvSpPr>
            <a:spLocks noChangeShapeType="1"/>
          </p:cNvSpPr>
          <p:nvPr/>
        </p:nvSpPr>
        <p:spPr bwMode="auto">
          <a:xfrm flipH="1">
            <a:off x="2083618" y="5805234"/>
            <a:ext cx="0" cy="455733"/>
          </a:xfrm>
          <a:prstGeom prst="line">
            <a:avLst/>
          </a:prstGeom>
          <a:noFill/>
          <a:ln w="28575">
            <a:solidFill>
              <a:srgbClr val="008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da-DK"/>
          </a:p>
        </p:txBody>
      </p:sp>
      <p:sp>
        <p:nvSpPr>
          <p:cNvPr id="97" name="AutoShape 10"/>
          <p:cNvSpPr>
            <a:spLocks noChangeArrowheads="1"/>
          </p:cNvSpPr>
          <p:nvPr/>
        </p:nvSpPr>
        <p:spPr bwMode="auto">
          <a:xfrm>
            <a:off x="1986207" y="5631479"/>
            <a:ext cx="209529" cy="186050"/>
          </a:xfrm>
          <a:prstGeom prst="triangle">
            <a:avLst>
              <a:gd name="adj" fmla="val 50000"/>
            </a:avLst>
          </a:prstGeom>
          <a:noFill/>
          <a:ln w="28575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endParaRPr lang="en-US" altLang="da-DK"/>
          </a:p>
        </p:txBody>
      </p:sp>
      <p:grpSp>
        <p:nvGrpSpPr>
          <p:cNvPr id="98" name="Group 97"/>
          <p:cNvGrpSpPr/>
          <p:nvPr/>
        </p:nvGrpSpPr>
        <p:grpSpPr>
          <a:xfrm>
            <a:off x="3570383" y="5631479"/>
            <a:ext cx="209529" cy="629488"/>
            <a:chOff x="3498375" y="5733256"/>
            <a:chExt cx="209529" cy="629488"/>
          </a:xfrm>
        </p:grpSpPr>
        <p:sp>
          <p:nvSpPr>
            <p:cNvPr id="99" name="Line 11"/>
            <p:cNvSpPr>
              <a:spLocks noChangeShapeType="1"/>
            </p:cNvSpPr>
            <p:nvPr/>
          </p:nvSpPr>
          <p:spPr bwMode="auto">
            <a:xfrm flipH="1">
              <a:off x="3595786" y="5907011"/>
              <a:ext cx="0" cy="455733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da-DK"/>
            </a:p>
          </p:txBody>
        </p:sp>
        <p:sp>
          <p:nvSpPr>
            <p:cNvPr id="100" name="AutoShape 10"/>
            <p:cNvSpPr>
              <a:spLocks noChangeArrowheads="1"/>
            </p:cNvSpPr>
            <p:nvPr/>
          </p:nvSpPr>
          <p:spPr bwMode="auto">
            <a:xfrm>
              <a:off x="3498375" y="5733256"/>
              <a:ext cx="209529" cy="186050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rgbClr val="008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endParaRPr lang="en-US" altLang="da-DK"/>
            </a:p>
          </p:txBody>
        </p:sp>
      </p:grpSp>
      <p:sp>
        <p:nvSpPr>
          <p:cNvPr id="104" name="Line 11"/>
          <p:cNvSpPr>
            <a:spLocks noChangeShapeType="1"/>
          </p:cNvSpPr>
          <p:nvPr/>
        </p:nvSpPr>
        <p:spPr bwMode="auto">
          <a:xfrm rot="20084575" flipH="1">
            <a:off x="1465910" y="5783450"/>
            <a:ext cx="0" cy="455733"/>
          </a:xfrm>
          <a:prstGeom prst="line">
            <a:avLst/>
          </a:prstGeom>
          <a:noFill/>
          <a:ln w="28575">
            <a:solidFill>
              <a:srgbClr val="008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da-DK"/>
          </a:p>
        </p:txBody>
      </p:sp>
      <p:sp>
        <p:nvSpPr>
          <p:cNvPr id="105" name="AutoShape 10"/>
          <p:cNvSpPr>
            <a:spLocks noChangeArrowheads="1"/>
          </p:cNvSpPr>
          <p:nvPr/>
        </p:nvSpPr>
        <p:spPr bwMode="auto">
          <a:xfrm rot="20084575">
            <a:off x="1227320" y="5603613"/>
            <a:ext cx="209529" cy="186050"/>
          </a:xfrm>
          <a:prstGeom prst="triangle">
            <a:avLst>
              <a:gd name="adj" fmla="val 50000"/>
            </a:avLst>
          </a:prstGeom>
          <a:noFill/>
          <a:ln w="28575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endParaRPr lang="en-US" altLang="da-DK"/>
          </a:p>
        </p:txBody>
      </p:sp>
      <p:sp>
        <p:nvSpPr>
          <p:cNvPr id="53" name="Text Box 7"/>
          <p:cNvSpPr txBox="1">
            <a:spLocks noChangeArrowheads="1"/>
          </p:cNvSpPr>
          <p:nvPr/>
        </p:nvSpPr>
        <p:spPr bwMode="auto">
          <a:xfrm>
            <a:off x="6198230" y="6285821"/>
            <a:ext cx="865635" cy="378624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no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altLang="da-DK" sz="1800" b="1" dirty="0"/>
              <a:t>Adult </a:t>
            </a:r>
          </a:p>
          <a:p>
            <a:pPr algn="ctr" eaLnBrk="1" hangingPunct="1"/>
            <a:endParaRPr lang="en-US" altLang="da-DK" sz="1200" b="1" dirty="0"/>
          </a:p>
        </p:txBody>
      </p:sp>
      <p:sp>
        <p:nvSpPr>
          <p:cNvPr id="54" name="Text Box 7"/>
          <p:cNvSpPr txBox="1">
            <a:spLocks noChangeArrowheads="1"/>
          </p:cNvSpPr>
          <p:nvPr/>
        </p:nvSpPr>
        <p:spPr bwMode="auto">
          <a:xfrm>
            <a:off x="7287666" y="6290736"/>
            <a:ext cx="900101" cy="378624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no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altLang="da-DK" sz="1800" b="1" dirty="0"/>
              <a:t>Child</a:t>
            </a:r>
          </a:p>
          <a:p>
            <a:pPr algn="ctr" eaLnBrk="1" hangingPunct="1"/>
            <a:r>
              <a:rPr lang="en-US" altLang="da-DK" sz="1200" b="1" dirty="0"/>
              <a:t>                            </a:t>
            </a:r>
          </a:p>
        </p:txBody>
      </p:sp>
      <p:grpSp>
        <p:nvGrpSpPr>
          <p:cNvPr id="55" name="Group 54"/>
          <p:cNvGrpSpPr/>
          <p:nvPr/>
        </p:nvGrpSpPr>
        <p:grpSpPr>
          <a:xfrm rot="1240195">
            <a:off x="6808365" y="5502408"/>
            <a:ext cx="200325" cy="819301"/>
            <a:chOff x="1906811" y="4077072"/>
            <a:chExt cx="288925" cy="1072401"/>
          </a:xfrm>
        </p:grpSpPr>
        <p:sp>
          <p:nvSpPr>
            <p:cNvPr id="56" name="AutoShape 10"/>
            <p:cNvSpPr>
              <a:spLocks noChangeArrowheads="1"/>
            </p:cNvSpPr>
            <p:nvPr/>
          </p:nvSpPr>
          <p:spPr bwMode="auto">
            <a:xfrm>
              <a:off x="1906811" y="4077072"/>
              <a:ext cx="288925" cy="215900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rgbClr val="703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endParaRPr lang="en-US" altLang="da-DK"/>
            </a:p>
          </p:txBody>
        </p:sp>
        <p:sp>
          <p:nvSpPr>
            <p:cNvPr id="57" name="Line 11"/>
            <p:cNvSpPr>
              <a:spLocks noChangeShapeType="1"/>
            </p:cNvSpPr>
            <p:nvPr/>
          </p:nvSpPr>
          <p:spPr bwMode="auto">
            <a:xfrm>
              <a:off x="2057399" y="4294414"/>
              <a:ext cx="11105" cy="855059"/>
            </a:xfrm>
            <a:prstGeom prst="line">
              <a:avLst/>
            </a:prstGeom>
            <a:noFill/>
            <a:ln w="28575">
              <a:solidFill>
                <a:srgbClr val="7030A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da-DK"/>
            </a:p>
          </p:txBody>
        </p:sp>
      </p:grpSp>
      <p:grpSp>
        <p:nvGrpSpPr>
          <p:cNvPr id="64" name="Group 63"/>
          <p:cNvGrpSpPr/>
          <p:nvPr/>
        </p:nvGrpSpPr>
        <p:grpSpPr>
          <a:xfrm rot="20504199">
            <a:off x="7430487" y="5502642"/>
            <a:ext cx="201940" cy="819301"/>
            <a:chOff x="1906811" y="4077072"/>
            <a:chExt cx="288925" cy="1072401"/>
          </a:xfrm>
        </p:grpSpPr>
        <p:sp>
          <p:nvSpPr>
            <p:cNvPr id="65" name="AutoShape 10"/>
            <p:cNvSpPr>
              <a:spLocks noChangeArrowheads="1"/>
            </p:cNvSpPr>
            <p:nvPr/>
          </p:nvSpPr>
          <p:spPr bwMode="auto">
            <a:xfrm>
              <a:off x="1906811" y="4077072"/>
              <a:ext cx="288925" cy="215900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rgbClr val="703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endParaRPr lang="en-US" altLang="da-DK"/>
            </a:p>
          </p:txBody>
        </p:sp>
        <p:sp>
          <p:nvSpPr>
            <p:cNvPr id="67" name="Line 11"/>
            <p:cNvSpPr>
              <a:spLocks noChangeShapeType="1"/>
            </p:cNvSpPr>
            <p:nvPr/>
          </p:nvSpPr>
          <p:spPr bwMode="auto">
            <a:xfrm>
              <a:off x="2057399" y="4294414"/>
              <a:ext cx="11105" cy="855059"/>
            </a:xfrm>
            <a:prstGeom prst="line">
              <a:avLst/>
            </a:prstGeom>
            <a:noFill/>
            <a:ln w="28575">
              <a:solidFill>
                <a:srgbClr val="7030A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da-DK"/>
            </a:p>
          </p:txBody>
        </p:sp>
      </p:grpSp>
    </p:spTree>
    <p:extLst>
      <p:ext uri="{BB962C8B-B14F-4D97-AF65-F5344CB8AC3E}">
        <p14:creationId xmlns:p14="http://schemas.microsoft.com/office/powerpoint/2010/main" val="2356946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altLang="da-DK" sz="3200" dirty="0">
                <a:solidFill>
                  <a:srgbClr val="C00000"/>
                </a:solidFill>
                <a:cs typeface="Arial"/>
              </a:rPr>
              <a:t>●</a:t>
            </a:r>
            <a:r>
              <a:rPr lang="da-DK" altLang="da-DK" sz="3200" dirty="0">
                <a:cs typeface="Arial"/>
              </a:rPr>
              <a:t> </a:t>
            </a:r>
            <a:r>
              <a:rPr lang="da-DK" sz="3200" dirty="0"/>
              <a:t>Funktionelle interfaces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67544" y="1052736"/>
            <a:ext cx="8424936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rgbClr val="000066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ts val="1200"/>
              </a:spcBef>
            </a:pPr>
            <a:r>
              <a:rPr lang="da-DK" sz="2000" dirty="0"/>
              <a:t>Et funktionelt interface har </a:t>
            </a:r>
            <a:r>
              <a:rPr lang="da-DK" sz="2000" dirty="0">
                <a:solidFill>
                  <a:srgbClr val="008000"/>
                </a:solidFill>
              </a:rPr>
              <a:t>én</a:t>
            </a:r>
            <a:r>
              <a:rPr lang="da-DK" sz="2000" dirty="0"/>
              <a:t> enkelt </a:t>
            </a:r>
            <a:r>
              <a:rPr lang="da-DK" sz="2000" dirty="0">
                <a:solidFill>
                  <a:srgbClr val="008000"/>
                </a:solidFill>
              </a:rPr>
              <a:t>abstract</a:t>
            </a:r>
            <a:r>
              <a:rPr lang="da-DK" sz="2000" dirty="0"/>
              <a:t> metode</a:t>
            </a:r>
            <a:endParaRPr lang="da-DK" sz="2000" dirty="0">
              <a:solidFill>
                <a:srgbClr val="008000"/>
              </a:solidFill>
            </a:endParaRPr>
          </a:p>
          <a:p>
            <a:pPr lvl="1">
              <a:spcBef>
                <a:spcPts val="600"/>
              </a:spcBef>
            </a:pPr>
            <a:r>
              <a:rPr lang="da-DK" sz="1800" kern="0" dirty="0"/>
              <a:t>De steder, hvor man skal bruge et objekt,</a:t>
            </a:r>
            <a:br>
              <a:rPr lang="da-DK" sz="1800" kern="0" dirty="0"/>
            </a:br>
            <a:r>
              <a:rPr lang="da-DK" sz="1800" kern="0" dirty="0"/>
              <a:t>hvis type er et funktionelt interface,</a:t>
            </a:r>
            <a:br>
              <a:rPr lang="da-DK" sz="1800" kern="0" dirty="0"/>
            </a:br>
            <a:r>
              <a:rPr lang="da-DK" sz="1800" kern="0" dirty="0"/>
              <a:t>kan man i stedet bruge en lambda</a:t>
            </a:r>
          </a:p>
          <a:p>
            <a:pPr marL="342900" lvl="1" indent="-342900">
              <a:spcBef>
                <a:spcPts val="1200"/>
              </a:spcBef>
              <a:buChar char="•"/>
            </a:pPr>
            <a:r>
              <a:rPr lang="da-DK" b="1" dirty="0">
                <a:solidFill>
                  <a:srgbClr val="A50021"/>
                </a:solidFill>
                <a:cs typeface="ＭＳ Ｐゴシック" charset="-128"/>
              </a:rPr>
              <a:t>Man kan erklære variabler, hvis type er et funktionelt interface</a:t>
            </a:r>
          </a:p>
          <a:p>
            <a:pPr lvl="1">
              <a:spcBef>
                <a:spcPts val="600"/>
              </a:spcBef>
            </a:pPr>
            <a:r>
              <a:rPr lang="da-DK" sz="1800" kern="0" dirty="0"/>
              <a:t>Dermed bliver det muligt at </a:t>
            </a:r>
            <a:r>
              <a:rPr lang="da-DK" sz="1800" b="1" kern="0" dirty="0">
                <a:solidFill>
                  <a:srgbClr val="008000"/>
                </a:solidFill>
              </a:rPr>
              <a:t>assigne lambda'er</a:t>
            </a:r>
            <a:r>
              <a:rPr lang="da-DK" sz="1800" kern="0" dirty="0"/>
              <a:t> til variabler, og dermed bruge dem forskellige steder i programmet, f.eks. som parameterværdier</a:t>
            </a:r>
          </a:p>
          <a:p>
            <a:pPr marL="342900" lvl="1" indent="-342900">
              <a:spcBef>
                <a:spcPts val="1200"/>
              </a:spcBef>
              <a:buChar char="•"/>
            </a:pPr>
            <a:r>
              <a:rPr lang="da-DK" b="1" dirty="0" err="1">
                <a:solidFill>
                  <a:srgbClr val="A50021"/>
                </a:solidFill>
                <a:cs typeface="ＭＳ Ｐゴシック" charset="-128"/>
              </a:rPr>
              <a:t>java.util.function</a:t>
            </a:r>
            <a:r>
              <a:rPr lang="da-DK" b="1" dirty="0">
                <a:solidFill>
                  <a:srgbClr val="A50021"/>
                </a:solidFill>
                <a:cs typeface="ＭＳ Ｐゴシック" charset="-128"/>
              </a:rPr>
              <a:t> definerer en række funktionelle interfaces, bl.a.</a:t>
            </a:r>
          </a:p>
          <a:p>
            <a:pPr lvl="1">
              <a:spcBef>
                <a:spcPts val="600"/>
              </a:spcBef>
            </a:pPr>
            <a:r>
              <a:rPr lang="da-DK" sz="1800" b="1" kern="0" dirty="0" err="1">
                <a:solidFill>
                  <a:srgbClr val="008000"/>
                </a:solidFill>
              </a:rPr>
              <a:t>Predicate</a:t>
            </a:r>
            <a:r>
              <a:rPr lang="da-DK" sz="1800" kern="0" dirty="0">
                <a:solidFill>
                  <a:srgbClr val="008000"/>
                </a:solidFill>
              </a:rPr>
              <a:t> </a:t>
            </a:r>
            <a:r>
              <a:rPr lang="da-DK" sz="1800" kern="0" dirty="0"/>
              <a:t>bruges til lambda'er, der returnerer en </a:t>
            </a:r>
            <a:r>
              <a:rPr lang="da-DK" sz="1800" kern="0" dirty="0" err="1"/>
              <a:t>boolsk</a:t>
            </a:r>
            <a:r>
              <a:rPr lang="da-DK" sz="1800" kern="0" dirty="0"/>
              <a:t> værdi</a:t>
            </a:r>
          </a:p>
          <a:p>
            <a:pPr lvl="1">
              <a:spcBef>
                <a:spcPts val="600"/>
              </a:spcBef>
            </a:pPr>
            <a:r>
              <a:rPr lang="da-DK" sz="1800" b="1" kern="0" dirty="0" err="1">
                <a:solidFill>
                  <a:srgbClr val="008000"/>
                </a:solidFill>
              </a:rPr>
              <a:t>BinaryOperator</a:t>
            </a:r>
            <a:r>
              <a:rPr lang="da-DK" sz="1800" kern="0" dirty="0">
                <a:solidFill>
                  <a:srgbClr val="008000"/>
                </a:solidFill>
              </a:rPr>
              <a:t> </a:t>
            </a:r>
            <a:r>
              <a:rPr lang="da-DK" sz="1800" kern="0" dirty="0"/>
              <a:t>bruges til lambda'er, hvor de to parametre og returværdien er af samme type (f.eks. String x String </a:t>
            </a:r>
            <a:r>
              <a:rPr lang="da-DK" sz="1800" kern="0" dirty="0">
                <a:sym typeface="Wingdings" panose="05000000000000000000" pitchFamily="2" charset="2"/>
              </a:rPr>
              <a:t></a:t>
            </a:r>
            <a:r>
              <a:rPr lang="da-DK" sz="1800" kern="0" dirty="0"/>
              <a:t> String)</a:t>
            </a:r>
          </a:p>
          <a:p>
            <a:pPr lvl="1">
              <a:spcBef>
                <a:spcPts val="600"/>
              </a:spcBef>
            </a:pPr>
            <a:r>
              <a:rPr lang="da-DK" sz="1800" b="1" kern="0" dirty="0" err="1">
                <a:solidFill>
                  <a:srgbClr val="008000"/>
                </a:solidFill>
              </a:rPr>
              <a:t>UnaryOperator</a:t>
            </a:r>
            <a:r>
              <a:rPr lang="da-DK" sz="1800" kern="0" dirty="0">
                <a:solidFill>
                  <a:srgbClr val="008000"/>
                </a:solidFill>
              </a:rPr>
              <a:t> </a:t>
            </a:r>
            <a:r>
              <a:rPr lang="da-DK" sz="1800" kern="0" dirty="0"/>
              <a:t>bruges til lambda'er, hvor parameteren og returværdien er af samme type (f.eks. String </a:t>
            </a:r>
            <a:r>
              <a:rPr lang="da-DK" sz="1800" kern="0" dirty="0">
                <a:sym typeface="Wingdings" panose="05000000000000000000" pitchFamily="2" charset="2"/>
              </a:rPr>
              <a:t></a:t>
            </a:r>
            <a:r>
              <a:rPr lang="da-DK" sz="1800" kern="0" dirty="0"/>
              <a:t> String)</a:t>
            </a:r>
          </a:p>
          <a:p>
            <a:pPr lvl="1">
              <a:spcBef>
                <a:spcPts val="600"/>
              </a:spcBef>
            </a:pPr>
            <a:r>
              <a:rPr lang="da-DK" sz="1800" b="1" kern="0" dirty="0" err="1">
                <a:solidFill>
                  <a:srgbClr val="008000"/>
                </a:solidFill>
              </a:rPr>
              <a:t>Function</a:t>
            </a:r>
            <a:r>
              <a:rPr lang="da-DK" sz="1800" kern="0" dirty="0">
                <a:solidFill>
                  <a:srgbClr val="008000"/>
                </a:solidFill>
              </a:rPr>
              <a:t> </a:t>
            </a:r>
            <a:r>
              <a:rPr lang="da-DK" sz="1800" kern="0" dirty="0"/>
              <a:t>bruges til lambda'er, hvor parameteren og returværdien er af forskellig type (f.eks. String </a:t>
            </a:r>
            <a:r>
              <a:rPr lang="da-DK" sz="1800" kern="0" dirty="0">
                <a:sym typeface="Wingdings" panose="05000000000000000000" pitchFamily="2" charset="2"/>
              </a:rPr>
              <a:t> Integer)</a:t>
            </a:r>
            <a:endParaRPr lang="da-DK" sz="1800" kern="0" dirty="0"/>
          </a:p>
          <a:p>
            <a:pPr lvl="1">
              <a:spcBef>
                <a:spcPts val="600"/>
              </a:spcBef>
            </a:pPr>
            <a:r>
              <a:rPr lang="da-DK" sz="1800" b="1" kern="0" dirty="0">
                <a:solidFill>
                  <a:srgbClr val="008000"/>
                </a:solidFill>
              </a:rPr>
              <a:t>Consumer</a:t>
            </a:r>
            <a:r>
              <a:rPr lang="da-DK" sz="1800" kern="0" dirty="0">
                <a:solidFill>
                  <a:srgbClr val="008000"/>
                </a:solidFill>
              </a:rPr>
              <a:t> </a:t>
            </a:r>
            <a:r>
              <a:rPr lang="da-DK" sz="1800" kern="0" dirty="0"/>
              <a:t>bruges til lambda'er der ikke returnerer en værdi, men typisk </a:t>
            </a:r>
            <a:r>
              <a:rPr lang="da-DK" sz="1800" kern="0" spc="-40" dirty="0"/>
              <a:t>har en sideeffekt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496696" y="6395842"/>
            <a:ext cx="647304" cy="457200"/>
          </a:xfrm>
          <a:prstGeom prst="rect">
            <a:avLst/>
          </a:prstGeom>
        </p:spPr>
        <p:txBody>
          <a:bodyPr/>
          <a:lstStyle/>
          <a:p>
            <a:fld id="{D5F120ED-4883-459A-AC97-4FAD8D591FCC}" type="slidenum">
              <a:rPr lang="da-DK" altLang="da-DK" smtClean="0"/>
              <a:pPr/>
              <a:t>13</a:t>
            </a:fld>
            <a:endParaRPr lang="da-DK" altLang="da-DK" dirty="0"/>
          </a:p>
        </p:txBody>
      </p:sp>
      <p:sp>
        <p:nvSpPr>
          <p:cNvPr id="6" name="Text Box 21"/>
          <p:cNvSpPr txBox="1">
            <a:spLocks noChangeArrowheads="1"/>
          </p:cNvSpPr>
          <p:nvPr/>
        </p:nvSpPr>
        <p:spPr bwMode="auto">
          <a:xfrm>
            <a:off x="5832400" y="1569709"/>
            <a:ext cx="2664296" cy="674031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FF"/>
            </a:solidFill>
          </a:ln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da-DK" altLang="da-DK" sz="1400" b="1" dirty="0">
                <a:solidFill>
                  <a:srgbClr val="0000FF"/>
                </a:solidFill>
              </a:rPr>
              <a:t>Comparable har også kun én abstract metode, men er </a:t>
            </a:r>
            <a:r>
              <a:rPr lang="da-DK" altLang="da-DK" sz="1400" b="1" dirty="0">
                <a:solidFill>
                  <a:srgbClr val="008000"/>
                </a:solidFill>
              </a:rPr>
              <a:t>ikke</a:t>
            </a:r>
            <a:r>
              <a:rPr lang="da-DK" altLang="da-DK" sz="1400" b="1" dirty="0">
                <a:solidFill>
                  <a:srgbClr val="0000FF"/>
                </a:solidFill>
              </a:rPr>
              <a:t> et funktionelt interface</a:t>
            </a:r>
            <a:endParaRPr lang="da-DK" altLang="da-DK" sz="1400" b="1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8741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568183" cy="682625"/>
          </a:xfrm>
        </p:spPr>
        <p:txBody>
          <a:bodyPr/>
          <a:lstStyle/>
          <a:p>
            <a:pPr eaLnBrk="1" hangingPunct="1"/>
            <a:r>
              <a:rPr lang="da-DK" altLang="da-DK" sz="3000" dirty="0">
                <a:ea typeface="ＭＳ Ｐゴシック" pitchFamily="34" charset="-128"/>
              </a:rPr>
              <a:t>Metoder i Stream interfacet</a:t>
            </a:r>
            <a:endParaRPr lang="da-DK" altLang="da-DK" sz="3000" noProof="0" dirty="0">
              <a:ea typeface="ＭＳ Ｐゴシック" pitchFamily="34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532440" y="6400800"/>
            <a:ext cx="648072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CA5836E-6711-417F-AF48-31ACC3CF4030}" type="slidenum">
              <a:rPr lang="da-DK" altLang="da-DK" smtClean="0"/>
              <a:pPr>
                <a:defRPr/>
              </a:pPr>
              <a:t>14</a:t>
            </a:fld>
            <a:endParaRPr lang="da-DK" altLang="da-DK" dirty="0"/>
          </a:p>
        </p:txBody>
      </p:sp>
      <p:sp>
        <p:nvSpPr>
          <p:cNvPr id="31" name="Content Placeholder 2"/>
          <p:cNvSpPr txBox="1">
            <a:spLocks/>
          </p:cNvSpPr>
          <p:nvPr/>
        </p:nvSpPr>
        <p:spPr bwMode="auto">
          <a:xfrm>
            <a:off x="506333" y="1109716"/>
            <a:ext cx="8530163" cy="2031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r>
              <a:rPr lang="da-DK" sz="2000" kern="0" dirty="0"/>
              <a:t>I Stream interfacet er parametrene til </a:t>
            </a:r>
            <a:r>
              <a:rPr lang="da-DK" sz="2000" kern="0" dirty="0" err="1">
                <a:solidFill>
                  <a:srgbClr val="008000"/>
                </a:solidFill>
              </a:rPr>
              <a:t>peek</a:t>
            </a:r>
            <a:r>
              <a:rPr lang="da-DK" sz="2000" kern="0" dirty="0"/>
              <a:t>, </a:t>
            </a:r>
            <a:r>
              <a:rPr lang="da-DK" sz="2000" kern="0" dirty="0">
                <a:solidFill>
                  <a:srgbClr val="008000"/>
                </a:solidFill>
              </a:rPr>
              <a:t>filter</a:t>
            </a:r>
            <a:r>
              <a:rPr lang="da-DK" sz="2000" kern="0" dirty="0"/>
              <a:t>, </a:t>
            </a:r>
            <a:r>
              <a:rPr lang="da-DK" sz="2000" kern="0" spc="-50" dirty="0" err="1">
                <a:solidFill>
                  <a:srgbClr val="008000"/>
                </a:solidFill>
              </a:rPr>
              <a:t>map</a:t>
            </a:r>
            <a:r>
              <a:rPr lang="da-DK" sz="2000" kern="0" spc="-50" dirty="0"/>
              <a:t> og </a:t>
            </a:r>
            <a:r>
              <a:rPr lang="da-DK" sz="2000" kern="0" spc="-50" dirty="0" err="1">
                <a:solidFill>
                  <a:srgbClr val="008000"/>
                </a:solidFill>
              </a:rPr>
              <a:t>reduce</a:t>
            </a:r>
            <a:r>
              <a:rPr lang="da-DK" sz="2000" kern="0" spc="-50" dirty="0"/>
              <a:t> metoderne funktionelle interfaces</a:t>
            </a:r>
            <a:endParaRPr lang="da-DK" sz="2000" kern="0" spc="-50" dirty="0">
              <a:solidFill>
                <a:srgbClr val="008000"/>
              </a:solidFill>
            </a:endParaRPr>
          </a:p>
          <a:p>
            <a:pPr lvl="1">
              <a:spcBef>
                <a:spcPts val="400"/>
              </a:spcBef>
            </a:pPr>
            <a:r>
              <a:rPr lang="da-DK" sz="1800" kern="0" dirty="0"/>
              <a:t>Det er derfor vi kan bruge lambda’er, når vi kalder de fire metoder</a:t>
            </a:r>
          </a:p>
          <a:p>
            <a:pPr lvl="1">
              <a:spcBef>
                <a:spcPts val="400"/>
              </a:spcBef>
            </a:pPr>
            <a:r>
              <a:rPr lang="da-DK" sz="1800" kern="0" dirty="0"/>
              <a:t>Parameteren til </a:t>
            </a:r>
            <a:r>
              <a:rPr lang="da-DK" sz="1800" b="1" kern="0" dirty="0" err="1">
                <a:solidFill>
                  <a:srgbClr val="008000"/>
                </a:solidFill>
              </a:rPr>
              <a:t>peek</a:t>
            </a:r>
            <a:r>
              <a:rPr lang="da-DK" sz="1800" kern="0" dirty="0"/>
              <a:t> metoden er en </a:t>
            </a:r>
            <a:r>
              <a:rPr lang="da-DK" sz="1800" b="1" kern="0" dirty="0">
                <a:solidFill>
                  <a:srgbClr val="008000"/>
                </a:solidFill>
              </a:rPr>
              <a:t>Consumer</a:t>
            </a:r>
          </a:p>
          <a:p>
            <a:pPr lvl="1">
              <a:spcBef>
                <a:spcPts val="400"/>
              </a:spcBef>
            </a:pPr>
            <a:r>
              <a:rPr lang="da-DK" sz="1800" kern="0" dirty="0"/>
              <a:t>Parameteren til </a:t>
            </a:r>
            <a:r>
              <a:rPr lang="da-DK" sz="1800" b="1" kern="0" dirty="0">
                <a:solidFill>
                  <a:srgbClr val="008000"/>
                </a:solidFill>
              </a:rPr>
              <a:t>filter</a:t>
            </a:r>
            <a:r>
              <a:rPr lang="da-DK" sz="1800" kern="0" dirty="0"/>
              <a:t> metoden er et </a:t>
            </a:r>
            <a:r>
              <a:rPr lang="da-DK" sz="1800" b="1" kern="0" dirty="0" err="1">
                <a:solidFill>
                  <a:srgbClr val="008000"/>
                </a:solidFill>
              </a:rPr>
              <a:t>Predicate</a:t>
            </a:r>
            <a:endParaRPr lang="da-DK" sz="1800" b="1" kern="0" dirty="0">
              <a:solidFill>
                <a:srgbClr val="008000"/>
              </a:solidFill>
            </a:endParaRPr>
          </a:p>
          <a:p>
            <a:pPr lvl="1">
              <a:spcBef>
                <a:spcPts val="400"/>
              </a:spcBef>
            </a:pPr>
            <a:r>
              <a:rPr lang="da-DK" sz="1800" kern="0" dirty="0"/>
              <a:t>Parameteren til </a:t>
            </a:r>
            <a:r>
              <a:rPr lang="da-DK" sz="1800" b="1" kern="0" dirty="0" err="1">
                <a:solidFill>
                  <a:srgbClr val="008000"/>
                </a:solidFill>
              </a:rPr>
              <a:t>map</a:t>
            </a:r>
            <a:r>
              <a:rPr lang="da-DK" sz="1800" kern="0" dirty="0"/>
              <a:t> metoden er en </a:t>
            </a:r>
            <a:r>
              <a:rPr lang="da-DK" sz="1800" b="1" kern="0" dirty="0" err="1">
                <a:solidFill>
                  <a:srgbClr val="008000"/>
                </a:solidFill>
              </a:rPr>
              <a:t>Function</a:t>
            </a:r>
            <a:r>
              <a:rPr lang="da-DK" sz="1800" kern="0" dirty="0"/>
              <a:t> </a:t>
            </a:r>
          </a:p>
          <a:p>
            <a:pPr lvl="1">
              <a:spcBef>
                <a:spcPts val="400"/>
              </a:spcBef>
            </a:pPr>
            <a:r>
              <a:rPr lang="da-DK" sz="1800" kern="0" dirty="0"/>
              <a:t>Anden parameteren til </a:t>
            </a:r>
            <a:r>
              <a:rPr lang="da-DK" sz="1800" b="1" kern="0" dirty="0" err="1">
                <a:solidFill>
                  <a:srgbClr val="008000"/>
                </a:solidFill>
              </a:rPr>
              <a:t>reduce</a:t>
            </a:r>
            <a:r>
              <a:rPr lang="da-DK" sz="1800" kern="0" dirty="0"/>
              <a:t> metoden er en </a:t>
            </a:r>
            <a:r>
              <a:rPr lang="da-DK" sz="1800" b="1" kern="0" dirty="0" err="1">
                <a:solidFill>
                  <a:srgbClr val="008000"/>
                </a:solidFill>
              </a:rPr>
              <a:t>BinaryOperator</a:t>
            </a:r>
            <a:endParaRPr lang="da-DK" sz="1800" b="1" kern="0" dirty="0">
              <a:solidFill>
                <a:srgbClr val="008000"/>
              </a:solidFill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894490" y="3789040"/>
            <a:ext cx="7943948" cy="2085186"/>
          </a:xfrm>
          <a:prstGeom prst="rect">
            <a:avLst/>
          </a:prstGeom>
          <a:solidFill>
            <a:srgbClr val="FFFFCC"/>
          </a:solidFill>
          <a:ln w="28575">
            <a:solidFill>
              <a:srgbClr val="0000FF"/>
            </a:solidFill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400" b="1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da-DK" sz="1600" dirty="0">
                <a:solidFill>
                  <a:srgbClr val="7030A0"/>
                </a:solidFill>
                <a:latin typeface="Courier New" pitchFamily="49" charset="0"/>
              </a:rPr>
              <a:t>public</a:t>
            </a:r>
            <a:r>
              <a:rPr lang="en-US" altLang="da-DK" sz="1600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600" dirty="0">
                <a:solidFill>
                  <a:srgbClr val="FF0000"/>
                </a:solidFill>
                <a:latin typeface="Courier New" pitchFamily="49" charset="0"/>
              </a:rPr>
              <a:t>int </a:t>
            </a:r>
            <a:r>
              <a:rPr lang="en-US" altLang="da-DK" sz="1600" dirty="0" err="1">
                <a:solidFill>
                  <a:schemeClr val="tx1"/>
                </a:solidFill>
                <a:latin typeface="Courier New" pitchFamily="49" charset="0"/>
              </a:rPr>
              <a:t>getCount</a:t>
            </a:r>
            <a:r>
              <a:rPr lang="en-US" altLang="da-DK" sz="1600" dirty="0">
                <a:solidFill>
                  <a:schemeClr val="tx1"/>
                </a:solidFill>
                <a:latin typeface="Courier New" pitchFamily="49" charset="0"/>
              </a:rPr>
              <a:t>(String animal) {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da-DK" sz="16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altLang="da-DK" sz="1600" dirty="0">
                <a:solidFill>
                  <a:srgbClr val="7030A0"/>
                </a:solidFill>
                <a:latin typeface="Courier New" pitchFamily="49" charset="0"/>
              </a:rPr>
              <a:t>return</a:t>
            </a:r>
            <a:r>
              <a:rPr lang="en-US" altLang="da-DK" sz="1600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600" dirty="0" err="1">
                <a:solidFill>
                  <a:schemeClr val="tx1"/>
                </a:solidFill>
                <a:latin typeface="Courier New" pitchFamily="49" charset="0"/>
              </a:rPr>
              <a:t>sightings.stream</a:t>
            </a:r>
            <a:r>
              <a:rPr lang="en-US" altLang="da-DK" sz="1600" dirty="0">
                <a:solidFill>
                  <a:schemeClr val="tx1"/>
                </a:solidFill>
                <a:latin typeface="Courier New" pitchFamily="49" charset="0"/>
              </a:rPr>
              <a:t>()</a:t>
            </a:r>
          </a:p>
          <a:p>
            <a:pPr eaLnBrk="1" hangingPunct="1">
              <a:spcBef>
                <a:spcPts val="300"/>
              </a:spcBef>
              <a:buFontTx/>
              <a:buNone/>
            </a:pPr>
            <a:r>
              <a:rPr lang="en-US" altLang="da-DK" sz="1600" dirty="0">
                <a:solidFill>
                  <a:schemeClr val="tx1"/>
                </a:solidFill>
                <a:latin typeface="Courier New" pitchFamily="49" charset="0"/>
              </a:rPr>
              <a:t>                  .peek(</a:t>
            </a:r>
            <a:r>
              <a:rPr lang="en-US" altLang="da-DK" sz="700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600" dirty="0">
                <a:solidFill>
                  <a:schemeClr val="tx1"/>
                </a:solidFill>
                <a:latin typeface="Courier New" pitchFamily="49" charset="0"/>
              </a:rPr>
              <a:t>s -&gt; System.out.println(s)) </a:t>
            </a:r>
          </a:p>
          <a:p>
            <a:pPr eaLnBrk="1" hangingPunct="1">
              <a:spcBef>
                <a:spcPts val="300"/>
              </a:spcBef>
              <a:buFontTx/>
              <a:buNone/>
            </a:pPr>
            <a:r>
              <a:rPr lang="en-US" altLang="da-DK" sz="1600" dirty="0">
                <a:solidFill>
                  <a:schemeClr val="tx1"/>
                </a:solidFill>
                <a:latin typeface="Courier New" pitchFamily="49" charset="0"/>
              </a:rPr>
              <a:t>                  .filter(</a:t>
            </a:r>
            <a:r>
              <a:rPr lang="en-US" altLang="da-DK" sz="700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600" dirty="0">
                <a:solidFill>
                  <a:schemeClr val="tx1"/>
                </a:solidFill>
                <a:latin typeface="Courier New" pitchFamily="49" charset="0"/>
              </a:rPr>
              <a:t>s -&gt; </a:t>
            </a:r>
            <a:r>
              <a:rPr lang="en-US" altLang="da-DK" sz="1600" dirty="0" err="1">
                <a:solidFill>
                  <a:schemeClr val="tx1"/>
                </a:solidFill>
                <a:latin typeface="Courier New" pitchFamily="49" charset="0"/>
              </a:rPr>
              <a:t>s.getAnimal</a:t>
            </a:r>
            <a:r>
              <a:rPr lang="en-US" altLang="da-DK" sz="1600" dirty="0">
                <a:solidFill>
                  <a:schemeClr val="tx1"/>
                </a:solidFill>
                <a:latin typeface="Courier New" pitchFamily="49" charset="0"/>
              </a:rPr>
              <a:t>().equals(animal))</a:t>
            </a:r>
          </a:p>
          <a:p>
            <a:pPr eaLnBrk="1" hangingPunct="1">
              <a:spcBef>
                <a:spcPts val="300"/>
              </a:spcBef>
              <a:buFontTx/>
              <a:buNone/>
            </a:pPr>
            <a:r>
              <a:rPr lang="en-US" altLang="da-DK" sz="1600" dirty="0">
                <a:solidFill>
                  <a:schemeClr val="tx1"/>
                </a:solidFill>
                <a:latin typeface="Courier New" pitchFamily="49" charset="0"/>
              </a:rPr>
              <a:t>                  .map(</a:t>
            </a:r>
            <a:r>
              <a:rPr lang="en-US" altLang="da-DK" sz="700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600" dirty="0">
                <a:solidFill>
                  <a:schemeClr val="tx1"/>
                </a:solidFill>
                <a:latin typeface="Courier New" pitchFamily="49" charset="0"/>
              </a:rPr>
              <a:t>s -&gt; </a:t>
            </a:r>
            <a:r>
              <a:rPr lang="en-US" altLang="da-DK" sz="1600" dirty="0" err="1">
                <a:solidFill>
                  <a:schemeClr val="tx1"/>
                </a:solidFill>
                <a:latin typeface="Courier New" pitchFamily="49" charset="0"/>
              </a:rPr>
              <a:t>s.getCount</a:t>
            </a:r>
            <a:r>
              <a:rPr lang="en-US" altLang="da-DK" sz="1600" dirty="0">
                <a:solidFill>
                  <a:schemeClr val="tx1"/>
                </a:solidFill>
                <a:latin typeface="Courier New" pitchFamily="49" charset="0"/>
              </a:rPr>
              <a:t>()</a:t>
            </a:r>
            <a:r>
              <a:rPr lang="en-US" altLang="da-DK" sz="700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600" dirty="0">
                <a:solidFill>
                  <a:schemeClr val="tx1"/>
                </a:solidFill>
                <a:latin typeface="Courier New" pitchFamily="49" charset="0"/>
              </a:rPr>
              <a:t>)</a:t>
            </a:r>
          </a:p>
          <a:p>
            <a:pPr eaLnBrk="1" hangingPunct="1">
              <a:spcBef>
                <a:spcPts val="300"/>
              </a:spcBef>
              <a:buFontTx/>
              <a:buNone/>
            </a:pPr>
            <a:r>
              <a:rPr lang="en-US" altLang="da-DK" sz="1600" dirty="0">
                <a:solidFill>
                  <a:schemeClr val="tx1"/>
                </a:solidFill>
                <a:latin typeface="Courier New" pitchFamily="49" charset="0"/>
              </a:rPr>
              <a:t>                  .reduce(</a:t>
            </a:r>
            <a:r>
              <a:rPr lang="en-US" altLang="da-DK" sz="700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600" dirty="0">
                <a:solidFill>
                  <a:schemeClr val="tx1"/>
                </a:solidFill>
                <a:latin typeface="Courier New" pitchFamily="49" charset="0"/>
              </a:rPr>
              <a:t>0</a:t>
            </a:r>
            <a:r>
              <a:rPr lang="en-US" altLang="da-DK" sz="700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600" dirty="0">
                <a:solidFill>
                  <a:schemeClr val="tx1"/>
                </a:solidFill>
                <a:latin typeface="Courier New" pitchFamily="49" charset="0"/>
              </a:rPr>
              <a:t>,</a:t>
            </a:r>
            <a:r>
              <a:rPr lang="en-US" altLang="da-DK" sz="700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600" dirty="0">
                <a:solidFill>
                  <a:schemeClr val="tx1"/>
                </a:solidFill>
                <a:latin typeface="Courier New" pitchFamily="49" charset="0"/>
              </a:rPr>
              <a:t>(result, </a:t>
            </a:r>
            <a:r>
              <a:rPr lang="en-US" altLang="da-DK" sz="1600" dirty="0" err="1">
                <a:solidFill>
                  <a:schemeClr val="tx1"/>
                </a:solidFill>
                <a:latin typeface="Courier New" pitchFamily="49" charset="0"/>
              </a:rPr>
              <a:t>elem</a:t>
            </a:r>
            <a:r>
              <a:rPr lang="en-US" altLang="da-DK" sz="1600" dirty="0">
                <a:solidFill>
                  <a:schemeClr val="tx1"/>
                </a:solidFill>
                <a:latin typeface="Courier New" pitchFamily="49" charset="0"/>
              </a:rPr>
              <a:t>) -&gt; result + </a:t>
            </a:r>
            <a:r>
              <a:rPr lang="en-US" altLang="da-DK" sz="1600" dirty="0" err="1">
                <a:solidFill>
                  <a:schemeClr val="tx1"/>
                </a:solidFill>
                <a:latin typeface="Courier New" pitchFamily="49" charset="0"/>
              </a:rPr>
              <a:t>elem</a:t>
            </a:r>
            <a:r>
              <a:rPr lang="en-US" altLang="da-DK" sz="700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600" dirty="0">
                <a:solidFill>
                  <a:schemeClr val="tx1"/>
                </a:solidFill>
                <a:latin typeface="Courier New" pitchFamily="49" charset="0"/>
              </a:rPr>
              <a:t>);</a:t>
            </a:r>
          </a:p>
          <a:p>
            <a:pPr eaLnBrk="1" hangingPunct="1">
              <a:spcBef>
                <a:spcPts val="300"/>
              </a:spcBef>
              <a:buFontTx/>
              <a:buNone/>
            </a:pPr>
            <a:r>
              <a:rPr lang="en-US" altLang="da-DK" sz="16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3943303" y="4449394"/>
            <a:ext cx="3187414" cy="22376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4534709" y="5298842"/>
            <a:ext cx="3987387" cy="220047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3796186" y="5028083"/>
            <a:ext cx="2154870" cy="20889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4186989" y="4750183"/>
            <a:ext cx="4034589" cy="20889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261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568183" cy="682625"/>
          </a:xfrm>
        </p:spPr>
        <p:txBody>
          <a:bodyPr/>
          <a:lstStyle/>
          <a:p>
            <a:pPr eaLnBrk="1" hangingPunct="1"/>
            <a:r>
              <a:rPr lang="da-DK" altLang="da-DK" sz="3000" noProof="0" dirty="0">
                <a:ea typeface="ＭＳ Ｐゴシック" pitchFamily="34" charset="-128"/>
              </a:rPr>
              <a:t>Funktionel sortering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532440" y="6400800"/>
            <a:ext cx="648072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CA5836E-6711-417F-AF48-31ACC3CF4030}" type="slidenum">
              <a:rPr lang="da-DK" altLang="da-DK" smtClean="0"/>
              <a:pPr>
                <a:defRPr/>
              </a:pPr>
              <a:t>15</a:t>
            </a:fld>
            <a:endParaRPr lang="da-DK" altLang="da-DK" dirty="0"/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611560" y="4166505"/>
            <a:ext cx="8242508" cy="1350727"/>
          </a:xfrm>
          <a:prstGeom prst="rect">
            <a:avLst/>
          </a:prstGeom>
          <a:solidFill>
            <a:srgbClr val="FFFFCC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square" lIns="90000" tIns="108000" rIns="90000" bIns="108000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n-US" altLang="da-DK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printPersons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eaLnBrk="1" hangingPunct="1">
              <a:spcBef>
                <a:spcPts val="0"/>
              </a:spcBef>
            </a:pPr>
            <a:r>
              <a:rPr lang="en-US" altLang="da-DK" sz="1600" b="1" spc="-6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da-DK" sz="1600" b="1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Collections.sort</a:t>
            </a:r>
            <a:r>
              <a:rPr lang="en-US" altLang="da-DK" sz="1600" b="1" spc="-6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(persons,</a:t>
            </a:r>
            <a:r>
              <a:rPr lang="en-US" altLang="da-DK" sz="800" b="1" spc="-6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Comparator.comparing</a:t>
            </a:r>
            <a:r>
              <a:rPr lang="en-US" altLang="da-DK" sz="16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en-US" altLang="da-DK" sz="8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Person p)</a:t>
            </a:r>
            <a:r>
              <a:rPr lang="en-US" altLang="da-DK" sz="8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da-DK" sz="8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p.getAge</a:t>
            </a:r>
            <a:r>
              <a:rPr lang="en-US" altLang="da-DK" sz="16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  <a:endParaRPr lang="en-US" altLang="da-DK" sz="800" b="1" spc="-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da-DK" sz="800" b="1" spc="-6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                          </a:t>
            </a:r>
            <a:r>
              <a:rPr lang="en-US" altLang="da-DK" sz="1600" b="1" spc="-6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da-DK" sz="16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thenComparing</a:t>
            </a:r>
            <a:r>
              <a:rPr lang="en-US" altLang="da-DK" sz="8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da-DK" sz="8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 -&gt; p.getName()));</a:t>
            </a:r>
          </a:p>
          <a:p>
            <a:pPr eaLnBrk="1" hangingPunct="1">
              <a:spcBef>
                <a:spcPts val="0"/>
              </a:spcBef>
            </a:pP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persons.forEach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 -&gt; 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(p));</a:t>
            </a:r>
          </a:p>
          <a:p>
            <a:pPr eaLnBrk="1" hangingPunct="1">
              <a:lnSpc>
                <a:spcPct val="60000"/>
              </a:lnSpc>
              <a:spcBef>
                <a:spcPts val="0"/>
              </a:spcBef>
            </a:pPr>
            <a:r>
              <a:rPr lang="en-US" altLang="da-DK" sz="16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altLang="da-DK" sz="8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da-DK" sz="1600" b="1" spc="-1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6613340" y="4791877"/>
            <a:ext cx="1905110" cy="19401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6201110" y="4539848"/>
            <a:ext cx="2421418" cy="20047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</a:endParaRPr>
          </a:p>
        </p:txBody>
      </p:sp>
      <p:sp>
        <p:nvSpPr>
          <p:cNvPr id="31" name="Content Placeholder 2"/>
          <p:cNvSpPr txBox="1">
            <a:spLocks/>
          </p:cNvSpPr>
          <p:nvPr/>
        </p:nvSpPr>
        <p:spPr bwMode="auto">
          <a:xfrm>
            <a:off x="506333" y="1109716"/>
            <a:ext cx="8530163" cy="2292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r>
              <a:rPr lang="da-DK" sz="2000" kern="0" dirty="0"/>
              <a:t>I funktionel sortering er parametrene til </a:t>
            </a:r>
            <a:r>
              <a:rPr lang="da-DK" sz="2000" kern="0" dirty="0" err="1">
                <a:solidFill>
                  <a:srgbClr val="008000"/>
                </a:solidFill>
              </a:rPr>
              <a:t>comparing</a:t>
            </a:r>
            <a:r>
              <a:rPr lang="da-DK" sz="2000" kern="0" dirty="0"/>
              <a:t> og </a:t>
            </a:r>
            <a:r>
              <a:rPr lang="da-DK" sz="2000" kern="0" spc="-50" dirty="0">
                <a:solidFill>
                  <a:srgbClr val="008000"/>
                </a:solidFill>
              </a:rPr>
              <a:t>thenComparing</a:t>
            </a:r>
            <a:r>
              <a:rPr lang="da-DK" sz="2000" kern="0" spc="-50" dirty="0"/>
              <a:t> metoderne et funktionelt interface af typen </a:t>
            </a:r>
            <a:r>
              <a:rPr lang="da-DK" sz="2000" kern="0" spc="-50" dirty="0" err="1">
                <a:solidFill>
                  <a:srgbClr val="008000"/>
                </a:solidFill>
              </a:rPr>
              <a:t>Function</a:t>
            </a:r>
            <a:endParaRPr lang="da-DK" sz="2000" kern="0" spc="-50" dirty="0">
              <a:solidFill>
                <a:srgbClr val="008000"/>
              </a:solidFill>
            </a:endParaRPr>
          </a:p>
          <a:p>
            <a:pPr lvl="1">
              <a:spcBef>
                <a:spcPts val="400"/>
              </a:spcBef>
            </a:pPr>
            <a:r>
              <a:rPr lang="da-DK" sz="1800" kern="0" dirty="0"/>
              <a:t>Det er derfor vi kan bruge lambda’er, når vi kalder de to metoder</a:t>
            </a:r>
          </a:p>
          <a:p>
            <a:pPr lvl="1">
              <a:spcBef>
                <a:spcPts val="400"/>
              </a:spcBef>
            </a:pPr>
            <a:r>
              <a:rPr lang="da-DK" sz="1800" kern="0" dirty="0"/>
              <a:t>Parametrene har </a:t>
            </a:r>
            <a:r>
              <a:rPr lang="da-DK" sz="1800" b="1" kern="0" dirty="0">
                <a:solidFill>
                  <a:srgbClr val="008000"/>
                </a:solidFill>
              </a:rPr>
              <a:t>typebegrænsninger</a:t>
            </a:r>
            <a:r>
              <a:rPr lang="da-DK" sz="1800" kern="0" dirty="0"/>
              <a:t>, der sikrer, at de afbilder over i en type, som implementerer Comparable interfacet (eller har en supertype, der gør det)</a:t>
            </a:r>
          </a:p>
          <a:p>
            <a:pPr lvl="1">
              <a:spcBef>
                <a:spcPts val="400"/>
              </a:spcBef>
            </a:pPr>
            <a:r>
              <a:rPr lang="da-DK" sz="1800" kern="0" dirty="0"/>
              <a:t>Det betyder, at typen har en naturlig ordning</a:t>
            </a:r>
          </a:p>
          <a:p>
            <a:pPr lvl="1">
              <a:spcBef>
                <a:spcPts val="400"/>
              </a:spcBef>
            </a:pPr>
            <a:r>
              <a:rPr lang="da-DK" sz="1800" kern="0" dirty="0"/>
              <a:t>Det er denne naturlige ordning, der anvendes til sorteringen i de Comparator objekter, som de to metoder returnerer.</a:t>
            </a:r>
          </a:p>
        </p:txBody>
      </p:sp>
    </p:spTree>
    <p:extLst>
      <p:ext uri="{BB962C8B-B14F-4D97-AF65-F5344CB8AC3E}">
        <p14:creationId xmlns:p14="http://schemas.microsoft.com/office/powerpoint/2010/main" val="42318934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761438" y="5310997"/>
            <a:ext cx="5090377" cy="785582"/>
          </a:xfrm>
          <a:prstGeom prst="rect">
            <a:avLst/>
          </a:prstGeom>
          <a:solidFill>
            <a:srgbClr val="FFFFCC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square" lIns="90000" tIns="72000" rIns="90000" bIns="72000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n-US" altLang="da-DK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Image brighten(</a:t>
            </a:r>
            <a:r>
              <a:rPr lang="en-US" altLang="da-DK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amount) {</a:t>
            </a:r>
          </a:p>
          <a:p>
            <a:pPr eaLnBrk="1" hangingPunct="1">
              <a:spcBef>
                <a:spcPts val="0"/>
              </a:spcBef>
            </a:pP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da-DK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simpleFilter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da-DK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 -&gt; v</a:t>
            </a:r>
            <a:r>
              <a:rPr lang="en-US" altLang="da-DK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da-DK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amount</a:t>
            </a:r>
            <a:r>
              <a:rPr lang="en-US" altLang="da-DK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60000"/>
              </a:lnSpc>
              <a:spcBef>
                <a:spcPts val="0"/>
              </a:spcBef>
            </a:pP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z="3000" dirty="0"/>
              <a:t>Billedredigering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90465" y="1052737"/>
            <a:ext cx="8302015" cy="1511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rgbClr val="000066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ts val="1200"/>
              </a:spcBef>
            </a:pPr>
            <a:r>
              <a:rPr lang="da-DK" sz="2000" dirty="0"/>
              <a:t>Operationerne i billedredigeringsopgaven fra uge 4 kan implementeres ved hjælp af funktionelle interfaces</a:t>
            </a:r>
          </a:p>
          <a:p>
            <a:pPr lvl="1">
              <a:spcBef>
                <a:spcPts val="600"/>
              </a:spcBef>
            </a:pPr>
            <a:r>
              <a:rPr lang="da-DK" sz="1800" kern="0" spc="-30" dirty="0"/>
              <a:t>I de simple billedoperationer (såsom </a:t>
            </a:r>
            <a:r>
              <a:rPr lang="da-DK" sz="1800" kern="0" spc="-30" dirty="0" err="1"/>
              <a:t>brighten</a:t>
            </a:r>
            <a:r>
              <a:rPr lang="da-DK" sz="1800" kern="0" spc="-30" dirty="0"/>
              <a:t>, </a:t>
            </a:r>
            <a:r>
              <a:rPr lang="da-DK" sz="1800" kern="0" spc="-30" dirty="0" err="1"/>
              <a:t>darken</a:t>
            </a:r>
            <a:r>
              <a:rPr lang="da-DK" sz="1800" kern="0" spc="-30" dirty="0"/>
              <a:t>, </a:t>
            </a:r>
            <a:r>
              <a:rPr lang="da-DK" sz="1800" kern="0" spc="-30" dirty="0" err="1"/>
              <a:t>invert</a:t>
            </a:r>
            <a:r>
              <a:rPr lang="da-DK" sz="1800" kern="0" spc="-30" dirty="0"/>
              <a:t> og </a:t>
            </a:r>
            <a:r>
              <a:rPr lang="da-DK" sz="1800" kern="0" spc="-30" dirty="0" err="1"/>
              <a:t>noise</a:t>
            </a:r>
            <a:r>
              <a:rPr lang="da-DK" sz="1800" kern="0" spc="-30" dirty="0"/>
              <a:t>) kan en </a:t>
            </a:r>
            <a:r>
              <a:rPr lang="da-DK" sz="1800" kern="0" spc="-30" dirty="0" err="1"/>
              <a:t>pixel's</a:t>
            </a:r>
            <a:r>
              <a:rPr lang="da-DK" sz="1800" kern="0" spc="-30" dirty="0"/>
              <a:t> nye gråtone beregnes ud fra den gamle ved hjælp af en </a:t>
            </a:r>
            <a:r>
              <a:rPr lang="da-DK" sz="1800" b="1" kern="0" spc="-30" dirty="0">
                <a:solidFill>
                  <a:srgbClr val="008000"/>
                </a:solidFill>
              </a:rPr>
              <a:t>lambda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761438" y="2852982"/>
            <a:ext cx="8208151" cy="2312153"/>
          </a:xfrm>
          <a:prstGeom prst="rect">
            <a:avLst/>
          </a:prstGeom>
          <a:solidFill>
            <a:srgbClr val="FFFFCC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square" lIns="90000" tIns="72000" rIns="90000" bIns="72000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n-US" altLang="da-DK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Image 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simpleFilter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da-DK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UnaryOperator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&lt;Integer&gt; modification) {</a:t>
            </a:r>
          </a:p>
          <a:p>
            <a:pPr eaLnBrk="1" hangingPunct="1">
              <a:spcBef>
                <a:spcPts val="0"/>
              </a:spcBef>
            </a:pP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da-DK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da-DK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altLang="da-DK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da-DK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 x</a:t>
            </a:r>
            <a:r>
              <a:rPr lang="en-US" altLang="da-DK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da-DK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image.getWidth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x++) {</a:t>
            </a:r>
          </a:p>
          <a:p>
            <a:pPr eaLnBrk="1" hangingPunct="1">
              <a:spcBef>
                <a:spcPts val="0"/>
              </a:spcBef>
            </a:pP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da-DK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da-DK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</a:t>
            </a:r>
            <a:r>
              <a:rPr lang="en-US" altLang="da-DK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da-DK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 y</a:t>
            </a:r>
            <a:r>
              <a:rPr lang="en-US" altLang="da-DK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da-DK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image.getHeight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y++) {</a:t>
            </a:r>
          </a:p>
          <a:p>
            <a:pPr eaLnBrk="1" hangingPunct="1">
              <a:spcBef>
                <a:spcPts val="0"/>
              </a:spcBef>
            </a:pP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da-DK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oldValue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image.getPixel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getValue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spcBef>
                <a:spcPts val="0"/>
              </a:spcBef>
            </a:pP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image.getPixel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setValue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da-DK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modification.apply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oldValue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 eaLnBrk="1" hangingPunct="1">
              <a:lnSpc>
                <a:spcPct val="60000"/>
              </a:lnSpc>
              <a:spcBef>
                <a:spcPts val="0"/>
              </a:spcBef>
            </a:pP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eaLnBrk="1" hangingPunct="1">
              <a:lnSpc>
                <a:spcPct val="60000"/>
              </a:lnSpc>
              <a:spcBef>
                <a:spcPts val="0"/>
              </a:spcBef>
            </a:pP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eaLnBrk="1" hangingPunct="1">
              <a:spcBef>
                <a:spcPts val="0"/>
              </a:spcBef>
            </a:pP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image.updateCanvas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spcBef>
                <a:spcPts val="0"/>
              </a:spcBef>
            </a:pP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da-DK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image;</a:t>
            </a:r>
          </a:p>
          <a:p>
            <a:pPr eaLnBrk="1" hangingPunct="1">
              <a:lnSpc>
                <a:spcPct val="60000"/>
              </a:lnSpc>
              <a:spcBef>
                <a:spcPts val="0"/>
              </a:spcBef>
            </a:pP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835696" y="5954065"/>
            <a:ext cx="4604657" cy="785582"/>
          </a:xfrm>
          <a:prstGeom prst="rect">
            <a:avLst/>
          </a:prstGeom>
          <a:solidFill>
            <a:srgbClr val="FFFFCC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square" lIns="90000" tIns="72000" rIns="90000" bIns="72000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en-US" altLang="da-DK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Image invert() {</a:t>
            </a:r>
          </a:p>
          <a:p>
            <a:pPr eaLnBrk="1" hangingPunct="1">
              <a:spcBef>
                <a:spcPts val="0"/>
              </a:spcBef>
            </a:pP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da-DK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simpleFilter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da-DK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 -&gt; 255</a:t>
            </a:r>
            <a:r>
              <a:rPr lang="en-US" altLang="da-DK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–</a:t>
            </a:r>
            <a:r>
              <a:rPr lang="en-US" altLang="da-DK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  <a:r>
              <a:rPr lang="en-US" altLang="da-DK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60000"/>
              </a:lnSpc>
              <a:spcBef>
                <a:spcPts val="0"/>
              </a:spcBef>
            </a:pP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496696" y="6395842"/>
            <a:ext cx="647304" cy="457200"/>
          </a:xfrm>
          <a:prstGeom prst="rect">
            <a:avLst/>
          </a:prstGeom>
        </p:spPr>
        <p:txBody>
          <a:bodyPr/>
          <a:lstStyle/>
          <a:p>
            <a:fld id="{D5F120ED-4883-459A-AC97-4FAD8D591FCC}" type="slidenum">
              <a:rPr lang="da-DK" altLang="da-DK" smtClean="0"/>
              <a:pPr/>
              <a:t>16</a:t>
            </a:fld>
            <a:endParaRPr lang="da-DK" altLang="da-DK" dirty="0"/>
          </a:p>
        </p:txBody>
      </p:sp>
      <p:sp>
        <p:nvSpPr>
          <p:cNvPr id="10" name="Line 22"/>
          <p:cNvSpPr>
            <a:spLocks noChangeShapeType="1"/>
          </p:cNvSpPr>
          <p:nvPr/>
        </p:nvSpPr>
        <p:spPr bwMode="auto">
          <a:xfrm flipH="1">
            <a:off x="5179382" y="2666731"/>
            <a:ext cx="249" cy="2695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endParaRPr lang="da-DK"/>
          </a:p>
        </p:txBody>
      </p:sp>
      <p:sp>
        <p:nvSpPr>
          <p:cNvPr id="11" name="Rectangle 10"/>
          <p:cNvSpPr/>
          <p:nvPr/>
        </p:nvSpPr>
        <p:spPr bwMode="auto">
          <a:xfrm>
            <a:off x="4054290" y="2926083"/>
            <a:ext cx="2766882" cy="22390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pitchFamily="-105" charset="0"/>
            </a:endParaRPr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4467304" y="2420888"/>
            <a:ext cx="4170510" cy="286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da-DK" altLang="da-DK" sz="1400" b="1" dirty="0">
                <a:solidFill>
                  <a:srgbClr val="FF0000"/>
                </a:solidFill>
              </a:rPr>
              <a:t>Funktionelt interface (Integer </a:t>
            </a:r>
            <a:r>
              <a:rPr lang="da-DK" altLang="da-DK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 Integer)</a:t>
            </a:r>
            <a:endParaRPr lang="da-DK" altLang="da-DK" sz="1400" b="1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5140441" y="3919707"/>
            <a:ext cx="3464716" cy="22468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pitchFamily="-105" charset="0"/>
            </a:endParaRPr>
          </a:p>
        </p:txBody>
      </p:sp>
      <p:sp>
        <p:nvSpPr>
          <p:cNvPr id="14" name="Line 22"/>
          <p:cNvSpPr>
            <a:spLocks noChangeShapeType="1"/>
          </p:cNvSpPr>
          <p:nvPr/>
        </p:nvSpPr>
        <p:spPr bwMode="auto">
          <a:xfrm flipV="1">
            <a:off x="6084168" y="4144391"/>
            <a:ext cx="2" cy="28855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endParaRPr lang="da-DK"/>
          </a:p>
        </p:txBody>
      </p:sp>
      <p:sp>
        <p:nvSpPr>
          <p:cNvPr id="16" name="Text Box 21"/>
          <p:cNvSpPr txBox="1">
            <a:spLocks noChangeArrowheads="1"/>
          </p:cNvSpPr>
          <p:nvPr/>
        </p:nvSpPr>
        <p:spPr bwMode="auto">
          <a:xfrm>
            <a:off x="3849367" y="4390504"/>
            <a:ext cx="5142232" cy="67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da-DK" altLang="da-DK" sz="1400" b="1" dirty="0">
                <a:solidFill>
                  <a:srgbClr val="FF0000"/>
                </a:solidFill>
              </a:rPr>
              <a:t>Beregning af den nye værdi ved hjælp af </a:t>
            </a:r>
            <a:r>
              <a:rPr lang="da-DK" altLang="da-DK" sz="1400" b="1" dirty="0" err="1">
                <a:solidFill>
                  <a:srgbClr val="008000"/>
                </a:solidFill>
              </a:rPr>
              <a:t>apply</a:t>
            </a:r>
            <a:r>
              <a:rPr lang="da-DK" altLang="da-DK" sz="1400" b="1" dirty="0">
                <a:solidFill>
                  <a:srgbClr val="FF0000"/>
                </a:solidFill>
              </a:rPr>
              <a:t> metoden i det funktionelle interface </a:t>
            </a:r>
            <a:r>
              <a:rPr lang="da-DK" altLang="da-DK" sz="1400" b="1" dirty="0" err="1">
                <a:solidFill>
                  <a:srgbClr val="008000"/>
                </a:solidFill>
              </a:rPr>
              <a:t>UnaryOperator</a:t>
            </a:r>
            <a:r>
              <a:rPr lang="da-DK" altLang="da-DK" sz="1400" b="1" dirty="0">
                <a:solidFill>
                  <a:srgbClr val="008000"/>
                </a:solidFill>
              </a:rPr>
              <a:t>,</a:t>
            </a:r>
            <a:r>
              <a:rPr lang="da-DK" altLang="da-DK" sz="1400" b="1" dirty="0">
                <a:solidFill>
                  <a:srgbClr val="FF0000"/>
                </a:solidFill>
              </a:rPr>
              <a:t> dvs. den </a:t>
            </a:r>
            <a:r>
              <a:rPr lang="da-DK" altLang="da-DK" sz="1400" b="1" dirty="0">
                <a:solidFill>
                  <a:srgbClr val="008000"/>
                </a:solidFill>
              </a:rPr>
              <a:t>lambda,</a:t>
            </a:r>
            <a:r>
              <a:rPr lang="da-DK" altLang="da-DK" sz="1400" b="1" dirty="0">
                <a:solidFill>
                  <a:srgbClr val="FF0000"/>
                </a:solidFill>
              </a:rPr>
              <a:t> der bruges som parameterværdi i kaldet</a:t>
            </a:r>
            <a:endParaRPr lang="da-DK" altLang="da-DK" sz="1400" b="1" dirty="0">
              <a:solidFill>
                <a:srgbClr val="008000"/>
              </a:solidFill>
            </a:endParaRPr>
          </a:p>
        </p:txBody>
      </p:sp>
      <p:sp>
        <p:nvSpPr>
          <p:cNvPr id="15" name="Text Box 21"/>
          <p:cNvSpPr txBox="1">
            <a:spLocks noChangeArrowheads="1"/>
          </p:cNvSpPr>
          <p:nvPr/>
        </p:nvSpPr>
        <p:spPr bwMode="auto">
          <a:xfrm>
            <a:off x="6211022" y="5325180"/>
            <a:ext cx="2755178" cy="867930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FF"/>
            </a:solidFill>
          </a:ln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da-DK" altLang="da-DK" sz="1400" b="1" dirty="0">
                <a:solidFill>
                  <a:srgbClr val="0000FF"/>
                </a:solidFill>
              </a:rPr>
              <a:t>Ved kald af </a:t>
            </a:r>
            <a:r>
              <a:rPr lang="da-DK" altLang="da-DK" sz="1400" b="1" dirty="0" err="1">
                <a:solidFill>
                  <a:srgbClr val="0000FF"/>
                </a:solidFill>
              </a:rPr>
              <a:t>simpleFilter</a:t>
            </a:r>
            <a:r>
              <a:rPr lang="da-DK" altLang="da-DK" sz="1400" b="1" dirty="0">
                <a:solidFill>
                  <a:srgbClr val="0000FF"/>
                </a:solidFill>
              </a:rPr>
              <a:t> er parameterværdien en </a:t>
            </a:r>
            <a:r>
              <a:rPr lang="da-DK" altLang="da-DK" sz="1400" b="1" dirty="0">
                <a:solidFill>
                  <a:srgbClr val="008000"/>
                </a:solidFill>
              </a:rPr>
              <a:t>lambda</a:t>
            </a:r>
            <a:r>
              <a:rPr lang="da-DK" altLang="da-DK" sz="1400" b="1" dirty="0">
                <a:solidFill>
                  <a:srgbClr val="0000FF"/>
                </a:solidFill>
              </a:rPr>
              <a:t>, der automatisk giver os et objekt af typen </a:t>
            </a:r>
            <a:r>
              <a:rPr lang="da-DK" altLang="da-DK" sz="1400" b="1" dirty="0" err="1">
                <a:solidFill>
                  <a:srgbClr val="008000"/>
                </a:solidFill>
              </a:rPr>
              <a:t>UnaryOperator</a:t>
            </a:r>
            <a:endParaRPr lang="da-DK" altLang="da-DK" sz="1400" b="1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377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7" grpId="0" animBg="1"/>
      <p:bldP spid="9" grpId="0" animBg="1"/>
      <p:bldP spid="10" grpId="0" animBg="1"/>
      <p:bldP spid="11" grpId="0" animBg="1"/>
      <p:bldP spid="12" grpId="0"/>
      <p:bldP spid="13" grpId="0" animBg="1"/>
      <p:bldP spid="14" grpId="0" animBg="1"/>
      <p:bldP spid="16" grpId="0"/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z="3000" dirty="0"/>
              <a:t>Billedredigering (fortsat)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88640" y="1009124"/>
            <a:ext cx="8302015" cy="1511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rgbClr val="000066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342900" lvl="1" indent="-342900">
              <a:spcBef>
                <a:spcPts val="1200"/>
              </a:spcBef>
              <a:buChar char="•"/>
            </a:pPr>
            <a:r>
              <a:rPr lang="da-DK" b="1" dirty="0">
                <a:solidFill>
                  <a:srgbClr val="A50021"/>
                </a:solidFill>
                <a:cs typeface="ＭＳ Ｐゴシック" charset="-128"/>
              </a:rPr>
              <a:t>I de operationer, der spejler, roterer og </a:t>
            </a:r>
            <a:r>
              <a:rPr lang="da-DK" b="1" dirty="0" err="1">
                <a:solidFill>
                  <a:srgbClr val="A50021"/>
                </a:solidFill>
                <a:cs typeface="ＭＳ Ｐゴシック" charset="-128"/>
              </a:rPr>
              <a:t>resizer</a:t>
            </a:r>
            <a:r>
              <a:rPr lang="da-DK" b="1" dirty="0">
                <a:solidFill>
                  <a:srgbClr val="A50021"/>
                </a:solidFill>
                <a:cs typeface="ＭＳ Ｐゴシック" charset="-128"/>
              </a:rPr>
              <a:t>, bliver gråtonen for en pixel kopieret fra en anden pixel</a:t>
            </a:r>
          </a:p>
          <a:p>
            <a:pPr lvl="1">
              <a:spcBef>
                <a:spcPts val="600"/>
              </a:spcBef>
            </a:pPr>
            <a:r>
              <a:rPr lang="da-DK" sz="1800" kern="0" dirty="0"/>
              <a:t>Beregningen af denne </a:t>
            </a:r>
            <a:r>
              <a:rPr lang="da-DK" sz="1800" kern="0" dirty="0" err="1"/>
              <a:t>pixel's</a:t>
            </a:r>
            <a:r>
              <a:rPr lang="da-DK" sz="1800" kern="0" dirty="0"/>
              <a:t> koordinater kan beskrives ved hjælp af to lambda'er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98981" y="2483021"/>
            <a:ext cx="8464020" cy="3050817"/>
          </a:xfrm>
          <a:prstGeom prst="rect">
            <a:avLst/>
          </a:prstGeom>
          <a:solidFill>
            <a:srgbClr val="FFFFCC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square" lIns="90000" tIns="72000" rIns="90000" bIns="72000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n-US" altLang="da-DK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Image 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complexFilter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da-DK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width, </a:t>
            </a:r>
            <a:r>
              <a:rPr lang="en-US" altLang="da-DK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height, </a:t>
            </a:r>
          </a:p>
          <a:p>
            <a:pPr eaLnBrk="1" hangingPunct="1">
              <a:spcBef>
                <a:spcPts val="0"/>
              </a:spcBef>
            </a:pP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BinaryOperator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&lt;Integer&gt; 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xPos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da-DK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BinaryOperator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&lt;Integer&gt; 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yPos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eaLnBrk="1" hangingPunct="1">
              <a:spcBef>
                <a:spcPts val="0"/>
              </a:spcBef>
            </a:pP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Image 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newImage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da-DK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Image(width,</a:t>
            </a:r>
            <a:r>
              <a:rPr lang="en-US" altLang="da-DK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height,</a:t>
            </a:r>
            <a:r>
              <a:rPr lang="en-US" altLang="da-DK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image.getTitle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(),</a:t>
            </a:r>
            <a:r>
              <a:rPr lang="en-US" altLang="da-DK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false);</a:t>
            </a:r>
          </a:p>
          <a:p>
            <a:pPr eaLnBrk="1" hangingPunct="1">
              <a:spcBef>
                <a:spcPts val="0"/>
              </a:spcBef>
            </a:pP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da-DK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da-DK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altLang="da-DK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da-DK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 x</a:t>
            </a:r>
            <a:r>
              <a:rPr lang="en-US" altLang="da-DK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da-DK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width; x++) {</a:t>
            </a:r>
          </a:p>
          <a:p>
            <a:pPr eaLnBrk="1" hangingPunct="1">
              <a:spcBef>
                <a:spcPts val="0"/>
              </a:spcBef>
            </a:pP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da-DK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da-DK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</a:t>
            </a:r>
            <a:r>
              <a:rPr lang="en-US" altLang="da-DK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da-DK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 y</a:t>
            </a:r>
            <a:r>
              <a:rPr lang="en-US" altLang="da-DK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da-DK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height; y++) {</a:t>
            </a:r>
          </a:p>
          <a:p>
            <a:pPr eaLnBrk="1" hangingPunct="1">
              <a:spcBef>
                <a:spcPts val="0"/>
              </a:spcBef>
            </a:pP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Pixel p = 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image.getPixel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da-DK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xPos.apply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altLang="da-DK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yPos.apply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da-DK" sz="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ts val="0"/>
              </a:spcBef>
            </a:pP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newImage.getPixel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setValue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p.getValue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pPr eaLnBrk="1" hangingPunct="1">
              <a:lnSpc>
                <a:spcPct val="60000"/>
              </a:lnSpc>
              <a:spcBef>
                <a:spcPts val="0"/>
              </a:spcBef>
            </a:pP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eaLnBrk="1" hangingPunct="1">
              <a:lnSpc>
                <a:spcPct val="60000"/>
              </a:lnSpc>
              <a:spcBef>
                <a:spcPts val="0"/>
              </a:spcBef>
            </a:pP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eaLnBrk="1" hangingPunct="1">
              <a:spcBef>
                <a:spcPts val="0"/>
              </a:spcBef>
            </a:pP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image = 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newImage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ts val="0"/>
              </a:spcBef>
            </a:pP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da-DK" sz="1600" b="1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image.updateCanvas</a:t>
            </a:r>
            <a:r>
              <a:rPr lang="en-US" altLang="da-DK" sz="16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spcBef>
                <a:spcPts val="0"/>
              </a:spcBef>
            </a:pP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da-DK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image;</a:t>
            </a:r>
          </a:p>
          <a:p>
            <a:pPr eaLnBrk="1" hangingPunct="1">
              <a:lnSpc>
                <a:spcPct val="60000"/>
              </a:lnSpc>
              <a:spcBef>
                <a:spcPts val="0"/>
              </a:spcBef>
            </a:pP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Line 22"/>
          <p:cNvSpPr>
            <a:spLocks noChangeShapeType="1"/>
          </p:cNvSpPr>
          <p:nvPr/>
        </p:nvSpPr>
        <p:spPr bwMode="auto">
          <a:xfrm flipH="1">
            <a:off x="4047116" y="2385896"/>
            <a:ext cx="190148" cy="43269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endParaRPr lang="da-DK"/>
          </a:p>
        </p:txBody>
      </p:sp>
      <p:sp>
        <p:nvSpPr>
          <p:cNvPr id="11" name="Rectangle 10"/>
          <p:cNvSpPr/>
          <p:nvPr/>
        </p:nvSpPr>
        <p:spPr bwMode="auto">
          <a:xfrm>
            <a:off x="1187555" y="2816195"/>
            <a:ext cx="2876445" cy="22390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pitchFamily="-105" charset="0"/>
            </a:endParaRPr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3796900" y="2116528"/>
            <a:ext cx="4447508" cy="286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da-DK" altLang="da-DK" sz="1400" b="1" dirty="0">
                <a:solidFill>
                  <a:srgbClr val="FF0000"/>
                </a:solidFill>
              </a:rPr>
              <a:t>Funktionel interface (Integer x Integer </a:t>
            </a:r>
            <a:r>
              <a:rPr lang="da-DK" altLang="da-DK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 Integer)</a:t>
            </a:r>
            <a:endParaRPr lang="da-DK" altLang="da-DK" sz="1400" b="1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4183138" y="3801453"/>
            <a:ext cx="3919462" cy="22390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pitchFamily="-105" charset="0"/>
            </a:endParaRPr>
          </a:p>
        </p:txBody>
      </p:sp>
      <p:sp>
        <p:nvSpPr>
          <p:cNvPr id="15" name="Text Box 21"/>
          <p:cNvSpPr txBox="1">
            <a:spLocks noChangeArrowheads="1"/>
          </p:cNvSpPr>
          <p:nvPr/>
        </p:nvSpPr>
        <p:spPr bwMode="auto">
          <a:xfrm>
            <a:off x="4714191" y="3316345"/>
            <a:ext cx="4176464" cy="286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da-DK" altLang="da-DK" sz="1400" b="1" dirty="0">
                <a:solidFill>
                  <a:srgbClr val="FF0000"/>
                </a:solidFill>
              </a:rPr>
              <a:t>Positionen, hvor gråtoneværdien skal hentes</a:t>
            </a:r>
            <a:endParaRPr lang="da-DK" altLang="da-DK" sz="1400" b="1" dirty="0">
              <a:solidFill>
                <a:srgbClr val="008000"/>
              </a:solidFill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4811287" y="2816196"/>
            <a:ext cx="2876445" cy="22390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pitchFamily="-105" charset="0"/>
            </a:endParaRPr>
          </a:p>
        </p:txBody>
      </p:sp>
      <p:sp>
        <p:nvSpPr>
          <p:cNvPr id="17" name="Line 22"/>
          <p:cNvSpPr>
            <a:spLocks noChangeShapeType="1"/>
          </p:cNvSpPr>
          <p:nvPr/>
        </p:nvSpPr>
        <p:spPr bwMode="auto">
          <a:xfrm>
            <a:off x="5290457" y="2369568"/>
            <a:ext cx="221920" cy="44662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endParaRPr lang="da-DK"/>
          </a:p>
        </p:txBody>
      </p:sp>
      <p:sp>
        <p:nvSpPr>
          <p:cNvPr id="18" name="Line 22"/>
          <p:cNvSpPr>
            <a:spLocks noChangeShapeType="1"/>
          </p:cNvSpPr>
          <p:nvPr/>
        </p:nvSpPr>
        <p:spPr bwMode="auto">
          <a:xfrm flipH="1">
            <a:off x="5148063" y="3583171"/>
            <a:ext cx="288032" cy="20134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endParaRPr lang="da-DK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3081040" y="4305838"/>
            <a:ext cx="5972389" cy="1154913"/>
          </a:xfrm>
          <a:prstGeom prst="rect">
            <a:avLst/>
          </a:prstGeom>
          <a:solidFill>
            <a:srgbClr val="FFFFCC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square" lIns="90000" tIns="72000" rIns="90000" bIns="72000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n-US" altLang="da-DK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Image mirror() {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da-DK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 = 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image.getWidth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da-DK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 = 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image.getHeight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da-DK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da-DK" sz="16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da-DK" sz="16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complexFilter</a:t>
            </a:r>
            <a:r>
              <a:rPr lang="en-US" altLang="da-DK" sz="8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(w,</a:t>
            </a:r>
            <a:r>
              <a:rPr lang="en-US" altLang="da-DK" sz="8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h,(</a:t>
            </a:r>
            <a:r>
              <a:rPr lang="en-US" altLang="da-DK" sz="1600" b="1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altLang="da-DK" sz="16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da-DK" sz="8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da-DK" sz="8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w-i-1,(</a:t>
            </a:r>
            <a:r>
              <a:rPr lang="en-US" altLang="da-DK" sz="1600" b="1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altLang="da-DK" sz="16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da-DK" sz="8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da-DK" sz="8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j);</a:t>
            </a:r>
          </a:p>
          <a:p>
            <a:pPr eaLnBrk="1" hangingPunct="1">
              <a:lnSpc>
                <a:spcPct val="40000"/>
              </a:lnSpc>
              <a:spcBef>
                <a:spcPts val="0"/>
              </a:spcBef>
            </a:pP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496696" y="6395842"/>
            <a:ext cx="647304" cy="457200"/>
          </a:xfrm>
          <a:prstGeom prst="rect">
            <a:avLst/>
          </a:prstGeom>
        </p:spPr>
        <p:txBody>
          <a:bodyPr/>
          <a:lstStyle/>
          <a:p>
            <a:fld id="{D5F120ED-4883-459A-AC97-4FAD8D591FCC}" type="slidenum">
              <a:rPr lang="da-DK" altLang="da-DK" smtClean="0"/>
              <a:pPr/>
              <a:t>17</a:t>
            </a:fld>
            <a:endParaRPr lang="da-DK" altLang="da-DK" dirty="0"/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468313" y="5671392"/>
            <a:ext cx="2396092" cy="1061829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FF"/>
            </a:solidFill>
          </a:ln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da-DK" altLang="da-DK" sz="1400" b="1" spc="-40" dirty="0">
                <a:solidFill>
                  <a:srgbClr val="0000FF"/>
                </a:solidFill>
              </a:rPr>
              <a:t>I næste uge vil vi se, </a:t>
            </a:r>
            <a:r>
              <a:rPr lang="da-DK" altLang="da-DK" sz="1400" b="1" dirty="0">
                <a:solidFill>
                  <a:srgbClr val="0000FF"/>
                </a:solidFill>
              </a:rPr>
              <a:t>at funktionelle interfaces også er særdeles nyttige i forbindelse med grafiske brugergrænseflader</a:t>
            </a:r>
          </a:p>
        </p:txBody>
      </p:sp>
      <p:sp>
        <p:nvSpPr>
          <p:cNvPr id="27" name="Rectangle 26"/>
          <p:cNvSpPr/>
          <p:nvPr/>
        </p:nvSpPr>
        <p:spPr>
          <a:xfrm rot="21165640">
            <a:off x="1748453" y="5091586"/>
            <a:ext cx="1995165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>
              <a:defRPr/>
            </a:pPr>
            <a:r>
              <a:rPr lang="en-US" sz="3600" b="1" dirty="0">
                <a:ln w="11430"/>
                <a:solidFill>
                  <a:srgbClr val="CC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Pause</a:t>
            </a:r>
          </a:p>
        </p:txBody>
      </p:sp>
      <p:sp>
        <p:nvSpPr>
          <p:cNvPr id="28" name="Text Box 21"/>
          <p:cNvSpPr txBox="1">
            <a:spLocks noChangeArrowheads="1"/>
          </p:cNvSpPr>
          <p:nvPr/>
        </p:nvSpPr>
        <p:spPr bwMode="auto">
          <a:xfrm>
            <a:off x="6655358" y="4582967"/>
            <a:ext cx="2326069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da-DK" altLang="da-DK" sz="1400" b="1" dirty="0">
                <a:solidFill>
                  <a:srgbClr val="FF0000"/>
                </a:solidFill>
              </a:rPr>
              <a:t>Den nye gråtoneværdi for (</a:t>
            </a:r>
            <a:r>
              <a:rPr lang="da-DK" altLang="da-DK" sz="1400" b="1" dirty="0" err="1">
                <a:solidFill>
                  <a:srgbClr val="FF0000"/>
                </a:solidFill>
              </a:rPr>
              <a:t>i,j</a:t>
            </a:r>
            <a:r>
              <a:rPr lang="da-DK" altLang="da-DK" sz="1400" b="1" dirty="0">
                <a:solidFill>
                  <a:srgbClr val="FF0000"/>
                </a:solidFill>
              </a:rPr>
              <a:t>) hentes i (w-i-1,</a:t>
            </a:r>
            <a:r>
              <a:rPr lang="da-DK" altLang="da-DK" sz="800" b="1" dirty="0">
                <a:solidFill>
                  <a:srgbClr val="FF0000"/>
                </a:solidFill>
              </a:rPr>
              <a:t> </a:t>
            </a:r>
            <a:r>
              <a:rPr lang="da-DK" altLang="da-DK" sz="1400" b="1" dirty="0">
                <a:solidFill>
                  <a:srgbClr val="FF0000"/>
                </a:solidFill>
              </a:rPr>
              <a:t>j)</a:t>
            </a:r>
          </a:p>
        </p:txBody>
      </p:sp>
      <p:sp>
        <p:nvSpPr>
          <p:cNvPr id="30" name="Rectangle 29"/>
          <p:cNvSpPr/>
          <p:nvPr/>
        </p:nvSpPr>
        <p:spPr bwMode="auto">
          <a:xfrm flipV="1">
            <a:off x="6262535" y="5295170"/>
            <a:ext cx="1404437" cy="45719"/>
          </a:xfrm>
          <a:prstGeom prst="rect">
            <a:avLst/>
          </a:prstGeom>
          <a:solidFill>
            <a:srgbClr val="FF0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pitchFamily="-105" charset="0"/>
            </a:endParaRPr>
          </a:p>
        </p:txBody>
      </p:sp>
      <p:sp>
        <p:nvSpPr>
          <p:cNvPr id="31" name="Rectangle 30"/>
          <p:cNvSpPr/>
          <p:nvPr/>
        </p:nvSpPr>
        <p:spPr bwMode="auto">
          <a:xfrm flipV="1">
            <a:off x="7761135" y="5295170"/>
            <a:ext cx="1099637" cy="45719"/>
          </a:xfrm>
          <a:prstGeom prst="rect">
            <a:avLst/>
          </a:prstGeom>
          <a:solidFill>
            <a:srgbClr val="FF0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pitchFamily="-105" charset="0"/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5768088" y="5292088"/>
            <a:ext cx="134692" cy="45719"/>
          </a:xfrm>
          <a:prstGeom prst="rect">
            <a:avLst/>
          </a:prstGeom>
          <a:solidFill>
            <a:srgbClr val="FF0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pitchFamily="-105" charset="0"/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5990534" y="5295170"/>
            <a:ext cx="180906" cy="45719"/>
          </a:xfrm>
          <a:prstGeom prst="rect">
            <a:avLst/>
          </a:prstGeom>
          <a:solidFill>
            <a:srgbClr val="FF0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pitchFamily="-105" charset="0"/>
            </a:endParaRPr>
          </a:p>
        </p:txBody>
      </p:sp>
      <p:sp>
        <p:nvSpPr>
          <p:cNvPr id="35" name="Rectangle 34"/>
          <p:cNvSpPr>
            <a:spLocks noChangeArrowheads="1"/>
          </p:cNvSpPr>
          <p:nvPr/>
        </p:nvSpPr>
        <p:spPr bwMode="auto">
          <a:xfrm>
            <a:off x="3064107" y="5624596"/>
            <a:ext cx="5972389" cy="1154913"/>
          </a:xfrm>
          <a:prstGeom prst="rect">
            <a:avLst/>
          </a:prstGeom>
          <a:solidFill>
            <a:srgbClr val="FFFFCC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square" lIns="90000" tIns="72000" rIns="90000" bIns="72000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n-US" altLang="da-DK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Image rotate() {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da-DK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 = 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image.getWidth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da-DK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 = </a:t>
            </a:r>
            <a:r>
              <a:rPr lang="en-US" altLang="da-DK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image.getHeight</a:t>
            </a: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da-DK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da-DK" sz="16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da-DK" sz="16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complexFilter</a:t>
            </a:r>
            <a:r>
              <a:rPr lang="en-US" altLang="da-DK" sz="8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(h,</a:t>
            </a:r>
            <a:r>
              <a:rPr lang="en-US" altLang="da-DK" sz="8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w,(</a:t>
            </a:r>
            <a:r>
              <a:rPr lang="en-US" altLang="da-DK" sz="1600" b="1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altLang="da-DK" sz="16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da-DK" sz="8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da-DK" sz="8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j,(</a:t>
            </a:r>
            <a:r>
              <a:rPr lang="en-US" altLang="da-DK" sz="1600" b="1" spc="-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altLang="da-DK" sz="16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da-DK" sz="8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da-DK" sz="8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da-DK" sz="1600" b="1" spc="-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h-i-1);</a:t>
            </a:r>
          </a:p>
          <a:p>
            <a:pPr eaLnBrk="1" hangingPunct="1">
              <a:lnSpc>
                <a:spcPct val="40000"/>
              </a:lnSpc>
              <a:spcBef>
                <a:spcPts val="0"/>
              </a:spcBef>
            </a:pPr>
            <a:r>
              <a:rPr lang="en-US" altLang="da-DK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2" name="Text Box 21"/>
          <p:cNvSpPr txBox="1">
            <a:spLocks noChangeArrowheads="1"/>
          </p:cNvSpPr>
          <p:nvPr/>
        </p:nvSpPr>
        <p:spPr bwMode="auto">
          <a:xfrm>
            <a:off x="6593902" y="5861050"/>
            <a:ext cx="2258403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da-DK" altLang="da-DK" sz="1400" b="1" dirty="0">
                <a:solidFill>
                  <a:srgbClr val="FF0000"/>
                </a:solidFill>
              </a:rPr>
              <a:t>Den nye gråtoneværdi for (</a:t>
            </a:r>
            <a:r>
              <a:rPr lang="da-DK" altLang="da-DK" sz="1400" b="1" dirty="0" err="1">
                <a:solidFill>
                  <a:srgbClr val="FF0000"/>
                </a:solidFill>
              </a:rPr>
              <a:t>i,j</a:t>
            </a:r>
            <a:r>
              <a:rPr lang="da-DK" altLang="da-DK" sz="1400" b="1" dirty="0">
                <a:solidFill>
                  <a:srgbClr val="FF0000"/>
                </a:solidFill>
              </a:rPr>
              <a:t>) hentes i (j,</a:t>
            </a:r>
            <a:r>
              <a:rPr lang="da-DK" altLang="da-DK" sz="800" b="1" dirty="0">
                <a:solidFill>
                  <a:srgbClr val="FF0000"/>
                </a:solidFill>
              </a:rPr>
              <a:t> </a:t>
            </a:r>
            <a:r>
              <a:rPr lang="da-DK" altLang="da-DK" sz="1400" b="1" dirty="0">
                <a:solidFill>
                  <a:srgbClr val="FF0000"/>
                </a:solidFill>
              </a:rPr>
              <a:t>h-i-1)</a:t>
            </a:r>
          </a:p>
        </p:txBody>
      </p:sp>
      <p:sp>
        <p:nvSpPr>
          <p:cNvPr id="40" name="Rectangle 39"/>
          <p:cNvSpPr/>
          <p:nvPr/>
        </p:nvSpPr>
        <p:spPr bwMode="auto">
          <a:xfrm flipV="1">
            <a:off x="6254068" y="6611586"/>
            <a:ext cx="993399" cy="45719"/>
          </a:xfrm>
          <a:prstGeom prst="rect">
            <a:avLst/>
          </a:prstGeom>
          <a:solidFill>
            <a:srgbClr val="FF0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pitchFamily="-105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 flipV="1">
            <a:off x="7391400" y="6605625"/>
            <a:ext cx="1460905" cy="57641"/>
          </a:xfrm>
          <a:prstGeom prst="rect">
            <a:avLst/>
          </a:prstGeom>
          <a:solidFill>
            <a:srgbClr val="FF0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pitchFamily="-105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5998395" y="6611586"/>
            <a:ext cx="180906" cy="45719"/>
          </a:xfrm>
          <a:prstGeom prst="rect">
            <a:avLst/>
          </a:prstGeom>
          <a:solidFill>
            <a:srgbClr val="FF0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pitchFamily="-105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5718995" y="6611586"/>
            <a:ext cx="180906" cy="45719"/>
          </a:xfrm>
          <a:prstGeom prst="rect">
            <a:avLst/>
          </a:prstGeom>
          <a:solidFill>
            <a:srgbClr val="FF0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pitchFamily="-10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587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3" grpId="0" animBg="1"/>
      <p:bldP spid="27" grpId="0"/>
      <p:bldP spid="28" grpId="0"/>
      <p:bldP spid="30" grpId="0" animBg="1"/>
      <p:bldP spid="31" grpId="0" animBg="1"/>
      <p:bldP spid="33" grpId="0" animBg="1"/>
      <p:bldP spid="34" grpId="0" animBg="1"/>
      <p:bldP spid="35" grpId="0" animBg="1"/>
      <p:bldP spid="32" grpId="0"/>
      <p:bldP spid="40" grpId="0" animBg="1"/>
      <p:bldP spid="41" grpId="0" animBg="1"/>
      <p:bldP spid="42" grpId="0" animBg="1"/>
      <p:bldP spid="4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260648"/>
            <a:ext cx="8207375" cy="662248"/>
          </a:xfrm>
        </p:spPr>
        <p:txBody>
          <a:bodyPr/>
          <a:lstStyle/>
          <a:p>
            <a:pPr eaLnBrk="1" hangingPunct="1"/>
            <a:r>
              <a:rPr lang="da-DK" altLang="da-DK" sz="3200" dirty="0">
                <a:solidFill>
                  <a:srgbClr val="A50021"/>
                </a:solidFill>
                <a:ea typeface="ＭＳ Ｐゴシック" pitchFamily="34" charset="-128"/>
                <a:cs typeface="Arial"/>
              </a:rPr>
              <a:t>●</a:t>
            </a:r>
            <a:r>
              <a:rPr lang="da-DK" altLang="da-DK" sz="3200" dirty="0">
                <a:ea typeface="ＭＳ Ｐゴシック" pitchFamily="34" charset="-128"/>
                <a:cs typeface="Arial"/>
              </a:rPr>
              <a:t> </a:t>
            </a:r>
            <a:r>
              <a:rPr lang="da-DK" altLang="da-DK" sz="3200" noProof="0" dirty="0">
                <a:ea typeface="ＭＳ Ｐゴシック" pitchFamily="34" charset="-128"/>
              </a:rPr>
              <a:t>Wildcards og typebegrænsninger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496696" y="6395842"/>
            <a:ext cx="647304" cy="457200"/>
          </a:xfrm>
          <a:prstGeom prst="rect">
            <a:avLst/>
          </a:prstGeom>
        </p:spPr>
        <p:txBody>
          <a:bodyPr/>
          <a:lstStyle/>
          <a:p>
            <a:fld id="{09A55395-2BED-4A30-9795-02A173C60FCF}" type="slidenum">
              <a:rPr lang="da-DK" altLang="da-DK" smtClean="0"/>
              <a:pPr/>
              <a:t>18</a:t>
            </a:fld>
            <a:endParaRPr lang="da-DK" altLang="da-DK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67544" y="1139089"/>
            <a:ext cx="8549932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pitchFamily="-107" charset="-128"/>
                <a:cs typeface="ＭＳ Ｐゴシック" pitchFamily="-107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a-DK" altLang="da-DK" sz="2000" kern="0" dirty="0"/>
              <a:t>Klasser med typeparametre (fx. ArrayList&lt;</a:t>
            </a:r>
            <a:r>
              <a:rPr lang="da-DK" altLang="da-DK" sz="2000" kern="0" dirty="0">
                <a:solidFill>
                  <a:srgbClr val="008000"/>
                </a:solidFill>
              </a:rPr>
              <a:t>E</a:t>
            </a:r>
            <a:r>
              <a:rPr lang="da-DK" altLang="da-DK" sz="2000" kern="0" dirty="0"/>
              <a:t>&gt;) kaldes</a:t>
            </a:r>
            <a:br>
              <a:rPr lang="da-DK" altLang="da-DK" sz="2000" kern="0" dirty="0"/>
            </a:br>
            <a:r>
              <a:rPr lang="da-DK" altLang="da-DK" sz="2000" kern="0" dirty="0">
                <a:solidFill>
                  <a:srgbClr val="008000"/>
                </a:solidFill>
              </a:rPr>
              <a:t>generiske klasser</a:t>
            </a:r>
          </a:p>
          <a:p>
            <a:pPr lvl="1" eaLnBrk="1" hangingPunct="1">
              <a:spcBef>
                <a:spcPts val="600"/>
              </a:spcBef>
            </a:pPr>
            <a:r>
              <a:rPr lang="da-DK" altLang="da-DK" sz="1800" kern="0" dirty="0"/>
              <a:t>Når man, for metoderne i en generisk klasse, skal beskrive parametrenes type og returtypen, bruges der en speciel notation indeholdende</a:t>
            </a:r>
            <a:br>
              <a:rPr lang="da-DK" altLang="da-DK" sz="1800" kern="0" dirty="0"/>
            </a:br>
            <a:r>
              <a:rPr lang="da-DK" altLang="da-DK" sz="1800" b="1" kern="0" dirty="0">
                <a:solidFill>
                  <a:srgbClr val="008000"/>
                </a:solidFill>
              </a:rPr>
              <a:t>wildcards</a:t>
            </a:r>
            <a:r>
              <a:rPr lang="da-DK" altLang="da-DK" sz="1800" kern="0" dirty="0"/>
              <a:t> (jokere) og </a:t>
            </a:r>
            <a:r>
              <a:rPr lang="da-DK" altLang="da-DK" sz="1800" b="1" kern="0" dirty="0">
                <a:solidFill>
                  <a:srgbClr val="008000"/>
                </a:solidFill>
              </a:rPr>
              <a:t>typebegrænsninger</a:t>
            </a:r>
          </a:p>
          <a:p>
            <a:pPr lvl="1" eaLnBrk="1" hangingPunct="1">
              <a:spcBef>
                <a:spcPts val="600"/>
              </a:spcBef>
            </a:pPr>
            <a:r>
              <a:rPr lang="da-DK" altLang="da-DK" sz="1800" kern="0" dirty="0"/>
              <a:t>Det kan være nyttigt at kende og forstå de hyppigst forekomne wildcards og typebegrænsninger, f.eks. når man slår op i Javas API</a:t>
            </a:r>
          </a:p>
          <a:p>
            <a:pPr lvl="1" eaLnBrk="1" hangingPunct="1">
              <a:spcBef>
                <a:spcPts val="600"/>
              </a:spcBef>
            </a:pPr>
            <a:r>
              <a:rPr lang="da-DK" altLang="da-DK" sz="1800" kern="0" dirty="0"/>
              <a:t>Dem vil vi nu illustrere ved hjælp af nogle eksempler</a:t>
            </a:r>
          </a:p>
        </p:txBody>
      </p:sp>
    </p:spTree>
    <p:extLst>
      <p:ext uri="{BB962C8B-B14F-4D97-AF65-F5344CB8AC3E}">
        <p14:creationId xmlns:p14="http://schemas.microsoft.com/office/powerpoint/2010/main" val="137327508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 bwMode="auto">
          <a:xfrm>
            <a:off x="554971" y="1103536"/>
            <a:ext cx="4066648" cy="741288"/>
          </a:xfrm>
          <a:prstGeom prst="roundRect">
            <a:avLst/>
          </a:prstGeom>
          <a:solidFill>
            <a:srgbClr val="FFFFCC"/>
          </a:solidFill>
          <a:ln w="9525" cap="flat" cmpd="sng" algn="ctr">
            <a:solidFill>
              <a:srgbClr val="0000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</a:endParaRP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60648"/>
            <a:ext cx="8208912" cy="662248"/>
          </a:xfrm>
        </p:spPr>
        <p:txBody>
          <a:bodyPr/>
          <a:lstStyle/>
          <a:p>
            <a:pPr eaLnBrk="1" hangingPunct="1"/>
            <a:r>
              <a:rPr lang="da-DK" altLang="da-DK" sz="3200" noProof="0" dirty="0">
                <a:ea typeface="ＭＳ Ｐゴシック" pitchFamily="34" charset="-128"/>
              </a:rPr>
              <a:t>Eksempler fra </a:t>
            </a:r>
            <a:r>
              <a:rPr lang="en-US" sz="3200" dirty="0"/>
              <a:t>ArrayList&lt;</a:t>
            </a:r>
            <a:r>
              <a:rPr lang="en-US" sz="3200" dirty="0">
                <a:solidFill>
                  <a:srgbClr val="002060"/>
                </a:solidFill>
              </a:rPr>
              <a:t>E</a:t>
            </a:r>
            <a:r>
              <a:rPr lang="en-US" sz="3200" dirty="0"/>
              <a:t>&gt; </a:t>
            </a:r>
            <a:r>
              <a:rPr lang="da-DK" sz="3200" dirty="0"/>
              <a:t>klassen</a:t>
            </a:r>
            <a:endParaRPr lang="da-DK" altLang="da-DK" sz="3200" dirty="0">
              <a:ea typeface="ＭＳ Ｐゴシック" pitchFamily="34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496696" y="6395842"/>
            <a:ext cx="647304" cy="457200"/>
          </a:xfrm>
          <a:prstGeom prst="rect">
            <a:avLst/>
          </a:prstGeom>
        </p:spPr>
        <p:txBody>
          <a:bodyPr/>
          <a:lstStyle/>
          <a:p>
            <a:fld id="{09A55395-2BED-4A30-9795-02A173C60FCF}" type="slidenum">
              <a:rPr lang="da-DK" altLang="da-DK" smtClean="0"/>
              <a:pPr/>
              <a:t>19</a:t>
            </a:fld>
            <a:endParaRPr lang="da-DK" altLang="da-DK" dirty="0"/>
          </a:p>
        </p:txBody>
      </p:sp>
      <p:sp>
        <p:nvSpPr>
          <p:cNvPr id="8" name="Rounded Rectangle 7"/>
          <p:cNvSpPr/>
          <p:nvPr/>
        </p:nvSpPr>
        <p:spPr bwMode="auto">
          <a:xfrm>
            <a:off x="554970" y="2432606"/>
            <a:ext cx="5470145" cy="741288"/>
          </a:xfrm>
          <a:prstGeom prst="roundRect">
            <a:avLst/>
          </a:prstGeom>
          <a:solidFill>
            <a:srgbClr val="FFFFCC"/>
          </a:solidFill>
          <a:ln w="9525" cap="flat" cmpd="sng" algn="ctr">
            <a:solidFill>
              <a:srgbClr val="0000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554971" y="4413806"/>
            <a:ext cx="5789122" cy="741288"/>
          </a:xfrm>
          <a:prstGeom prst="roundRect">
            <a:avLst/>
          </a:prstGeom>
          <a:solidFill>
            <a:srgbClr val="FFFFCC"/>
          </a:solidFill>
          <a:ln w="9525" cap="flat" cmpd="sng" algn="ctr">
            <a:solidFill>
              <a:srgbClr val="0000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43576" y="1096448"/>
            <a:ext cx="8392920" cy="5184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pitchFamily="-107" charset="-128"/>
                <a:cs typeface="ＭＳ Ｐゴシック" pitchFamily="-107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0" indent="0">
              <a:buNone/>
            </a:pPr>
            <a:r>
              <a:rPr lang="en-US" sz="2000" dirty="0"/>
              <a:t>boolean </a:t>
            </a:r>
            <a:r>
              <a:rPr lang="en-US" sz="2000" dirty="0">
                <a:solidFill>
                  <a:srgbClr val="7030A0"/>
                </a:solidFill>
              </a:rPr>
              <a:t>add</a:t>
            </a:r>
            <a:r>
              <a:rPr lang="en-US" sz="2000" dirty="0"/>
              <a:t>(</a:t>
            </a:r>
            <a:r>
              <a:rPr lang="en-US" sz="2000" dirty="0">
                <a:solidFill>
                  <a:srgbClr val="008000"/>
                </a:solidFill>
              </a:rPr>
              <a:t>E</a:t>
            </a:r>
            <a:r>
              <a:rPr lang="en-US" sz="2000" dirty="0"/>
              <a:t> e) </a:t>
            </a:r>
            <a:endParaRPr lang="da-DK" sz="2000" dirty="0"/>
          </a:p>
          <a:p>
            <a:pPr marL="0" lvl="1" indent="0" eaLnBrk="1" hangingPunct="1">
              <a:spcBef>
                <a:spcPts val="600"/>
              </a:spcBef>
              <a:buNone/>
            </a:pPr>
            <a:r>
              <a:rPr lang="da-DK" sz="1800" kern="0" dirty="0">
                <a:solidFill>
                  <a:srgbClr val="FF0000"/>
                </a:solidFill>
              </a:rPr>
              <a:t>Tilføjer elementet e til enden af listen</a:t>
            </a:r>
          </a:p>
          <a:p>
            <a:pPr marL="268288" lvl="1" indent="-268288" eaLnBrk="1" hangingPunct="1">
              <a:spcBef>
                <a:spcPts val="600"/>
              </a:spcBef>
            </a:pPr>
            <a:r>
              <a:rPr lang="da-DK" sz="1800" kern="0" dirty="0"/>
              <a:t>Nem at forstå (ingen wildcards eller typebegrænsninger)</a:t>
            </a:r>
          </a:p>
          <a:p>
            <a:pPr marL="0" indent="0">
              <a:spcBef>
                <a:spcPts val="2400"/>
              </a:spcBef>
              <a:buNone/>
            </a:pPr>
            <a:r>
              <a:rPr lang="en-US" sz="2000" dirty="0"/>
              <a:t>boolean </a:t>
            </a:r>
            <a:r>
              <a:rPr lang="en-US" sz="2000" dirty="0" err="1">
                <a:solidFill>
                  <a:srgbClr val="7030A0"/>
                </a:solidFill>
              </a:rPr>
              <a:t>addAll</a:t>
            </a:r>
            <a:r>
              <a:rPr lang="en-US" sz="2000" dirty="0"/>
              <a:t>(</a:t>
            </a:r>
            <a:r>
              <a:rPr lang="en-US" sz="2000" dirty="0">
                <a:solidFill>
                  <a:srgbClr val="008000"/>
                </a:solidFill>
              </a:rPr>
              <a:t>Collection&lt;? extends E&gt;</a:t>
            </a:r>
            <a:r>
              <a:rPr lang="en-US" sz="2000" dirty="0"/>
              <a:t> c) </a:t>
            </a:r>
            <a:endParaRPr lang="da-DK" sz="2000" dirty="0"/>
          </a:p>
          <a:p>
            <a:pPr marL="0" lvl="1" indent="0" eaLnBrk="1" hangingPunct="1">
              <a:spcBef>
                <a:spcPts val="600"/>
              </a:spcBef>
              <a:buNone/>
            </a:pPr>
            <a:r>
              <a:rPr lang="da-DK" sz="1800" kern="0" dirty="0">
                <a:solidFill>
                  <a:srgbClr val="FF0000"/>
                </a:solidFill>
              </a:rPr>
              <a:t>Tilføjer alle elementerne fra c</a:t>
            </a:r>
          </a:p>
          <a:p>
            <a:pPr marL="268288" lvl="1" indent="-268288" eaLnBrk="1" hangingPunct="1">
              <a:spcBef>
                <a:spcPts val="600"/>
              </a:spcBef>
            </a:pPr>
            <a:r>
              <a:rPr lang="da-DK" sz="1800" kern="0" spc="-40" dirty="0"/>
              <a:t>Parameteren skal implementere Collection interfacet (dvs. være en objektsamling)</a:t>
            </a:r>
          </a:p>
          <a:p>
            <a:pPr marL="268288" lvl="1" indent="-268288" eaLnBrk="1" hangingPunct="1">
              <a:spcBef>
                <a:spcPts val="600"/>
              </a:spcBef>
            </a:pPr>
            <a:r>
              <a:rPr lang="da-DK" sz="1800" kern="0" dirty="0"/>
              <a:t>Elementtypen i objektsamlingen skal være en </a:t>
            </a:r>
            <a:r>
              <a:rPr lang="da-DK" sz="1800" b="1" kern="0" dirty="0">
                <a:solidFill>
                  <a:srgbClr val="008000"/>
                </a:solidFill>
              </a:rPr>
              <a:t>subtype</a:t>
            </a:r>
            <a:r>
              <a:rPr lang="da-DK" sz="1800" kern="0" dirty="0"/>
              <a:t> af E (inklusiv E selv)</a:t>
            </a:r>
          </a:p>
          <a:p>
            <a:pPr marL="268288" lvl="1" indent="-268288" eaLnBrk="1" hangingPunct="1">
              <a:spcBef>
                <a:spcPts val="600"/>
              </a:spcBef>
            </a:pPr>
            <a:r>
              <a:rPr lang="da-DK" sz="1800" kern="0" dirty="0"/>
              <a:t>Sikrer at det er lovligt at tilføje elementerne i c til vores arrayliste</a:t>
            </a:r>
          </a:p>
          <a:p>
            <a:pPr marL="0" indent="0">
              <a:spcBef>
                <a:spcPts val="2400"/>
              </a:spcBef>
              <a:buNone/>
            </a:pPr>
            <a:r>
              <a:rPr lang="en-US" sz="2000" dirty="0"/>
              <a:t>boolean </a:t>
            </a:r>
            <a:r>
              <a:rPr lang="en-US" sz="2000" dirty="0" err="1">
                <a:solidFill>
                  <a:srgbClr val="7030A0"/>
                </a:solidFill>
              </a:rPr>
              <a:t>removeIf</a:t>
            </a:r>
            <a:r>
              <a:rPr lang="en-US" sz="2000" dirty="0"/>
              <a:t>(</a:t>
            </a:r>
            <a:r>
              <a:rPr lang="en-US" sz="2000" dirty="0">
                <a:solidFill>
                  <a:srgbClr val="008000"/>
                </a:solidFill>
              </a:rPr>
              <a:t>Predicate&lt;? super E&gt;</a:t>
            </a:r>
            <a:r>
              <a:rPr lang="en-US" sz="2000" dirty="0"/>
              <a:t> filter) </a:t>
            </a:r>
            <a:endParaRPr lang="da-DK" sz="2000" dirty="0"/>
          </a:p>
          <a:p>
            <a:pPr marL="0" lvl="1" indent="0" eaLnBrk="1" hangingPunct="1">
              <a:spcBef>
                <a:spcPts val="600"/>
              </a:spcBef>
              <a:buNone/>
            </a:pPr>
            <a:r>
              <a:rPr lang="da-DK" sz="1800" kern="0" dirty="0">
                <a:solidFill>
                  <a:srgbClr val="FF0000"/>
                </a:solidFill>
              </a:rPr>
              <a:t>Fjerner alle de elementer der opfylder filter</a:t>
            </a:r>
          </a:p>
          <a:p>
            <a:pPr marL="268288" lvl="1" indent="-268288" eaLnBrk="1" hangingPunct="1">
              <a:spcBef>
                <a:spcPts val="600"/>
              </a:spcBef>
            </a:pPr>
            <a:r>
              <a:rPr lang="da-DK" sz="1800" kern="0" dirty="0"/>
              <a:t>Parameteren skal være et prædikat (dvs. en boolsk lambda)</a:t>
            </a:r>
          </a:p>
          <a:p>
            <a:pPr marL="268288" lvl="1" indent="-268288" eaLnBrk="1" hangingPunct="1">
              <a:spcBef>
                <a:spcPts val="600"/>
              </a:spcBef>
            </a:pPr>
            <a:r>
              <a:rPr lang="da-DK" sz="1800" kern="0" dirty="0"/>
              <a:t>Prædikatets parameter skal være en </a:t>
            </a:r>
            <a:r>
              <a:rPr lang="da-DK" sz="1800" b="1" kern="0" dirty="0">
                <a:solidFill>
                  <a:srgbClr val="008000"/>
                </a:solidFill>
              </a:rPr>
              <a:t>supertype</a:t>
            </a:r>
            <a:r>
              <a:rPr lang="da-DK" sz="1800" kern="0" dirty="0"/>
              <a:t> af E (inklusiv E selv)</a:t>
            </a:r>
          </a:p>
          <a:p>
            <a:pPr marL="268288" lvl="1" indent="-268288" eaLnBrk="1" hangingPunct="1">
              <a:spcBef>
                <a:spcPts val="600"/>
              </a:spcBef>
            </a:pPr>
            <a:r>
              <a:rPr lang="da-DK" sz="1800" kern="0" dirty="0"/>
              <a:t>Sikrer at prædikatet kan bruges på elementer af typen E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da-DK" altLang="da-DK" sz="1600" kern="0" dirty="0"/>
          </a:p>
        </p:txBody>
      </p:sp>
    </p:spTree>
    <p:extLst>
      <p:ext uri="{BB962C8B-B14F-4D97-AF65-F5344CB8AC3E}">
        <p14:creationId xmlns:p14="http://schemas.microsoft.com/office/powerpoint/2010/main" val="16741244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60648"/>
            <a:ext cx="8640960" cy="662248"/>
          </a:xfrm>
        </p:spPr>
        <p:txBody>
          <a:bodyPr/>
          <a:lstStyle/>
          <a:p>
            <a:pPr eaLnBrk="1" hangingPunct="1"/>
            <a:r>
              <a:rPr lang="da-DK" altLang="da-DK" sz="3200" dirty="0">
                <a:ea typeface="ＭＳ Ｐゴシック" pitchFamily="34" charset="-128"/>
              </a:rPr>
              <a:t>Eksempler fra </a:t>
            </a:r>
            <a:r>
              <a:rPr lang="en-US" sz="3200" dirty="0"/>
              <a:t>Collection</a:t>
            </a:r>
            <a:r>
              <a:rPr lang="da-DK" sz="3200" dirty="0"/>
              <a:t>s</a:t>
            </a:r>
            <a:endParaRPr lang="da-DK" altLang="da-DK" sz="3200" dirty="0">
              <a:ea typeface="ＭＳ Ｐゴシック" pitchFamily="34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496696" y="6395842"/>
            <a:ext cx="647304" cy="457200"/>
          </a:xfrm>
          <a:prstGeom prst="rect">
            <a:avLst/>
          </a:prstGeom>
        </p:spPr>
        <p:txBody>
          <a:bodyPr/>
          <a:lstStyle/>
          <a:p>
            <a:fld id="{09A55395-2BED-4A30-9795-02A173C60FCF}" type="slidenum">
              <a:rPr lang="da-DK" altLang="da-DK" smtClean="0"/>
              <a:pPr/>
              <a:t>20</a:t>
            </a:fld>
            <a:endParaRPr lang="da-DK" altLang="da-DK" dirty="0"/>
          </a:p>
        </p:txBody>
      </p:sp>
      <p:sp>
        <p:nvSpPr>
          <p:cNvPr id="5" name="Rounded Rectangle 4"/>
          <p:cNvSpPr/>
          <p:nvPr/>
        </p:nvSpPr>
        <p:spPr bwMode="auto">
          <a:xfrm>
            <a:off x="558686" y="1130136"/>
            <a:ext cx="3254858" cy="741288"/>
          </a:xfrm>
          <a:prstGeom prst="roundRect">
            <a:avLst/>
          </a:prstGeom>
          <a:solidFill>
            <a:srgbClr val="FFFFCC"/>
          </a:solidFill>
          <a:ln w="9525" cap="flat" cmpd="sng" algn="ctr">
            <a:solidFill>
              <a:srgbClr val="0000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</a:endParaRPr>
          </a:p>
        </p:txBody>
      </p:sp>
      <p:sp>
        <p:nvSpPr>
          <p:cNvPr id="7" name="Rounded Rectangle 6"/>
          <p:cNvSpPr/>
          <p:nvPr/>
        </p:nvSpPr>
        <p:spPr bwMode="auto">
          <a:xfrm>
            <a:off x="558686" y="3431629"/>
            <a:ext cx="7030561" cy="741288"/>
          </a:xfrm>
          <a:prstGeom prst="roundRect">
            <a:avLst/>
          </a:prstGeom>
          <a:solidFill>
            <a:srgbClr val="FFFFCC"/>
          </a:solidFill>
          <a:ln w="9525" cap="flat" cmpd="sng" algn="ctr">
            <a:solidFill>
              <a:srgbClr val="0000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30580" y="1124744"/>
            <a:ext cx="8405916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pitchFamily="-107" charset="-128"/>
                <a:cs typeface="ＭＳ Ｐゴシック" pitchFamily="-107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0" indent="0">
              <a:buNone/>
            </a:pPr>
            <a:r>
              <a:rPr lang="en-US" sz="2000" dirty="0"/>
              <a:t>void </a:t>
            </a:r>
            <a:r>
              <a:rPr lang="en-US" sz="2000" dirty="0">
                <a:solidFill>
                  <a:srgbClr val="7030A0"/>
                </a:solidFill>
              </a:rPr>
              <a:t>shuffle</a:t>
            </a:r>
            <a:r>
              <a:rPr lang="en-US" sz="2000" dirty="0"/>
              <a:t>(</a:t>
            </a:r>
            <a:r>
              <a:rPr lang="en-US" sz="2000" dirty="0">
                <a:solidFill>
                  <a:srgbClr val="008000"/>
                </a:solidFill>
              </a:rPr>
              <a:t>List&lt;?&gt;</a:t>
            </a:r>
            <a:r>
              <a:rPr lang="en-US" sz="2000" dirty="0"/>
              <a:t> list) </a:t>
            </a:r>
          </a:p>
          <a:p>
            <a:pPr marL="0" lvl="1" indent="0" eaLnBrk="1" hangingPunct="1">
              <a:spcBef>
                <a:spcPts val="600"/>
              </a:spcBef>
              <a:buNone/>
            </a:pPr>
            <a:r>
              <a:rPr lang="da-DK" sz="1800" kern="0" dirty="0">
                <a:solidFill>
                  <a:srgbClr val="FF0000"/>
                </a:solidFill>
              </a:rPr>
              <a:t>Permuterer listens elementer</a:t>
            </a:r>
          </a:p>
          <a:p>
            <a:pPr marL="268288" lvl="1" indent="-268288" eaLnBrk="1" hangingPunct="1">
              <a:spcBef>
                <a:spcPts val="600"/>
              </a:spcBef>
            </a:pPr>
            <a:r>
              <a:rPr lang="da-DK" sz="1800" kern="0" dirty="0"/>
              <a:t>Parameteren skal være af en type, der implementere List interfacet</a:t>
            </a:r>
          </a:p>
          <a:p>
            <a:pPr marL="268288" lvl="1" indent="-268288" eaLnBrk="1" hangingPunct="1">
              <a:spcBef>
                <a:spcPts val="600"/>
              </a:spcBef>
            </a:pPr>
            <a:r>
              <a:rPr lang="da-DK" sz="1800" kern="0" dirty="0"/>
              <a:t>Elementtypen i listen kan være vilkårlig</a:t>
            </a:r>
          </a:p>
          <a:p>
            <a:pPr marL="268288" lvl="1" indent="-268288" eaLnBrk="1" hangingPunct="1">
              <a:spcBef>
                <a:spcPts val="600"/>
              </a:spcBef>
            </a:pPr>
            <a:r>
              <a:rPr lang="da-DK" sz="1800" kern="0" dirty="0"/>
              <a:t>Metoden kan bruges på alle lister, men f.eks. ikke på et Set eller Queue </a:t>
            </a:r>
            <a:r>
              <a:rPr lang="da-DK" sz="1800" kern="0" dirty="0" err="1"/>
              <a:t>object</a:t>
            </a:r>
            <a:br>
              <a:rPr lang="da-DK" sz="1800" kern="0" dirty="0"/>
            </a:br>
            <a:r>
              <a:rPr lang="da-DK" sz="1800" kern="0" dirty="0"/>
              <a:t>(med mindre det også er en liste)</a:t>
            </a:r>
            <a:endParaRPr lang="en-US" dirty="0"/>
          </a:p>
          <a:p>
            <a:pPr marL="0" indent="0">
              <a:spcBef>
                <a:spcPts val="2400"/>
              </a:spcBef>
              <a:buNone/>
            </a:pPr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7030A0"/>
                </a:solidFill>
              </a:rPr>
              <a:t>frequency</a:t>
            </a:r>
            <a:r>
              <a:rPr lang="en-US" sz="2000" dirty="0"/>
              <a:t>(</a:t>
            </a:r>
            <a:r>
              <a:rPr lang="en-US" sz="2000" dirty="0">
                <a:solidFill>
                  <a:srgbClr val="008000"/>
                </a:solidFill>
              </a:rPr>
              <a:t>Collection&lt;?&gt;</a:t>
            </a:r>
            <a:r>
              <a:rPr lang="en-US" sz="2000" dirty="0"/>
              <a:t> c, </a:t>
            </a:r>
            <a:r>
              <a:rPr lang="en-US" sz="2000" dirty="0">
                <a:solidFill>
                  <a:srgbClr val="008000"/>
                </a:solidFill>
              </a:rPr>
              <a:t>Object</a:t>
            </a:r>
            <a:r>
              <a:rPr lang="en-US" sz="2000" dirty="0"/>
              <a:t> o) </a:t>
            </a:r>
            <a:endParaRPr lang="da-DK" sz="2000" dirty="0"/>
          </a:p>
          <a:p>
            <a:pPr marL="0" lvl="1" indent="0" eaLnBrk="1" hangingPunct="1">
              <a:spcBef>
                <a:spcPts val="600"/>
              </a:spcBef>
              <a:buNone/>
            </a:pPr>
            <a:r>
              <a:rPr lang="da-DK" sz="1800" kern="0" dirty="0">
                <a:solidFill>
                  <a:srgbClr val="FF0000"/>
                </a:solidFill>
              </a:rPr>
              <a:t>Returnerer antallet af forekomster af objektet o i objektsamlingen c</a:t>
            </a:r>
          </a:p>
          <a:p>
            <a:pPr marL="268288" lvl="1" indent="-268288" eaLnBrk="1" hangingPunct="1">
              <a:spcBef>
                <a:spcPts val="600"/>
              </a:spcBef>
            </a:pPr>
            <a:r>
              <a:rPr lang="da-DK" sz="1800" kern="0" dirty="0"/>
              <a:t>Første parameter skal være af en type, der implementerer Collection interfacet</a:t>
            </a:r>
          </a:p>
          <a:p>
            <a:pPr marL="268288" lvl="1" indent="-268288" eaLnBrk="1" hangingPunct="1">
              <a:spcBef>
                <a:spcPts val="600"/>
              </a:spcBef>
            </a:pPr>
            <a:r>
              <a:rPr lang="da-DK" sz="1800" kern="0" dirty="0"/>
              <a:t>Anden parameter er af vilkårlig type (alle klasser er subklasser af Object)</a:t>
            </a:r>
          </a:p>
          <a:p>
            <a:pPr marL="268288" lvl="1" indent="-268288" eaLnBrk="1" hangingPunct="1">
              <a:spcBef>
                <a:spcPts val="600"/>
              </a:spcBef>
            </a:pPr>
            <a:r>
              <a:rPr lang="da-DK" sz="1800" kern="0" dirty="0"/>
              <a:t>Lovligt at spørge om frekvensen af objekter, der slet ikke kan forekomme i listen (de har trivielt frekvensen 0)</a:t>
            </a:r>
          </a:p>
        </p:txBody>
      </p:sp>
    </p:spTree>
    <p:extLst>
      <p:ext uri="{BB962C8B-B14F-4D97-AF65-F5344CB8AC3E}">
        <p14:creationId xmlns:p14="http://schemas.microsoft.com/office/powerpoint/2010/main" val="27619681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 bwMode="auto">
          <a:xfrm>
            <a:off x="431095" y="1120820"/>
            <a:ext cx="7500793" cy="741288"/>
          </a:xfrm>
          <a:prstGeom prst="roundRect">
            <a:avLst/>
          </a:prstGeom>
          <a:solidFill>
            <a:srgbClr val="FFFFCC"/>
          </a:solidFill>
          <a:ln w="9525" cap="flat" cmpd="sng" algn="ctr">
            <a:solidFill>
              <a:srgbClr val="0000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</a:endParaRP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60648"/>
            <a:ext cx="8640960" cy="662248"/>
          </a:xfrm>
        </p:spPr>
        <p:txBody>
          <a:bodyPr/>
          <a:lstStyle/>
          <a:p>
            <a:pPr eaLnBrk="1" hangingPunct="1"/>
            <a:r>
              <a:rPr lang="da-DK" altLang="da-DK" sz="3200" dirty="0">
                <a:ea typeface="ＭＳ Ｐゴシック" pitchFamily="34" charset="-128"/>
              </a:rPr>
              <a:t>Eksempler fra </a:t>
            </a:r>
            <a:r>
              <a:rPr lang="en-US" sz="3200" dirty="0"/>
              <a:t>Collections</a:t>
            </a:r>
            <a:r>
              <a:rPr lang="da-DK" sz="3200" dirty="0"/>
              <a:t> (fortsat)</a:t>
            </a:r>
            <a:endParaRPr lang="da-DK" altLang="da-DK" sz="3200" dirty="0">
              <a:ea typeface="ＭＳ Ｐゴシック" pitchFamily="34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496696" y="6395842"/>
            <a:ext cx="647304" cy="457200"/>
          </a:xfrm>
          <a:prstGeom prst="rect">
            <a:avLst/>
          </a:prstGeom>
        </p:spPr>
        <p:txBody>
          <a:bodyPr/>
          <a:lstStyle/>
          <a:p>
            <a:fld id="{09A55395-2BED-4A30-9795-02A173C60FCF}" type="slidenum">
              <a:rPr lang="da-DK" altLang="da-DK" smtClean="0"/>
              <a:pPr/>
              <a:t>21</a:t>
            </a:fld>
            <a:endParaRPr lang="da-DK" altLang="da-DK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07119" y="1124744"/>
            <a:ext cx="8385361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pitchFamily="-107" charset="-128"/>
                <a:cs typeface="ＭＳ Ｐゴシック" pitchFamily="-107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0" indent="0">
              <a:spcBef>
                <a:spcPts val="1800"/>
              </a:spcBef>
              <a:buNone/>
            </a:pPr>
            <a:r>
              <a:rPr lang="en-US" sz="2000" dirty="0">
                <a:solidFill>
                  <a:srgbClr val="008000"/>
                </a:solidFill>
              </a:rPr>
              <a:t>&lt;T&gt;</a:t>
            </a:r>
            <a:r>
              <a:rPr lang="en-US" sz="2000" dirty="0"/>
              <a:t> void </a:t>
            </a:r>
            <a:r>
              <a:rPr lang="en-US" sz="2000" dirty="0">
                <a:solidFill>
                  <a:srgbClr val="7030A0"/>
                </a:solidFill>
              </a:rPr>
              <a:t>copy</a:t>
            </a:r>
            <a:r>
              <a:rPr lang="en-US" sz="2000" dirty="0"/>
              <a:t>(</a:t>
            </a:r>
            <a:r>
              <a:rPr lang="en-US" sz="2000" dirty="0">
                <a:solidFill>
                  <a:srgbClr val="008000"/>
                </a:solidFill>
              </a:rPr>
              <a:t>List&lt;? super T&gt;</a:t>
            </a:r>
            <a:r>
              <a:rPr lang="en-US" sz="2000" dirty="0"/>
              <a:t> </a:t>
            </a:r>
            <a:r>
              <a:rPr lang="en-US" sz="2000" dirty="0" err="1"/>
              <a:t>dest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008000"/>
                </a:solidFill>
              </a:rPr>
              <a:t>List&lt;? extends T&gt;</a:t>
            </a:r>
            <a:r>
              <a:rPr lang="en-US" sz="2000" dirty="0"/>
              <a:t> </a:t>
            </a:r>
            <a:r>
              <a:rPr lang="en-US" sz="2000" dirty="0" err="1"/>
              <a:t>src</a:t>
            </a:r>
            <a:r>
              <a:rPr lang="en-US" sz="2000" dirty="0"/>
              <a:t>) </a:t>
            </a:r>
            <a:endParaRPr lang="da-DK" sz="2000" dirty="0"/>
          </a:p>
          <a:p>
            <a:pPr marL="0" lvl="1" indent="0" eaLnBrk="1" hangingPunct="1">
              <a:spcBef>
                <a:spcPts val="600"/>
              </a:spcBef>
              <a:buNone/>
            </a:pPr>
            <a:r>
              <a:rPr lang="da-DK" sz="1800" kern="0" dirty="0">
                <a:solidFill>
                  <a:srgbClr val="FF0000"/>
                </a:solidFill>
              </a:rPr>
              <a:t>Kopierer alle elementer fra source listen (src) til destination listen (dest)</a:t>
            </a:r>
          </a:p>
          <a:p>
            <a:pPr marL="268288" lvl="1" indent="-268288" eaLnBrk="1" hangingPunct="1">
              <a:spcBef>
                <a:spcPts val="600"/>
              </a:spcBef>
            </a:pPr>
            <a:r>
              <a:rPr lang="da-DK" sz="1800" kern="0" dirty="0"/>
              <a:t>Begge parametre skal være af typer, der implementerer List interfacet</a:t>
            </a:r>
          </a:p>
          <a:p>
            <a:pPr marL="268288" lvl="1" indent="-268288" eaLnBrk="1" hangingPunct="1">
              <a:spcBef>
                <a:spcPts val="600"/>
              </a:spcBef>
            </a:pPr>
            <a:r>
              <a:rPr lang="da-DK" sz="1800" kern="0" dirty="0"/>
              <a:t>Der skal eksistere en type T, således at elementtypen i dest er en</a:t>
            </a:r>
            <a:br>
              <a:rPr lang="da-DK" sz="1800" kern="0" dirty="0"/>
            </a:br>
            <a:r>
              <a:rPr lang="da-DK" sz="1800" kern="0" dirty="0"/>
              <a:t>supertype af T, og elementtypen i src er en subtype af T</a:t>
            </a:r>
          </a:p>
          <a:p>
            <a:pPr marL="268288" lvl="1" indent="-268288" eaLnBrk="1" hangingPunct="1">
              <a:spcBef>
                <a:spcPts val="600"/>
              </a:spcBef>
            </a:pPr>
            <a:r>
              <a:rPr lang="da-DK" sz="1800" kern="0" spc="-60" dirty="0"/>
              <a:t>Dvs. at elementtypen i src er en subtype af elementtypen i dest (eller lig med denne)</a:t>
            </a:r>
          </a:p>
          <a:p>
            <a:pPr marL="268288" lvl="1" indent="-268288" eaLnBrk="1" hangingPunct="1">
              <a:spcBef>
                <a:spcPts val="600"/>
              </a:spcBef>
            </a:pPr>
            <a:r>
              <a:rPr lang="da-DK" sz="1800" kern="0" dirty="0"/>
              <a:t>Sikrer at det er lovligt at indsætte elementerne fra src i dest</a:t>
            </a:r>
          </a:p>
          <a:p>
            <a:pPr marL="0" lvl="1" indent="0">
              <a:spcBef>
                <a:spcPts val="1800"/>
              </a:spcBef>
              <a:buNone/>
            </a:pPr>
            <a:r>
              <a:rPr lang="da-DK" b="1" dirty="0">
                <a:solidFill>
                  <a:srgbClr val="A50021"/>
                </a:solidFill>
                <a:ea typeface="ＭＳ Ｐゴシック" pitchFamily="-107" charset="-128"/>
                <a:cs typeface="ＭＳ Ｐゴシック" pitchFamily="-107" charset="-128"/>
              </a:rPr>
              <a:t>Foran returtypen listes de typer, der bruges til typebegrænsninger</a:t>
            </a:r>
          </a:p>
          <a:p>
            <a:pPr marL="268288" lvl="1" indent="-268288" eaLnBrk="1" hangingPunct="1">
              <a:spcBef>
                <a:spcPts val="600"/>
              </a:spcBef>
            </a:pPr>
            <a:r>
              <a:rPr lang="da-DK" sz="1800" kern="0" dirty="0"/>
              <a:t>Det er dog ikke nødvendigt at liste de typer, der er type parametre for den generiske type, som vi er i færd med at definere</a:t>
            </a:r>
          </a:p>
          <a:p>
            <a:pPr marL="268288" lvl="1" indent="-268288" eaLnBrk="1" hangingPunct="1">
              <a:spcBef>
                <a:spcPts val="600"/>
              </a:spcBef>
            </a:pPr>
            <a:r>
              <a:rPr lang="da-DK" sz="1800" kern="0" dirty="0"/>
              <a:t>F.eks. behøver vi ikke at liste E i</a:t>
            </a:r>
          </a:p>
          <a:p>
            <a:pPr marL="668338" lvl="2" indent="-268288" eaLnBrk="1" hangingPunct="1">
              <a:spcBef>
                <a:spcPts val="600"/>
              </a:spcBef>
            </a:pPr>
            <a:r>
              <a:rPr lang="en-US" sz="1800" b="1" kern="0" dirty="0">
                <a:solidFill>
                  <a:srgbClr val="A50021"/>
                </a:solidFill>
              </a:rPr>
              <a:t>boolean </a:t>
            </a:r>
            <a:r>
              <a:rPr lang="en-US" sz="1800" b="1" dirty="0" err="1">
                <a:solidFill>
                  <a:srgbClr val="7030A0"/>
                </a:solidFill>
              </a:rPr>
              <a:t>addAll</a:t>
            </a:r>
            <a:r>
              <a:rPr lang="en-US" sz="1800" b="1" kern="0" dirty="0">
                <a:solidFill>
                  <a:srgbClr val="A50021"/>
                </a:solidFill>
              </a:rPr>
              <a:t>(</a:t>
            </a:r>
            <a:r>
              <a:rPr lang="en-US" sz="1800" b="1" dirty="0">
                <a:solidFill>
                  <a:srgbClr val="008000"/>
                </a:solidFill>
              </a:rPr>
              <a:t>Collection&lt;? extends E&gt;</a:t>
            </a:r>
            <a:r>
              <a:rPr lang="en-US" sz="1800" b="1" dirty="0"/>
              <a:t> </a:t>
            </a:r>
            <a:r>
              <a:rPr lang="en-US" sz="1800" b="1" kern="0" dirty="0">
                <a:solidFill>
                  <a:srgbClr val="A50021"/>
                </a:solidFill>
              </a:rPr>
              <a:t>c)</a:t>
            </a:r>
          </a:p>
          <a:p>
            <a:pPr marL="271463" lvl="2" indent="0" eaLnBrk="1" hangingPunct="1">
              <a:spcBef>
                <a:spcPts val="600"/>
              </a:spcBef>
              <a:buNone/>
            </a:pPr>
            <a:r>
              <a:rPr lang="da-DK" sz="1800" kern="0" dirty="0">
                <a:solidFill>
                  <a:srgbClr val="000066"/>
                </a:solidFill>
              </a:rPr>
              <a:t>idet E allerede er introduceret som en type parameter i</a:t>
            </a:r>
            <a:r>
              <a:rPr lang="en-US" sz="1800" kern="0" dirty="0">
                <a:solidFill>
                  <a:srgbClr val="000066"/>
                </a:solidFill>
              </a:rPr>
              <a:t> ArrayList&lt;E&gt;</a:t>
            </a:r>
            <a:endParaRPr lang="da-DK" sz="1800" kern="0" dirty="0">
              <a:solidFill>
                <a:srgbClr val="000066"/>
              </a:solidFill>
            </a:endParaRPr>
          </a:p>
          <a:p>
            <a:pPr marL="268288" lvl="1" indent="-268288" eaLnBrk="1" hangingPunct="1">
              <a:lnSpc>
                <a:spcPct val="9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3235591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60648"/>
            <a:ext cx="8640960" cy="662248"/>
          </a:xfrm>
        </p:spPr>
        <p:txBody>
          <a:bodyPr/>
          <a:lstStyle/>
          <a:p>
            <a:pPr eaLnBrk="1" hangingPunct="1"/>
            <a:r>
              <a:rPr lang="da-DK" altLang="da-DK" sz="3200" dirty="0">
                <a:ea typeface="ＭＳ Ｐゴシック" pitchFamily="34" charset="-128"/>
              </a:rPr>
              <a:t>Eksempler fra </a:t>
            </a:r>
            <a:r>
              <a:rPr lang="en-US" sz="3200" dirty="0"/>
              <a:t>Collections (</a:t>
            </a:r>
            <a:r>
              <a:rPr lang="da-DK" altLang="da-DK" sz="3200">
                <a:ea typeface="ＭＳ Ｐゴシック" pitchFamily="34" charset="-128"/>
              </a:rPr>
              <a:t>sort metoderne)</a:t>
            </a:r>
            <a:endParaRPr lang="da-DK" altLang="da-DK" sz="3200" noProof="0" dirty="0">
              <a:ea typeface="ＭＳ Ｐゴシック" pitchFamily="34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496696" y="6395842"/>
            <a:ext cx="647304" cy="457200"/>
          </a:xfrm>
          <a:prstGeom prst="rect">
            <a:avLst/>
          </a:prstGeom>
        </p:spPr>
        <p:txBody>
          <a:bodyPr/>
          <a:lstStyle/>
          <a:p>
            <a:fld id="{09A55395-2BED-4A30-9795-02A173C60FCF}" type="slidenum">
              <a:rPr lang="da-DK" altLang="da-DK" smtClean="0"/>
              <a:pPr/>
              <a:t>22</a:t>
            </a:fld>
            <a:endParaRPr lang="da-DK" altLang="da-DK" dirty="0"/>
          </a:p>
        </p:txBody>
      </p:sp>
      <p:sp>
        <p:nvSpPr>
          <p:cNvPr id="5" name="Rounded Rectangle 4"/>
          <p:cNvSpPr/>
          <p:nvPr/>
        </p:nvSpPr>
        <p:spPr bwMode="auto">
          <a:xfrm>
            <a:off x="466538" y="1099555"/>
            <a:ext cx="6678542" cy="741288"/>
          </a:xfrm>
          <a:prstGeom prst="roundRect">
            <a:avLst/>
          </a:prstGeom>
          <a:solidFill>
            <a:srgbClr val="FFFFCC"/>
          </a:solidFill>
          <a:ln w="9525" cap="flat" cmpd="sng" algn="ctr">
            <a:solidFill>
              <a:srgbClr val="0000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</a:endParaRPr>
          </a:p>
        </p:txBody>
      </p:sp>
      <p:sp>
        <p:nvSpPr>
          <p:cNvPr id="7" name="Rounded Rectangle 6"/>
          <p:cNvSpPr/>
          <p:nvPr/>
        </p:nvSpPr>
        <p:spPr bwMode="auto">
          <a:xfrm>
            <a:off x="467833" y="3569852"/>
            <a:ext cx="7449879" cy="741288"/>
          </a:xfrm>
          <a:prstGeom prst="roundRect">
            <a:avLst/>
          </a:prstGeom>
          <a:solidFill>
            <a:srgbClr val="FFFFCC"/>
          </a:solidFill>
          <a:ln w="9525" cap="flat" cmpd="sng" algn="ctr">
            <a:solidFill>
              <a:srgbClr val="0000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66068" y="1081152"/>
            <a:ext cx="8362978" cy="4918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pitchFamily="-107" charset="-128"/>
                <a:cs typeface="ＭＳ Ｐゴシック" pitchFamily="-107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0" indent="0">
              <a:spcBef>
                <a:spcPts val="1800"/>
              </a:spcBef>
              <a:buNone/>
            </a:pPr>
            <a:r>
              <a:rPr lang="fr-FR" sz="2000" dirty="0">
                <a:solidFill>
                  <a:srgbClr val="008000"/>
                </a:solidFill>
              </a:rPr>
              <a:t>&lt;T&gt;</a:t>
            </a:r>
            <a:r>
              <a:rPr lang="fr-FR" sz="2000" dirty="0"/>
              <a:t> void </a:t>
            </a:r>
            <a:r>
              <a:rPr lang="fr-FR" sz="2000" dirty="0">
                <a:solidFill>
                  <a:srgbClr val="7030A0"/>
                </a:solidFill>
              </a:rPr>
              <a:t>sort</a:t>
            </a:r>
            <a:r>
              <a:rPr lang="fr-FR" sz="2000" dirty="0"/>
              <a:t>(</a:t>
            </a:r>
            <a:r>
              <a:rPr lang="fr-FR" sz="2000" dirty="0">
                <a:solidFill>
                  <a:srgbClr val="008000"/>
                </a:solidFill>
              </a:rPr>
              <a:t>List&lt;T&gt;</a:t>
            </a:r>
            <a:r>
              <a:rPr lang="fr-FR" sz="2000" dirty="0"/>
              <a:t> </a:t>
            </a:r>
            <a:r>
              <a:rPr lang="fr-FR" sz="2000" dirty="0" err="1"/>
              <a:t>list</a:t>
            </a:r>
            <a:r>
              <a:rPr lang="fr-FR" sz="2000" dirty="0"/>
              <a:t>, </a:t>
            </a:r>
            <a:r>
              <a:rPr lang="fr-FR" sz="2000" dirty="0" err="1">
                <a:solidFill>
                  <a:srgbClr val="008000"/>
                </a:solidFill>
              </a:rPr>
              <a:t>Comparator</a:t>
            </a:r>
            <a:r>
              <a:rPr lang="fr-FR" sz="2000" dirty="0">
                <a:solidFill>
                  <a:srgbClr val="008000"/>
                </a:solidFill>
              </a:rPr>
              <a:t>&lt;? super T&gt;</a:t>
            </a:r>
            <a:r>
              <a:rPr lang="fr-FR" sz="2000" dirty="0"/>
              <a:t> c)</a:t>
            </a:r>
            <a:r>
              <a:rPr lang="en-US" sz="2000" dirty="0"/>
              <a:t> </a:t>
            </a:r>
          </a:p>
          <a:p>
            <a:pPr marL="0" lvl="1" indent="0" eaLnBrk="1" hangingPunct="1">
              <a:spcBef>
                <a:spcPts val="600"/>
              </a:spcBef>
              <a:buNone/>
            </a:pPr>
            <a:r>
              <a:rPr lang="da-DK" sz="1800" kern="0" dirty="0">
                <a:solidFill>
                  <a:srgbClr val="FF0000"/>
                </a:solidFill>
              </a:rPr>
              <a:t>Sorterer listen ved hjælp af en </a:t>
            </a:r>
            <a:r>
              <a:rPr lang="da-DK" sz="1800" kern="0" dirty="0" err="1">
                <a:solidFill>
                  <a:srgbClr val="FF0000"/>
                </a:solidFill>
              </a:rPr>
              <a:t>comparator</a:t>
            </a:r>
            <a:endParaRPr lang="da-DK" sz="1800" kern="0" dirty="0">
              <a:solidFill>
                <a:srgbClr val="FF0000"/>
              </a:solidFill>
            </a:endParaRPr>
          </a:p>
          <a:p>
            <a:pPr marL="268288" lvl="1" indent="-268288" eaLnBrk="1" hangingPunct="1">
              <a:spcBef>
                <a:spcPts val="600"/>
              </a:spcBef>
            </a:pPr>
            <a:r>
              <a:rPr lang="da-DK" sz="1800" kern="0" dirty="0"/>
              <a:t>Første parameter skal være en liste med en vilkårlig elementtype T</a:t>
            </a:r>
          </a:p>
          <a:p>
            <a:pPr marL="268288" lvl="1" indent="-268288" eaLnBrk="1" hangingPunct="1">
              <a:spcBef>
                <a:spcPts val="600"/>
              </a:spcBef>
            </a:pPr>
            <a:r>
              <a:rPr lang="da-DK" sz="1800" kern="0" dirty="0"/>
              <a:t>Anden parameter skal være af en type, der implementere Comparator interfacet for T (eller har en supertype, der gør det)</a:t>
            </a:r>
          </a:p>
          <a:p>
            <a:pPr marL="268288" lvl="1" indent="-268288" eaLnBrk="1" hangingPunct="1">
              <a:spcBef>
                <a:spcPts val="600"/>
              </a:spcBef>
            </a:pPr>
            <a:r>
              <a:rPr lang="da-DK" sz="1800" kern="0" dirty="0"/>
              <a:t>Sikrer at T (eller en supertype af T) stiller en compare metode til rådighed for sorteringen</a:t>
            </a:r>
            <a:endParaRPr lang="da-DK" dirty="0"/>
          </a:p>
          <a:p>
            <a:pPr marL="0" indent="0">
              <a:spcBef>
                <a:spcPts val="1800"/>
              </a:spcBef>
              <a:buNone/>
            </a:pPr>
            <a:r>
              <a:rPr lang="en-US" sz="2000" dirty="0">
                <a:solidFill>
                  <a:srgbClr val="008000"/>
                </a:solidFill>
              </a:rPr>
              <a:t>&lt;T extends Comparable&lt;? super T&gt;&gt;</a:t>
            </a:r>
            <a:r>
              <a:rPr lang="en-US" sz="2000" dirty="0"/>
              <a:t> void </a:t>
            </a:r>
            <a:r>
              <a:rPr lang="en-US" sz="2000" dirty="0">
                <a:solidFill>
                  <a:srgbClr val="7030A0"/>
                </a:solidFill>
              </a:rPr>
              <a:t>sort</a:t>
            </a:r>
            <a:r>
              <a:rPr lang="en-US" sz="2000" dirty="0"/>
              <a:t>(</a:t>
            </a:r>
            <a:r>
              <a:rPr lang="en-US" sz="2000" dirty="0">
                <a:solidFill>
                  <a:srgbClr val="008000"/>
                </a:solidFill>
              </a:rPr>
              <a:t>List&lt;T&gt;</a:t>
            </a:r>
            <a:r>
              <a:rPr lang="en-US" sz="2000" dirty="0"/>
              <a:t> list) </a:t>
            </a:r>
          </a:p>
          <a:p>
            <a:pPr marL="0" lvl="1" indent="0" eaLnBrk="1" hangingPunct="1">
              <a:spcBef>
                <a:spcPts val="600"/>
              </a:spcBef>
              <a:buNone/>
            </a:pPr>
            <a:r>
              <a:rPr lang="da-DK" sz="1800" kern="0" dirty="0">
                <a:solidFill>
                  <a:srgbClr val="FF0000"/>
                </a:solidFill>
              </a:rPr>
              <a:t>Sorterer listen ved hjælp af den naturlige ordning</a:t>
            </a:r>
          </a:p>
          <a:p>
            <a:pPr marL="268288" lvl="1" indent="-268288" eaLnBrk="1" hangingPunct="1">
              <a:spcBef>
                <a:spcPts val="600"/>
              </a:spcBef>
            </a:pPr>
            <a:r>
              <a:rPr lang="da-DK" sz="1800" kern="0" dirty="0"/>
              <a:t>Parameteren skal være en liste</a:t>
            </a:r>
          </a:p>
          <a:p>
            <a:pPr marL="268288" lvl="1" indent="-268288" eaLnBrk="1" hangingPunct="1">
              <a:spcBef>
                <a:spcPts val="600"/>
              </a:spcBef>
            </a:pPr>
            <a:r>
              <a:rPr lang="da-DK" sz="1800" kern="0" dirty="0"/>
              <a:t>Elementtypen T skal implementerer Comparable interfacet (eller have en supertype, der gør det)</a:t>
            </a:r>
          </a:p>
          <a:p>
            <a:pPr marL="268288" lvl="1" indent="-268288" eaLnBrk="1" hangingPunct="1">
              <a:spcBef>
                <a:spcPts val="600"/>
              </a:spcBef>
            </a:pPr>
            <a:r>
              <a:rPr lang="da-DK" sz="1800" kern="0" spc="-80" dirty="0"/>
              <a:t>Sikrer at T (eller en supertype af T) stiller en naturlig ordning til rådighed for sorteringen</a:t>
            </a:r>
          </a:p>
        </p:txBody>
      </p:sp>
    </p:spTree>
    <p:extLst>
      <p:ext uri="{BB962C8B-B14F-4D97-AF65-F5344CB8AC3E}">
        <p14:creationId xmlns:p14="http://schemas.microsoft.com/office/powerpoint/2010/main" val="27397620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260648"/>
            <a:ext cx="8207375" cy="662248"/>
          </a:xfrm>
        </p:spPr>
        <p:txBody>
          <a:bodyPr/>
          <a:lstStyle/>
          <a:p>
            <a:pPr eaLnBrk="1" hangingPunct="1"/>
            <a:r>
              <a:rPr lang="da-DK" altLang="da-DK" sz="3200" noProof="0" dirty="0">
                <a:ea typeface="ＭＳ Ｐゴシック" pitchFamily="34" charset="-128"/>
              </a:rPr>
              <a:t>Eksempel fra </a:t>
            </a:r>
            <a:r>
              <a:rPr lang="da-DK" altLang="da-DK" sz="3200" noProof="0" dirty="0" err="1">
                <a:ea typeface="ＭＳ Ｐゴシック" pitchFamily="34" charset="-128"/>
              </a:rPr>
              <a:t>foxes</a:t>
            </a:r>
            <a:r>
              <a:rPr lang="da-DK" altLang="da-DK" sz="3200" noProof="0" dirty="0">
                <a:ea typeface="ＭＳ Ｐゴシック" pitchFamily="34" charset="-128"/>
              </a:rPr>
              <a:t> and </a:t>
            </a:r>
            <a:r>
              <a:rPr lang="da-DK" altLang="da-DK" sz="3200" noProof="0" dirty="0" err="1">
                <a:ea typeface="ＭＳ Ｐゴシック" pitchFamily="34" charset="-128"/>
              </a:rPr>
              <a:t>rabbits</a:t>
            </a:r>
            <a:r>
              <a:rPr lang="da-DK" altLang="da-DK" sz="3200" noProof="0" dirty="0">
                <a:ea typeface="ＭＳ Ｐゴシック" pitchFamily="34" charset="-128"/>
              </a:rPr>
              <a:t> projektet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496696" y="6395842"/>
            <a:ext cx="647304" cy="457200"/>
          </a:xfrm>
          <a:prstGeom prst="rect">
            <a:avLst/>
          </a:prstGeom>
        </p:spPr>
        <p:txBody>
          <a:bodyPr/>
          <a:lstStyle/>
          <a:p>
            <a:fld id="{09A55395-2BED-4A30-9795-02A173C60FCF}" type="slidenum">
              <a:rPr lang="da-DK" altLang="da-DK" smtClean="0"/>
              <a:pPr/>
              <a:t>23</a:t>
            </a:fld>
            <a:endParaRPr lang="da-DK" altLang="da-DK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65886" y="1080420"/>
            <a:ext cx="8426594" cy="1883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pitchFamily="-107" charset="-128"/>
                <a:cs typeface="ＭＳ Ｐゴシック" pitchFamily="-107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342900" lvl="1" indent="-342900" eaLnBrk="1" hangingPunct="1">
              <a:lnSpc>
                <a:spcPct val="90000"/>
              </a:lnSpc>
              <a:buChar char="•"/>
            </a:pPr>
            <a:r>
              <a:rPr lang="da-DK" altLang="da-DK" b="1" kern="0" dirty="0">
                <a:solidFill>
                  <a:srgbClr val="A50021"/>
                </a:solidFill>
                <a:ea typeface="ＭＳ Ｐゴシック" pitchFamily="-107" charset="-128"/>
                <a:cs typeface="ＭＳ Ｐゴシック" pitchFamily="-107" charset="-128"/>
              </a:rPr>
              <a:t>Vi vil lave en afbildning (Map), hvor nøglerne er dyrenes </a:t>
            </a:r>
            <a:r>
              <a:rPr lang="da-DK" altLang="da-DK" b="1" kern="0" dirty="0">
                <a:solidFill>
                  <a:srgbClr val="008000"/>
                </a:solidFill>
                <a:ea typeface="ＭＳ Ｐゴシック" pitchFamily="-107" charset="-128"/>
                <a:cs typeface="ＭＳ Ｐゴシック" pitchFamily="-107" charset="-128"/>
              </a:rPr>
              <a:t>klasser</a:t>
            </a:r>
            <a:r>
              <a:rPr lang="da-DK" altLang="da-DK" b="1" kern="0" dirty="0">
                <a:solidFill>
                  <a:srgbClr val="A50021"/>
                </a:solidFill>
                <a:ea typeface="ＭＳ Ｐゴシック" pitchFamily="-107" charset="-128"/>
                <a:cs typeface="ＭＳ Ｐゴシック" pitchFamily="-107" charset="-128"/>
              </a:rPr>
              <a:t> og værdierne de </a:t>
            </a:r>
            <a:r>
              <a:rPr lang="da-DK" altLang="da-DK" b="1" kern="0" dirty="0">
                <a:solidFill>
                  <a:srgbClr val="008000"/>
                </a:solidFill>
                <a:ea typeface="ＭＳ Ｐゴシック" pitchFamily="-107" charset="-128"/>
                <a:cs typeface="ＭＳ Ｐゴシック" pitchFamily="-107" charset="-128"/>
              </a:rPr>
              <a:t>farver</a:t>
            </a:r>
            <a:r>
              <a:rPr lang="da-DK" altLang="da-DK" b="1" kern="0" dirty="0">
                <a:solidFill>
                  <a:srgbClr val="A50021"/>
                </a:solidFill>
                <a:ea typeface="ＭＳ Ｐゴシック" pitchFamily="-107" charset="-128"/>
                <a:cs typeface="ＭＳ Ｐゴシック" pitchFamily="-107" charset="-128"/>
              </a:rPr>
              <a:t>, hvormed dyrene vises på spillepladen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da-DK" altLang="da-DK" sz="1800" dirty="0"/>
              <a:t>Klasserne repræsenteres ved hjælp af klassen Class&lt;T&gt;, der indeholder </a:t>
            </a:r>
            <a:r>
              <a:rPr lang="da-DK" altLang="da-DK" sz="1800" b="1" dirty="0">
                <a:solidFill>
                  <a:srgbClr val="008000"/>
                </a:solidFill>
              </a:rPr>
              <a:t>ét objekt</a:t>
            </a:r>
            <a:r>
              <a:rPr lang="da-DK" altLang="da-DK" sz="1800" dirty="0"/>
              <a:t> for hver klasse i et kørende program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da-DK" altLang="da-DK" sz="1800" dirty="0" err="1"/>
              <a:t>Rabbit</a:t>
            </a:r>
            <a:r>
              <a:rPr lang="da-DK" altLang="da-DK" sz="1800" dirty="0"/>
              <a:t> repræsenteres af objektet </a:t>
            </a:r>
            <a:r>
              <a:rPr lang="da-DK" altLang="da-DK" sz="1800" b="1" dirty="0" err="1"/>
              <a:t>Rabbit.class</a:t>
            </a:r>
            <a:r>
              <a:rPr lang="da-DK" altLang="da-DK" sz="1800" dirty="0"/>
              <a:t> (af typen Class&lt;</a:t>
            </a:r>
            <a:r>
              <a:rPr lang="da-DK" altLang="da-DK" sz="1800" dirty="0" err="1"/>
              <a:t>Rabbit</a:t>
            </a:r>
            <a:r>
              <a:rPr lang="da-DK" altLang="da-DK" sz="1800" dirty="0"/>
              <a:t>&gt;)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da-DK" altLang="da-DK" sz="1800" dirty="0"/>
              <a:t>Fox repræsenteres af objektet </a:t>
            </a:r>
            <a:r>
              <a:rPr lang="da-DK" altLang="da-DK" sz="1800" b="1" dirty="0" err="1"/>
              <a:t>Fox.class</a:t>
            </a:r>
            <a:r>
              <a:rPr lang="da-DK" altLang="da-DK" sz="1800" dirty="0"/>
              <a:t> (af typen Class&lt;Fox&gt;)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endParaRPr lang="da-DK" altLang="da-DK" sz="1800" dirty="0"/>
          </a:p>
        </p:txBody>
      </p:sp>
      <p:sp>
        <p:nvSpPr>
          <p:cNvPr id="7" name="Rectangle 6"/>
          <p:cNvSpPr/>
          <p:nvPr/>
        </p:nvSpPr>
        <p:spPr bwMode="auto">
          <a:xfrm>
            <a:off x="1259632" y="4120221"/>
            <a:ext cx="6994906" cy="1166674"/>
          </a:xfrm>
          <a:prstGeom prst="rect">
            <a:avLst/>
          </a:prstGeom>
          <a:solidFill>
            <a:srgbClr val="FFFFCC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200"/>
              </a:spcBef>
            </a:pPr>
            <a:r>
              <a:rPr lang="en-US" sz="1800" b="1" kern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sz="1800" b="1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Map&lt;Class&lt;?&gt;, Color&gt; colors;</a:t>
            </a:r>
          </a:p>
          <a:p>
            <a:pPr>
              <a:lnSpc>
                <a:spcPct val="60000"/>
              </a:lnSpc>
              <a:spcBef>
                <a:spcPts val="200"/>
              </a:spcBef>
            </a:pPr>
            <a:r>
              <a:rPr lang="en-US" sz="1800" b="1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......</a:t>
            </a:r>
          </a:p>
          <a:p>
            <a:pPr>
              <a:spcBef>
                <a:spcPts val="200"/>
              </a:spcBef>
            </a:pPr>
            <a:r>
              <a:rPr lang="en-US" sz="1800" b="1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colors.put</a:t>
            </a:r>
            <a:r>
              <a:rPr lang="en-US" sz="1800" b="1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800" b="1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Rabbit.class</a:t>
            </a:r>
            <a:r>
              <a:rPr lang="en-US" sz="1800" b="1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800" b="1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Color.ORANGE</a:t>
            </a:r>
            <a:r>
              <a:rPr lang="en-US" sz="800" b="1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spcBef>
                <a:spcPts val="200"/>
              </a:spcBef>
            </a:pPr>
            <a:r>
              <a:rPr lang="en-US" sz="1800" b="1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colors.put</a:t>
            </a:r>
            <a:r>
              <a:rPr lang="en-US" sz="1800" b="1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800" b="1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Fox.class</a:t>
            </a:r>
            <a:r>
              <a:rPr lang="en-US" sz="1800" b="1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800" b="1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kern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Color.BLUE</a:t>
            </a:r>
            <a:r>
              <a:rPr lang="en-US" sz="800" b="1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kern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800" b="1" kern="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200"/>
              </a:spcBef>
            </a:pPr>
            <a:endParaRPr lang="en-US" sz="1800" b="1" kern="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2859844" y="4671753"/>
            <a:ext cx="1678906" cy="22686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pitchFamily="-105" charset="0"/>
            </a:endParaRPr>
          </a:p>
        </p:txBody>
      </p:sp>
      <p:sp>
        <p:nvSpPr>
          <p:cNvPr id="10" name="Text Box 21"/>
          <p:cNvSpPr txBox="1">
            <a:spLocks noChangeArrowheads="1"/>
          </p:cNvSpPr>
          <p:nvPr/>
        </p:nvSpPr>
        <p:spPr bwMode="auto">
          <a:xfrm>
            <a:off x="1282175" y="5443539"/>
            <a:ext cx="3201281" cy="286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da-DK" altLang="da-DK" sz="1400" b="1" dirty="0">
                <a:solidFill>
                  <a:srgbClr val="FF0000"/>
                </a:solidFill>
              </a:rPr>
              <a:t>Nøgler (objekter i typen Class&lt;?&gt;)</a:t>
            </a:r>
          </a:p>
        </p:txBody>
      </p:sp>
      <p:sp>
        <p:nvSpPr>
          <p:cNvPr id="11" name="Line 22"/>
          <p:cNvSpPr>
            <a:spLocks noChangeShapeType="1"/>
          </p:cNvSpPr>
          <p:nvPr/>
        </p:nvSpPr>
        <p:spPr bwMode="auto">
          <a:xfrm flipV="1">
            <a:off x="3131840" y="5203097"/>
            <a:ext cx="8314" cy="29070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endParaRPr lang="da-DK"/>
          </a:p>
        </p:txBody>
      </p:sp>
      <p:sp>
        <p:nvSpPr>
          <p:cNvPr id="12" name="Rectangle 11"/>
          <p:cNvSpPr/>
          <p:nvPr/>
        </p:nvSpPr>
        <p:spPr bwMode="auto">
          <a:xfrm>
            <a:off x="2843147" y="4995031"/>
            <a:ext cx="1295071" cy="20806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pitchFamily="-105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4688644" y="4663440"/>
            <a:ext cx="1728781" cy="218242"/>
          </a:xfrm>
          <a:prstGeom prst="rect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pitchFamily="-105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273619" y="4995111"/>
            <a:ext cx="1455937" cy="199601"/>
          </a:xfrm>
          <a:prstGeom prst="rect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2000" b="0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pitchFamily="-105" charset="0"/>
            </a:endParaRPr>
          </a:p>
        </p:txBody>
      </p:sp>
      <p:sp>
        <p:nvSpPr>
          <p:cNvPr id="15" name="Line 22"/>
          <p:cNvSpPr>
            <a:spLocks noChangeShapeType="1"/>
          </p:cNvSpPr>
          <p:nvPr/>
        </p:nvSpPr>
        <p:spPr bwMode="auto">
          <a:xfrm flipV="1">
            <a:off x="4998134" y="5186677"/>
            <a:ext cx="3451" cy="29019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endParaRPr lang="da-DK"/>
          </a:p>
        </p:txBody>
      </p:sp>
      <p:sp>
        <p:nvSpPr>
          <p:cNvPr id="16" name="Text Box 21"/>
          <p:cNvSpPr txBox="1">
            <a:spLocks noChangeArrowheads="1"/>
          </p:cNvSpPr>
          <p:nvPr/>
        </p:nvSpPr>
        <p:spPr bwMode="auto">
          <a:xfrm>
            <a:off x="4508270" y="5446046"/>
            <a:ext cx="4492580" cy="286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da-DK" altLang="da-DK" sz="1400" b="1" spc="-50" dirty="0">
                <a:solidFill>
                  <a:srgbClr val="0000FF"/>
                </a:solidFill>
              </a:rPr>
              <a:t>Værdier (konstanter i </a:t>
            </a:r>
            <a:r>
              <a:rPr lang="da-DK" altLang="da-DK" sz="1400" b="1" spc="-50" dirty="0" err="1">
                <a:solidFill>
                  <a:srgbClr val="0000FF"/>
                </a:solidFill>
              </a:rPr>
              <a:t>Color</a:t>
            </a:r>
            <a:r>
              <a:rPr lang="da-DK" altLang="da-DK" sz="1400" b="1" spc="-50" dirty="0">
                <a:solidFill>
                  <a:srgbClr val="0000FF"/>
                </a:solidFill>
              </a:rPr>
              <a:t> klassen fra Javas API)</a:t>
            </a:r>
          </a:p>
        </p:txBody>
      </p:sp>
      <p:sp>
        <p:nvSpPr>
          <p:cNvPr id="17" name="Rectangle 16"/>
          <p:cNvSpPr/>
          <p:nvPr/>
        </p:nvSpPr>
        <p:spPr bwMode="auto">
          <a:xfrm>
            <a:off x="3800351" y="4181433"/>
            <a:ext cx="164821" cy="233468"/>
          </a:xfrm>
          <a:prstGeom prst="rect">
            <a:avLst/>
          </a:prstGeom>
          <a:noFill/>
          <a:ln w="28575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2000" b="0" i="0" u="none" strike="noStrike" cap="none" normalizeH="0" baseline="0" dirty="0">
                <a:ln>
                  <a:noFill/>
                </a:ln>
                <a:solidFill>
                  <a:srgbClr val="A50021"/>
                </a:solidFill>
                <a:effectLst/>
                <a:latin typeface="Arial" pitchFamily="-105" charset="0"/>
              </a:rPr>
              <a:t>  </a:t>
            </a:r>
          </a:p>
        </p:txBody>
      </p:sp>
      <p:sp>
        <p:nvSpPr>
          <p:cNvPr id="18" name="Text Box 21"/>
          <p:cNvSpPr txBox="1">
            <a:spLocks noChangeArrowheads="1"/>
          </p:cNvSpPr>
          <p:nvPr/>
        </p:nvSpPr>
        <p:spPr bwMode="auto">
          <a:xfrm>
            <a:off x="2024940" y="3505718"/>
            <a:ext cx="4275252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da-DK" altLang="da-DK" sz="1400" b="1" dirty="0">
                <a:solidFill>
                  <a:srgbClr val="008000"/>
                </a:solidFill>
              </a:rPr>
              <a:t>Wildcardet ? angiver, at vi på dette sted kan bruge en vilkårlig klasse, f.eks. </a:t>
            </a:r>
            <a:r>
              <a:rPr lang="da-DK" altLang="da-DK" sz="1400" b="1" dirty="0" err="1">
                <a:solidFill>
                  <a:srgbClr val="008000"/>
                </a:solidFill>
              </a:rPr>
              <a:t>Rabbit</a:t>
            </a:r>
            <a:r>
              <a:rPr lang="da-DK" altLang="da-DK" sz="1400" b="1" dirty="0">
                <a:solidFill>
                  <a:srgbClr val="008000"/>
                </a:solidFill>
              </a:rPr>
              <a:t> og Fox</a:t>
            </a:r>
          </a:p>
        </p:txBody>
      </p:sp>
      <p:sp>
        <p:nvSpPr>
          <p:cNvPr id="19" name="Line 22"/>
          <p:cNvSpPr>
            <a:spLocks noChangeShapeType="1"/>
          </p:cNvSpPr>
          <p:nvPr/>
        </p:nvSpPr>
        <p:spPr bwMode="auto">
          <a:xfrm>
            <a:off x="3891791" y="3947454"/>
            <a:ext cx="1" cy="27436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endParaRPr lang="da-DK"/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 bwMode="auto">
          <a:xfrm>
            <a:off x="454992" y="5882080"/>
            <a:ext cx="8362978" cy="742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pitchFamily="-107" charset="-128"/>
                <a:cs typeface="ＭＳ Ｐゴシック" pitchFamily="-107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342900" lvl="1" indent="-342900" eaLnBrk="1" hangingPunct="1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da-DK" altLang="da-DK" b="1" dirty="0">
                <a:solidFill>
                  <a:srgbClr val="A50021"/>
                </a:solidFill>
                <a:ea typeface="ＭＳ Ｐゴシック" pitchFamily="-106" charset="-128"/>
                <a:cs typeface="ＭＳ Ｐゴシック" pitchFamily="-106" charset="-128"/>
              </a:rPr>
              <a:t>Yderligere info om wildcards og typebegrænsninger: </a:t>
            </a:r>
            <a:r>
              <a:rPr lang="da-DK" altLang="da-DK" sz="1800" kern="0" dirty="0"/>
              <a:t>https://docs.oracle.com/javase/tutorial/extra/generics/wildcards.html   </a:t>
            </a:r>
            <a:r>
              <a:rPr lang="da-DK" altLang="da-DK" sz="1800" b="1" kern="0" dirty="0">
                <a:hlinkClick r:id="rId3"/>
              </a:rPr>
              <a:t>Link</a:t>
            </a:r>
            <a:endParaRPr lang="da-DK" altLang="da-DK" sz="1600" b="1" kern="0" dirty="0"/>
          </a:p>
        </p:txBody>
      </p:sp>
      <p:sp>
        <p:nvSpPr>
          <p:cNvPr id="21" name="Rectangle 3"/>
          <p:cNvSpPr txBox="1">
            <a:spLocks noChangeArrowheads="1"/>
          </p:cNvSpPr>
          <p:nvPr/>
        </p:nvSpPr>
        <p:spPr bwMode="auto">
          <a:xfrm>
            <a:off x="455726" y="3097163"/>
            <a:ext cx="8354586" cy="391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pitchFamily="-107" charset="-128"/>
                <a:cs typeface="ＭＳ Ｐゴシック" pitchFamily="-107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342900" lvl="1" indent="-342900" eaLnBrk="1" hangingPunct="1">
              <a:lnSpc>
                <a:spcPct val="90000"/>
              </a:lnSpc>
              <a:spcBef>
                <a:spcPts val="1800"/>
              </a:spcBef>
              <a:buChar char="•"/>
            </a:pPr>
            <a:r>
              <a:rPr lang="da-DK" altLang="da-DK" b="1" kern="0" dirty="0">
                <a:solidFill>
                  <a:srgbClr val="A50021"/>
                </a:solidFill>
                <a:ea typeface="ＭＳ Ｐゴシック" pitchFamily="-107" charset="-128"/>
                <a:cs typeface="ＭＳ Ｐゴシック" pitchFamily="-107" charset="-128"/>
              </a:rPr>
              <a:t>Nu kan vi definere vores afbildning på følgende måde</a:t>
            </a:r>
          </a:p>
        </p:txBody>
      </p:sp>
    </p:spTree>
    <p:extLst>
      <p:ext uri="{BB962C8B-B14F-4D97-AF65-F5344CB8AC3E}">
        <p14:creationId xmlns:p14="http://schemas.microsoft.com/office/powerpoint/2010/main" val="25220879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/>
      <p:bldP spid="17" grpId="0" animBg="1"/>
      <p:bldP spid="18" grpId="0"/>
      <p:bldP spid="19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60648"/>
            <a:ext cx="8748464" cy="662248"/>
          </a:xfrm>
        </p:spPr>
        <p:txBody>
          <a:bodyPr/>
          <a:lstStyle/>
          <a:p>
            <a:pPr eaLnBrk="1" hangingPunct="1"/>
            <a:r>
              <a:rPr lang="en-US" altLang="da-DK" sz="2800" spc="-50" dirty="0" err="1">
                <a:ea typeface="ＭＳ Ｐゴシック" pitchFamily="34" charset="-128"/>
              </a:rPr>
              <a:t>Opsummering</a:t>
            </a:r>
            <a:r>
              <a:rPr lang="en-US" altLang="da-DK" sz="2800" spc="-50" dirty="0">
                <a:ea typeface="ＭＳ Ｐゴシック" pitchFamily="34" charset="-128"/>
              </a:rPr>
              <a:t> </a:t>
            </a:r>
            <a:r>
              <a:rPr lang="en-US" altLang="da-DK" sz="2800" spc="-50" dirty="0" err="1">
                <a:ea typeface="ＭＳ Ｐゴシック" pitchFamily="34" charset="-128"/>
              </a:rPr>
              <a:t>af</a:t>
            </a:r>
            <a:r>
              <a:rPr lang="en-US" altLang="da-DK" sz="2800" spc="-50" dirty="0">
                <a:ea typeface="ＭＳ Ｐゴシック" pitchFamily="34" charset="-128"/>
              </a:rPr>
              <a:t> wildcards og </a:t>
            </a:r>
            <a:r>
              <a:rPr lang="en-US" altLang="da-DK" sz="2800" spc="-50" dirty="0" err="1">
                <a:ea typeface="ＭＳ Ｐゴシック" pitchFamily="34" charset="-128"/>
              </a:rPr>
              <a:t>typebegrænsninger</a:t>
            </a:r>
            <a:endParaRPr lang="da-DK" altLang="da-DK" sz="2800" spc="-50" noProof="0" dirty="0">
              <a:ea typeface="ＭＳ Ｐゴシック" pitchFamily="34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496696" y="6395842"/>
            <a:ext cx="647304" cy="457200"/>
          </a:xfrm>
          <a:prstGeom prst="rect">
            <a:avLst/>
          </a:prstGeom>
        </p:spPr>
        <p:txBody>
          <a:bodyPr/>
          <a:lstStyle/>
          <a:p>
            <a:fld id="{09A55395-2BED-4A30-9795-02A173C60FCF}" type="slidenum">
              <a:rPr lang="da-DK" altLang="da-DK" smtClean="0"/>
              <a:pPr/>
              <a:t>24</a:t>
            </a:fld>
            <a:endParaRPr lang="da-DK" altLang="da-DK" dirty="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65886" y="1080420"/>
            <a:ext cx="8426594" cy="5315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pitchFamily="-107" charset="-128"/>
                <a:cs typeface="ＭＳ Ｐゴシック" pitchFamily="-107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342900" lvl="1" indent="-342900" eaLnBrk="1" hangingPunct="1">
              <a:lnSpc>
                <a:spcPct val="90000"/>
              </a:lnSpc>
              <a:buChar char="•"/>
            </a:pPr>
            <a:r>
              <a:rPr lang="da-DK" altLang="da-DK" b="1" kern="0" dirty="0">
                <a:solidFill>
                  <a:srgbClr val="A50021"/>
                </a:solidFill>
                <a:ea typeface="ＭＳ Ｐゴシック" pitchFamily="-107" charset="-128"/>
                <a:cs typeface="ＭＳ Ｐゴシック" pitchFamily="-107" charset="-128"/>
              </a:rPr>
              <a:t>Wildcards og typebegrænsninger er komplekse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da-DK" altLang="da-DK" sz="1800" dirty="0"/>
              <a:t>Det er ikke noget vi vil høre jer I til eksamen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da-DK" altLang="da-DK" sz="1800" dirty="0"/>
              <a:t>Men det kan være en stor fordel at kende lidt til dem, idet I så lettere kan forstå de typer, der angives i Javas API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endParaRPr lang="da-DK" altLang="da-DK" sz="1800" dirty="0"/>
          </a:p>
          <a:p>
            <a:pPr marL="0" lvl="1" indent="0" eaLnBrk="1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da-DK" altLang="da-DK" b="1" kern="0" dirty="0">
                <a:solidFill>
                  <a:srgbClr val="008000"/>
                </a:solidFill>
                <a:ea typeface="ＭＳ Ｐゴシック" pitchFamily="-107" charset="-128"/>
                <a:cs typeface="ＭＳ Ｐゴシック" pitchFamily="-107" charset="-128"/>
              </a:rPr>
              <a:t>Hjemmeopgave for de ”barske”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1800"/>
              </a:spcBef>
              <a:buChar char="•"/>
            </a:pPr>
            <a:r>
              <a:rPr lang="da-DK" altLang="da-DK" b="1" kern="0" dirty="0">
                <a:solidFill>
                  <a:srgbClr val="A50021"/>
                </a:solidFill>
                <a:ea typeface="ＭＳ Ｐゴシック" pitchFamily="-107" charset="-128"/>
                <a:cs typeface="ＭＳ Ｐゴシック" pitchFamily="-107" charset="-128"/>
              </a:rPr>
              <a:t>Find nedenstående metoder i </a:t>
            </a:r>
            <a:r>
              <a:rPr lang="da-DK" altLang="da-DK" b="1" kern="0" dirty="0" err="1">
                <a:solidFill>
                  <a:srgbClr val="A50021"/>
                </a:solidFill>
                <a:ea typeface="ＭＳ Ｐゴシック" pitchFamily="-107" charset="-128"/>
                <a:cs typeface="ＭＳ Ｐゴシック" pitchFamily="-107" charset="-128"/>
              </a:rPr>
              <a:t>API’en</a:t>
            </a:r>
            <a:r>
              <a:rPr lang="da-DK" altLang="da-DK" b="1" kern="0" dirty="0">
                <a:solidFill>
                  <a:srgbClr val="A50021"/>
                </a:solidFill>
                <a:ea typeface="ＭＳ Ｐゴシック" pitchFamily="-107" charset="-128"/>
                <a:cs typeface="ＭＳ Ｐゴシック" pitchFamily="-107" charset="-128"/>
              </a:rPr>
              <a:t> og se, om I kan forstå deres wildcards og typebegrænsninger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da-DK" altLang="da-DK" sz="1800" b="1" dirty="0"/>
              <a:t>filter</a:t>
            </a:r>
            <a:r>
              <a:rPr lang="da-DK" altLang="da-DK" sz="1800" dirty="0"/>
              <a:t>, </a:t>
            </a:r>
            <a:r>
              <a:rPr lang="da-DK" altLang="da-DK" sz="1800" b="1" dirty="0" err="1"/>
              <a:t>map</a:t>
            </a:r>
            <a:r>
              <a:rPr lang="da-DK" altLang="da-DK" sz="1800" dirty="0"/>
              <a:t>, </a:t>
            </a:r>
            <a:r>
              <a:rPr lang="da-DK" altLang="da-DK" sz="1800" b="1" dirty="0" err="1"/>
              <a:t>mapToInt</a:t>
            </a:r>
            <a:r>
              <a:rPr lang="da-DK" altLang="da-DK" sz="1800" dirty="0"/>
              <a:t> og </a:t>
            </a:r>
            <a:r>
              <a:rPr lang="da-DK" altLang="da-DK" sz="1800" b="1" dirty="0" err="1"/>
              <a:t>reduce</a:t>
            </a:r>
            <a:r>
              <a:rPr lang="da-DK" altLang="da-DK" sz="1800" dirty="0"/>
              <a:t> i Stream klassen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da-DK" altLang="da-DK" sz="1800" b="1" dirty="0" err="1"/>
              <a:t>comparing</a:t>
            </a:r>
            <a:r>
              <a:rPr lang="da-DK" altLang="da-DK" sz="1800" dirty="0"/>
              <a:t> og </a:t>
            </a:r>
            <a:r>
              <a:rPr lang="da-DK" altLang="da-DK" sz="1800" b="1" dirty="0"/>
              <a:t>thenComparing</a:t>
            </a:r>
            <a:r>
              <a:rPr lang="da-DK" altLang="da-DK" sz="1800" dirty="0"/>
              <a:t> i Comparator interfacet</a:t>
            </a:r>
          </a:p>
          <a:p>
            <a:pPr marL="342900" lvl="1" indent="-342900" eaLnBrk="1" hangingPunct="1">
              <a:lnSpc>
                <a:spcPct val="90000"/>
              </a:lnSpc>
              <a:spcBef>
                <a:spcPts val="1800"/>
              </a:spcBef>
              <a:buChar char="•"/>
            </a:pPr>
            <a:r>
              <a:rPr lang="da-DK" altLang="da-DK" b="1" kern="0" dirty="0">
                <a:solidFill>
                  <a:srgbClr val="A50021"/>
                </a:solidFill>
                <a:ea typeface="ＭＳ Ｐゴシック" pitchFamily="-107" charset="-128"/>
                <a:cs typeface="ＭＳ Ｐゴシック" pitchFamily="-107" charset="-128"/>
              </a:rPr>
              <a:t>Bemærk at der er flere metoder, der hedder det samme – men har forskellige parmetre (dvs. forskellig signatur)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da-DK" altLang="da-DK" sz="1800" dirty="0"/>
              <a:t>Start med at finde ud af, hvilken </a:t>
            </a:r>
            <a:r>
              <a:rPr lang="da-DK" altLang="da-DK" sz="1800"/>
              <a:t>af metoderne </a:t>
            </a:r>
            <a:r>
              <a:rPr lang="da-DK" altLang="da-DK" sz="1800" dirty="0"/>
              <a:t>det er, som I har brugt 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endParaRPr lang="da-DK" altLang="da-DK" sz="1800" dirty="0"/>
          </a:p>
          <a:p>
            <a:pPr lvl="1">
              <a:lnSpc>
                <a:spcPct val="90000"/>
              </a:lnSpc>
              <a:spcBef>
                <a:spcPts val="600"/>
              </a:spcBef>
            </a:pPr>
            <a:endParaRPr lang="da-DK" altLang="da-DK" sz="1800" dirty="0"/>
          </a:p>
          <a:p>
            <a:pPr marL="457200" lvl="1" indent="0">
              <a:lnSpc>
                <a:spcPct val="90000"/>
              </a:lnSpc>
              <a:spcBef>
                <a:spcPts val="600"/>
              </a:spcBef>
              <a:buNone/>
            </a:pPr>
            <a:endParaRPr lang="da-DK" altLang="da-DK" sz="1800" dirty="0"/>
          </a:p>
        </p:txBody>
      </p:sp>
    </p:spTree>
    <p:extLst>
      <p:ext uri="{BB962C8B-B14F-4D97-AF65-F5344CB8AC3E}">
        <p14:creationId xmlns:p14="http://schemas.microsoft.com/office/powerpoint/2010/main" val="300026633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568952" cy="682625"/>
          </a:xfrm>
        </p:spPr>
        <p:txBody>
          <a:bodyPr/>
          <a:lstStyle/>
          <a:p>
            <a:r>
              <a:rPr lang="da-DK" altLang="da-DK" sz="3200" dirty="0">
                <a:solidFill>
                  <a:srgbClr val="C00000"/>
                </a:solidFill>
                <a:cs typeface="Arial"/>
              </a:rPr>
              <a:t>●</a:t>
            </a:r>
            <a:r>
              <a:rPr lang="da-DK" altLang="da-DK" sz="3200" dirty="0">
                <a:cs typeface="Arial"/>
              </a:rPr>
              <a:t> Afleveringsopgave: </a:t>
            </a:r>
            <a:r>
              <a:rPr lang="da-DK" altLang="da-DK" sz="3200" dirty="0">
                <a:ea typeface="ＭＳ Ｐゴシック" pitchFamily="34" charset="-128"/>
              </a:rPr>
              <a:t>Computerspil 2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532440" y="6400800"/>
            <a:ext cx="61156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CA5836E-6711-417F-AF48-31ACC3CF4030}" type="slidenum">
              <a:rPr lang="da-DK" altLang="da-DK" smtClean="0"/>
              <a:pPr>
                <a:defRPr/>
              </a:pPr>
              <a:t>25</a:t>
            </a:fld>
            <a:endParaRPr lang="da-DK" altLang="da-DK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95536" y="1052736"/>
            <a:ext cx="8496944" cy="5328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r>
              <a:rPr lang="da-DK" sz="2000" dirty="0"/>
              <a:t>I den anden delaflevering skal I bruge de ting, som I har lært om </a:t>
            </a:r>
            <a:r>
              <a:rPr lang="da-DK" sz="2000" dirty="0">
                <a:solidFill>
                  <a:srgbClr val="008000"/>
                </a:solidFill>
              </a:rPr>
              <a:t>regression tests</a:t>
            </a:r>
            <a:r>
              <a:rPr lang="da-DK" sz="2000" dirty="0"/>
              <a:t>,</a:t>
            </a:r>
            <a:r>
              <a:rPr lang="da-DK" sz="2000" dirty="0">
                <a:solidFill>
                  <a:srgbClr val="008000"/>
                </a:solidFill>
              </a:rPr>
              <a:t> </a:t>
            </a:r>
            <a:r>
              <a:rPr lang="da-DK" sz="2000" dirty="0"/>
              <a:t>på de fire klasser, som I har implementeret i den første delaflevering</a:t>
            </a:r>
            <a:endParaRPr lang="da-DK" sz="2000" dirty="0">
              <a:solidFill>
                <a:srgbClr val="008000"/>
              </a:solidFill>
            </a:endParaRPr>
          </a:p>
          <a:p>
            <a:pPr lvl="1">
              <a:spcBef>
                <a:spcPts val="600"/>
              </a:spcBef>
            </a:pPr>
            <a:r>
              <a:rPr lang="da-DK" sz="1800" dirty="0"/>
              <a:t>Lav velvalgte </a:t>
            </a:r>
            <a:r>
              <a:rPr lang="da-DK" sz="1800" b="1" dirty="0">
                <a:solidFill>
                  <a:srgbClr val="008000"/>
                </a:solidFill>
              </a:rPr>
              <a:t>regression tests</a:t>
            </a:r>
            <a:r>
              <a:rPr lang="da-DK" sz="1800" dirty="0"/>
              <a:t> for de fire klasser</a:t>
            </a:r>
          </a:p>
          <a:p>
            <a:pPr lvl="2">
              <a:spcBef>
                <a:spcPts val="600"/>
              </a:spcBef>
            </a:pPr>
            <a:r>
              <a:rPr lang="da-DK" sz="1800" b="1" dirty="0">
                <a:solidFill>
                  <a:srgbClr val="008000"/>
                </a:solidFill>
              </a:rPr>
              <a:t>Positive tests</a:t>
            </a:r>
            <a:r>
              <a:rPr lang="da-DK" sz="1800" dirty="0">
                <a:solidFill>
                  <a:srgbClr val="002060"/>
                </a:solidFill>
              </a:rPr>
              <a:t> skal afprøve programmets normale opførsel – herunder om det fungerer korrekt omkring forskellige grænseværdier</a:t>
            </a:r>
          </a:p>
          <a:p>
            <a:pPr lvl="2">
              <a:spcBef>
                <a:spcPts val="600"/>
              </a:spcBef>
            </a:pPr>
            <a:r>
              <a:rPr lang="da-DK" sz="1800" b="1" dirty="0">
                <a:solidFill>
                  <a:srgbClr val="008000"/>
                </a:solidFill>
              </a:rPr>
              <a:t>Negative tests</a:t>
            </a:r>
            <a:r>
              <a:rPr lang="da-DK" sz="1800" dirty="0">
                <a:solidFill>
                  <a:srgbClr val="002060"/>
                </a:solidFill>
              </a:rPr>
              <a:t> skal afprøve om programmet kan håndtere uventede situationer (f.eks. de specialtilfælde, der er beskrevet i opgaveformuleringen)</a:t>
            </a:r>
          </a:p>
          <a:p>
            <a:pPr lvl="2">
              <a:spcBef>
                <a:spcPts val="600"/>
              </a:spcBef>
            </a:pPr>
            <a:r>
              <a:rPr lang="da-DK" sz="1800" dirty="0">
                <a:solidFill>
                  <a:srgbClr val="002060"/>
                </a:solidFill>
              </a:rPr>
              <a:t>I behøver </a:t>
            </a:r>
            <a:r>
              <a:rPr lang="da-DK" sz="1800" b="1" dirty="0">
                <a:solidFill>
                  <a:srgbClr val="008000"/>
                </a:solidFill>
              </a:rPr>
              <a:t>ikke</a:t>
            </a:r>
            <a:r>
              <a:rPr lang="da-DK" sz="1800" dirty="0">
                <a:solidFill>
                  <a:srgbClr val="002060"/>
                </a:solidFill>
              </a:rPr>
              <a:t> lave testmetoder for</a:t>
            </a:r>
          </a:p>
          <a:p>
            <a:pPr lvl="3">
              <a:spcBef>
                <a:spcPts val="400"/>
              </a:spcBef>
            </a:pPr>
            <a:r>
              <a:rPr lang="da-DK" sz="1800" dirty="0">
                <a:solidFill>
                  <a:srgbClr val="002060"/>
                </a:solidFill>
                <a:latin typeface="+mn-lt"/>
              </a:rPr>
              <a:t>trivielle accessor og mutator metoder, der blot returnerer/ændrer en enkelt feltvariabel uden at gøre andet</a:t>
            </a:r>
            <a:endParaRPr lang="da-DK" sz="1800" dirty="0">
              <a:solidFill>
                <a:srgbClr val="002060"/>
              </a:solidFill>
            </a:endParaRPr>
          </a:p>
          <a:p>
            <a:pPr lvl="3">
              <a:spcBef>
                <a:spcPts val="400"/>
              </a:spcBef>
            </a:pPr>
            <a:r>
              <a:rPr lang="da-DK" sz="1800" dirty="0">
                <a:solidFill>
                  <a:srgbClr val="002060"/>
                </a:solidFill>
                <a:latin typeface="+mn-lt"/>
              </a:rPr>
              <a:t>compareTo, equals og </a:t>
            </a:r>
            <a:r>
              <a:rPr lang="da-DK" sz="1800" dirty="0" err="1">
                <a:solidFill>
                  <a:srgbClr val="002060"/>
                </a:solidFill>
                <a:latin typeface="+mn-lt"/>
              </a:rPr>
              <a:t>hashCode</a:t>
            </a:r>
            <a:r>
              <a:rPr lang="da-DK" sz="1800" dirty="0">
                <a:solidFill>
                  <a:srgbClr val="002060"/>
                </a:solidFill>
                <a:latin typeface="+mn-lt"/>
              </a:rPr>
              <a:t> metoderne (det bør man normalt gøre, men da det kan være lidt besværligt og tidskrævende, har vi besluttet at lade jer slippe for det)</a:t>
            </a:r>
          </a:p>
          <a:p>
            <a:pPr marL="342900" lvl="1" indent="-342900">
              <a:spcBef>
                <a:spcPts val="1200"/>
              </a:spcBef>
              <a:buChar char="•"/>
            </a:pPr>
            <a:r>
              <a:rPr lang="da-DK" b="1" dirty="0">
                <a:solidFill>
                  <a:srgbClr val="A50021"/>
                </a:solidFill>
                <a:ea typeface="ＭＳ Ｐゴシック" pitchFamily="-106" charset="-128"/>
                <a:cs typeface="ＭＳ Ｐゴシック" pitchFamily="-106" charset="-128"/>
              </a:rPr>
              <a:t>Herudover skal I rette de fejl og mangler, som instruktoren har påpeget i jeres første delaflevering</a:t>
            </a:r>
          </a:p>
        </p:txBody>
      </p:sp>
    </p:spTree>
    <p:extLst>
      <p:ext uri="{BB962C8B-B14F-4D97-AF65-F5344CB8AC3E}">
        <p14:creationId xmlns:p14="http://schemas.microsoft.com/office/powerpoint/2010/main" val="4219999770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568952" cy="682625"/>
          </a:xfrm>
        </p:spPr>
        <p:txBody>
          <a:bodyPr/>
          <a:lstStyle/>
          <a:p>
            <a:r>
              <a:rPr lang="da-DK" altLang="da-DK" sz="3200" dirty="0">
                <a:cs typeface="Arial"/>
              </a:rPr>
              <a:t>Generelt om testmetoder</a:t>
            </a:r>
            <a:endParaRPr lang="da-DK" altLang="da-DK" sz="3200" dirty="0">
              <a:ea typeface="ＭＳ Ｐゴシック" pitchFamily="34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532440" y="6400800"/>
            <a:ext cx="61156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CA5836E-6711-417F-AF48-31ACC3CF4030}" type="slidenum">
              <a:rPr lang="da-DK" altLang="da-DK" smtClean="0"/>
              <a:pPr>
                <a:defRPr/>
              </a:pPr>
              <a:t>26</a:t>
            </a:fld>
            <a:endParaRPr lang="da-DK" altLang="da-DK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95536" y="1052736"/>
            <a:ext cx="8640960" cy="5328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r>
              <a:rPr lang="da-DK" sz="2000" dirty="0"/>
              <a:t>Der laves normalt én testmetode for hver (ikke triviel) konstruktør/metode</a:t>
            </a:r>
          </a:p>
          <a:p>
            <a:pPr lvl="1">
              <a:spcBef>
                <a:spcPts val="600"/>
              </a:spcBef>
            </a:pPr>
            <a:r>
              <a:rPr lang="da-DK" sz="1800" dirty="0"/>
              <a:t>En sådan testmetode kan teste mange forskellige ting (via forskellige assertions)</a:t>
            </a:r>
          </a:p>
          <a:p>
            <a:pPr lvl="1">
              <a:spcBef>
                <a:spcPts val="600"/>
              </a:spcBef>
            </a:pPr>
            <a:r>
              <a:rPr lang="da-DK" sz="1800" dirty="0"/>
              <a:t>I nogle tilfælde kan det dog være hensigtsmæssigt at lave to testmetoder, for samme metode (f.eks. hvis man vil tjekke, hvordan metoden opfører sig i et grænsetilfælde, hvor den kaldes med en speciel værdi)</a:t>
            </a:r>
            <a:endParaRPr lang="da-DK" sz="2000" dirty="0"/>
          </a:p>
          <a:p>
            <a:pPr>
              <a:spcBef>
                <a:spcPts val="1800"/>
              </a:spcBef>
            </a:pPr>
            <a:r>
              <a:rPr lang="da-DK" sz="2000" dirty="0"/>
              <a:t>Navngivning af testmetoder</a:t>
            </a:r>
          </a:p>
          <a:p>
            <a:pPr lvl="1">
              <a:spcBef>
                <a:spcPts val="600"/>
              </a:spcBef>
            </a:pPr>
            <a:r>
              <a:rPr lang="da-DK" sz="1800" dirty="0"/>
              <a:t>Testmetoden for konstruktøren kaldes </a:t>
            </a:r>
            <a:r>
              <a:rPr lang="da-DK" sz="1800" dirty="0" err="1"/>
              <a:t>constructor</a:t>
            </a:r>
            <a:endParaRPr lang="da-DK" sz="1800" dirty="0"/>
          </a:p>
          <a:p>
            <a:pPr lvl="1">
              <a:spcBef>
                <a:spcPts val="600"/>
              </a:spcBef>
            </a:pPr>
            <a:r>
              <a:rPr lang="da-DK" sz="1800" dirty="0"/>
              <a:t>Testmetoden for en metode har samme navn, som den metode den tester</a:t>
            </a:r>
          </a:p>
          <a:p>
            <a:pPr lvl="1">
              <a:spcBef>
                <a:spcPts val="600"/>
              </a:spcBef>
            </a:pPr>
            <a:r>
              <a:rPr lang="da-DK" sz="1800" dirty="0"/>
              <a:t>Testmetoden for toString kaldes dog </a:t>
            </a:r>
            <a:r>
              <a:rPr lang="da-DK" sz="1800" dirty="0" err="1"/>
              <a:t>testToString</a:t>
            </a:r>
            <a:r>
              <a:rPr lang="da-DK" sz="1800" dirty="0"/>
              <a:t> (idet Java ellers tror, at I forsøger at overskrive toString metoden i Object klassen)</a:t>
            </a:r>
          </a:p>
        </p:txBody>
      </p:sp>
    </p:spTree>
    <p:extLst>
      <p:ext uri="{BB962C8B-B14F-4D97-AF65-F5344CB8AC3E}">
        <p14:creationId xmlns:p14="http://schemas.microsoft.com/office/powerpoint/2010/main" val="87562055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460317" y="1052736"/>
            <a:ext cx="8360155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r>
              <a:rPr lang="da-DK" sz="2000" dirty="0"/>
              <a:t>Når I skal teste metoderne i computerspillet har I behov for skabe nogle byer, lande og veje</a:t>
            </a:r>
          </a:p>
          <a:p>
            <a:pPr lvl="1">
              <a:spcBef>
                <a:spcPts val="600"/>
              </a:spcBef>
            </a:pPr>
            <a:r>
              <a:rPr lang="da-DK" sz="1800" kern="0" dirty="0">
                <a:ea typeface="ＭＳ Ｐゴシック" pitchFamily="34" charset="-128"/>
              </a:rPr>
              <a:t>Til dette formål har vi lavet en </a:t>
            </a:r>
            <a:r>
              <a:rPr lang="da-DK" sz="1800" b="1" kern="0" dirty="0">
                <a:solidFill>
                  <a:srgbClr val="008000"/>
                </a:solidFill>
                <a:ea typeface="ＭＳ Ｐゴシック" pitchFamily="34" charset="-128"/>
              </a:rPr>
              <a:t>Test Fixture</a:t>
            </a:r>
            <a:r>
              <a:rPr lang="da-DK" sz="1800" kern="0" dirty="0">
                <a:ea typeface="ＭＳ Ｐゴシック" pitchFamily="34" charset="-128"/>
              </a:rPr>
              <a:t> </a:t>
            </a:r>
            <a:r>
              <a:rPr lang="da-DK" sz="1800" dirty="0"/>
              <a:t>(fast opsætning) </a:t>
            </a:r>
            <a:r>
              <a:rPr lang="da-DK" sz="1800" kern="0" dirty="0">
                <a:ea typeface="ＭＳ Ｐゴシック" pitchFamily="34" charset="-128"/>
              </a:rPr>
              <a:t>som realiserer nedenstående netværk af lande, byer og veje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568952" cy="682625"/>
          </a:xfrm>
        </p:spPr>
        <p:txBody>
          <a:bodyPr/>
          <a:lstStyle/>
          <a:p>
            <a:r>
              <a:rPr lang="da-DK" altLang="da-DK" sz="3200" dirty="0">
                <a:ea typeface="ＭＳ Ｐゴシック" pitchFamily="34" charset="-128"/>
              </a:rPr>
              <a:t>Brug af Test Fixture</a:t>
            </a:r>
          </a:p>
        </p:txBody>
      </p: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1291493" y="4635394"/>
            <a:ext cx="4104456" cy="1296144"/>
          </a:xfrm>
          <a:prstGeom prst="rect">
            <a:avLst/>
          </a:prstGeom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34400" y="4243807"/>
            <a:ext cx="8602096" cy="562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lvl="1">
              <a:spcBef>
                <a:spcPts val="600"/>
              </a:spcBef>
            </a:pPr>
            <a:r>
              <a:rPr lang="da-DK" sz="1800" dirty="0"/>
              <a:t>Test Fixturen kan kopieres til "Object </a:t>
            </a:r>
            <a:r>
              <a:rPr lang="da-DK" sz="1800" dirty="0" err="1"/>
              <a:t>benchen</a:t>
            </a:r>
            <a:r>
              <a:rPr lang="da-DK" sz="1800" dirty="0"/>
              <a:t>", som så får dette udseende</a:t>
            </a:r>
          </a:p>
        </p:txBody>
      </p:sp>
      <p:sp>
        <p:nvSpPr>
          <p:cNvPr id="8" name="Text Box 21"/>
          <p:cNvSpPr txBox="1">
            <a:spLocks noChangeArrowheads="1"/>
          </p:cNvSpPr>
          <p:nvPr/>
        </p:nvSpPr>
        <p:spPr bwMode="auto">
          <a:xfrm>
            <a:off x="5580112" y="4920802"/>
            <a:ext cx="1940666" cy="725327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FF"/>
            </a:solidFill>
          </a:ln>
        </p:spPr>
        <p:txBody>
          <a:bodyPr wrap="square">
            <a:spAutoFit/>
          </a:bodyPr>
          <a:lstStyle>
            <a:defPPr>
              <a:defRPr lang="da-DK"/>
            </a:defPPr>
            <a:lvl1pPr marL="179388" indent="-179388"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 sz="1400" b="1">
                <a:solidFill>
                  <a:srgbClr val="0000FF"/>
                </a:solidFill>
              </a:defRPr>
            </a:lvl1pPr>
          </a:lstStyle>
          <a:p>
            <a:pPr>
              <a:spcBef>
                <a:spcPts val="200"/>
              </a:spcBef>
            </a:pPr>
            <a:r>
              <a:rPr lang="da-DK" altLang="da-DK" dirty="0"/>
              <a:t>2 Country objekter</a:t>
            </a:r>
          </a:p>
          <a:p>
            <a:pPr>
              <a:spcBef>
                <a:spcPts val="200"/>
              </a:spcBef>
            </a:pPr>
            <a:r>
              <a:rPr lang="da-DK" altLang="da-DK" dirty="0"/>
              <a:t>7 City objekter</a:t>
            </a:r>
          </a:p>
          <a:p>
            <a:pPr>
              <a:spcBef>
                <a:spcPts val="200"/>
              </a:spcBef>
            </a:pPr>
            <a:r>
              <a:rPr lang="da-DK" altLang="da-DK" dirty="0"/>
              <a:t>1 Game objekt</a:t>
            </a:r>
          </a:p>
        </p:txBody>
      </p:sp>
      <p:pic>
        <p:nvPicPr>
          <p:cNvPr id="9" name="Picture 8"/>
          <p:cNvPicPr/>
          <p:nvPr/>
        </p:nvPicPr>
        <p:blipFill>
          <a:blip r:embed="rId4"/>
          <a:stretch>
            <a:fillRect/>
          </a:stretch>
        </p:blipFill>
        <p:spPr>
          <a:xfrm>
            <a:off x="1247557" y="2412896"/>
            <a:ext cx="3847465" cy="1783080"/>
          </a:xfrm>
          <a:prstGeom prst="rect">
            <a:avLst/>
          </a:prstGeom>
        </p:spPr>
      </p:pic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27872" y="6006992"/>
            <a:ext cx="8608623" cy="53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lvl="1">
              <a:spcBef>
                <a:spcPts val="600"/>
              </a:spcBef>
            </a:pPr>
            <a:r>
              <a:rPr lang="da-DK" sz="1800" kern="0" dirty="0">
                <a:ea typeface="ＭＳ Ｐゴシック" pitchFamily="34" charset="-128"/>
              </a:rPr>
              <a:t>Opgaveformuleringen forklarer, hvordan Test </a:t>
            </a:r>
            <a:r>
              <a:rPr lang="da-DK" sz="1800" kern="0" dirty="0" err="1">
                <a:ea typeface="ＭＳ Ｐゴシック" pitchFamily="34" charset="-128"/>
              </a:rPr>
              <a:t>Fixture'n</a:t>
            </a:r>
            <a:r>
              <a:rPr lang="da-DK" sz="1800" kern="0" dirty="0">
                <a:ea typeface="ＭＳ Ｐゴシック" pitchFamily="34" charset="-128"/>
              </a:rPr>
              <a:t> hentes og anvendes</a:t>
            </a:r>
          </a:p>
        </p:txBody>
      </p:sp>
      <p:sp>
        <p:nvSpPr>
          <p:cNvPr id="11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532440" y="6400800"/>
            <a:ext cx="61156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CA5836E-6711-417F-AF48-31ACC3CF4030}" type="slidenum">
              <a:rPr lang="da-DK" altLang="da-DK" smtClean="0"/>
              <a:pPr>
                <a:defRPr/>
              </a:pPr>
              <a:t>27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2976888753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303399" y="99057"/>
            <a:ext cx="4767122" cy="6634766"/>
          </a:xfrm>
          <a:prstGeom prst="rect">
            <a:avLst/>
          </a:prstGeom>
          <a:solidFill>
            <a:srgbClr val="FFFFCC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square" lIns="180000" tIns="46800" rIns="90000" bIns="46800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da-DK" sz="1200" b="1" spc="-50" dirty="0">
                <a:solidFill>
                  <a:srgbClr val="FF0000"/>
                </a:solidFill>
                <a:latin typeface="Courier New" pitchFamily="49" charset="0"/>
              </a:rPr>
              <a:t>import </a:t>
            </a:r>
            <a:r>
              <a:rPr lang="en-US" altLang="da-DK" sz="1200" b="1" spc="-50" dirty="0">
                <a:solidFill>
                  <a:srgbClr val="7030A0"/>
                </a:solidFill>
                <a:latin typeface="Courier New" pitchFamily="49" charset="0"/>
              </a:rPr>
              <a:t>static</a:t>
            </a:r>
            <a:r>
              <a:rPr lang="en-US" altLang="da-DK" sz="1200" b="1" spc="-50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200" b="1" spc="-50" dirty="0" err="1">
                <a:solidFill>
                  <a:schemeClr val="tx1"/>
                </a:solidFill>
                <a:latin typeface="Courier New" pitchFamily="49" charset="0"/>
              </a:rPr>
              <a:t>org.junit.jupiter.api.Assertions</a:t>
            </a:r>
            <a:r>
              <a:rPr lang="en-US" altLang="da-DK" sz="1200" b="1" spc="-50" dirty="0">
                <a:solidFill>
                  <a:schemeClr val="tx1"/>
                </a:solidFill>
                <a:latin typeface="Courier New" pitchFamily="49" charset="0"/>
              </a:rPr>
              <a:t>.*;</a:t>
            </a:r>
          </a:p>
          <a:p>
            <a:pPr eaLnBrk="1" hangingPunct="1"/>
            <a:r>
              <a:rPr lang="en-US" altLang="da-DK" sz="1200" b="1" dirty="0">
                <a:solidFill>
                  <a:srgbClr val="FF0000"/>
                </a:solidFill>
                <a:latin typeface="Courier New" pitchFamily="49" charset="0"/>
              </a:rPr>
              <a:t>import 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org.junit.jupiter.api.AfterEach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;</a:t>
            </a:r>
          </a:p>
          <a:p>
            <a:pPr eaLnBrk="1" hangingPunct="1"/>
            <a:r>
              <a:rPr lang="en-US" altLang="da-DK" sz="1200" b="1" dirty="0">
                <a:solidFill>
                  <a:srgbClr val="FF0000"/>
                </a:solidFill>
                <a:latin typeface="Courier New" pitchFamily="49" charset="0"/>
              </a:rPr>
              <a:t>import 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org.junit.jupiter.api.BeforeEach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;</a:t>
            </a:r>
          </a:p>
          <a:p>
            <a:pPr eaLnBrk="1" hangingPunct="1"/>
            <a:r>
              <a:rPr lang="en-US" altLang="da-DK" sz="1200" b="1" dirty="0">
                <a:solidFill>
                  <a:srgbClr val="FF0000"/>
                </a:solidFill>
                <a:latin typeface="Courier New" pitchFamily="49" charset="0"/>
              </a:rPr>
              <a:t>import 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org.junit.jupiter.api.Test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;</a:t>
            </a:r>
          </a:p>
          <a:p>
            <a:pPr eaLnBrk="1" hangingPunct="1"/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public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200" b="1" dirty="0">
                <a:solidFill>
                  <a:srgbClr val="FF0000"/>
                </a:solidFill>
                <a:latin typeface="Courier New" pitchFamily="49" charset="0"/>
              </a:rPr>
              <a:t>class 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RoadTest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{   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private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Game 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game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private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Country country1;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private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City 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cityA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, 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cityB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, 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cityC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, 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cityD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</a:t>
            </a:r>
          </a:p>
          <a:p>
            <a:pPr eaLnBrk="1" hangingPunct="1">
              <a:spcBef>
                <a:spcPts val="600"/>
              </a:spcBef>
            </a:pP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@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BeforeEach</a:t>
            </a:r>
            <a:endParaRPr lang="en-US" altLang="da-DK" sz="1200" b="1" dirty="0">
              <a:solidFill>
                <a:schemeClr val="tx1"/>
              </a:solidFill>
              <a:latin typeface="Courier New" pitchFamily="49" charset="0"/>
            </a:endParaRP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public </a:t>
            </a:r>
            <a:r>
              <a:rPr lang="en-US" altLang="da-DK" sz="1200" b="1" dirty="0">
                <a:solidFill>
                  <a:srgbClr val="FF0000"/>
                </a:solidFill>
                <a:latin typeface="Courier New" pitchFamily="49" charset="0"/>
              </a:rPr>
              <a:t>void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setUp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() {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  </a:t>
            </a:r>
            <a:r>
              <a:rPr lang="en-US" altLang="da-DK" sz="1200" b="1" dirty="0">
                <a:solidFill>
                  <a:srgbClr val="0000FF"/>
                </a:solidFill>
                <a:latin typeface="Courier New" pitchFamily="49" charset="0"/>
              </a:rPr>
              <a:t>// Create game object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  game = </a:t>
            </a:r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new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Game(0);</a:t>
            </a:r>
          </a:p>
          <a:p>
            <a:pPr eaLnBrk="1" hangingPunct="1"/>
            <a:endParaRPr lang="en-US" altLang="da-DK" sz="1200" b="1" dirty="0">
              <a:solidFill>
                <a:schemeClr val="tx1"/>
              </a:solidFill>
              <a:latin typeface="Courier New" pitchFamily="49" charset="0"/>
            </a:endParaRP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  </a:t>
            </a:r>
            <a:r>
              <a:rPr lang="en-US" altLang="da-DK" sz="1200" b="1" dirty="0">
                <a:solidFill>
                  <a:srgbClr val="0000FF"/>
                </a:solidFill>
                <a:latin typeface="Courier New" pitchFamily="49" charset="0"/>
              </a:rPr>
              <a:t>// Create country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  country1 = </a:t>
            </a:r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new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Country("Country 1");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  country1.setGame(game);</a:t>
            </a:r>
          </a:p>
          <a:p>
            <a:pPr eaLnBrk="1" hangingPunct="1"/>
            <a:endParaRPr lang="en-US" altLang="da-DK" sz="1200" b="1" dirty="0">
              <a:solidFill>
                <a:schemeClr val="tx1"/>
              </a:solidFill>
              <a:latin typeface="Courier New" pitchFamily="49" charset="0"/>
            </a:endParaRP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  </a:t>
            </a:r>
            <a:r>
              <a:rPr lang="en-US" altLang="da-DK" sz="1200" b="1" dirty="0">
                <a:solidFill>
                  <a:srgbClr val="0000FF"/>
                </a:solidFill>
                <a:latin typeface="Courier New" pitchFamily="49" charset="0"/>
              </a:rPr>
              <a:t>// Create cities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  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cityA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= </a:t>
            </a:r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new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City("City A", 80, country1);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  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cityB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= </a:t>
            </a:r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new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City("City B", 60, country1);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  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cityC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= </a:t>
            </a:r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new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City("City C", 40, country1);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  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cityD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= </a:t>
            </a:r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new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City("City D", 100, country1);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    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  </a:t>
            </a:r>
            <a:r>
              <a:rPr lang="en-US" altLang="da-DK" sz="1200" b="1" dirty="0">
                <a:solidFill>
                  <a:srgbClr val="0000FF"/>
                </a:solidFill>
                <a:latin typeface="Courier New" pitchFamily="49" charset="0"/>
              </a:rPr>
              <a:t>// Connect cities to countries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  country1.addCity(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cityA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  country1.addCity(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cityB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  country1.addCity(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cityC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  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country1.addCity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(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cityD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);</a:t>
            </a:r>
          </a:p>
          <a:p>
            <a:pPr eaLnBrk="1" hangingPunct="1"/>
            <a:endParaRPr lang="en-US" altLang="da-DK" sz="1200" b="1" dirty="0">
              <a:solidFill>
                <a:schemeClr val="tx1"/>
              </a:solidFill>
              <a:latin typeface="Courier New" pitchFamily="49" charset="0"/>
            </a:endParaRPr>
          </a:p>
          <a:p>
            <a:pPr eaLnBrk="1" hangingPunct="1"/>
            <a:endParaRPr lang="en-US" altLang="da-DK" sz="1200" b="1" dirty="0">
              <a:solidFill>
                <a:schemeClr val="tx1"/>
              </a:solidFill>
              <a:latin typeface="Courier New" pitchFamily="49" charset="0"/>
            </a:endParaRPr>
          </a:p>
          <a:p>
            <a:pPr eaLnBrk="1" hangingPunct="1"/>
            <a:endParaRPr lang="en-US" altLang="da-DK" sz="1200" b="1" dirty="0">
              <a:solidFill>
                <a:schemeClr val="tx1"/>
              </a:solidFill>
              <a:latin typeface="Courier New" pitchFamily="49" charset="0"/>
            </a:endParaRP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      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}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...</a:t>
            </a:r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 </a:t>
            </a:r>
            <a:endParaRPr lang="en-US" altLang="da-DK" sz="1200" b="1" dirty="0">
              <a:solidFill>
                <a:schemeClr val="tx1"/>
              </a:solidFill>
              <a:latin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530649" y="6373959"/>
            <a:ext cx="61156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CA5836E-6711-417F-AF48-31ACC3CF4030}" type="slidenum">
              <a:rPr lang="da-DK" altLang="da-DK" smtClean="0"/>
              <a:pPr>
                <a:defRPr/>
              </a:pPr>
              <a:t>28</a:t>
            </a:fld>
            <a:endParaRPr lang="da-DK" altLang="da-DK" dirty="0"/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 bwMode="auto">
          <a:xfrm>
            <a:off x="323528" y="298103"/>
            <a:ext cx="4032448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9pPr>
          </a:lstStyle>
          <a:p>
            <a:pPr eaLnBrk="1" hangingPunct="1"/>
            <a:r>
              <a:rPr lang="da-DK" altLang="da-DK" sz="3200" kern="0" spc="-140" dirty="0">
                <a:ea typeface="ＭＳ Ｐゴシック" pitchFamily="34" charset="-128"/>
              </a:rPr>
              <a:t>Test of Road klassen</a:t>
            </a:r>
          </a:p>
        </p:txBody>
      </p:sp>
      <p:sp>
        <p:nvSpPr>
          <p:cNvPr id="29" name="Text Box 21"/>
          <p:cNvSpPr txBox="1">
            <a:spLocks noChangeArrowheads="1"/>
          </p:cNvSpPr>
          <p:nvPr/>
        </p:nvSpPr>
        <p:spPr bwMode="auto">
          <a:xfrm>
            <a:off x="482774" y="3861048"/>
            <a:ext cx="3481084" cy="1332673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FF"/>
            </a:solidFill>
          </a:ln>
        </p:spPr>
        <p:txBody>
          <a:bodyPr wrap="square">
            <a:spAutoFit/>
          </a:bodyPr>
          <a:lstStyle>
            <a:defPPr>
              <a:defRPr lang="da-DK"/>
            </a:defPPr>
            <a:lvl1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  <a:defRPr sz="1200" b="1">
                <a:solidFill>
                  <a:srgbClr val="0000FF"/>
                </a:solidFill>
              </a:defRPr>
            </a:lvl1pPr>
          </a:lstStyle>
          <a:p>
            <a:pPr>
              <a:spcBef>
                <a:spcPts val="300"/>
              </a:spcBef>
            </a:pPr>
            <a:r>
              <a:rPr lang="da-DK" altLang="da-DK" dirty="0"/>
              <a:t>Det eneste, som I selv skal skrive, er tingene i de to grønne bokse, hvor vi laver to </a:t>
            </a:r>
            <a:r>
              <a:rPr lang="da-DK" altLang="da-DK" dirty="0">
                <a:solidFill>
                  <a:srgbClr val="008000"/>
                </a:solidFill>
              </a:rPr>
              <a:t>Road objekter </a:t>
            </a:r>
            <a:r>
              <a:rPr lang="da-DK" altLang="da-DK" dirty="0"/>
              <a:t>og to </a:t>
            </a:r>
            <a:r>
              <a:rPr lang="da-DK" altLang="da-DK" dirty="0">
                <a:solidFill>
                  <a:srgbClr val="008000"/>
                </a:solidFill>
              </a:rPr>
              <a:t>feltvariabler</a:t>
            </a:r>
            <a:r>
              <a:rPr lang="da-DK" altLang="da-DK" dirty="0"/>
              <a:t>, der peger på dem</a:t>
            </a:r>
          </a:p>
          <a:p>
            <a:pPr marL="177800" indent="-1778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da-DK" altLang="da-DK" dirty="0"/>
              <a:t>Den første vej går fra </a:t>
            </a:r>
            <a:r>
              <a:rPr lang="da-DK" altLang="da-DK" dirty="0" err="1"/>
              <a:t>cityA</a:t>
            </a:r>
            <a:r>
              <a:rPr lang="da-DK" altLang="da-DK" dirty="0"/>
              <a:t> til </a:t>
            </a:r>
            <a:r>
              <a:rPr lang="da-DK" altLang="da-DK" dirty="0" err="1"/>
              <a:t>cityB</a:t>
            </a:r>
            <a:r>
              <a:rPr lang="da-DK" altLang="da-DK" dirty="0"/>
              <a:t> og har længden 4</a:t>
            </a:r>
          </a:p>
          <a:p>
            <a:pPr marL="177800" indent="-1778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da-DK" altLang="da-DK" dirty="0"/>
              <a:t>Den anden vej går fra </a:t>
            </a:r>
            <a:r>
              <a:rPr lang="da-DK" altLang="da-DK" dirty="0" err="1"/>
              <a:t>cityC</a:t>
            </a:r>
            <a:r>
              <a:rPr lang="da-DK" altLang="da-DK" dirty="0"/>
              <a:t> til </a:t>
            </a:r>
            <a:r>
              <a:rPr lang="da-DK" altLang="da-DK" dirty="0" err="1"/>
              <a:t>cityD</a:t>
            </a:r>
            <a:r>
              <a:rPr lang="da-DK" altLang="da-DK" dirty="0"/>
              <a:t> og har længden 2</a:t>
            </a:r>
          </a:p>
        </p:txBody>
      </p:sp>
      <p:sp>
        <p:nvSpPr>
          <p:cNvPr id="9" name="Rectangle 28"/>
          <p:cNvSpPr>
            <a:spLocks noChangeArrowheads="1"/>
          </p:cNvSpPr>
          <p:nvPr/>
        </p:nvSpPr>
        <p:spPr bwMode="auto">
          <a:xfrm>
            <a:off x="4596063" y="1852863"/>
            <a:ext cx="4219075" cy="4580021"/>
          </a:xfrm>
          <a:prstGeom prst="rect">
            <a:avLst/>
          </a:prstGeom>
          <a:noFill/>
          <a:ln w="25400">
            <a:solidFill>
              <a:srgbClr val="0000FF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endParaRPr lang="en-US" altLang="da-DK" dirty="0"/>
          </a:p>
        </p:txBody>
      </p:sp>
      <p:sp>
        <p:nvSpPr>
          <p:cNvPr id="12" name="Line 22"/>
          <p:cNvSpPr>
            <a:spLocks noChangeShapeType="1"/>
          </p:cNvSpPr>
          <p:nvPr/>
        </p:nvSpPr>
        <p:spPr bwMode="auto">
          <a:xfrm>
            <a:off x="3851921" y="1617706"/>
            <a:ext cx="45147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endParaRPr lang="da-DK"/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4646417" y="1605518"/>
            <a:ext cx="2518313" cy="221018"/>
          </a:xfrm>
          <a:prstGeom prst="rect">
            <a:avLst/>
          </a:prstGeom>
          <a:solidFill>
            <a:srgbClr val="CCFFCC"/>
          </a:solidFill>
          <a:ln w="28575">
            <a:noFill/>
            <a:miter lim="800000"/>
            <a:headEnd/>
            <a:tailEnd/>
          </a:ln>
        </p:spPr>
        <p:txBody>
          <a:bodyPr wrap="square" lIns="18000" tIns="18000" rIns="90000" bIns="18000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private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Road road1, 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road2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;</a:t>
            </a: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4825875" y="5593098"/>
            <a:ext cx="3506359" cy="619431"/>
          </a:xfrm>
          <a:prstGeom prst="rect">
            <a:avLst/>
          </a:prstGeom>
          <a:solidFill>
            <a:srgbClr val="CCFFCC"/>
          </a:solidFill>
          <a:ln w="28575">
            <a:noFill/>
            <a:miter lim="800000"/>
            <a:headEnd/>
            <a:tailEnd/>
          </a:ln>
        </p:spPr>
        <p:txBody>
          <a:bodyPr wrap="square" lIns="18000" tIns="46800" rIns="90000" bIns="18000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da-DK" sz="1200" b="1" dirty="0">
                <a:solidFill>
                  <a:srgbClr val="0000FF"/>
                </a:solidFill>
                <a:latin typeface="Courier New" pitchFamily="49" charset="0"/>
              </a:rPr>
              <a:t>// Create roads</a:t>
            </a:r>
          </a:p>
          <a:p>
            <a:pPr eaLnBrk="1" hangingPunct="1"/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road1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= </a:t>
            </a:r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new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Road(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cityA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, 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cityB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, 4);</a:t>
            </a:r>
          </a:p>
          <a:p>
            <a:pPr eaLnBrk="1" hangingPunct="1"/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road2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= </a:t>
            </a:r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new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Road(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cityC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, 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cityD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, 2);</a:t>
            </a:r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 </a:t>
            </a:r>
            <a:endParaRPr lang="en-US" altLang="da-DK" sz="1200" b="1" dirty="0">
              <a:solidFill>
                <a:schemeClr val="tx1"/>
              </a:solidFill>
              <a:latin typeface="Courier New" pitchFamily="49" charset="0"/>
            </a:endParaRPr>
          </a:p>
        </p:txBody>
      </p:sp>
      <p:sp>
        <p:nvSpPr>
          <p:cNvPr id="11" name="Text Box 21"/>
          <p:cNvSpPr txBox="1">
            <a:spLocks noChangeArrowheads="1"/>
          </p:cNvSpPr>
          <p:nvPr/>
        </p:nvSpPr>
        <p:spPr bwMode="auto">
          <a:xfrm>
            <a:off x="482774" y="1124744"/>
            <a:ext cx="3421140" cy="2573012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FF"/>
            </a:solidFill>
          </a:ln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da-DK" altLang="da-DK" sz="1200" b="1" dirty="0">
                <a:solidFill>
                  <a:srgbClr val="008000"/>
                </a:solidFill>
              </a:rPr>
              <a:t>Test Fixture</a:t>
            </a:r>
            <a:r>
              <a:rPr lang="da-DK" altLang="da-DK" sz="1200" b="1" dirty="0">
                <a:solidFill>
                  <a:srgbClr val="0000FF"/>
                </a:solidFill>
              </a:rPr>
              <a:t> for Road klassen</a:t>
            </a:r>
          </a:p>
          <a:p>
            <a:pPr marL="171450" indent="-171450" eaLnBrk="1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da-DK" altLang="da-DK" sz="1200" b="1" dirty="0">
                <a:solidFill>
                  <a:srgbClr val="0000FF"/>
                </a:solidFill>
              </a:rPr>
              <a:t>Hele teksten er kopieret fra den generelle Test Fixture i </a:t>
            </a:r>
            <a:r>
              <a:rPr lang="da-DK" altLang="da-DK" sz="1200" b="1" dirty="0" err="1">
                <a:solidFill>
                  <a:srgbClr val="008000"/>
                </a:solidFill>
              </a:rPr>
              <a:t>CGTest</a:t>
            </a:r>
            <a:r>
              <a:rPr lang="da-DK" altLang="da-DK" sz="1200" b="1" dirty="0">
                <a:solidFill>
                  <a:srgbClr val="0000FF"/>
                </a:solidFill>
              </a:rPr>
              <a:t> klassen</a:t>
            </a:r>
          </a:p>
          <a:p>
            <a:pPr marL="177800" indent="-177800" eaLnBrk="1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da-DK" altLang="da-DK" sz="1200" b="1" dirty="0">
                <a:solidFill>
                  <a:srgbClr val="0000FF"/>
                </a:solidFill>
              </a:rPr>
              <a:t>Vi vil kun bruge det første land og de første fire byer og ikke nogen af vejene (derfor er resten fjernet for at lette overskueligheden)</a:t>
            </a:r>
          </a:p>
          <a:p>
            <a:pPr marL="177800" indent="-177800" eaLnBrk="1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da-DK" altLang="da-DK" sz="1200" b="1" dirty="0">
                <a:solidFill>
                  <a:srgbClr val="0000FF"/>
                </a:solidFill>
              </a:rPr>
              <a:t>Tagget </a:t>
            </a:r>
            <a:r>
              <a:rPr lang="da-DK" altLang="da-DK" sz="1200" b="1" dirty="0">
                <a:solidFill>
                  <a:srgbClr val="008000"/>
                </a:solidFill>
              </a:rPr>
              <a:t>@</a:t>
            </a:r>
            <a:r>
              <a:rPr lang="da-DK" altLang="da-DK" sz="1200" b="1" dirty="0" err="1">
                <a:solidFill>
                  <a:srgbClr val="008000"/>
                </a:solidFill>
              </a:rPr>
              <a:t>BeforeEach</a:t>
            </a:r>
            <a:r>
              <a:rPr lang="da-DK" altLang="da-DK" sz="1200" b="1" dirty="0">
                <a:solidFill>
                  <a:srgbClr val="0000FF"/>
                </a:solidFill>
              </a:rPr>
              <a:t> angiver, at </a:t>
            </a:r>
            <a:r>
              <a:rPr lang="da-DK" altLang="da-DK" sz="1200" b="1" dirty="0">
                <a:solidFill>
                  <a:srgbClr val="008000"/>
                </a:solidFill>
              </a:rPr>
              <a:t>setUp</a:t>
            </a:r>
            <a:r>
              <a:rPr lang="da-DK" altLang="da-DK" sz="1200" b="1" dirty="0">
                <a:solidFill>
                  <a:srgbClr val="0000FF"/>
                </a:solidFill>
              </a:rPr>
              <a:t> metoden udføres før hver testmetode (dette etablerer test fixturen)</a:t>
            </a:r>
          </a:p>
          <a:p>
            <a:pPr marL="177800" indent="-177800" eaLnBrk="1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da-DK" altLang="da-DK" sz="1200" b="1" dirty="0">
                <a:solidFill>
                  <a:srgbClr val="0000FF"/>
                </a:solidFill>
              </a:rPr>
              <a:t>BlueJ’s testsystem er ligeglad med, hvad metoden hedder, men testserveren kræver, at den hedder setUp (sådan som den gør, når en ny testklasse skabes)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82774" y="5357013"/>
            <a:ext cx="3481084" cy="1404291"/>
            <a:chOff x="482774" y="5357013"/>
            <a:chExt cx="3481084" cy="1404291"/>
          </a:xfrm>
        </p:grpSpPr>
        <p:pic>
          <p:nvPicPr>
            <p:cNvPr id="13" name="Picture 12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482774" y="5357013"/>
              <a:ext cx="3481084" cy="1404291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 bwMode="auto">
            <a:xfrm>
              <a:off x="835291" y="5950498"/>
              <a:ext cx="284381" cy="580932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2000" b="0" i="0" u="none" strike="noStrike" cap="none" normalizeH="0" baseline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endParaRPr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1547529" y="5818909"/>
              <a:ext cx="251043" cy="725474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2000" b="0" i="0" u="none" strike="noStrike" cap="none" normalizeH="0" baseline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94787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12" grpId="0" animBg="1"/>
      <p:bldP spid="14" grpId="0" animBg="1"/>
      <p:bldP spid="1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Box 4"/>
          <p:cNvSpPr txBox="1">
            <a:spLocks noChangeArrowheads="1"/>
          </p:cNvSpPr>
          <p:nvPr/>
        </p:nvSpPr>
        <p:spPr bwMode="auto">
          <a:xfrm>
            <a:off x="2871833" y="4941168"/>
            <a:ext cx="6074668" cy="1017844"/>
          </a:xfrm>
          <a:prstGeom prst="rect">
            <a:avLst/>
          </a:prstGeom>
          <a:solidFill>
            <a:srgbClr val="FFFFCC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square" lIns="180000" tIns="46800" rIns="90000" bIns="46800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@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Test</a:t>
            </a:r>
          </a:p>
          <a:p>
            <a:pPr eaLnBrk="1" hangingPunct="1"/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public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200" b="1" dirty="0">
                <a:solidFill>
                  <a:srgbClr val="FF0000"/>
                </a:solidFill>
                <a:latin typeface="Courier New" pitchFamily="49" charset="0"/>
              </a:rPr>
              <a:t>void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testToString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() {</a:t>
            </a:r>
          </a:p>
          <a:p>
            <a:pPr eaLnBrk="1" hangingPunct="1"/>
            <a:r>
              <a:rPr lang="en-US" altLang="da-DK" sz="1200" b="1" spc="-50" dirty="0">
                <a:solidFill>
                  <a:schemeClr val="tx1"/>
                </a:solidFill>
                <a:latin typeface="Courier New" pitchFamily="49" charset="0"/>
              </a:rPr>
              <a:t>  assertEquals(</a:t>
            </a:r>
            <a:r>
              <a:rPr lang="en-US" altLang="da-DK" sz="1200" b="1" spc="-50" dirty="0">
                <a:solidFill>
                  <a:srgbClr val="008000"/>
                </a:solidFill>
                <a:latin typeface="Courier New" pitchFamily="49" charset="0"/>
              </a:rPr>
              <a:t>"City A (80) -&gt; City B (60) : 4"</a:t>
            </a:r>
            <a:r>
              <a:rPr lang="en-US" altLang="da-DK" sz="1200" b="1" spc="-50" dirty="0">
                <a:solidFill>
                  <a:schemeClr val="tx1"/>
                </a:solidFill>
                <a:latin typeface="Courier New" pitchFamily="49" charset="0"/>
              </a:rPr>
              <a:t>, road1.toString());</a:t>
            </a:r>
          </a:p>
          <a:p>
            <a:pPr eaLnBrk="1" hangingPunct="1"/>
            <a:r>
              <a:rPr lang="en-US" altLang="da-DK" sz="1200" b="1" spc="-50" dirty="0">
                <a:solidFill>
                  <a:schemeClr val="tx1"/>
                </a:solidFill>
                <a:latin typeface="Courier New" pitchFamily="49" charset="0"/>
              </a:rPr>
              <a:t>  assertEquals(</a:t>
            </a:r>
            <a:r>
              <a:rPr lang="en-US" altLang="da-DK" sz="1200" b="1" spc="-50" dirty="0">
                <a:solidFill>
                  <a:srgbClr val="008000"/>
                </a:solidFill>
                <a:latin typeface="Courier New" pitchFamily="49" charset="0"/>
              </a:rPr>
              <a:t>".............................."</a:t>
            </a:r>
            <a:r>
              <a:rPr lang="en-US" altLang="da-DK" sz="1200" b="1" spc="-50" dirty="0">
                <a:solidFill>
                  <a:schemeClr val="tx1"/>
                </a:solidFill>
                <a:latin typeface="Courier New" pitchFamily="49" charset="0"/>
              </a:rPr>
              <a:t>, road2.toString());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532440" y="6400800"/>
            <a:ext cx="61156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CA5836E-6711-417F-AF48-31ACC3CF4030}" type="slidenum">
              <a:rPr lang="da-DK" altLang="da-DK" smtClean="0"/>
              <a:pPr>
                <a:defRPr/>
              </a:pPr>
              <a:t>29</a:t>
            </a:fld>
            <a:endParaRPr lang="da-DK" altLang="da-DK" dirty="0"/>
          </a:p>
        </p:txBody>
      </p:sp>
      <p:sp>
        <p:nvSpPr>
          <p:cNvPr id="17" name="Text Box 21"/>
          <p:cNvSpPr txBox="1">
            <a:spLocks noChangeArrowheads="1"/>
          </p:cNvSpPr>
          <p:nvPr/>
        </p:nvSpPr>
        <p:spPr bwMode="auto">
          <a:xfrm>
            <a:off x="509589" y="1291276"/>
            <a:ext cx="2824752" cy="1524520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FF"/>
            </a:solidFill>
          </a:ln>
        </p:spPr>
        <p:txBody>
          <a:bodyPr wrap="square">
            <a:spAutoFit/>
          </a:bodyPr>
          <a:lstStyle>
            <a:defPPr>
              <a:defRPr lang="da-DK"/>
            </a:defPPr>
            <a:lvl1pPr>
              <a:lnSpc>
                <a:spcPct val="90000"/>
              </a:lnSpc>
              <a:spcBef>
                <a:spcPts val="300"/>
              </a:spcBef>
              <a:defRPr sz="1200" b="1">
                <a:solidFill>
                  <a:srgbClr val="0000FF"/>
                </a:solidFill>
              </a:defRPr>
            </a:lvl1pPr>
          </a:lstStyle>
          <a:p>
            <a:r>
              <a:rPr lang="da-DK" altLang="da-DK" dirty="0"/>
              <a:t>Testmetode for </a:t>
            </a:r>
            <a:r>
              <a:rPr lang="da-DK" altLang="da-DK" dirty="0">
                <a:solidFill>
                  <a:srgbClr val="008000"/>
                </a:solidFill>
              </a:rPr>
              <a:t>konstruktøren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altLang="da-DK" dirty="0"/>
              <a:t>Vi tjekker, at feltvariablerne initialiseres korrekt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altLang="da-DK" dirty="0"/>
              <a:t>Brug det forventede som første parameter og metodekaldet som anden parameter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altLang="da-DK" dirty="0"/>
              <a:t>Tjekker også (implicit) de tre simple accessormetoder</a:t>
            </a:r>
          </a:p>
        </p:txBody>
      </p:sp>
      <p:sp>
        <p:nvSpPr>
          <p:cNvPr id="20" name="Text Box 21"/>
          <p:cNvSpPr txBox="1">
            <a:spLocks noChangeArrowheads="1"/>
          </p:cNvSpPr>
          <p:nvPr/>
        </p:nvSpPr>
        <p:spPr bwMode="auto">
          <a:xfrm>
            <a:off x="495569" y="4941168"/>
            <a:ext cx="2232248" cy="629403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FF"/>
            </a:solidFill>
          </a:ln>
        </p:spPr>
        <p:txBody>
          <a:bodyPr wrap="square">
            <a:spAutoFit/>
          </a:bodyPr>
          <a:lstStyle>
            <a:defPPr>
              <a:defRPr lang="da-DK"/>
            </a:defPPr>
            <a:lvl1pPr>
              <a:lnSpc>
                <a:spcPct val="90000"/>
              </a:lnSpc>
              <a:spcBef>
                <a:spcPts val="300"/>
              </a:spcBef>
              <a:defRPr sz="1200" b="1">
                <a:solidFill>
                  <a:srgbClr val="0000FF"/>
                </a:solidFill>
              </a:defRPr>
            </a:lvl1pPr>
          </a:lstStyle>
          <a:p>
            <a:r>
              <a:rPr lang="da-DK" altLang="da-DK" dirty="0"/>
              <a:t>Testmetode for </a:t>
            </a:r>
            <a:r>
              <a:rPr lang="da-DK" altLang="da-DK" dirty="0">
                <a:solidFill>
                  <a:srgbClr val="008000"/>
                </a:solidFill>
              </a:rPr>
              <a:t>toString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altLang="da-DK" dirty="0"/>
              <a:t>Vi tjekker at returværdien</a:t>
            </a:r>
            <a:br>
              <a:rPr lang="da-DK" altLang="da-DK" dirty="0"/>
            </a:br>
            <a:r>
              <a:rPr lang="da-DK" altLang="da-DK" dirty="0"/>
              <a:t>er korrekt</a:t>
            </a:r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 bwMode="auto">
          <a:xfrm>
            <a:off x="395536" y="298103"/>
            <a:ext cx="7128791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9pPr>
          </a:lstStyle>
          <a:p>
            <a:pPr eaLnBrk="1" hangingPunct="1"/>
            <a:r>
              <a:rPr lang="da-DK" altLang="da-DK" sz="3200" kern="0" dirty="0">
                <a:ea typeface="ＭＳ Ｐゴシック" pitchFamily="34" charset="-128"/>
              </a:rPr>
              <a:t>Test of Road klassen (fortsat)</a:t>
            </a:r>
          </a:p>
        </p:txBody>
      </p:sp>
      <p:sp>
        <p:nvSpPr>
          <p:cNvPr id="24" name="Text Box 4"/>
          <p:cNvSpPr txBox="1">
            <a:spLocks noChangeArrowheads="1"/>
          </p:cNvSpPr>
          <p:nvPr/>
        </p:nvSpPr>
        <p:spPr bwMode="auto">
          <a:xfrm>
            <a:off x="3494795" y="1306518"/>
            <a:ext cx="5422378" cy="2218172"/>
          </a:xfrm>
          <a:prstGeom prst="rect">
            <a:avLst/>
          </a:prstGeom>
          <a:solidFill>
            <a:srgbClr val="FFFFCC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square" lIns="180000" tIns="46800" rIns="90000" bIns="46800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@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Test</a:t>
            </a:r>
          </a:p>
          <a:p>
            <a:pPr eaLnBrk="1" hangingPunct="1"/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public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200" b="1" dirty="0">
                <a:solidFill>
                  <a:srgbClr val="FF0000"/>
                </a:solidFill>
                <a:latin typeface="Courier New" pitchFamily="49" charset="0"/>
              </a:rPr>
              <a:t>void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constructor() {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altLang="da-DK" sz="1200" b="1" dirty="0">
                <a:solidFill>
                  <a:srgbClr val="0000FF"/>
                </a:solidFill>
                <a:latin typeface="Courier New" pitchFamily="49" charset="0"/>
              </a:rPr>
              <a:t>// </a:t>
            </a:r>
            <a:r>
              <a:rPr lang="en-US" altLang="da-DK" sz="1200" b="1" dirty="0" err="1">
                <a:solidFill>
                  <a:srgbClr val="0000FF"/>
                </a:solidFill>
                <a:latin typeface="Courier New" pitchFamily="49" charset="0"/>
              </a:rPr>
              <a:t>Første</a:t>
            </a:r>
            <a:r>
              <a:rPr lang="en-US" altLang="da-DK" sz="1200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altLang="da-DK" sz="1200" b="1" dirty="0" err="1">
                <a:solidFill>
                  <a:srgbClr val="0000FF"/>
                </a:solidFill>
                <a:latin typeface="Courier New" pitchFamily="49" charset="0"/>
              </a:rPr>
              <a:t>vej</a:t>
            </a:r>
            <a:r>
              <a:rPr lang="en-US" altLang="da-DK" sz="1200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altLang="da-DK" sz="1200" b="1" dirty="0" err="1">
                <a:solidFill>
                  <a:srgbClr val="0000FF"/>
                </a:solidFill>
                <a:latin typeface="Courier New" pitchFamily="49" charset="0"/>
              </a:rPr>
              <a:t>går</a:t>
            </a:r>
            <a:r>
              <a:rPr lang="en-US" altLang="da-DK" sz="1200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altLang="da-DK" sz="1200" b="1" dirty="0" err="1">
                <a:solidFill>
                  <a:srgbClr val="0000FF"/>
                </a:solidFill>
                <a:latin typeface="Courier New" pitchFamily="49" charset="0"/>
              </a:rPr>
              <a:t>fra</a:t>
            </a:r>
            <a:r>
              <a:rPr lang="en-US" altLang="da-DK" sz="1200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altLang="da-DK" sz="1200" b="1" dirty="0" err="1">
                <a:solidFill>
                  <a:srgbClr val="0000FF"/>
                </a:solidFill>
                <a:latin typeface="Courier New" pitchFamily="49" charset="0"/>
              </a:rPr>
              <a:t>CityA</a:t>
            </a:r>
            <a:r>
              <a:rPr lang="en-US" altLang="da-DK" sz="1200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altLang="da-DK" sz="1200" b="1" dirty="0" err="1">
                <a:solidFill>
                  <a:srgbClr val="0000FF"/>
                </a:solidFill>
                <a:latin typeface="Courier New" pitchFamily="49" charset="0"/>
              </a:rPr>
              <a:t>til</a:t>
            </a:r>
            <a:r>
              <a:rPr lang="en-US" altLang="da-DK" sz="1200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altLang="da-DK" sz="1200" b="1" dirty="0" err="1">
                <a:solidFill>
                  <a:srgbClr val="0000FF"/>
                </a:solidFill>
                <a:latin typeface="Courier New" pitchFamily="49" charset="0"/>
              </a:rPr>
              <a:t>CityB</a:t>
            </a:r>
            <a:r>
              <a:rPr lang="en-US" altLang="da-DK" sz="1200" b="1" dirty="0">
                <a:solidFill>
                  <a:srgbClr val="0000FF"/>
                </a:solidFill>
                <a:latin typeface="Courier New" pitchFamily="49" charset="0"/>
              </a:rPr>
              <a:t> og </a:t>
            </a:r>
            <a:r>
              <a:rPr lang="en-US" altLang="da-DK" sz="1200" b="1" dirty="0" err="1">
                <a:solidFill>
                  <a:srgbClr val="0000FF"/>
                </a:solidFill>
                <a:latin typeface="Courier New" pitchFamily="49" charset="0"/>
              </a:rPr>
              <a:t>har</a:t>
            </a:r>
            <a:r>
              <a:rPr lang="en-US" altLang="da-DK" sz="1200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altLang="da-DK" sz="1200" b="1" dirty="0" err="1">
                <a:solidFill>
                  <a:srgbClr val="0000FF"/>
                </a:solidFill>
                <a:latin typeface="Courier New" pitchFamily="49" charset="0"/>
              </a:rPr>
              <a:t>længde</a:t>
            </a:r>
            <a:r>
              <a:rPr lang="en-US" altLang="da-DK" sz="1200" b="1" dirty="0">
                <a:solidFill>
                  <a:srgbClr val="0000FF"/>
                </a:solidFill>
                <a:latin typeface="Courier New" pitchFamily="49" charset="0"/>
              </a:rPr>
              <a:t> 4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cityA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, road1.getFrom());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cityB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, road1.getTo());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assertEquals(4, road1.getLength());</a:t>
            </a:r>
          </a:p>
          <a:p>
            <a:pPr eaLnBrk="1" hangingPunct="1"/>
            <a:endParaRPr lang="en-US" altLang="da-DK" sz="1200" b="1" dirty="0">
              <a:solidFill>
                <a:schemeClr val="tx1"/>
              </a:solidFill>
              <a:latin typeface="Courier New" pitchFamily="49" charset="0"/>
            </a:endParaRP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altLang="da-DK" sz="1200" b="1" dirty="0">
                <a:solidFill>
                  <a:srgbClr val="0000FF"/>
                </a:solidFill>
                <a:latin typeface="Courier New" pitchFamily="49" charset="0"/>
              </a:rPr>
              <a:t>// </a:t>
            </a:r>
            <a:r>
              <a:rPr lang="en-US" altLang="da-DK" sz="1200" b="1" dirty="0" err="1">
                <a:solidFill>
                  <a:srgbClr val="0000FF"/>
                </a:solidFill>
                <a:latin typeface="Courier New" pitchFamily="49" charset="0"/>
              </a:rPr>
              <a:t>Anden</a:t>
            </a:r>
            <a:r>
              <a:rPr lang="en-US" altLang="da-DK" sz="1200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altLang="da-DK" sz="1200" b="1" dirty="0" err="1">
                <a:solidFill>
                  <a:srgbClr val="0000FF"/>
                </a:solidFill>
                <a:latin typeface="Courier New" pitchFamily="49" charset="0"/>
              </a:rPr>
              <a:t>vej</a:t>
            </a:r>
            <a:r>
              <a:rPr lang="en-US" altLang="da-DK" sz="1200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altLang="da-DK" sz="1200" b="1" dirty="0" err="1">
                <a:solidFill>
                  <a:srgbClr val="0000FF"/>
                </a:solidFill>
                <a:latin typeface="Courier New" pitchFamily="49" charset="0"/>
              </a:rPr>
              <a:t>går</a:t>
            </a:r>
            <a:r>
              <a:rPr lang="en-US" altLang="da-DK" sz="1200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altLang="da-DK" sz="1200" b="1" dirty="0" err="1">
                <a:solidFill>
                  <a:srgbClr val="0000FF"/>
                </a:solidFill>
                <a:latin typeface="Courier New" pitchFamily="49" charset="0"/>
              </a:rPr>
              <a:t>fra</a:t>
            </a:r>
            <a:r>
              <a:rPr lang="en-US" altLang="da-DK" sz="1200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altLang="da-DK" sz="1200" b="1" dirty="0" err="1">
                <a:solidFill>
                  <a:srgbClr val="0000FF"/>
                </a:solidFill>
                <a:latin typeface="Courier New" pitchFamily="49" charset="0"/>
              </a:rPr>
              <a:t>CityC</a:t>
            </a:r>
            <a:r>
              <a:rPr lang="en-US" altLang="da-DK" sz="1200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altLang="da-DK" sz="1200" b="1" dirty="0" err="1">
                <a:solidFill>
                  <a:srgbClr val="0000FF"/>
                </a:solidFill>
                <a:latin typeface="Courier New" pitchFamily="49" charset="0"/>
              </a:rPr>
              <a:t>til</a:t>
            </a:r>
            <a:r>
              <a:rPr lang="en-US" altLang="da-DK" sz="1200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altLang="da-DK" sz="1200" b="1" dirty="0" err="1">
                <a:solidFill>
                  <a:srgbClr val="0000FF"/>
                </a:solidFill>
                <a:latin typeface="Courier New" pitchFamily="49" charset="0"/>
              </a:rPr>
              <a:t>CityD</a:t>
            </a:r>
            <a:r>
              <a:rPr lang="en-US" altLang="da-DK" sz="1200" b="1" dirty="0">
                <a:solidFill>
                  <a:srgbClr val="0000FF"/>
                </a:solidFill>
                <a:latin typeface="Courier New" pitchFamily="49" charset="0"/>
              </a:rPr>
              <a:t> og </a:t>
            </a:r>
            <a:r>
              <a:rPr lang="en-US" altLang="da-DK" sz="1200" b="1" dirty="0" err="1">
                <a:solidFill>
                  <a:srgbClr val="0000FF"/>
                </a:solidFill>
                <a:latin typeface="Courier New" pitchFamily="49" charset="0"/>
              </a:rPr>
              <a:t>har</a:t>
            </a:r>
            <a:r>
              <a:rPr lang="en-US" altLang="da-DK" sz="1200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altLang="da-DK" sz="1200" b="1" dirty="0" err="1">
                <a:solidFill>
                  <a:srgbClr val="0000FF"/>
                </a:solidFill>
                <a:latin typeface="Courier New" pitchFamily="49" charset="0"/>
              </a:rPr>
              <a:t>længde</a:t>
            </a:r>
            <a:r>
              <a:rPr lang="en-US" altLang="da-DK" sz="1200" b="1" dirty="0">
                <a:solidFill>
                  <a:srgbClr val="0000FF"/>
                </a:solidFill>
                <a:latin typeface="Courier New" pitchFamily="49" charset="0"/>
              </a:rPr>
              <a:t> 2</a:t>
            </a:r>
          </a:p>
          <a:p>
            <a:pPr eaLnBrk="1" hangingPunct="1"/>
            <a:r>
              <a:rPr lang="en-US" altLang="da-DK" sz="1200" b="1" dirty="0">
                <a:solidFill>
                  <a:srgbClr val="0000FF"/>
                </a:solidFill>
                <a:latin typeface="Courier New" pitchFamily="49" charset="0"/>
              </a:rPr>
              <a:t>  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assertEquals(...., road2.getFrom());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assertEquals(...., road2.getTo());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assertEquals(.., road2.getLength());</a:t>
            </a:r>
          </a:p>
          <a:p>
            <a:pPr eaLnBrk="1" hangingPunct="1">
              <a:lnSpc>
                <a:spcPct val="50000"/>
              </a:lnSpc>
            </a:pP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54812" y="3141586"/>
            <a:ext cx="3481084" cy="1404291"/>
            <a:chOff x="482774" y="5357013"/>
            <a:chExt cx="3481084" cy="1404291"/>
          </a:xfrm>
        </p:grpSpPr>
        <p:pic>
          <p:nvPicPr>
            <p:cNvPr id="9" name="Picture 8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482774" y="5357013"/>
              <a:ext cx="3481084" cy="1404291"/>
            </a:xfrm>
            <a:prstGeom prst="rect">
              <a:avLst/>
            </a:prstGeom>
          </p:spPr>
        </p:pic>
        <p:sp>
          <p:nvSpPr>
            <p:cNvPr id="10" name="Rectangle 9"/>
            <p:cNvSpPr/>
            <p:nvPr/>
          </p:nvSpPr>
          <p:spPr bwMode="auto">
            <a:xfrm>
              <a:off x="835291" y="5950498"/>
              <a:ext cx="284381" cy="580932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2000" b="0" i="0" u="none" strike="noStrike" cap="none" normalizeH="0" baseline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endParaRP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1547529" y="5818909"/>
              <a:ext cx="251043" cy="725474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2000" b="0" i="0" u="none" strike="noStrike" cap="none" normalizeH="0" baseline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7232425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532440" y="6400800"/>
            <a:ext cx="61156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CA5836E-6711-417F-AF48-31ACC3CF4030}" type="slidenum">
              <a:rPr lang="da-DK" altLang="da-DK" smtClean="0"/>
              <a:pPr>
                <a:defRPr/>
              </a:pPr>
              <a:t>30</a:t>
            </a:fld>
            <a:endParaRPr lang="da-DK" altLang="da-DK" dirty="0"/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 bwMode="auto">
          <a:xfrm>
            <a:off x="395536" y="298103"/>
            <a:ext cx="7128791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9pPr>
          </a:lstStyle>
          <a:p>
            <a:pPr eaLnBrk="1" hangingPunct="1"/>
            <a:r>
              <a:rPr lang="da-DK" altLang="da-DK" sz="3200" kern="0" dirty="0">
                <a:ea typeface="ＭＳ Ｐゴシック" pitchFamily="34" charset="-128"/>
              </a:rPr>
              <a:t>Test of Road klassen (fortsat)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b="539"/>
          <a:stretch/>
        </p:blipFill>
        <p:spPr>
          <a:xfrm>
            <a:off x="425912" y="1852909"/>
            <a:ext cx="3744416" cy="2304256"/>
          </a:xfrm>
          <a:prstGeom prst="rect">
            <a:avLst/>
          </a:prstGeom>
        </p:spPr>
      </p:pic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360915" y="1193011"/>
            <a:ext cx="3809413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marL="0" lvl="1" eaLnBrk="0" hangingPunct="0">
              <a:lnSpc>
                <a:spcPct val="90000"/>
              </a:lnSpc>
              <a:spcBef>
                <a:spcPts val="1200"/>
              </a:spcBef>
            </a:pPr>
            <a:r>
              <a:rPr lang="da-DK" altLang="da-DK" sz="1800" b="1" spc="-60" dirty="0">
                <a:latin typeface="+mn-lt"/>
                <a:ea typeface="ＭＳ Ｐゴシック" charset="-128"/>
                <a:cs typeface="ＭＳ Ｐゴシック" charset="-128"/>
              </a:rPr>
              <a:t>Når man vælger Test All får man forhåbentlig nedenstående resultat</a:t>
            </a:r>
          </a:p>
        </p:txBody>
      </p:sp>
      <p:sp>
        <p:nvSpPr>
          <p:cNvPr id="13" name="Text Box 21"/>
          <p:cNvSpPr txBox="1">
            <a:spLocks noChangeArrowheads="1"/>
          </p:cNvSpPr>
          <p:nvPr/>
        </p:nvSpPr>
        <p:spPr bwMode="auto">
          <a:xfrm>
            <a:off x="469919" y="4314982"/>
            <a:ext cx="3528392" cy="1166473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FF"/>
            </a:solidFill>
          </a:ln>
        </p:spPr>
        <p:txBody>
          <a:bodyPr wrap="square">
            <a:spAutoFit/>
          </a:bodyPr>
          <a:lstStyle>
            <a:defPPr>
              <a:defRPr lang="da-DK"/>
            </a:defPPr>
            <a:lvl1pPr eaLnBrk="1" hangingPunct="1">
              <a:lnSpc>
                <a:spcPct val="90000"/>
              </a:lnSpc>
              <a:spcBef>
                <a:spcPts val="300"/>
              </a:spcBef>
              <a:buFontTx/>
              <a:buNone/>
              <a:defRPr sz="1200" b="1">
                <a:solidFill>
                  <a:srgbClr val="0000FF"/>
                </a:solidFill>
              </a:defRPr>
            </a:lvl1pPr>
          </a:lstStyle>
          <a:p>
            <a:r>
              <a:rPr lang="da-DK" altLang="da-DK" dirty="0"/>
              <a:t>Når man vælger den fejlramte metode kan man i det nederste felt se, hvad der er galt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altLang="da-DK" dirty="0"/>
              <a:t>I linje </a:t>
            </a:r>
            <a:r>
              <a:rPr lang="da-DK" altLang="da-DK" dirty="0">
                <a:solidFill>
                  <a:srgbClr val="FF0000"/>
                </a:solidFill>
              </a:rPr>
              <a:t>45</a:t>
            </a:r>
            <a:r>
              <a:rPr lang="da-DK" altLang="da-DK" dirty="0"/>
              <a:t> i testklassen var der en assertion, der returnere </a:t>
            </a:r>
            <a:r>
              <a:rPr lang="da-DK" altLang="da-DK" dirty="0">
                <a:solidFill>
                  <a:srgbClr val="FF0000"/>
                </a:solidFill>
              </a:rPr>
              <a:t>4</a:t>
            </a:r>
            <a:r>
              <a:rPr lang="da-DK" altLang="da-DK" dirty="0"/>
              <a:t> i stedet for </a:t>
            </a:r>
            <a:r>
              <a:rPr lang="da-DK" altLang="da-DK" dirty="0">
                <a:solidFill>
                  <a:srgbClr val="FF0000"/>
                </a:solidFill>
              </a:rPr>
              <a:t>6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altLang="da-DK" dirty="0"/>
              <a:t>Hvis man trykker på </a:t>
            </a:r>
            <a:r>
              <a:rPr lang="da-DK" altLang="da-DK" dirty="0">
                <a:solidFill>
                  <a:srgbClr val="008000"/>
                </a:solidFill>
              </a:rPr>
              <a:t>Show Source</a:t>
            </a:r>
            <a:r>
              <a:rPr lang="da-DK" altLang="da-DK" dirty="0"/>
              <a:t> hopper man til den assertion, der fejlede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b="44158"/>
          <a:stretch/>
        </p:blipFill>
        <p:spPr>
          <a:xfrm>
            <a:off x="171953" y="5639272"/>
            <a:ext cx="4124325" cy="1143560"/>
          </a:xfrm>
          <a:prstGeom prst="rect">
            <a:avLst/>
          </a:prstGeom>
          <a:ln w="19050">
            <a:solidFill>
              <a:srgbClr val="6699FF"/>
            </a:solidFill>
          </a:ln>
        </p:spPr>
      </p:pic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4663016" y="6060004"/>
            <a:ext cx="3303587" cy="424732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FF"/>
            </a:solidFill>
          </a:ln>
        </p:spPr>
        <p:txBody>
          <a:bodyPr wrap="square">
            <a:spAutoFit/>
          </a:bodyPr>
          <a:lstStyle>
            <a:defPPr>
              <a:defRPr lang="da-DK"/>
            </a:defPPr>
            <a:lvl1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  <a:defRPr sz="1200" b="1">
                <a:solidFill>
                  <a:srgbClr val="0000FF"/>
                </a:solidFill>
              </a:defRPr>
            </a:lvl1pPr>
          </a:lstStyle>
          <a:p>
            <a:pPr>
              <a:spcBef>
                <a:spcPts val="300"/>
              </a:spcBef>
            </a:pPr>
            <a:r>
              <a:rPr lang="da-DK" altLang="da-DK" dirty="0"/>
              <a:t>Bemærk at fejlen både kan ligge i den metode, der bliver testet, og i testmetoden</a:t>
            </a:r>
          </a:p>
        </p:txBody>
      </p:sp>
      <p:sp>
        <p:nvSpPr>
          <p:cNvPr id="17" name="Text Box 21"/>
          <p:cNvSpPr txBox="1">
            <a:spLocks noChangeArrowheads="1"/>
          </p:cNvSpPr>
          <p:nvPr/>
        </p:nvSpPr>
        <p:spPr bwMode="auto">
          <a:xfrm>
            <a:off x="4535578" y="1202468"/>
            <a:ext cx="4445862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marL="0" lvl="1" eaLnBrk="0" hangingPunct="0">
              <a:lnSpc>
                <a:spcPct val="90000"/>
              </a:lnSpc>
              <a:spcBef>
                <a:spcPts val="1200"/>
              </a:spcBef>
            </a:pPr>
            <a:r>
              <a:rPr lang="da-DK" altLang="da-DK" sz="1800" b="1" spc="-60" dirty="0">
                <a:latin typeface="+mn-lt"/>
                <a:ea typeface="ＭＳ Ｐゴシック" charset="-128"/>
                <a:cs typeface="ＭＳ Ｐゴシック" charset="-128"/>
              </a:rPr>
              <a:t>Hvis et eller flere af de grønne flueben erstattes af et sort kryds er der noget galt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4537514" y="1892452"/>
            <a:ext cx="3745512" cy="2256628"/>
            <a:chOff x="4537514" y="1892452"/>
            <a:chExt cx="3745512" cy="2256628"/>
          </a:xfrm>
        </p:grpSpPr>
        <p:grpSp>
          <p:nvGrpSpPr>
            <p:cNvPr id="6" name="Group 5"/>
            <p:cNvGrpSpPr/>
            <p:nvPr/>
          </p:nvGrpSpPr>
          <p:grpSpPr>
            <a:xfrm>
              <a:off x="4537514" y="1892452"/>
              <a:ext cx="3745512" cy="2256628"/>
              <a:chOff x="4589326" y="2475787"/>
              <a:chExt cx="3745512" cy="2256628"/>
            </a:xfrm>
          </p:grpSpPr>
          <p:pic>
            <p:nvPicPr>
              <p:cNvPr id="5" name="Picture 4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89326" y="2475787"/>
                <a:ext cx="3745512" cy="2256628"/>
              </a:xfrm>
              <a:prstGeom prst="rect">
                <a:avLst/>
              </a:prstGeom>
            </p:spPr>
          </p:pic>
          <p:sp>
            <p:nvSpPr>
              <p:cNvPr id="18" name="Rectangle 28"/>
              <p:cNvSpPr>
                <a:spLocks noChangeArrowheads="1"/>
              </p:cNvSpPr>
              <p:nvPr/>
            </p:nvSpPr>
            <p:spPr bwMode="auto">
              <a:xfrm>
                <a:off x="6255469" y="3682113"/>
                <a:ext cx="652407" cy="183305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anchor="ctr">
                <a:spAutoFit/>
              </a:bodyPr>
              <a:lstStyle>
                <a:lvl1pPr eaLnBrk="0" hangingPunct="0">
                  <a:defRPr sz="20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0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0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0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0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A5002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algn="ctr" eaLnBrk="1" hangingPunct="1"/>
                <a:endParaRPr lang="en-US" altLang="da-DK" dirty="0"/>
              </a:p>
            </p:txBody>
          </p:sp>
        </p:grpSp>
        <p:sp>
          <p:nvSpPr>
            <p:cNvPr id="20" name="Rectangle 28"/>
            <p:cNvSpPr>
              <a:spLocks noChangeArrowheads="1"/>
            </p:cNvSpPr>
            <p:nvPr/>
          </p:nvSpPr>
          <p:spPr bwMode="auto">
            <a:xfrm>
              <a:off x="4699977" y="2316459"/>
              <a:ext cx="156503" cy="162582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endParaRPr lang="en-US" altLang="da-DK" dirty="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555259" y="1888232"/>
            <a:ext cx="4522242" cy="3972642"/>
            <a:chOff x="4491679" y="2444783"/>
            <a:chExt cx="4522242" cy="3972642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91679" y="2444783"/>
              <a:ext cx="4522242" cy="3972642"/>
            </a:xfrm>
            <a:prstGeom prst="rect">
              <a:avLst/>
            </a:prstGeom>
          </p:spPr>
        </p:pic>
        <p:sp>
          <p:nvSpPr>
            <p:cNvPr id="14" name="Rectangle 28"/>
            <p:cNvSpPr>
              <a:spLocks noChangeArrowheads="1"/>
            </p:cNvSpPr>
            <p:nvPr/>
          </p:nvSpPr>
          <p:spPr bwMode="auto">
            <a:xfrm>
              <a:off x="4896091" y="5555094"/>
              <a:ext cx="2188194" cy="172347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endParaRPr lang="en-US" altLang="da-DK" dirty="0"/>
            </a:p>
          </p:txBody>
        </p:sp>
        <p:sp>
          <p:nvSpPr>
            <p:cNvPr id="15" name="Rectangle 28"/>
            <p:cNvSpPr>
              <a:spLocks noChangeArrowheads="1"/>
            </p:cNvSpPr>
            <p:nvPr/>
          </p:nvSpPr>
          <p:spPr bwMode="auto">
            <a:xfrm>
              <a:off x="4682871" y="4584925"/>
              <a:ext cx="2574139" cy="161642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A5002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endParaRPr lang="en-US" altLang="da-DK" dirty="0"/>
            </a:p>
          </p:txBody>
        </p:sp>
      </p:grpSp>
      <p:sp>
        <p:nvSpPr>
          <p:cNvPr id="16" name="Line 22"/>
          <p:cNvSpPr>
            <a:spLocks noChangeShapeType="1"/>
          </p:cNvSpPr>
          <p:nvPr/>
        </p:nvSpPr>
        <p:spPr bwMode="auto">
          <a:xfrm>
            <a:off x="3998311" y="5229200"/>
            <a:ext cx="614329" cy="236881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endParaRPr lang="da-DK"/>
          </a:p>
        </p:txBody>
      </p:sp>
      <p:sp>
        <p:nvSpPr>
          <p:cNvPr id="22" name="Line 22"/>
          <p:cNvSpPr>
            <a:spLocks noChangeShapeType="1"/>
          </p:cNvSpPr>
          <p:nvPr/>
        </p:nvSpPr>
        <p:spPr bwMode="auto">
          <a:xfrm flipV="1">
            <a:off x="4002416" y="4876800"/>
            <a:ext cx="620384" cy="34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151339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1" grpId="0" animBg="1"/>
      <p:bldP spid="16" grpId="0" animBg="1"/>
      <p:bldP spid="2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4"/>
          <p:cNvSpPr txBox="1">
            <a:spLocks noChangeArrowheads="1"/>
          </p:cNvSpPr>
          <p:nvPr/>
        </p:nvSpPr>
        <p:spPr bwMode="auto">
          <a:xfrm>
            <a:off x="4073783" y="1191939"/>
            <a:ext cx="4740847" cy="4495719"/>
          </a:xfrm>
          <a:prstGeom prst="rect">
            <a:avLst/>
          </a:prstGeom>
          <a:solidFill>
            <a:srgbClr val="FFFFCC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square" lIns="180000" tIns="46800" rIns="90000" bIns="46800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da-DK" sz="1200" b="1" dirty="0">
                <a:solidFill>
                  <a:srgbClr val="FF0000"/>
                </a:solidFill>
                <a:latin typeface="Courier New" pitchFamily="49" charset="0"/>
              </a:rPr>
              <a:t>import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...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public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200" b="1" dirty="0">
                <a:solidFill>
                  <a:srgbClr val="FF0000"/>
                </a:solidFill>
                <a:latin typeface="Courier New" pitchFamily="49" charset="0"/>
              </a:rPr>
              <a:t>class 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PositionTest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{   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private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Game 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game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private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Country country1;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private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City 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cityA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, 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cityB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, 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cityC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, 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cityD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</a:t>
            </a:r>
          </a:p>
          <a:p>
            <a:pPr eaLnBrk="1" hangingPunct="1">
              <a:spcBef>
                <a:spcPts val="600"/>
              </a:spcBef>
            </a:pP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@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BeforeEach</a:t>
            </a:r>
            <a:endParaRPr lang="en-US" altLang="da-DK" sz="1200" b="1" dirty="0">
              <a:solidFill>
                <a:schemeClr val="tx1"/>
              </a:solidFill>
              <a:latin typeface="Courier New" pitchFamily="49" charset="0"/>
            </a:endParaRP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public </a:t>
            </a:r>
            <a:r>
              <a:rPr lang="en-US" altLang="da-DK" sz="1200" b="1" dirty="0">
                <a:solidFill>
                  <a:srgbClr val="FF0000"/>
                </a:solidFill>
                <a:latin typeface="Courier New" pitchFamily="49" charset="0"/>
              </a:rPr>
              <a:t>void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setUp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() {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  </a:t>
            </a:r>
            <a:r>
              <a:rPr lang="en-US" altLang="da-DK" sz="1200" b="1" dirty="0">
                <a:solidFill>
                  <a:srgbClr val="0000FF"/>
                </a:solidFill>
                <a:latin typeface="Courier New" pitchFamily="49" charset="0"/>
              </a:rPr>
              <a:t>// Create game object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  game = </a:t>
            </a:r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new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Game(0);</a:t>
            </a:r>
          </a:p>
          <a:p>
            <a:pPr eaLnBrk="1" hangingPunct="1"/>
            <a:endParaRPr lang="en-US" altLang="da-DK" sz="1200" b="1" dirty="0">
              <a:solidFill>
                <a:schemeClr val="tx1"/>
              </a:solidFill>
              <a:latin typeface="Courier New" pitchFamily="49" charset="0"/>
            </a:endParaRP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  </a:t>
            </a:r>
            <a:r>
              <a:rPr lang="en-US" altLang="da-DK" sz="1200" b="1" dirty="0">
                <a:solidFill>
                  <a:srgbClr val="0000FF"/>
                </a:solidFill>
                <a:latin typeface="Courier New" pitchFamily="49" charset="0"/>
              </a:rPr>
              <a:t>// Create country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  country1 = </a:t>
            </a:r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new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Country(</a:t>
            </a:r>
            <a:r>
              <a:rPr lang="en-US" altLang="da-DK" sz="1200" b="1" dirty="0">
                <a:solidFill>
                  <a:srgbClr val="008000"/>
                </a:solidFill>
                <a:latin typeface="Courier New" pitchFamily="49" charset="0"/>
              </a:rPr>
              <a:t>"Country 1"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  country1.setGame(game);</a:t>
            </a:r>
          </a:p>
          <a:p>
            <a:pPr eaLnBrk="1" hangingPunct="1"/>
            <a:endParaRPr lang="en-US" altLang="da-DK" sz="1200" b="1" dirty="0">
              <a:solidFill>
                <a:schemeClr val="tx1"/>
              </a:solidFill>
              <a:latin typeface="Courier New" pitchFamily="49" charset="0"/>
            </a:endParaRP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  </a:t>
            </a:r>
            <a:r>
              <a:rPr lang="en-US" altLang="da-DK" sz="1200" b="1" dirty="0">
                <a:solidFill>
                  <a:srgbClr val="0000FF"/>
                </a:solidFill>
                <a:latin typeface="Courier New" pitchFamily="49" charset="0"/>
              </a:rPr>
              <a:t>// Create cities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  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cityA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= </a:t>
            </a:r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new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City(</a:t>
            </a:r>
            <a:r>
              <a:rPr lang="en-US" altLang="da-DK" sz="1200" b="1" dirty="0">
                <a:solidFill>
                  <a:srgbClr val="008000"/>
                </a:solidFill>
                <a:latin typeface="Courier New" pitchFamily="49" charset="0"/>
              </a:rPr>
              <a:t>"City A"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, 80, country1);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  ...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            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 </a:t>
            </a:r>
          </a:p>
          <a:p>
            <a:pPr eaLnBrk="1" hangingPunct="1"/>
            <a:endParaRPr lang="en-US" altLang="da-DK" sz="1200" b="1" dirty="0">
              <a:solidFill>
                <a:schemeClr val="tx1"/>
              </a:solidFill>
              <a:latin typeface="Courier New" pitchFamily="49" charset="0"/>
            </a:endParaRPr>
          </a:p>
          <a:p>
            <a:pPr eaLnBrk="1" hangingPunct="1"/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  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...</a:t>
            </a:r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                                               </a:t>
            </a:r>
            <a:endParaRPr lang="en-US" altLang="da-DK" sz="1200" b="1" dirty="0">
              <a:solidFill>
                <a:schemeClr val="tx1"/>
              </a:solidFill>
              <a:latin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532440" y="6400800"/>
            <a:ext cx="61156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CA5836E-6711-417F-AF48-31ACC3CF4030}" type="slidenum">
              <a:rPr lang="da-DK" altLang="da-DK" smtClean="0"/>
              <a:pPr>
                <a:defRPr/>
              </a:pPr>
              <a:t>31</a:t>
            </a:fld>
            <a:endParaRPr lang="da-DK" altLang="da-DK" dirty="0"/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 bwMode="auto">
          <a:xfrm>
            <a:off x="467544" y="332656"/>
            <a:ext cx="5976663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9pPr>
          </a:lstStyle>
          <a:p>
            <a:pPr eaLnBrk="1" hangingPunct="1"/>
            <a:r>
              <a:rPr lang="da-DK" altLang="da-DK" sz="3200" kern="0" dirty="0">
                <a:ea typeface="ＭＳ Ｐゴシック" pitchFamily="34" charset="-128"/>
              </a:rPr>
              <a:t>Test af Position klassen</a:t>
            </a: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498416" y="3519970"/>
            <a:ext cx="3306896" cy="1166473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FF"/>
            </a:solidFill>
          </a:ln>
        </p:spPr>
        <p:txBody>
          <a:bodyPr wrap="square">
            <a:spAutoFit/>
          </a:bodyPr>
          <a:lstStyle>
            <a:defPPr>
              <a:defRPr lang="da-DK"/>
            </a:defPPr>
            <a:lvl1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  <a:defRPr sz="1200" b="1">
                <a:solidFill>
                  <a:srgbClr val="0000FF"/>
                </a:solidFill>
              </a:defRPr>
            </a:lvl1pPr>
          </a:lstStyle>
          <a:p>
            <a:pPr>
              <a:spcBef>
                <a:spcPts val="300"/>
              </a:spcBef>
            </a:pPr>
            <a:r>
              <a:rPr lang="da-DK" altLang="da-DK" dirty="0"/>
              <a:t>Vi laver to </a:t>
            </a:r>
            <a:r>
              <a:rPr lang="da-DK" altLang="da-DK" dirty="0">
                <a:solidFill>
                  <a:srgbClr val="008000"/>
                </a:solidFill>
              </a:rPr>
              <a:t>Position objekter</a:t>
            </a:r>
            <a:r>
              <a:rPr lang="da-DK" altLang="da-DK" dirty="0"/>
              <a:t> og to </a:t>
            </a:r>
            <a:r>
              <a:rPr lang="da-DK" altLang="da-DK" dirty="0">
                <a:solidFill>
                  <a:srgbClr val="008000"/>
                </a:solidFill>
              </a:rPr>
              <a:t>feltvariabler</a:t>
            </a:r>
            <a:r>
              <a:rPr lang="da-DK" altLang="da-DK" dirty="0"/>
              <a:t>, der peger på dem</a:t>
            </a:r>
          </a:p>
          <a:p>
            <a:pPr marL="177800" indent="-1778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da-DK" altLang="da-DK" dirty="0"/>
              <a:t>I det første står spilleren i </a:t>
            </a:r>
            <a:r>
              <a:rPr lang="da-DK" altLang="da-DK" dirty="0" err="1"/>
              <a:t>cityA</a:t>
            </a:r>
            <a:r>
              <a:rPr lang="da-DK" altLang="da-DK" dirty="0"/>
              <a:t> og er på vej mod </a:t>
            </a:r>
            <a:r>
              <a:rPr lang="da-DK" altLang="da-DK" dirty="0" err="1"/>
              <a:t>cityB</a:t>
            </a:r>
            <a:r>
              <a:rPr lang="da-DK" altLang="da-DK" dirty="0"/>
              <a:t>, som kan nås i 4 skridt</a:t>
            </a:r>
          </a:p>
          <a:p>
            <a:pPr marL="177800" indent="-1778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da-DK" altLang="da-DK" dirty="0"/>
              <a:t>I det andet står spilleren i </a:t>
            </a:r>
            <a:r>
              <a:rPr lang="da-DK" altLang="da-DK" dirty="0" err="1"/>
              <a:t>cityC</a:t>
            </a:r>
            <a:r>
              <a:rPr lang="da-DK" altLang="da-DK" dirty="0"/>
              <a:t> og er på vej mod </a:t>
            </a:r>
            <a:r>
              <a:rPr lang="da-DK" altLang="da-DK" dirty="0" err="1"/>
              <a:t>cityD</a:t>
            </a:r>
            <a:r>
              <a:rPr lang="da-DK" altLang="da-DK" dirty="0"/>
              <a:t>, som kan nås i 2 skridt</a:t>
            </a:r>
          </a:p>
        </p:txBody>
      </p:sp>
      <p:sp>
        <p:nvSpPr>
          <p:cNvPr id="9" name="Rectangle 28"/>
          <p:cNvSpPr>
            <a:spLocks noChangeArrowheads="1"/>
          </p:cNvSpPr>
          <p:nvPr/>
        </p:nvSpPr>
        <p:spPr bwMode="auto">
          <a:xfrm>
            <a:off x="4388727" y="2468880"/>
            <a:ext cx="4056610" cy="3117273"/>
          </a:xfrm>
          <a:prstGeom prst="rect">
            <a:avLst/>
          </a:prstGeom>
          <a:noFill/>
          <a:ln w="25400">
            <a:solidFill>
              <a:srgbClr val="0000FF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endParaRPr lang="en-US" altLang="da-DK" dirty="0"/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4424291" y="2215658"/>
            <a:ext cx="2687781" cy="221018"/>
          </a:xfrm>
          <a:prstGeom prst="rect">
            <a:avLst/>
          </a:prstGeom>
          <a:solidFill>
            <a:srgbClr val="CCFFCC"/>
          </a:solidFill>
          <a:ln w="28575">
            <a:noFill/>
            <a:miter lim="800000"/>
            <a:headEnd/>
            <a:tailEnd/>
          </a:ln>
        </p:spPr>
        <p:txBody>
          <a:bodyPr wrap="square" lIns="18000" tIns="18000" rIns="90000" bIns="18000">
            <a:spAutoFit/>
          </a:bodyPr>
          <a:lstStyle>
            <a:defPPr>
              <a:defRPr lang="da-DK"/>
            </a:defPPr>
            <a:lvl1pPr eaLnBrk="1" hangingPunct="1">
              <a:defRPr sz="1200" b="1">
                <a:solidFill>
                  <a:srgbClr val="7030A0"/>
                </a:solidFill>
                <a:latin typeface="Courier New" pitchFamily="49" charset="0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US" altLang="da-DK" dirty="0"/>
              <a:t>private Position pos1, </a:t>
            </a:r>
            <a:r>
              <a:rPr lang="en-US" altLang="da-DK" dirty="0" err="1"/>
              <a:t>pos2</a:t>
            </a:r>
            <a:r>
              <a:rPr lang="en-US" altLang="da-DK" dirty="0"/>
              <a:t>;                                      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4593464" y="4691672"/>
            <a:ext cx="3525299" cy="590349"/>
          </a:xfrm>
          <a:prstGeom prst="rect">
            <a:avLst/>
          </a:prstGeom>
          <a:solidFill>
            <a:srgbClr val="CCFFCC"/>
          </a:solidFill>
          <a:ln w="28575">
            <a:noFill/>
            <a:miter lim="800000"/>
            <a:headEnd/>
            <a:tailEnd/>
          </a:ln>
        </p:spPr>
        <p:txBody>
          <a:bodyPr wrap="square" lIns="18000" tIns="18000" rIns="90000" bIns="18000">
            <a:spAutoFit/>
          </a:bodyPr>
          <a:lstStyle>
            <a:defPPr>
              <a:defRPr lang="da-DK"/>
            </a:defPPr>
            <a:lvl1pPr eaLnBrk="1" hangingPunct="1">
              <a:defRPr sz="1200" b="1">
                <a:solidFill>
                  <a:srgbClr val="7030A0"/>
                </a:solidFill>
                <a:latin typeface="Courier New" pitchFamily="49" charset="0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US" altLang="da-DK" dirty="0"/>
              <a:t>// Create positions</a:t>
            </a:r>
          </a:p>
          <a:p>
            <a:r>
              <a:rPr lang="en-US" altLang="da-DK" dirty="0" err="1"/>
              <a:t>pos1</a:t>
            </a:r>
            <a:r>
              <a:rPr lang="en-US" altLang="da-DK" dirty="0"/>
              <a:t> = new Position(</a:t>
            </a:r>
            <a:r>
              <a:rPr lang="en-US" altLang="da-DK" dirty="0" err="1"/>
              <a:t>cityA</a:t>
            </a:r>
            <a:r>
              <a:rPr lang="en-US" altLang="da-DK" dirty="0"/>
              <a:t>, </a:t>
            </a:r>
            <a:r>
              <a:rPr lang="en-US" altLang="da-DK" dirty="0" err="1"/>
              <a:t>cityB</a:t>
            </a:r>
            <a:r>
              <a:rPr lang="en-US" altLang="da-DK" dirty="0"/>
              <a:t>, 4);</a:t>
            </a:r>
          </a:p>
          <a:p>
            <a:r>
              <a:rPr lang="en-US" altLang="da-DK" dirty="0" err="1"/>
              <a:t>pos2</a:t>
            </a:r>
            <a:r>
              <a:rPr lang="en-US" altLang="da-DK" dirty="0"/>
              <a:t> = new Position(</a:t>
            </a:r>
            <a:r>
              <a:rPr lang="en-US" altLang="da-DK" dirty="0" err="1"/>
              <a:t>cityC</a:t>
            </a:r>
            <a:r>
              <a:rPr lang="en-US" altLang="da-DK" dirty="0"/>
              <a:t>, </a:t>
            </a:r>
            <a:r>
              <a:rPr lang="en-US" altLang="da-DK" dirty="0" err="1"/>
              <a:t>cityD</a:t>
            </a:r>
            <a:r>
              <a:rPr lang="en-US" altLang="da-DK" dirty="0"/>
              <a:t>, 2);                                            </a:t>
            </a:r>
          </a:p>
        </p:txBody>
      </p:sp>
      <p:sp>
        <p:nvSpPr>
          <p:cNvPr id="12" name="Line 22"/>
          <p:cNvSpPr>
            <a:spLocks noChangeShapeType="1"/>
          </p:cNvSpPr>
          <p:nvPr/>
        </p:nvSpPr>
        <p:spPr bwMode="auto">
          <a:xfrm>
            <a:off x="3419872" y="1772816"/>
            <a:ext cx="653911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endParaRPr lang="da-DK"/>
          </a:p>
        </p:txBody>
      </p:sp>
      <p:sp>
        <p:nvSpPr>
          <p:cNvPr id="15" name="Text Box 21"/>
          <p:cNvSpPr txBox="1">
            <a:spLocks noChangeArrowheads="1"/>
          </p:cNvSpPr>
          <p:nvPr/>
        </p:nvSpPr>
        <p:spPr bwMode="auto">
          <a:xfrm>
            <a:off x="535932" y="1466222"/>
            <a:ext cx="3030228" cy="1445011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FF"/>
            </a:solidFill>
          </a:ln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da-DK" altLang="da-DK" sz="1200" b="1" dirty="0">
                <a:solidFill>
                  <a:srgbClr val="008000"/>
                </a:solidFill>
              </a:rPr>
              <a:t>Test Fixture</a:t>
            </a:r>
            <a:r>
              <a:rPr lang="da-DK" altLang="da-DK" sz="1200" b="1" dirty="0">
                <a:solidFill>
                  <a:srgbClr val="0000FF"/>
                </a:solidFill>
              </a:rPr>
              <a:t> for Position klassen</a:t>
            </a:r>
          </a:p>
          <a:p>
            <a:pPr marL="171450" indent="-171450" eaLnBrk="1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da-DK" altLang="da-DK" sz="1200" b="1" dirty="0">
                <a:solidFill>
                  <a:srgbClr val="0000FF"/>
                </a:solidFill>
              </a:rPr>
              <a:t>Som før kan I kopiere det meste fra den generelle Test Fixture i </a:t>
            </a:r>
            <a:r>
              <a:rPr lang="da-DK" altLang="da-DK" sz="1200" b="1" dirty="0" err="1">
                <a:solidFill>
                  <a:srgbClr val="0000FF"/>
                </a:solidFill>
              </a:rPr>
              <a:t>CGTest</a:t>
            </a:r>
            <a:r>
              <a:rPr lang="da-DK" altLang="da-DK" sz="1200" b="1" dirty="0">
                <a:solidFill>
                  <a:srgbClr val="0000FF"/>
                </a:solidFill>
              </a:rPr>
              <a:t> </a:t>
            </a:r>
          </a:p>
          <a:p>
            <a:pPr marL="177800" indent="-177800" eaLnBrk="1" hangingPunct="1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da-DK" altLang="da-DK" sz="1200" b="1" dirty="0">
                <a:solidFill>
                  <a:srgbClr val="0000FF"/>
                </a:solidFill>
              </a:rPr>
              <a:t>Det er kun tingene i de to grønne kasser, som I selv skal skrive</a:t>
            </a:r>
          </a:p>
          <a:p>
            <a:pPr marL="177800" indent="-177800" eaLnBrk="1" hangingPunct="1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da-DK" altLang="da-DK" sz="1200" b="1" dirty="0">
                <a:solidFill>
                  <a:srgbClr val="0000FF"/>
                </a:solidFill>
              </a:rPr>
              <a:t>Husk at fjerne de ting i Test Fixturen, som I ikke bruger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521602" y="4884007"/>
            <a:ext cx="3481084" cy="1404291"/>
            <a:chOff x="482774" y="5357013"/>
            <a:chExt cx="3481084" cy="1404291"/>
          </a:xfrm>
        </p:grpSpPr>
        <p:pic>
          <p:nvPicPr>
            <p:cNvPr id="14" name="Picture 13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482774" y="5357013"/>
              <a:ext cx="3481084" cy="1404291"/>
            </a:xfrm>
            <a:prstGeom prst="rect">
              <a:avLst/>
            </a:prstGeom>
          </p:spPr>
        </p:pic>
        <p:sp>
          <p:nvSpPr>
            <p:cNvPr id="16" name="Rectangle 15"/>
            <p:cNvSpPr/>
            <p:nvPr/>
          </p:nvSpPr>
          <p:spPr bwMode="auto">
            <a:xfrm>
              <a:off x="835291" y="5950498"/>
              <a:ext cx="230781" cy="184168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2000" b="0" i="0" u="none" strike="noStrike" cap="none" normalizeH="0" baseline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endParaRPr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1547529" y="5803669"/>
              <a:ext cx="196723" cy="170977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2000" b="0" i="0" u="none" strike="noStrike" cap="none" normalizeH="0" baseline="0">
                <a:ln>
                  <a:noFill/>
                </a:ln>
                <a:solidFill>
                  <a:srgbClr val="A5002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62929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3487739" y="3581291"/>
            <a:ext cx="5021714" cy="2255106"/>
          </a:xfrm>
          <a:prstGeom prst="rect">
            <a:avLst/>
          </a:prstGeom>
          <a:solidFill>
            <a:srgbClr val="FFFFCC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square" lIns="180000" tIns="46800" rIns="90000" bIns="46800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@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Test</a:t>
            </a:r>
          </a:p>
          <a:p>
            <a:pPr eaLnBrk="1" hangingPunct="1"/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public </a:t>
            </a:r>
            <a:r>
              <a:rPr lang="en-US" altLang="da-DK" sz="1200" b="1" dirty="0">
                <a:solidFill>
                  <a:srgbClr val="FF0000"/>
                </a:solidFill>
                <a:latin typeface="Courier New" pitchFamily="49" charset="0"/>
              </a:rPr>
              <a:t>void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move() {        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</a:t>
            </a:r>
            <a:r>
              <a:rPr lang="en-US" altLang="da-DK" sz="1200" b="1" dirty="0">
                <a:solidFill>
                  <a:srgbClr val="0070C0"/>
                </a:solidFill>
                <a:latin typeface="Courier New" pitchFamily="49" charset="0"/>
              </a:rPr>
              <a:t>true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, pos2.move());;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assertEquals(1, pos2.getDistance());</a:t>
            </a:r>
          </a:p>
          <a:p>
            <a:pPr eaLnBrk="1" hangingPunct="1"/>
            <a:endParaRPr lang="en-US" altLang="da-DK" sz="1200" b="1" dirty="0">
              <a:solidFill>
                <a:schemeClr val="tx1"/>
              </a:solidFill>
              <a:latin typeface="Courier New" pitchFamily="49" charset="0"/>
            </a:endParaRP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assertEquals(..., pos2.move());;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assertEquals(.., pos2.getDistance());</a:t>
            </a:r>
          </a:p>
          <a:p>
            <a:pPr eaLnBrk="1" hangingPunct="1"/>
            <a:endParaRPr lang="en-US" altLang="da-DK" sz="1200" b="1" dirty="0">
              <a:solidFill>
                <a:schemeClr val="tx1"/>
              </a:solidFill>
              <a:latin typeface="Courier New" pitchFamily="49" charset="0"/>
            </a:endParaRP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assertEquals(..., pos2.move());;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assertEquals(.., pos2.getDistance());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 eaLnBrk="1" hangingPunct="1">
              <a:lnSpc>
                <a:spcPct val="70000"/>
              </a:lnSpc>
            </a:pPr>
            <a:endParaRPr lang="en-US" altLang="da-DK" sz="1200" b="1" dirty="0">
              <a:solidFill>
                <a:schemeClr val="tx1"/>
              </a:solidFill>
              <a:latin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532440" y="6400800"/>
            <a:ext cx="61156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CA5836E-6711-417F-AF48-31ACC3CF4030}" type="slidenum">
              <a:rPr lang="da-DK" altLang="da-DK" smtClean="0"/>
              <a:pPr>
                <a:defRPr/>
              </a:pPr>
              <a:t>32</a:t>
            </a:fld>
            <a:endParaRPr lang="da-DK" altLang="da-DK" dirty="0"/>
          </a:p>
        </p:txBody>
      </p:sp>
      <p:sp>
        <p:nvSpPr>
          <p:cNvPr id="25" name="Text Box 21"/>
          <p:cNvSpPr txBox="1">
            <a:spLocks noChangeArrowheads="1"/>
          </p:cNvSpPr>
          <p:nvPr/>
        </p:nvSpPr>
        <p:spPr bwMode="auto">
          <a:xfrm>
            <a:off x="640695" y="1244533"/>
            <a:ext cx="2683141" cy="1000274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FF"/>
            </a:solidFill>
          </a:ln>
        </p:spPr>
        <p:txBody>
          <a:bodyPr wrap="square">
            <a:spAutoFit/>
          </a:bodyPr>
          <a:lstStyle>
            <a:defPPr>
              <a:defRPr lang="da-DK"/>
            </a:defPPr>
            <a:lvl1pPr marL="171450" indent="-171450"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 sz="1200" b="1">
                <a:solidFill>
                  <a:srgbClr val="0000FF"/>
                </a:solidFill>
              </a:defRPr>
            </a:lvl1pPr>
          </a:lstStyle>
          <a:p>
            <a:pPr marL="0" indent="0">
              <a:buNone/>
            </a:pPr>
            <a:r>
              <a:rPr lang="da-DK" altLang="da-DK" dirty="0"/>
              <a:t>Testmetode for </a:t>
            </a:r>
            <a:r>
              <a:rPr lang="da-DK" altLang="da-DK" dirty="0">
                <a:solidFill>
                  <a:srgbClr val="008000"/>
                </a:solidFill>
              </a:rPr>
              <a:t>konstruktøren</a:t>
            </a:r>
          </a:p>
          <a:p>
            <a:pPr>
              <a:spcBef>
                <a:spcPts val="300"/>
              </a:spcBef>
            </a:pPr>
            <a:r>
              <a:rPr lang="da-DK" altLang="da-DK" dirty="0"/>
              <a:t>Vi tjekker, at de fire feltvariabler initialiseres korrekt</a:t>
            </a:r>
          </a:p>
          <a:p>
            <a:pPr>
              <a:spcBef>
                <a:spcPts val="300"/>
              </a:spcBef>
            </a:pPr>
            <a:r>
              <a:rPr lang="da-DK" altLang="da-DK" dirty="0"/>
              <a:t>Herved tjekker vi også implicit de fire accessor metoder</a:t>
            </a:r>
          </a:p>
        </p:txBody>
      </p:sp>
      <p:sp>
        <p:nvSpPr>
          <p:cNvPr id="27" name="Text Box 21"/>
          <p:cNvSpPr txBox="1">
            <a:spLocks noChangeArrowheads="1"/>
          </p:cNvSpPr>
          <p:nvPr/>
        </p:nvSpPr>
        <p:spPr bwMode="auto">
          <a:xfrm>
            <a:off x="629768" y="3600848"/>
            <a:ext cx="2683853" cy="1000274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FF"/>
            </a:solidFill>
          </a:ln>
        </p:spPr>
        <p:txBody>
          <a:bodyPr wrap="square">
            <a:spAutoFit/>
          </a:bodyPr>
          <a:lstStyle>
            <a:defPPr>
              <a:defRPr lang="da-DK"/>
            </a:defPPr>
            <a:lvl1pPr marL="171450" indent="-171450"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 sz="1200" b="1">
                <a:solidFill>
                  <a:srgbClr val="0000FF"/>
                </a:solidFill>
              </a:defRPr>
            </a:lvl1pPr>
          </a:lstStyle>
          <a:p>
            <a:pPr marL="0" indent="0">
              <a:buNone/>
            </a:pPr>
            <a:r>
              <a:rPr lang="da-DK" altLang="da-DK" dirty="0"/>
              <a:t>Testmetode for </a:t>
            </a:r>
            <a:r>
              <a:rPr lang="da-DK" altLang="da-DK" dirty="0" err="1">
                <a:solidFill>
                  <a:srgbClr val="008000"/>
                </a:solidFill>
              </a:rPr>
              <a:t>move</a:t>
            </a:r>
            <a:r>
              <a:rPr lang="da-DK" altLang="da-DK" dirty="0"/>
              <a:t> metoden</a:t>
            </a:r>
          </a:p>
          <a:p>
            <a:pPr>
              <a:spcBef>
                <a:spcPts val="300"/>
              </a:spcBef>
            </a:pPr>
            <a:r>
              <a:rPr lang="da-DK" altLang="da-DK" dirty="0"/>
              <a:t>Vi kalder metoden nogle gange </a:t>
            </a:r>
          </a:p>
          <a:p>
            <a:pPr>
              <a:spcBef>
                <a:spcPts val="300"/>
              </a:spcBef>
            </a:pPr>
            <a:r>
              <a:rPr lang="da-DK" altLang="da-DK" dirty="0"/>
              <a:t>Efter hvert kald tester vi, at returværdien og distance er som forventet</a:t>
            </a: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 bwMode="auto">
          <a:xfrm>
            <a:off x="467544" y="332656"/>
            <a:ext cx="6552728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9pPr>
          </a:lstStyle>
          <a:p>
            <a:pPr eaLnBrk="1" hangingPunct="1"/>
            <a:r>
              <a:rPr lang="da-DK" altLang="da-DK" sz="3200" kern="0" dirty="0">
                <a:ea typeface="ＭＳ Ｐゴシック" pitchFamily="34" charset="-128"/>
              </a:rPr>
              <a:t>Test af Position klassen (fortsat)</a:t>
            </a:r>
          </a:p>
        </p:txBody>
      </p:sp>
      <p:sp>
        <p:nvSpPr>
          <p:cNvPr id="22" name="Text Box 4"/>
          <p:cNvSpPr txBox="1">
            <a:spLocks noChangeArrowheads="1"/>
          </p:cNvSpPr>
          <p:nvPr/>
        </p:nvSpPr>
        <p:spPr bwMode="auto">
          <a:xfrm>
            <a:off x="3487739" y="1140382"/>
            <a:ext cx="4096306" cy="2310505"/>
          </a:xfrm>
          <a:prstGeom prst="rect">
            <a:avLst/>
          </a:prstGeom>
          <a:solidFill>
            <a:srgbClr val="FFFFCC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square" lIns="180000" tIns="46800" rIns="90000" bIns="46800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@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Test</a:t>
            </a:r>
          </a:p>
          <a:p>
            <a:pPr eaLnBrk="1" hangingPunct="1"/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public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200" b="1" dirty="0">
                <a:solidFill>
                  <a:srgbClr val="FF0000"/>
                </a:solidFill>
                <a:latin typeface="Courier New" pitchFamily="49" charset="0"/>
              </a:rPr>
              <a:t>void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constructor() {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assertEquals(...., pos1.getFrom());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assertEquals(...., pos1.getTo());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assertEquals(.., pos1.getDistance());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assertEquals(.., pos1.getTotal());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 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assertEquals(...., pos2.getFrom());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assertEquals(...., pos2.getTo());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assertEquals(.., pos2.getDistance());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assertEquals(.., pos2.getTotal());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46178167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Box 4"/>
          <p:cNvSpPr txBox="1">
            <a:spLocks noChangeArrowheads="1"/>
          </p:cNvSpPr>
          <p:nvPr/>
        </p:nvSpPr>
        <p:spPr bwMode="auto">
          <a:xfrm>
            <a:off x="467544" y="1097786"/>
            <a:ext cx="3960440" cy="4341831"/>
          </a:xfrm>
          <a:prstGeom prst="rect">
            <a:avLst/>
          </a:prstGeom>
          <a:solidFill>
            <a:srgbClr val="FFFFCC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square" lIns="180000" tIns="46800" rIns="90000" bIns="46800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@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Test</a:t>
            </a:r>
          </a:p>
          <a:p>
            <a:pPr eaLnBrk="1" hangingPunct="1"/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public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200" b="1" dirty="0">
                <a:solidFill>
                  <a:srgbClr val="FF0000"/>
                </a:solidFill>
                <a:latin typeface="Courier New" pitchFamily="49" charset="0"/>
              </a:rPr>
              <a:t>void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turnAround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() {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pos1.move();        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pos1.turnAround();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assertEquals(...., pos1.getFrom());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assertEquals(...., pos1.getTo());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assertEquals(.., pos1.getDistance());</a:t>
            </a:r>
          </a:p>
          <a:p>
            <a:pPr eaLnBrk="1" hangingPunct="1"/>
            <a:endParaRPr lang="en-US" altLang="da-DK" sz="1200" b="1" dirty="0">
              <a:solidFill>
                <a:schemeClr val="tx1"/>
              </a:solidFill>
              <a:latin typeface="Courier New" pitchFamily="49" charset="0"/>
            </a:endParaRP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pos1.turnAround();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assertEquals(...., pos1.getFrom());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assertEquals(...., pos1.getTo());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assertEquals(.., pos1.getDistance());</a:t>
            </a:r>
          </a:p>
          <a:p>
            <a:pPr eaLnBrk="1" hangingPunct="1"/>
            <a:endParaRPr lang="en-US" altLang="da-DK" sz="1200" b="1" dirty="0">
              <a:solidFill>
                <a:schemeClr val="tx1"/>
              </a:solidFill>
              <a:latin typeface="Courier New" pitchFamily="49" charset="0"/>
            </a:endParaRP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pos2.turnAround();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assertEquals(...., ........);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assertEquals(...., ........);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assertEquals(.., ........);</a:t>
            </a:r>
          </a:p>
          <a:p>
            <a:pPr eaLnBrk="1" hangingPunct="1"/>
            <a:endParaRPr lang="en-US" altLang="da-DK" sz="1200" b="1" dirty="0">
              <a:solidFill>
                <a:schemeClr val="tx1"/>
              </a:solidFill>
              <a:latin typeface="Courier New" pitchFamily="49" charset="0"/>
            </a:endParaRP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pos2.turnAround();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assertEquals(...., ........);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assertEquals(...., ........);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assertEquals(.., ........);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2411760" y="4621667"/>
            <a:ext cx="6653016" cy="2125839"/>
          </a:xfrm>
          <a:prstGeom prst="rect">
            <a:avLst/>
          </a:prstGeom>
          <a:solidFill>
            <a:srgbClr val="FFFFCC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square" lIns="180000" tIns="46800" rIns="90000" bIns="46800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@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Test</a:t>
            </a:r>
          </a:p>
          <a:p>
            <a:pPr eaLnBrk="1" hangingPunct="1"/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public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200" b="1" dirty="0">
                <a:solidFill>
                  <a:srgbClr val="FF0000"/>
                </a:solidFill>
                <a:latin typeface="Courier New" pitchFamily="49" charset="0"/>
              </a:rPr>
              <a:t>void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testToString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() {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</a:t>
            </a:r>
            <a:r>
              <a:rPr lang="en-US" altLang="da-DK" sz="1200" b="1" dirty="0">
                <a:solidFill>
                  <a:srgbClr val="008000"/>
                </a:solidFill>
                <a:latin typeface="Courier New" pitchFamily="49" charset="0"/>
              </a:rPr>
              <a:t>"City A (80) -&gt; City B (60) : 4/4"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, pos1.toString());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</a:t>
            </a:r>
            <a:r>
              <a:rPr lang="en-US" altLang="da-DK" sz="1200" b="1" dirty="0">
                <a:solidFill>
                  <a:srgbClr val="008000"/>
                </a:solidFill>
                <a:latin typeface="Courier New" pitchFamily="49" charset="0"/>
              </a:rPr>
              <a:t>"................................"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, pos2.toString());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      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pos2.move();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</a:t>
            </a:r>
            <a:r>
              <a:rPr lang="en-US" altLang="da-DK" sz="1200" b="1" dirty="0">
                <a:solidFill>
                  <a:srgbClr val="008000"/>
                </a:solidFill>
                <a:latin typeface="Courier New" pitchFamily="49" charset="0"/>
              </a:rPr>
              <a:t>"................................"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, pos2.toString());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      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pos2.move();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</a:t>
            </a:r>
            <a:r>
              <a:rPr lang="en-US" altLang="da-DK" sz="1200" b="1" dirty="0">
                <a:solidFill>
                  <a:srgbClr val="008000"/>
                </a:solidFill>
                <a:latin typeface="Courier New" pitchFamily="49" charset="0"/>
              </a:rPr>
              <a:t>"................................"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, pos2.toString());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532440" y="6400800"/>
            <a:ext cx="61156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CA5836E-6711-417F-AF48-31ACC3CF4030}" type="slidenum">
              <a:rPr lang="da-DK" altLang="da-DK" smtClean="0"/>
              <a:pPr>
                <a:defRPr/>
              </a:pPr>
              <a:t>33</a:t>
            </a:fld>
            <a:endParaRPr lang="da-DK" altLang="da-DK" dirty="0"/>
          </a:p>
        </p:txBody>
      </p:sp>
      <p:sp>
        <p:nvSpPr>
          <p:cNvPr id="27" name="Text Box 21"/>
          <p:cNvSpPr txBox="1">
            <a:spLocks noChangeArrowheads="1"/>
          </p:cNvSpPr>
          <p:nvPr/>
        </p:nvSpPr>
        <p:spPr bwMode="auto">
          <a:xfrm>
            <a:off x="4572000" y="1111944"/>
            <a:ext cx="4138082" cy="667875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FF"/>
            </a:solidFill>
          </a:ln>
        </p:spPr>
        <p:txBody>
          <a:bodyPr wrap="square">
            <a:spAutoFit/>
          </a:bodyPr>
          <a:lstStyle>
            <a:defPPr>
              <a:defRPr lang="da-DK"/>
            </a:defPPr>
            <a:lvl1pPr marL="0" indent="0"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None/>
              <a:defRPr sz="1200" b="1">
                <a:solidFill>
                  <a:srgbClr val="0000FF"/>
                </a:solidFill>
              </a:defRPr>
            </a:lvl1pPr>
          </a:lstStyle>
          <a:p>
            <a:r>
              <a:rPr lang="da-DK" altLang="da-DK" dirty="0"/>
              <a:t>Testmetoderne for </a:t>
            </a:r>
            <a:r>
              <a:rPr lang="da-DK" altLang="da-DK" dirty="0" err="1">
                <a:solidFill>
                  <a:srgbClr val="008000"/>
                </a:solidFill>
              </a:rPr>
              <a:t>turnAround</a:t>
            </a:r>
            <a:r>
              <a:rPr lang="da-DK" altLang="da-DK" dirty="0"/>
              <a:t>, </a:t>
            </a:r>
            <a:r>
              <a:rPr lang="da-DK" altLang="da-DK" dirty="0" err="1">
                <a:solidFill>
                  <a:srgbClr val="008000"/>
                </a:solidFill>
              </a:rPr>
              <a:t>hasArrived</a:t>
            </a:r>
            <a:r>
              <a:rPr lang="da-DK" altLang="da-DK" dirty="0"/>
              <a:t> og </a:t>
            </a:r>
            <a:r>
              <a:rPr lang="da-DK" altLang="da-DK" dirty="0">
                <a:solidFill>
                  <a:srgbClr val="008000"/>
                </a:solidFill>
              </a:rPr>
              <a:t>toString</a:t>
            </a:r>
            <a:endParaRPr lang="da-DK" altLang="da-DK" dirty="0"/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da-DK" altLang="da-DK" dirty="0"/>
              <a:t>Vi kalder metoderne nogle gange 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da-DK" altLang="da-DK" dirty="0"/>
              <a:t>Efter hvert kald tester vi, om alt er som forventet</a:t>
            </a: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 bwMode="auto">
          <a:xfrm>
            <a:off x="467544" y="332656"/>
            <a:ext cx="6552728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9pPr>
          </a:lstStyle>
          <a:p>
            <a:pPr eaLnBrk="1" hangingPunct="1"/>
            <a:r>
              <a:rPr lang="da-DK" altLang="da-DK" sz="3200" kern="0" dirty="0">
                <a:ea typeface="ＭＳ Ｐゴシック" pitchFamily="34" charset="-128"/>
              </a:rPr>
              <a:t>Test af Position klassen (fortsat)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4572000" y="1941539"/>
            <a:ext cx="4098175" cy="2495171"/>
          </a:xfrm>
          <a:prstGeom prst="rect">
            <a:avLst/>
          </a:prstGeom>
          <a:solidFill>
            <a:srgbClr val="FFFFCC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square" lIns="180000" tIns="46800" rIns="90000" bIns="46800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@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Test</a:t>
            </a:r>
          </a:p>
          <a:p>
            <a:pPr eaLnBrk="1" hangingPunct="1"/>
            <a:r>
              <a:rPr lang="en-US" altLang="da-DK" sz="1200" b="1" dirty="0">
                <a:solidFill>
                  <a:srgbClr val="7030A0"/>
                </a:solidFill>
                <a:latin typeface="Courier New" pitchFamily="49" charset="0"/>
              </a:rPr>
              <a:t>public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200" b="1" dirty="0">
                <a:solidFill>
                  <a:srgbClr val="FF0000"/>
                </a:solidFill>
                <a:latin typeface="Courier New" pitchFamily="49" charset="0"/>
              </a:rPr>
              <a:t>void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200" b="1" dirty="0" err="1">
                <a:solidFill>
                  <a:schemeClr val="tx1"/>
                </a:solidFill>
                <a:latin typeface="Courier New" pitchFamily="49" charset="0"/>
              </a:rPr>
              <a:t>hasArrived</a:t>
            </a:r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() {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assertEquals(...., pos2.hasArrived());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      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pos2.move();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assertEquals(...., pos2.hasArrived());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      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pos2.move();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assertEquals(...., pos2.hasArrived());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      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pos2.move();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  assertEquals(...., pos2.hasArrived());</a:t>
            </a:r>
          </a:p>
          <a:p>
            <a:pPr eaLnBrk="1" hangingPunct="1"/>
            <a:r>
              <a:rPr lang="en-US" altLang="da-DK" sz="1200" b="1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69472544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4"/>
          <p:cNvSpPr txBox="1">
            <a:spLocks noChangeArrowheads="1"/>
          </p:cNvSpPr>
          <p:nvPr/>
        </p:nvSpPr>
        <p:spPr bwMode="auto">
          <a:xfrm>
            <a:off x="2319250" y="4114197"/>
            <a:ext cx="6740773" cy="2618282"/>
          </a:xfrm>
          <a:prstGeom prst="rect">
            <a:avLst/>
          </a:prstGeom>
          <a:solidFill>
            <a:srgbClr val="FFFFCC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square" lIns="180000" tIns="46800" rIns="90000" bIns="46800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da-DK" sz="1400" b="1" dirty="0">
                <a:solidFill>
                  <a:srgbClr val="7030A0"/>
                </a:solidFill>
                <a:latin typeface="Courier New" pitchFamily="49" charset="0"/>
              </a:rPr>
              <a:t>@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Test</a:t>
            </a:r>
          </a:p>
          <a:p>
            <a:pPr eaLnBrk="1" hangingPunct="1"/>
            <a:r>
              <a:rPr lang="en-US" altLang="da-DK" sz="1400" b="1" dirty="0">
                <a:solidFill>
                  <a:srgbClr val="7030A0"/>
                </a:solidFill>
                <a:latin typeface="Courier New" pitchFamily="49" charset="0"/>
              </a:rPr>
              <a:t>public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400" b="1" dirty="0">
                <a:solidFill>
                  <a:srgbClr val="FF0000"/>
                </a:solidFill>
                <a:latin typeface="Courier New" pitchFamily="49" charset="0"/>
              </a:rPr>
              <a:t>void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arrive(){</a:t>
            </a:r>
          </a:p>
          <a:p>
            <a:pPr eaLnBrk="1" hangingPunct="1"/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altLang="da-DK" sz="1400" b="1" dirty="0">
                <a:solidFill>
                  <a:srgbClr val="7030A0"/>
                </a:solidFill>
                <a:latin typeface="Courier New" pitchFamily="49" charset="0"/>
              </a:rPr>
              <a:t>for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(</a:t>
            </a:r>
            <a:r>
              <a:rPr lang="en-US" altLang="da-DK" sz="1400" b="1" dirty="0">
                <a:solidFill>
                  <a:srgbClr val="FF0000"/>
                </a:solidFill>
                <a:latin typeface="Courier New" pitchFamily="49" charset="0"/>
              </a:rPr>
              <a:t>int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seed</a:t>
            </a:r>
            <a:r>
              <a:rPr lang="en-US" altLang="da-DK" sz="8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=</a:t>
            </a:r>
            <a:r>
              <a:rPr lang="en-US" altLang="da-DK" sz="8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0;</a:t>
            </a:r>
            <a:r>
              <a:rPr lang="en-US" altLang="da-DK" sz="8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seed</a:t>
            </a:r>
            <a:r>
              <a:rPr lang="en-US" altLang="da-DK" sz="8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&lt;</a:t>
            </a:r>
            <a:r>
              <a:rPr lang="en-US" altLang="da-DK" sz="8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1000;</a:t>
            </a:r>
            <a:r>
              <a:rPr lang="en-US" altLang="da-DK" sz="8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seed++)</a:t>
            </a:r>
            <a:r>
              <a:rPr lang="en-US" altLang="da-DK" sz="8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{  </a:t>
            </a:r>
            <a:r>
              <a:rPr lang="en-US" altLang="da-DK" sz="1400" b="1" spc="-100" dirty="0">
                <a:solidFill>
                  <a:srgbClr val="0000FF"/>
                </a:solidFill>
                <a:latin typeface="Courier New" pitchFamily="49" charset="0"/>
              </a:rPr>
              <a:t>// Try different seeds</a:t>
            </a:r>
          </a:p>
          <a:p>
            <a:pPr eaLnBrk="1" hangingPunct="1">
              <a:spcBef>
                <a:spcPts val="600"/>
              </a:spcBef>
            </a:pP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   </a:t>
            </a:r>
            <a:r>
              <a:rPr lang="en-US" altLang="da-DK" sz="1400" b="1" dirty="0" err="1">
                <a:solidFill>
                  <a:schemeClr val="tx1"/>
                </a:solidFill>
                <a:latin typeface="Courier New" pitchFamily="49" charset="0"/>
              </a:rPr>
              <a:t>game.getRandom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().</a:t>
            </a:r>
            <a:r>
              <a:rPr lang="en-US" altLang="da-DK" sz="1400" b="1" dirty="0" err="1">
                <a:solidFill>
                  <a:schemeClr val="tx1"/>
                </a:solidFill>
                <a:latin typeface="Courier New" pitchFamily="49" charset="0"/>
              </a:rPr>
              <a:t>setSeed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(seed);         </a:t>
            </a:r>
            <a:r>
              <a:rPr lang="en-US" altLang="da-DK" sz="1400" b="1" dirty="0">
                <a:solidFill>
                  <a:srgbClr val="0000FF"/>
                </a:solidFill>
                <a:latin typeface="Courier New" pitchFamily="49" charset="0"/>
              </a:rPr>
              <a:t>// Set seed</a:t>
            </a:r>
          </a:p>
          <a:p>
            <a:pPr eaLnBrk="1" hangingPunct="1"/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   </a:t>
            </a:r>
            <a:r>
              <a:rPr lang="en-US" altLang="da-DK" sz="1400" b="1" dirty="0">
                <a:solidFill>
                  <a:srgbClr val="FF0000"/>
                </a:solidFill>
                <a:latin typeface="Courier New" pitchFamily="49" charset="0"/>
              </a:rPr>
              <a:t>int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bonus = country1.bonus(80);         </a:t>
            </a:r>
            <a:r>
              <a:rPr lang="en-US" altLang="da-DK" sz="1400" b="1" dirty="0">
                <a:solidFill>
                  <a:srgbClr val="0000FF"/>
                </a:solidFill>
                <a:latin typeface="Courier New" pitchFamily="49" charset="0"/>
              </a:rPr>
              <a:t>// Remember</a:t>
            </a:r>
            <a:r>
              <a:rPr lang="en-US" altLang="da-DK" sz="800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altLang="da-DK" sz="1400" b="1" dirty="0">
                <a:solidFill>
                  <a:srgbClr val="0000FF"/>
                </a:solidFill>
                <a:latin typeface="Courier New" pitchFamily="49" charset="0"/>
              </a:rPr>
              <a:t>bonus</a:t>
            </a:r>
          </a:p>
          <a:p>
            <a:pPr eaLnBrk="1" hangingPunct="1"/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   </a:t>
            </a:r>
            <a:r>
              <a:rPr lang="en-US" altLang="da-DK" sz="1400" b="1" dirty="0" err="1">
                <a:solidFill>
                  <a:schemeClr val="tx1"/>
                </a:solidFill>
                <a:latin typeface="Courier New" pitchFamily="49" charset="0"/>
              </a:rPr>
              <a:t>game.getRandom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().</a:t>
            </a:r>
            <a:r>
              <a:rPr lang="en-US" altLang="da-DK" sz="1400" b="1" dirty="0" err="1">
                <a:solidFill>
                  <a:schemeClr val="tx1"/>
                </a:solidFill>
                <a:latin typeface="Courier New" pitchFamily="49" charset="0"/>
              </a:rPr>
              <a:t>setSeed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(seed);         </a:t>
            </a:r>
            <a:r>
              <a:rPr lang="en-US" altLang="da-DK" sz="1400" b="1" dirty="0">
                <a:solidFill>
                  <a:srgbClr val="0000FF"/>
                </a:solidFill>
                <a:latin typeface="Courier New" pitchFamily="49" charset="0"/>
              </a:rPr>
              <a:t>// Reset seed</a:t>
            </a:r>
            <a:endParaRPr lang="en-US" altLang="da-DK" sz="1400" b="1" dirty="0">
              <a:solidFill>
                <a:schemeClr val="tx1"/>
              </a:solidFill>
              <a:latin typeface="Courier New" pitchFamily="49" charset="0"/>
            </a:endParaRPr>
          </a:p>
          <a:p>
            <a:pPr eaLnBrk="1" hangingPunct="1"/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   assertEquals(bonus, </a:t>
            </a:r>
            <a:r>
              <a:rPr lang="en-US" altLang="da-DK" sz="1400" b="1" dirty="0" err="1">
                <a:solidFill>
                  <a:schemeClr val="tx1"/>
                </a:solidFill>
                <a:latin typeface="Courier New" pitchFamily="49" charset="0"/>
              </a:rPr>
              <a:t>cityA.arrive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());    </a:t>
            </a:r>
            <a:r>
              <a:rPr lang="en-US" altLang="da-DK" sz="1400" b="1" dirty="0">
                <a:solidFill>
                  <a:srgbClr val="0000FF"/>
                </a:solidFill>
                <a:latin typeface="Courier New" pitchFamily="49" charset="0"/>
              </a:rPr>
              <a:t>// Same bonus</a:t>
            </a:r>
            <a:endParaRPr lang="en-US" altLang="da-DK" sz="1400" b="1" dirty="0">
              <a:solidFill>
                <a:schemeClr val="tx1"/>
              </a:solidFill>
              <a:latin typeface="Courier New" pitchFamily="49" charset="0"/>
            </a:endParaRPr>
          </a:p>
          <a:p>
            <a:pPr eaLnBrk="1" hangingPunct="1"/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   assertEquals(.....</a:t>
            </a:r>
            <a:r>
              <a:rPr lang="en-US" altLang="da-DK" sz="1400" b="1" spc="-50" dirty="0">
                <a:solidFill>
                  <a:schemeClr val="tx1"/>
                </a:solidFill>
                <a:latin typeface="Courier New" pitchFamily="49" charset="0"/>
              </a:rPr>
              <a:t>, </a:t>
            </a:r>
            <a:r>
              <a:rPr lang="en-US" altLang="da-DK" sz="1400" b="1" spc="-50" dirty="0" err="1">
                <a:solidFill>
                  <a:schemeClr val="tx1"/>
                </a:solidFill>
                <a:latin typeface="Courier New" pitchFamily="49" charset="0"/>
              </a:rPr>
              <a:t>cityA.getValue</a:t>
            </a:r>
            <a:r>
              <a:rPr lang="en-US" altLang="da-DK" sz="1400" b="1" spc="-50" dirty="0">
                <a:solidFill>
                  <a:schemeClr val="tx1"/>
                </a:solidFill>
                <a:latin typeface="Courier New" pitchFamily="49" charset="0"/>
              </a:rPr>
              <a:t>())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;</a:t>
            </a:r>
          </a:p>
          <a:p>
            <a:pPr eaLnBrk="1" hangingPunct="1">
              <a:spcBef>
                <a:spcPts val="600"/>
              </a:spcBef>
            </a:pP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   </a:t>
            </a:r>
            <a:r>
              <a:rPr lang="en-US" altLang="da-DK" sz="1400" b="1" dirty="0" err="1">
                <a:solidFill>
                  <a:schemeClr val="tx1"/>
                </a:solidFill>
                <a:latin typeface="Courier New" pitchFamily="49" charset="0"/>
              </a:rPr>
              <a:t>cityA.reset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();</a:t>
            </a:r>
          </a:p>
          <a:p>
            <a:pPr eaLnBrk="1" hangingPunct="1"/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 }</a:t>
            </a:r>
          </a:p>
          <a:p>
            <a:pPr eaLnBrk="1" hangingPunct="1"/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532440" y="6400800"/>
            <a:ext cx="61156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CA5836E-6711-417F-AF48-31ACC3CF4030}" type="slidenum">
              <a:rPr lang="da-DK" altLang="da-DK" smtClean="0"/>
              <a:pPr>
                <a:defRPr/>
              </a:pPr>
              <a:t>34</a:t>
            </a:fld>
            <a:endParaRPr lang="da-DK" altLang="da-DK" dirty="0"/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 bwMode="auto">
          <a:xfrm>
            <a:off x="467544" y="332656"/>
            <a:ext cx="8207375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9pPr>
          </a:lstStyle>
          <a:p>
            <a:pPr eaLnBrk="1" hangingPunct="1"/>
            <a:r>
              <a:rPr lang="da-DK" altLang="da-DK" sz="3200" kern="0" dirty="0">
                <a:ea typeface="ＭＳ Ｐゴシック" pitchFamily="34" charset="-128"/>
              </a:rPr>
              <a:t>Test af metoder med tilfældige værdier</a:t>
            </a:r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500309" y="996589"/>
            <a:ext cx="8320164" cy="1525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rgbClr val="000066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342900" lvl="1" indent="-342900">
              <a:spcBef>
                <a:spcPts val="1200"/>
              </a:spcBef>
              <a:buChar char="•"/>
            </a:pPr>
            <a:r>
              <a:rPr lang="da-DK" b="1" kern="0" dirty="0">
                <a:solidFill>
                  <a:srgbClr val="A50021"/>
                </a:solidFill>
                <a:cs typeface="ＭＳ Ｐゴシック" charset="-128"/>
              </a:rPr>
              <a:t>Når man skal teste </a:t>
            </a:r>
            <a:r>
              <a:rPr lang="da-DK" b="1" kern="0" dirty="0" err="1">
                <a:solidFill>
                  <a:srgbClr val="A50021"/>
                </a:solidFill>
                <a:cs typeface="ＭＳ Ｐゴシック" charset="-128"/>
              </a:rPr>
              <a:t>arrive</a:t>
            </a:r>
            <a:r>
              <a:rPr lang="da-DK" b="1" kern="0" dirty="0">
                <a:solidFill>
                  <a:srgbClr val="A50021"/>
                </a:solidFill>
                <a:cs typeface="ＭＳ Ｐゴシック" charset="-128"/>
              </a:rPr>
              <a:t> metoden i City klassen kan det være nyttigt at </a:t>
            </a:r>
            <a:r>
              <a:rPr lang="da-DK" b="1" kern="0" dirty="0">
                <a:solidFill>
                  <a:srgbClr val="008000"/>
                </a:solidFill>
                <a:cs typeface="ＭＳ Ｐゴシック" charset="-128"/>
              </a:rPr>
              <a:t>resette</a:t>
            </a:r>
            <a:r>
              <a:rPr lang="da-DK" b="1" kern="0" dirty="0">
                <a:solidFill>
                  <a:srgbClr val="A50021"/>
                </a:solidFill>
                <a:cs typeface="ＭＳ Ｐゴシック" charset="-128"/>
              </a:rPr>
              <a:t> den </a:t>
            </a:r>
            <a:r>
              <a:rPr lang="da-DK" b="1" kern="0" dirty="0">
                <a:solidFill>
                  <a:srgbClr val="008000"/>
                </a:solidFill>
                <a:cs typeface="ＭＳ Ｐゴシック" charset="-128"/>
              </a:rPr>
              <a:t>seed værdi</a:t>
            </a:r>
            <a:r>
              <a:rPr lang="da-DK" b="1" kern="0" dirty="0">
                <a:solidFill>
                  <a:srgbClr val="A50021"/>
                </a:solidFill>
                <a:cs typeface="ＭＳ Ｐゴシック" charset="-128"/>
              </a:rPr>
              <a:t> som </a:t>
            </a:r>
            <a:r>
              <a:rPr lang="da-DK" b="1" kern="0" dirty="0" err="1">
                <a:solidFill>
                  <a:srgbClr val="A50021"/>
                </a:solidFill>
                <a:cs typeface="ＭＳ Ｐゴシック" charset="-128"/>
              </a:rPr>
              <a:t>Random</a:t>
            </a:r>
            <a:r>
              <a:rPr lang="da-DK" b="1" kern="0" dirty="0">
                <a:solidFill>
                  <a:srgbClr val="A50021"/>
                </a:solidFill>
                <a:cs typeface="ＭＳ Ｐゴシック" charset="-128"/>
              </a:rPr>
              <a:t> objektet bruger</a:t>
            </a:r>
          </a:p>
          <a:p>
            <a:pPr lvl="1">
              <a:spcBef>
                <a:spcPts val="400"/>
              </a:spcBef>
            </a:pPr>
            <a:r>
              <a:rPr lang="da-DK" sz="1800" dirty="0"/>
              <a:t>På den måde kan man finde ud af, hvad bonus metoden returnerer, når den kaldes inde fra </a:t>
            </a:r>
            <a:r>
              <a:rPr lang="da-DK" sz="1800" dirty="0" err="1"/>
              <a:t>arrive</a:t>
            </a:r>
            <a:r>
              <a:rPr lang="da-DK" sz="1800" dirty="0"/>
              <a:t> </a:t>
            </a:r>
          </a:p>
        </p:txBody>
      </p:sp>
      <p:sp>
        <p:nvSpPr>
          <p:cNvPr id="30" name="Text Box 4"/>
          <p:cNvSpPr txBox="1">
            <a:spLocks noChangeArrowheads="1"/>
          </p:cNvSpPr>
          <p:nvPr/>
        </p:nvSpPr>
        <p:spPr bwMode="auto">
          <a:xfrm>
            <a:off x="2319251" y="2288773"/>
            <a:ext cx="6746167" cy="1710341"/>
          </a:xfrm>
          <a:prstGeom prst="rect">
            <a:avLst/>
          </a:prstGeom>
          <a:solidFill>
            <a:srgbClr val="FFFFCC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square" lIns="180000" tIns="46800" rIns="90000" bIns="46800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da-DK" sz="1400" b="1" dirty="0">
                <a:solidFill>
                  <a:srgbClr val="7030A0"/>
                </a:solidFill>
                <a:latin typeface="Courier New" pitchFamily="49" charset="0"/>
              </a:rPr>
              <a:t>@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Test</a:t>
            </a:r>
          </a:p>
          <a:p>
            <a:pPr eaLnBrk="1" hangingPunct="1"/>
            <a:r>
              <a:rPr lang="en-US" altLang="da-DK" sz="1400" b="1" dirty="0">
                <a:solidFill>
                  <a:srgbClr val="7030A0"/>
                </a:solidFill>
                <a:latin typeface="Courier New" pitchFamily="49" charset="0"/>
              </a:rPr>
              <a:t>public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400" b="1" dirty="0">
                <a:solidFill>
                  <a:srgbClr val="FF0000"/>
                </a:solidFill>
                <a:latin typeface="Courier New" pitchFamily="49" charset="0"/>
              </a:rPr>
              <a:t>void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arrive(){</a:t>
            </a:r>
          </a:p>
          <a:p>
            <a:pPr eaLnBrk="1" hangingPunct="1"/>
            <a:r>
              <a:rPr lang="en-US" altLang="da-DK" sz="1400" b="1" dirty="0">
                <a:solidFill>
                  <a:srgbClr val="FF0000"/>
                </a:solidFill>
                <a:latin typeface="Courier New" pitchFamily="49" charset="0"/>
              </a:rPr>
              <a:t>  </a:t>
            </a:r>
            <a:r>
              <a:rPr lang="en-US" altLang="da-DK" sz="1400" b="1" dirty="0" err="1">
                <a:solidFill>
                  <a:schemeClr val="tx1"/>
                </a:solidFill>
                <a:latin typeface="Courier New" pitchFamily="49" charset="0"/>
              </a:rPr>
              <a:t>game.getRandom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().</a:t>
            </a:r>
            <a:r>
              <a:rPr lang="en-US" altLang="da-DK" sz="1400" b="1" dirty="0" err="1">
                <a:solidFill>
                  <a:schemeClr val="tx1"/>
                </a:solidFill>
                <a:latin typeface="Courier New" pitchFamily="49" charset="0"/>
              </a:rPr>
              <a:t>setSeed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(0);             </a:t>
            </a:r>
            <a:r>
              <a:rPr lang="en-US" altLang="da-DK" sz="1400" b="1" dirty="0">
                <a:solidFill>
                  <a:srgbClr val="0000FF"/>
                </a:solidFill>
                <a:latin typeface="Courier New" pitchFamily="49" charset="0"/>
              </a:rPr>
              <a:t>// Set seed</a:t>
            </a:r>
            <a:endParaRPr lang="en-US" altLang="da-DK" sz="1400" b="1" dirty="0">
              <a:solidFill>
                <a:schemeClr val="tx1"/>
              </a:solidFill>
              <a:latin typeface="Courier New" pitchFamily="49" charset="0"/>
            </a:endParaRPr>
          </a:p>
          <a:p>
            <a:pPr eaLnBrk="1" hangingPunct="1"/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altLang="da-DK" sz="1400" b="1" dirty="0">
                <a:solidFill>
                  <a:srgbClr val="FF0000"/>
                </a:solidFill>
                <a:latin typeface="Courier New" pitchFamily="49" charset="0"/>
              </a:rPr>
              <a:t>int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bonus = country1.bonus(80);          </a:t>
            </a:r>
            <a:r>
              <a:rPr lang="en-US" altLang="da-DK" sz="1400" b="1" dirty="0">
                <a:solidFill>
                  <a:srgbClr val="0000FF"/>
                </a:solidFill>
                <a:latin typeface="Courier New" pitchFamily="49" charset="0"/>
              </a:rPr>
              <a:t>// Remember bonus</a:t>
            </a:r>
          </a:p>
          <a:p>
            <a:pPr eaLnBrk="1" hangingPunct="1"/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altLang="da-DK" sz="1400" b="1" dirty="0" err="1">
                <a:solidFill>
                  <a:schemeClr val="tx1"/>
                </a:solidFill>
                <a:latin typeface="Courier New" pitchFamily="49" charset="0"/>
              </a:rPr>
              <a:t>game.getRandom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().</a:t>
            </a:r>
            <a:r>
              <a:rPr lang="en-US" altLang="da-DK" sz="1400" b="1" dirty="0" err="1">
                <a:solidFill>
                  <a:schemeClr val="tx1"/>
                </a:solidFill>
                <a:latin typeface="Courier New" pitchFamily="49" charset="0"/>
              </a:rPr>
              <a:t>setSeed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(0);             </a:t>
            </a:r>
            <a:r>
              <a:rPr lang="en-US" altLang="da-DK" sz="1400" b="1" dirty="0">
                <a:solidFill>
                  <a:srgbClr val="0000FF"/>
                </a:solidFill>
                <a:latin typeface="Courier New" pitchFamily="49" charset="0"/>
              </a:rPr>
              <a:t>// Reset seed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 </a:t>
            </a:r>
          </a:p>
          <a:p>
            <a:pPr eaLnBrk="1" hangingPunct="1"/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altLang="da-DK" sz="1400" b="1" dirty="0" err="1">
                <a:solidFill>
                  <a:schemeClr val="tx1"/>
                </a:solidFill>
                <a:latin typeface="Courier New" pitchFamily="49" charset="0"/>
              </a:rPr>
              <a:t>assertEquals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(</a:t>
            </a:r>
            <a:r>
              <a:rPr lang="en-US" altLang="da-DK" sz="8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bonus</a:t>
            </a:r>
            <a:r>
              <a:rPr lang="en-US" altLang="da-DK" sz="8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, </a:t>
            </a:r>
            <a:r>
              <a:rPr lang="en-US" altLang="da-DK" sz="1400" b="1" dirty="0" err="1">
                <a:solidFill>
                  <a:schemeClr val="tx1"/>
                </a:solidFill>
                <a:latin typeface="Courier New" pitchFamily="49" charset="0"/>
              </a:rPr>
              <a:t>cityA.arrive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());    </a:t>
            </a:r>
            <a:r>
              <a:rPr lang="en-US" altLang="da-DK" sz="1400" b="1" dirty="0">
                <a:solidFill>
                  <a:srgbClr val="0000FF"/>
                </a:solidFill>
                <a:latin typeface="Courier New" pitchFamily="49" charset="0"/>
              </a:rPr>
              <a:t>// Same bonus</a:t>
            </a:r>
            <a:endParaRPr lang="en-US" altLang="da-DK" sz="1400" b="1" dirty="0">
              <a:solidFill>
                <a:schemeClr val="tx1"/>
              </a:solidFill>
              <a:latin typeface="Courier New" pitchFamily="49" charset="0"/>
            </a:endParaRPr>
          </a:p>
          <a:p>
            <a:pPr eaLnBrk="1" hangingPunct="1"/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altLang="da-DK" sz="1400" b="1" dirty="0" err="1">
                <a:solidFill>
                  <a:schemeClr val="tx1"/>
                </a:solidFill>
                <a:latin typeface="Courier New" pitchFamily="49" charset="0"/>
              </a:rPr>
              <a:t>assertEquals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(</a:t>
            </a:r>
            <a:r>
              <a:rPr lang="en-US" altLang="da-DK" sz="8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80-</a:t>
            </a:r>
            <a:r>
              <a:rPr lang="en-US" altLang="da-DK" sz="8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bonus</a:t>
            </a:r>
            <a:r>
              <a:rPr lang="en-US" altLang="da-DK" sz="8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400" b="1" spc="-50" dirty="0">
                <a:solidFill>
                  <a:schemeClr val="tx1"/>
                </a:solidFill>
                <a:latin typeface="Courier New" pitchFamily="49" charset="0"/>
              </a:rPr>
              <a:t>,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400" b="1" spc="-50" dirty="0" err="1">
                <a:solidFill>
                  <a:schemeClr val="tx1"/>
                </a:solidFill>
                <a:latin typeface="Courier New" pitchFamily="49" charset="0"/>
              </a:rPr>
              <a:t>cityA.getValue</a:t>
            </a:r>
            <a:r>
              <a:rPr lang="en-US" altLang="da-DK" sz="1400" b="1" spc="-50" dirty="0">
                <a:solidFill>
                  <a:schemeClr val="tx1"/>
                </a:solidFill>
                <a:latin typeface="Courier New" pitchFamily="49" charset="0"/>
              </a:rPr>
              <a:t>())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;</a:t>
            </a:r>
          </a:p>
          <a:p>
            <a:pPr eaLnBrk="1" hangingPunct="1">
              <a:lnSpc>
                <a:spcPct val="50000"/>
              </a:lnSpc>
            </a:pP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31" name="Rectangle 28"/>
          <p:cNvSpPr>
            <a:spLocks noChangeArrowheads="1"/>
          </p:cNvSpPr>
          <p:nvPr/>
        </p:nvSpPr>
        <p:spPr bwMode="auto">
          <a:xfrm>
            <a:off x="5586974" y="3415144"/>
            <a:ext cx="839451" cy="207819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endParaRPr lang="en-US" altLang="da-DK" dirty="0"/>
          </a:p>
        </p:txBody>
      </p:sp>
      <p:sp>
        <p:nvSpPr>
          <p:cNvPr id="35" name="Line 22"/>
          <p:cNvSpPr>
            <a:spLocks noChangeShapeType="1"/>
          </p:cNvSpPr>
          <p:nvPr/>
        </p:nvSpPr>
        <p:spPr bwMode="auto">
          <a:xfrm flipV="1">
            <a:off x="1953490" y="6108559"/>
            <a:ext cx="926057" cy="129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endParaRPr lang="da-DK"/>
          </a:p>
        </p:txBody>
      </p:sp>
      <p:sp>
        <p:nvSpPr>
          <p:cNvPr id="36" name="Rectangle 28"/>
          <p:cNvSpPr>
            <a:spLocks noChangeArrowheads="1"/>
          </p:cNvSpPr>
          <p:nvPr/>
        </p:nvSpPr>
        <p:spPr bwMode="auto">
          <a:xfrm>
            <a:off x="2887554" y="6039246"/>
            <a:ext cx="1557853" cy="226091"/>
          </a:xfrm>
          <a:prstGeom prst="rect">
            <a:avLst/>
          </a:prstGeom>
          <a:noFill/>
          <a:ln w="254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endParaRPr lang="en-US" altLang="da-DK" dirty="0"/>
          </a:p>
        </p:txBody>
      </p:sp>
      <p:sp>
        <p:nvSpPr>
          <p:cNvPr id="37" name="Text Box 21"/>
          <p:cNvSpPr txBox="1">
            <a:spLocks noChangeArrowheads="1"/>
          </p:cNvSpPr>
          <p:nvPr/>
        </p:nvSpPr>
        <p:spPr bwMode="auto">
          <a:xfrm>
            <a:off x="161471" y="5952931"/>
            <a:ext cx="2050891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da-DK" altLang="da-DK" sz="1200" b="1" dirty="0">
                <a:solidFill>
                  <a:srgbClr val="0000FF"/>
                </a:solidFill>
              </a:rPr>
              <a:t>Husk at resette byen mellem de enkelte tests</a:t>
            </a:r>
          </a:p>
        </p:txBody>
      </p:sp>
      <p:sp>
        <p:nvSpPr>
          <p:cNvPr id="14" name="Rectangle 28"/>
          <p:cNvSpPr>
            <a:spLocks noChangeArrowheads="1"/>
          </p:cNvSpPr>
          <p:nvPr/>
        </p:nvSpPr>
        <p:spPr bwMode="auto">
          <a:xfrm>
            <a:off x="2879547" y="4885304"/>
            <a:ext cx="6106511" cy="1108173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endParaRPr lang="en-US" altLang="da-DK" dirty="0"/>
          </a:p>
        </p:txBody>
      </p:sp>
      <p:sp>
        <p:nvSpPr>
          <p:cNvPr id="15" name="Line 22"/>
          <p:cNvSpPr>
            <a:spLocks noChangeShapeType="1"/>
          </p:cNvSpPr>
          <p:nvPr/>
        </p:nvSpPr>
        <p:spPr bwMode="auto">
          <a:xfrm>
            <a:off x="2123728" y="5403161"/>
            <a:ext cx="71027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endParaRPr lang="da-DK"/>
          </a:p>
        </p:txBody>
      </p:sp>
      <p:sp>
        <p:nvSpPr>
          <p:cNvPr id="16" name="Text Box 21"/>
          <p:cNvSpPr txBox="1">
            <a:spLocks noChangeArrowheads="1"/>
          </p:cNvSpPr>
          <p:nvPr/>
        </p:nvSpPr>
        <p:spPr bwMode="auto">
          <a:xfrm>
            <a:off x="138123" y="5301208"/>
            <a:ext cx="2136288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da-DK" altLang="da-DK" sz="1200" b="1" dirty="0">
                <a:solidFill>
                  <a:srgbClr val="FF0000"/>
                </a:solidFill>
              </a:rPr>
              <a:t>Som ovenfor, bortset fra, at seed nu sættes til seed</a:t>
            </a:r>
          </a:p>
        </p:txBody>
      </p:sp>
      <p:sp>
        <p:nvSpPr>
          <p:cNvPr id="17" name="Rectangle 28"/>
          <p:cNvSpPr>
            <a:spLocks noChangeArrowheads="1"/>
          </p:cNvSpPr>
          <p:nvPr/>
        </p:nvSpPr>
        <p:spPr bwMode="auto">
          <a:xfrm>
            <a:off x="2682813" y="4588818"/>
            <a:ext cx="6278307" cy="232566"/>
          </a:xfrm>
          <a:prstGeom prst="rect">
            <a:avLst/>
          </a:prstGeom>
          <a:noFill/>
          <a:ln w="254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endParaRPr lang="en-US" altLang="da-DK" dirty="0"/>
          </a:p>
        </p:txBody>
      </p:sp>
      <p:sp>
        <p:nvSpPr>
          <p:cNvPr id="18" name="Line 22"/>
          <p:cNvSpPr>
            <a:spLocks noChangeShapeType="1"/>
          </p:cNvSpPr>
          <p:nvPr/>
        </p:nvSpPr>
        <p:spPr bwMode="auto">
          <a:xfrm flipV="1">
            <a:off x="1949127" y="4676837"/>
            <a:ext cx="726684" cy="1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endParaRPr lang="da-DK"/>
          </a:p>
        </p:txBody>
      </p:sp>
      <p:sp>
        <p:nvSpPr>
          <p:cNvPr id="20" name="Text Box 21"/>
          <p:cNvSpPr txBox="1">
            <a:spLocks noChangeArrowheads="1"/>
          </p:cNvSpPr>
          <p:nvPr/>
        </p:nvSpPr>
        <p:spPr bwMode="auto">
          <a:xfrm>
            <a:off x="4780163" y="6188434"/>
            <a:ext cx="3008994" cy="424732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FF"/>
            </a:solidFill>
          </a:ln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da-DK" altLang="da-DK" sz="1200" b="1" dirty="0">
                <a:solidFill>
                  <a:srgbClr val="0000FF"/>
                </a:solidFill>
              </a:rPr>
              <a:t>Lav også en testmetode, der tester, hvad der sker, hvis byen har værdien 0</a:t>
            </a:r>
          </a:p>
        </p:txBody>
      </p:sp>
      <p:sp>
        <p:nvSpPr>
          <p:cNvPr id="34" name="Text Box 21"/>
          <p:cNvSpPr txBox="1">
            <a:spLocks noChangeArrowheads="1"/>
          </p:cNvSpPr>
          <p:nvPr/>
        </p:nvSpPr>
        <p:spPr bwMode="auto">
          <a:xfrm>
            <a:off x="151025" y="4114163"/>
            <a:ext cx="2025105" cy="757130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FF"/>
            </a:solidFill>
          </a:ln>
        </p:spPr>
        <p:txBody>
          <a:bodyPr wrap="square">
            <a:spAutoFit/>
          </a:bodyPr>
          <a:lstStyle>
            <a:defPPr>
              <a:defRPr lang="da-DK"/>
            </a:defPPr>
            <a:lvl1pPr>
              <a:lnSpc>
                <a:spcPct val="90000"/>
              </a:lnSpc>
              <a:spcBef>
                <a:spcPts val="300"/>
              </a:spcBef>
              <a:defRPr sz="1200" b="1">
                <a:solidFill>
                  <a:srgbClr val="0000FF"/>
                </a:solidFill>
              </a:defRPr>
            </a:lvl1pPr>
          </a:lstStyle>
          <a:p>
            <a:r>
              <a:rPr lang="da-DK" altLang="da-DK" dirty="0"/>
              <a:t>Man kan ”proppe” det hele ind i en for løkke og dermed teste mange forskellige seed værdier</a:t>
            </a:r>
          </a:p>
        </p:txBody>
      </p:sp>
      <p:sp>
        <p:nvSpPr>
          <p:cNvPr id="21" name="Line 22"/>
          <p:cNvSpPr>
            <a:spLocks noChangeShapeType="1"/>
          </p:cNvSpPr>
          <p:nvPr/>
        </p:nvSpPr>
        <p:spPr bwMode="auto">
          <a:xfrm flipV="1">
            <a:off x="1949127" y="3084374"/>
            <a:ext cx="723681" cy="1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endParaRPr lang="da-DK"/>
          </a:p>
        </p:txBody>
      </p:sp>
      <p:sp>
        <p:nvSpPr>
          <p:cNvPr id="22" name="Rectangle 28"/>
          <p:cNvSpPr>
            <a:spLocks noChangeArrowheads="1"/>
          </p:cNvSpPr>
          <p:nvPr/>
        </p:nvSpPr>
        <p:spPr bwMode="auto">
          <a:xfrm>
            <a:off x="2672808" y="2984318"/>
            <a:ext cx="3411360" cy="226091"/>
          </a:xfrm>
          <a:prstGeom prst="rect">
            <a:avLst/>
          </a:prstGeom>
          <a:noFill/>
          <a:ln w="254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endParaRPr lang="en-US" altLang="da-DK" dirty="0"/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0" y="2790492"/>
            <a:ext cx="2276182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da-DK" altLang="da-DK" sz="1200" b="1" dirty="0">
                <a:solidFill>
                  <a:srgbClr val="0000FF"/>
                </a:solidFill>
              </a:rPr>
              <a:t>Kald af bonus metoden med de parametre som </a:t>
            </a:r>
            <a:r>
              <a:rPr lang="da-DK" altLang="da-DK" sz="1200" b="1" dirty="0" err="1">
                <a:solidFill>
                  <a:srgbClr val="0000FF"/>
                </a:solidFill>
              </a:rPr>
              <a:t>arrive</a:t>
            </a:r>
            <a:br>
              <a:rPr lang="da-DK" altLang="da-DK" sz="1200" b="1" dirty="0">
                <a:solidFill>
                  <a:srgbClr val="0000FF"/>
                </a:solidFill>
              </a:rPr>
            </a:br>
            <a:r>
              <a:rPr lang="da-DK" altLang="da-DK" sz="1200" b="1" dirty="0">
                <a:solidFill>
                  <a:srgbClr val="0000FF"/>
                </a:solidFill>
              </a:rPr>
              <a:t>om lidt vil kalde bonus med</a:t>
            </a:r>
          </a:p>
        </p:txBody>
      </p:sp>
      <p:sp>
        <p:nvSpPr>
          <p:cNvPr id="24" name="Rectangle 28"/>
          <p:cNvSpPr>
            <a:spLocks noChangeArrowheads="1"/>
          </p:cNvSpPr>
          <p:nvPr/>
        </p:nvSpPr>
        <p:spPr bwMode="auto">
          <a:xfrm>
            <a:off x="4136271" y="3428954"/>
            <a:ext cx="595057" cy="173229"/>
          </a:xfrm>
          <a:prstGeom prst="rect">
            <a:avLst/>
          </a:prstGeom>
          <a:noFill/>
          <a:ln w="254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endParaRPr lang="en-US" altLang="da-DK" dirty="0"/>
          </a:p>
        </p:txBody>
      </p:sp>
      <p:sp>
        <p:nvSpPr>
          <p:cNvPr id="25" name="Rectangle 28"/>
          <p:cNvSpPr>
            <a:spLocks noChangeArrowheads="1"/>
          </p:cNvSpPr>
          <p:nvPr/>
        </p:nvSpPr>
        <p:spPr bwMode="auto">
          <a:xfrm>
            <a:off x="4482635" y="3643700"/>
            <a:ext cx="595057" cy="173229"/>
          </a:xfrm>
          <a:prstGeom prst="rect">
            <a:avLst/>
          </a:prstGeom>
          <a:noFill/>
          <a:ln w="254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endParaRPr lang="en-US" altLang="da-DK" dirty="0"/>
          </a:p>
        </p:txBody>
      </p:sp>
      <p:sp>
        <p:nvSpPr>
          <p:cNvPr id="26" name="Line 22"/>
          <p:cNvSpPr>
            <a:spLocks noChangeShapeType="1"/>
          </p:cNvSpPr>
          <p:nvPr/>
        </p:nvSpPr>
        <p:spPr bwMode="auto">
          <a:xfrm flipV="1">
            <a:off x="2075701" y="3318437"/>
            <a:ext cx="544083" cy="17806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endParaRPr lang="da-DK"/>
          </a:p>
        </p:txBody>
      </p:sp>
      <p:sp>
        <p:nvSpPr>
          <p:cNvPr id="29" name="Text Box 21"/>
          <p:cNvSpPr txBox="1">
            <a:spLocks noChangeArrowheads="1"/>
          </p:cNvSpPr>
          <p:nvPr/>
        </p:nvSpPr>
        <p:spPr bwMode="auto">
          <a:xfrm>
            <a:off x="409494" y="3393606"/>
            <a:ext cx="1621300" cy="4247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da-DK" altLang="da-DK" sz="1200" b="1" dirty="0">
                <a:solidFill>
                  <a:srgbClr val="008000"/>
                </a:solidFill>
              </a:rPr>
              <a:t>Sæt seed til samme værdi som før</a:t>
            </a:r>
          </a:p>
        </p:txBody>
      </p:sp>
      <p:sp>
        <p:nvSpPr>
          <p:cNvPr id="38" name="Line 22"/>
          <p:cNvSpPr>
            <a:spLocks noChangeShapeType="1"/>
          </p:cNvSpPr>
          <p:nvPr/>
        </p:nvSpPr>
        <p:spPr bwMode="auto">
          <a:xfrm>
            <a:off x="1979712" y="2635689"/>
            <a:ext cx="594341" cy="243026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endParaRPr lang="da-DK"/>
          </a:p>
        </p:txBody>
      </p:sp>
      <p:sp>
        <p:nvSpPr>
          <p:cNvPr id="39" name="Text Box 21"/>
          <p:cNvSpPr txBox="1">
            <a:spLocks noChangeArrowheads="1"/>
          </p:cNvSpPr>
          <p:nvPr/>
        </p:nvSpPr>
        <p:spPr bwMode="auto">
          <a:xfrm>
            <a:off x="386108" y="2367251"/>
            <a:ext cx="1593604" cy="4247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da-DK" altLang="da-DK" sz="1200" b="1" dirty="0">
                <a:solidFill>
                  <a:srgbClr val="008000"/>
                </a:solidFill>
              </a:rPr>
              <a:t>Sæt seed til et eller andet, f.eks. 0</a:t>
            </a:r>
          </a:p>
        </p:txBody>
      </p:sp>
    </p:spTree>
    <p:extLst>
      <p:ext uri="{BB962C8B-B14F-4D97-AF65-F5344CB8AC3E}">
        <p14:creationId xmlns:p14="http://schemas.microsoft.com/office/powerpoint/2010/main" val="2463057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5" grpId="0" animBg="1"/>
      <p:bldP spid="36" grpId="0" animBg="1"/>
      <p:bldP spid="37" grpId="0"/>
      <p:bldP spid="14" grpId="0" animBg="1"/>
      <p:bldP spid="15" grpId="0" animBg="1"/>
      <p:bldP spid="16" grpId="0"/>
      <p:bldP spid="17" grpId="0" animBg="1"/>
      <p:bldP spid="18" grpId="0" animBg="1"/>
      <p:bldP spid="20" grpId="0" animBg="1"/>
      <p:bldP spid="3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755576" y="3356992"/>
            <a:ext cx="7824272" cy="2830648"/>
          </a:xfrm>
          <a:prstGeom prst="rect">
            <a:avLst/>
          </a:prstGeom>
          <a:solidFill>
            <a:srgbClr val="FFFFCC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square" lIns="180000" tIns="46800" rIns="90000" bIns="46800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da-DK" sz="1400" b="1" dirty="0">
                <a:solidFill>
                  <a:srgbClr val="7030A0"/>
                </a:solidFill>
                <a:latin typeface="Courier New" pitchFamily="49" charset="0"/>
              </a:rPr>
              <a:t>@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Test</a:t>
            </a:r>
          </a:p>
          <a:p>
            <a:pPr eaLnBrk="1" hangingPunct="1"/>
            <a:r>
              <a:rPr lang="en-US" altLang="da-DK" sz="1400" b="1" dirty="0">
                <a:solidFill>
                  <a:srgbClr val="7030A0"/>
                </a:solidFill>
                <a:latin typeface="Courier New" pitchFamily="49" charset="0"/>
              </a:rPr>
              <a:t>public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400" b="1" dirty="0">
                <a:solidFill>
                  <a:srgbClr val="FF0000"/>
                </a:solidFill>
                <a:latin typeface="Courier New" pitchFamily="49" charset="0"/>
              </a:rPr>
              <a:t>void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bonus() {</a:t>
            </a:r>
          </a:p>
          <a:p>
            <a:pPr eaLnBrk="1" hangingPunct="1"/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altLang="da-DK" sz="1400" b="1" dirty="0">
                <a:solidFill>
                  <a:srgbClr val="7030A0"/>
                </a:solidFill>
                <a:latin typeface="Courier New" pitchFamily="49" charset="0"/>
              </a:rPr>
              <a:t>for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(</a:t>
            </a:r>
            <a:r>
              <a:rPr lang="en-US" altLang="da-DK" sz="1400" b="1" dirty="0">
                <a:solidFill>
                  <a:srgbClr val="FF0000"/>
                </a:solidFill>
                <a:latin typeface="Courier New" pitchFamily="49" charset="0"/>
              </a:rPr>
              <a:t>int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seed</a:t>
            </a:r>
            <a:r>
              <a:rPr lang="en-US" altLang="da-DK" sz="8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=</a:t>
            </a:r>
            <a:r>
              <a:rPr lang="en-US" altLang="da-DK" sz="8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0; seed</a:t>
            </a:r>
            <a:r>
              <a:rPr lang="en-US" altLang="da-DK" sz="8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&lt;</a:t>
            </a:r>
            <a:r>
              <a:rPr lang="en-US" altLang="da-DK" sz="8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100; seed++) {    </a:t>
            </a:r>
            <a:r>
              <a:rPr lang="en-US" altLang="da-DK" sz="1400" b="1" spc="-80" dirty="0">
                <a:solidFill>
                  <a:srgbClr val="0000FF"/>
                </a:solidFill>
                <a:latin typeface="Courier New" pitchFamily="49" charset="0"/>
              </a:rPr>
              <a:t>// Try</a:t>
            </a:r>
            <a:r>
              <a:rPr lang="en-US" altLang="da-DK" sz="800" b="1" spc="-80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altLang="da-DK" sz="1400" b="1" spc="-80" dirty="0">
                <a:solidFill>
                  <a:srgbClr val="0000FF"/>
                </a:solidFill>
                <a:latin typeface="Courier New" pitchFamily="49" charset="0"/>
              </a:rPr>
              <a:t>100</a:t>
            </a:r>
            <a:r>
              <a:rPr lang="en-US" altLang="da-DK" sz="800" b="1" spc="-80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altLang="da-DK" sz="1400" b="1" spc="-80" dirty="0">
                <a:solidFill>
                  <a:srgbClr val="0000FF"/>
                </a:solidFill>
                <a:latin typeface="Courier New" pitchFamily="49" charset="0"/>
              </a:rPr>
              <a:t>different</a:t>
            </a:r>
            <a:r>
              <a:rPr lang="en-US" altLang="da-DK" sz="800" b="1" spc="-80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altLang="da-DK" sz="1400" b="1" spc="-80" dirty="0">
                <a:solidFill>
                  <a:srgbClr val="0000FF"/>
                </a:solidFill>
                <a:latin typeface="Courier New" pitchFamily="49" charset="0"/>
              </a:rPr>
              <a:t>seeds</a:t>
            </a:r>
          </a:p>
          <a:p>
            <a:pPr eaLnBrk="1" hangingPunct="1"/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   </a:t>
            </a:r>
            <a:r>
              <a:rPr lang="en-US" altLang="da-DK" sz="1400" b="1" dirty="0" err="1">
                <a:solidFill>
                  <a:schemeClr val="tx1"/>
                </a:solidFill>
                <a:latin typeface="Courier New" pitchFamily="49" charset="0"/>
              </a:rPr>
              <a:t>game.getRandom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().</a:t>
            </a:r>
            <a:r>
              <a:rPr lang="en-US" altLang="da-DK" sz="1400" b="1" dirty="0" err="1">
                <a:solidFill>
                  <a:schemeClr val="tx1"/>
                </a:solidFill>
                <a:latin typeface="Courier New" pitchFamily="49" charset="0"/>
              </a:rPr>
              <a:t>setSeed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(seed);</a:t>
            </a:r>
          </a:p>
          <a:p>
            <a:pPr eaLnBrk="1" hangingPunct="1"/>
            <a:r>
              <a:rPr lang="en-US" altLang="da-DK" sz="1400" b="1" dirty="0">
                <a:solidFill>
                  <a:srgbClr val="FF0000"/>
                </a:solidFill>
                <a:latin typeface="Courier New" pitchFamily="49" charset="0"/>
              </a:rPr>
              <a:t>    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...</a:t>
            </a:r>
          </a:p>
          <a:p>
            <a:pPr eaLnBrk="1" hangingPunct="1"/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   </a:t>
            </a:r>
            <a:r>
              <a:rPr lang="en-US" altLang="da-DK" sz="1400" b="1" dirty="0">
                <a:solidFill>
                  <a:srgbClr val="7030A0"/>
                </a:solidFill>
                <a:latin typeface="Courier New" pitchFamily="49" charset="0"/>
              </a:rPr>
              <a:t>for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(</a:t>
            </a:r>
            <a:r>
              <a:rPr lang="en-US" altLang="da-DK" sz="1400" b="1" dirty="0">
                <a:solidFill>
                  <a:srgbClr val="FF0000"/>
                </a:solidFill>
                <a:latin typeface="Courier New" pitchFamily="49" charset="0"/>
              </a:rPr>
              <a:t>int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i</a:t>
            </a:r>
            <a:r>
              <a:rPr lang="en-US" altLang="da-DK" sz="8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=</a:t>
            </a:r>
            <a:r>
              <a:rPr lang="en-US" altLang="da-DK" sz="8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0; i</a:t>
            </a:r>
            <a:r>
              <a:rPr lang="en-US" altLang="da-DK" sz="8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&lt;</a:t>
            </a:r>
            <a:r>
              <a:rPr lang="en-US" altLang="da-DK" sz="8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100000; i++) {        </a:t>
            </a:r>
            <a:r>
              <a:rPr lang="en-US" altLang="da-DK" sz="1400" b="1" dirty="0">
                <a:solidFill>
                  <a:srgbClr val="0000FF"/>
                </a:solidFill>
                <a:latin typeface="Courier New" pitchFamily="49" charset="0"/>
              </a:rPr>
              <a:t>// </a:t>
            </a:r>
            <a:r>
              <a:rPr lang="en-US" altLang="da-DK" sz="1400" b="1" spc="-40" dirty="0">
                <a:solidFill>
                  <a:srgbClr val="0000FF"/>
                </a:solidFill>
                <a:latin typeface="Courier New" pitchFamily="49" charset="0"/>
              </a:rPr>
              <a:t>Call</a:t>
            </a:r>
            <a:r>
              <a:rPr lang="en-US" altLang="da-DK" sz="900" b="1" spc="-40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altLang="da-DK" sz="1400" b="1" spc="-40" dirty="0">
                <a:solidFill>
                  <a:srgbClr val="0000FF"/>
                </a:solidFill>
                <a:latin typeface="Courier New" pitchFamily="49" charset="0"/>
              </a:rPr>
              <a:t>method</a:t>
            </a:r>
            <a:r>
              <a:rPr lang="en-US" altLang="da-DK" sz="900" b="1" spc="-40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altLang="da-DK" sz="1400" b="1" spc="-40" dirty="0">
                <a:solidFill>
                  <a:srgbClr val="0000FF"/>
                </a:solidFill>
                <a:latin typeface="Courier New" pitchFamily="49" charset="0"/>
              </a:rPr>
              <a:t>100.000</a:t>
            </a:r>
            <a:r>
              <a:rPr lang="en-US" altLang="da-DK" sz="900" b="1" spc="-40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altLang="da-DK" sz="1400" b="1" spc="-40" dirty="0">
                <a:solidFill>
                  <a:srgbClr val="0000FF"/>
                </a:solidFill>
                <a:latin typeface="Courier New" pitchFamily="49" charset="0"/>
              </a:rPr>
              <a:t>times</a:t>
            </a:r>
          </a:p>
          <a:p>
            <a:pPr eaLnBrk="1" hangingPunct="1"/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     </a:t>
            </a:r>
            <a:r>
              <a:rPr lang="en-US" altLang="da-DK" sz="1400" b="1" dirty="0">
                <a:solidFill>
                  <a:srgbClr val="FF0000"/>
                </a:solidFill>
                <a:latin typeface="Courier New" pitchFamily="49" charset="0"/>
              </a:rPr>
              <a:t>int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bonus = country1.bonus(80);</a:t>
            </a:r>
          </a:p>
          <a:p>
            <a:pPr eaLnBrk="1" hangingPunct="1"/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     </a:t>
            </a:r>
            <a:r>
              <a:rPr lang="en-US" altLang="da-DK" sz="1400" b="1" i="1" dirty="0">
                <a:solidFill>
                  <a:srgbClr val="0000FF"/>
                </a:solidFill>
                <a:latin typeface="Courier New" pitchFamily="49" charset="0"/>
              </a:rPr>
              <a:t>Test at </a:t>
            </a:r>
            <a:r>
              <a:rPr lang="en-US" altLang="da-DK" sz="1400" b="1" i="1" dirty="0" err="1">
                <a:solidFill>
                  <a:srgbClr val="0000FF"/>
                </a:solidFill>
                <a:latin typeface="Courier New" pitchFamily="49" charset="0"/>
              </a:rPr>
              <a:t>værdien</a:t>
            </a:r>
            <a:r>
              <a:rPr lang="en-US" altLang="da-DK" sz="1400" b="1" i="1" dirty="0">
                <a:solidFill>
                  <a:srgbClr val="0000FF"/>
                </a:solidFill>
                <a:latin typeface="Courier New" pitchFamily="49" charset="0"/>
              </a:rPr>
              <a:t> ligger i </a:t>
            </a:r>
            <a:r>
              <a:rPr lang="en-US" altLang="da-DK" sz="1400" b="1" i="1" dirty="0" err="1">
                <a:solidFill>
                  <a:srgbClr val="0000FF"/>
                </a:solidFill>
                <a:latin typeface="Courier New" pitchFamily="49" charset="0"/>
              </a:rPr>
              <a:t>det</a:t>
            </a:r>
            <a:r>
              <a:rPr lang="en-US" altLang="da-DK" sz="1400" b="1" i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altLang="da-DK" sz="1400" b="1" i="1" dirty="0" err="1">
                <a:solidFill>
                  <a:srgbClr val="0000FF"/>
                </a:solidFill>
                <a:latin typeface="Courier New" pitchFamily="49" charset="0"/>
              </a:rPr>
              <a:t>korrekte</a:t>
            </a:r>
            <a:r>
              <a:rPr lang="en-US" altLang="da-DK" sz="1400" b="1" i="1" dirty="0">
                <a:solidFill>
                  <a:srgbClr val="0000FF"/>
                </a:solidFill>
                <a:latin typeface="Courier New" pitchFamily="49" charset="0"/>
              </a:rPr>
              <a:t> interval</a:t>
            </a:r>
            <a:endParaRPr lang="en-US" altLang="da-DK" sz="1400" b="1" i="1" spc="-50" dirty="0">
              <a:solidFill>
                <a:srgbClr val="0000FF"/>
              </a:solidFill>
              <a:latin typeface="Courier New" pitchFamily="49" charset="0"/>
            </a:endParaRPr>
          </a:p>
          <a:p>
            <a:pPr eaLnBrk="1" hangingPunct="1"/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     ...</a:t>
            </a:r>
          </a:p>
          <a:p>
            <a:pPr eaLnBrk="1" hangingPunct="1">
              <a:lnSpc>
                <a:spcPct val="50000"/>
              </a:lnSpc>
            </a:pP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   }</a:t>
            </a:r>
          </a:p>
          <a:p>
            <a:pPr eaLnBrk="1" hangingPunct="1"/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   </a:t>
            </a:r>
            <a:r>
              <a:rPr lang="en-US" altLang="da-DK" sz="1400" b="1" i="1" dirty="0">
                <a:solidFill>
                  <a:srgbClr val="0000FF"/>
                </a:solidFill>
                <a:latin typeface="Courier New" pitchFamily="49" charset="0"/>
              </a:rPr>
              <a:t>Test at </a:t>
            </a:r>
            <a:r>
              <a:rPr lang="en-US" altLang="da-DK" sz="1400" b="1" i="1" dirty="0" err="1">
                <a:solidFill>
                  <a:srgbClr val="0000FF"/>
                </a:solidFill>
                <a:latin typeface="Courier New" pitchFamily="49" charset="0"/>
              </a:rPr>
              <a:t>middelværdien</a:t>
            </a:r>
            <a:r>
              <a:rPr lang="en-US" altLang="da-DK" sz="1400" b="1" i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altLang="da-DK" sz="1400" b="1" i="1" dirty="0" err="1">
                <a:solidFill>
                  <a:srgbClr val="0000FF"/>
                </a:solidFill>
                <a:latin typeface="Courier New" pitchFamily="49" charset="0"/>
              </a:rPr>
              <a:t>er</a:t>
            </a:r>
            <a:r>
              <a:rPr lang="en-US" altLang="da-DK" sz="1400" b="1" i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altLang="da-DK" sz="1400" b="1" i="1" dirty="0" err="1">
                <a:solidFill>
                  <a:srgbClr val="0000FF"/>
                </a:solidFill>
                <a:latin typeface="Courier New" pitchFamily="49" charset="0"/>
              </a:rPr>
              <a:t>tæt</a:t>
            </a:r>
            <a:r>
              <a:rPr lang="en-US" altLang="da-DK" sz="1400" b="1" i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altLang="da-DK" sz="1400" b="1" i="1" dirty="0" err="1">
                <a:solidFill>
                  <a:srgbClr val="0000FF"/>
                </a:solidFill>
                <a:latin typeface="Courier New" pitchFamily="49" charset="0"/>
              </a:rPr>
              <a:t>på</a:t>
            </a:r>
            <a:r>
              <a:rPr lang="en-US" altLang="da-DK" sz="1400" b="1" i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altLang="da-DK" sz="1400" b="1" i="1" dirty="0" err="1">
                <a:solidFill>
                  <a:srgbClr val="0000FF"/>
                </a:solidFill>
                <a:latin typeface="Courier New" pitchFamily="49" charset="0"/>
              </a:rPr>
              <a:t>det</a:t>
            </a:r>
            <a:r>
              <a:rPr lang="en-US" altLang="da-DK" sz="1400" b="1" i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altLang="da-DK" sz="1400" b="1" i="1" dirty="0" err="1">
                <a:solidFill>
                  <a:srgbClr val="0000FF"/>
                </a:solidFill>
                <a:latin typeface="Courier New" pitchFamily="49" charset="0"/>
              </a:rPr>
              <a:t>forventede</a:t>
            </a:r>
            <a:endParaRPr lang="en-US" altLang="da-DK" sz="1400" b="1" i="1" spc="-80" dirty="0">
              <a:solidFill>
                <a:srgbClr val="0000FF"/>
              </a:solidFill>
              <a:latin typeface="Courier New" pitchFamily="49" charset="0"/>
            </a:endParaRPr>
          </a:p>
          <a:p>
            <a:pPr eaLnBrk="1" hangingPunct="1"/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   </a:t>
            </a:r>
            <a:r>
              <a:rPr lang="en-US" altLang="da-DK" sz="1400" b="1" i="1" dirty="0">
                <a:solidFill>
                  <a:srgbClr val="0000FF"/>
                </a:solidFill>
                <a:latin typeface="Courier New" pitchFamily="49" charset="0"/>
              </a:rPr>
              <a:t>Test at </a:t>
            </a:r>
            <a:r>
              <a:rPr lang="en-US" altLang="da-DK" sz="1400" b="1" i="1" dirty="0" err="1">
                <a:solidFill>
                  <a:srgbClr val="0000FF"/>
                </a:solidFill>
                <a:latin typeface="Courier New" pitchFamily="49" charset="0"/>
              </a:rPr>
              <a:t>alle</a:t>
            </a:r>
            <a:r>
              <a:rPr lang="en-US" altLang="da-DK" sz="1400" b="1" i="1" dirty="0">
                <a:solidFill>
                  <a:srgbClr val="0000FF"/>
                </a:solidFill>
                <a:latin typeface="Courier New" pitchFamily="49" charset="0"/>
              </a:rPr>
              <a:t> de </a:t>
            </a:r>
            <a:r>
              <a:rPr lang="en-US" altLang="da-DK" sz="1400" b="1" i="1" dirty="0" err="1">
                <a:solidFill>
                  <a:srgbClr val="0000FF"/>
                </a:solidFill>
                <a:latin typeface="Courier New" pitchFamily="49" charset="0"/>
              </a:rPr>
              <a:t>mulige</a:t>
            </a:r>
            <a:r>
              <a:rPr lang="en-US" altLang="da-DK" sz="1400" b="1" i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altLang="da-DK" sz="1400" b="1" i="1" dirty="0" err="1">
                <a:solidFill>
                  <a:srgbClr val="0000FF"/>
                </a:solidFill>
                <a:latin typeface="Courier New" pitchFamily="49" charset="0"/>
              </a:rPr>
              <a:t>værdier</a:t>
            </a:r>
            <a:r>
              <a:rPr lang="en-US" altLang="da-DK" sz="1400" b="1" i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altLang="da-DK" sz="1400" b="1" i="1" dirty="0" err="1">
                <a:solidFill>
                  <a:srgbClr val="0000FF"/>
                </a:solidFill>
                <a:latin typeface="Courier New" pitchFamily="49" charset="0"/>
              </a:rPr>
              <a:t>returneres</a:t>
            </a:r>
            <a:endParaRPr lang="en-US" altLang="da-DK" sz="1400" b="1" i="1" spc="-40" dirty="0">
              <a:solidFill>
                <a:srgbClr val="0000FF"/>
              </a:solidFill>
              <a:latin typeface="Courier New" pitchFamily="49" charset="0"/>
            </a:endParaRPr>
          </a:p>
          <a:p>
            <a:pPr eaLnBrk="1" hangingPunct="1">
              <a:lnSpc>
                <a:spcPct val="60000"/>
              </a:lnSpc>
            </a:pP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 }</a:t>
            </a:r>
          </a:p>
          <a:p>
            <a:pPr eaLnBrk="1" hangingPunct="1">
              <a:lnSpc>
                <a:spcPct val="60000"/>
              </a:lnSpc>
            </a:pP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755576" y="1086367"/>
            <a:ext cx="7247408" cy="1947329"/>
          </a:xfrm>
          <a:prstGeom prst="rect">
            <a:avLst/>
          </a:prstGeom>
          <a:solidFill>
            <a:srgbClr val="FFFFCC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square" lIns="180000" tIns="46800" rIns="90000" bIns="46800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da-DK" sz="1400" b="1" dirty="0">
                <a:solidFill>
                  <a:srgbClr val="7030A0"/>
                </a:solidFill>
                <a:latin typeface="Courier New" pitchFamily="49" charset="0"/>
              </a:rPr>
              <a:t>@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Test</a:t>
            </a:r>
          </a:p>
          <a:p>
            <a:pPr eaLnBrk="1" hangingPunct="1"/>
            <a:r>
              <a:rPr lang="en-US" altLang="da-DK" sz="1400" b="1" dirty="0">
                <a:solidFill>
                  <a:srgbClr val="7030A0"/>
                </a:solidFill>
                <a:latin typeface="Courier New" pitchFamily="49" charset="0"/>
              </a:rPr>
              <a:t>public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400" b="1" dirty="0">
                <a:solidFill>
                  <a:srgbClr val="FF0000"/>
                </a:solidFill>
                <a:latin typeface="Courier New" pitchFamily="49" charset="0"/>
              </a:rPr>
              <a:t>void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reset() {</a:t>
            </a:r>
          </a:p>
          <a:p>
            <a:pPr eaLnBrk="1" hangingPunct="1"/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altLang="da-DK" sz="1400" b="1" dirty="0" err="1">
                <a:solidFill>
                  <a:schemeClr val="tx1"/>
                </a:solidFill>
                <a:latin typeface="Courier New" pitchFamily="49" charset="0"/>
              </a:rPr>
              <a:t>cityA.arrive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(); </a:t>
            </a:r>
            <a:r>
              <a:rPr lang="en-US" altLang="da-DK" sz="1400" b="1" dirty="0" err="1">
                <a:solidFill>
                  <a:schemeClr val="tx1"/>
                </a:solidFill>
                <a:latin typeface="Courier New" pitchFamily="49" charset="0"/>
              </a:rPr>
              <a:t>cityA.arrive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(); </a:t>
            </a:r>
            <a:r>
              <a:rPr lang="en-US" altLang="da-DK" sz="1400" b="1" dirty="0" err="1">
                <a:solidFill>
                  <a:schemeClr val="tx1"/>
                </a:solidFill>
                <a:latin typeface="Courier New" pitchFamily="49" charset="0"/>
              </a:rPr>
              <a:t>cityA.arrive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();</a:t>
            </a:r>
          </a:p>
          <a:p>
            <a:pPr eaLnBrk="1" hangingPunct="1"/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altLang="da-DK" sz="1400" b="1" dirty="0" err="1">
                <a:solidFill>
                  <a:schemeClr val="tx1"/>
                </a:solidFill>
                <a:latin typeface="Courier New" pitchFamily="49" charset="0"/>
              </a:rPr>
              <a:t>cityE.arrive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(); </a:t>
            </a:r>
            <a:r>
              <a:rPr lang="en-US" altLang="da-DK" sz="1400" b="1" dirty="0" err="1">
                <a:solidFill>
                  <a:schemeClr val="tx1"/>
                </a:solidFill>
                <a:latin typeface="Courier New" pitchFamily="49" charset="0"/>
              </a:rPr>
              <a:t>cityE.arrive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(); </a:t>
            </a:r>
            <a:r>
              <a:rPr lang="en-US" altLang="da-DK" sz="1400" b="1" dirty="0" err="1">
                <a:solidFill>
                  <a:schemeClr val="tx1"/>
                </a:solidFill>
                <a:latin typeface="Courier New" pitchFamily="49" charset="0"/>
              </a:rPr>
              <a:t>cityE.arrive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();</a:t>
            </a:r>
          </a:p>
          <a:p>
            <a:pPr eaLnBrk="1" hangingPunct="1"/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altLang="da-DK" sz="1400" b="1" dirty="0">
                <a:solidFill>
                  <a:srgbClr val="FF0000"/>
                </a:solidFill>
                <a:latin typeface="Courier New" pitchFamily="49" charset="0"/>
              </a:rPr>
              <a:t>int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da-DK" sz="1400" b="1" dirty="0" err="1">
                <a:solidFill>
                  <a:schemeClr val="tx1"/>
                </a:solidFill>
                <a:latin typeface="Courier New" pitchFamily="49" charset="0"/>
              </a:rPr>
              <a:t>valueE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= </a:t>
            </a:r>
            <a:r>
              <a:rPr lang="en-US" altLang="da-DK" sz="1400" b="1" dirty="0" err="1">
                <a:solidFill>
                  <a:schemeClr val="tx1"/>
                </a:solidFill>
                <a:latin typeface="Courier New" pitchFamily="49" charset="0"/>
              </a:rPr>
              <a:t>cityE.getValue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();     </a:t>
            </a:r>
            <a:r>
              <a:rPr lang="en-US" altLang="da-DK" sz="1400" b="1" dirty="0">
                <a:solidFill>
                  <a:srgbClr val="0000FF"/>
                </a:solidFill>
                <a:latin typeface="Courier New" pitchFamily="49" charset="0"/>
              </a:rPr>
              <a:t>// Remember value of </a:t>
            </a:r>
            <a:r>
              <a:rPr lang="en-US" altLang="da-DK" sz="1400" b="1" dirty="0" err="1">
                <a:solidFill>
                  <a:srgbClr val="0000FF"/>
                </a:solidFill>
                <a:latin typeface="Courier New" pitchFamily="49" charset="0"/>
              </a:rPr>
              <a:t>cityE</a:t>
            </a:r>
            <a:endParaRPr lang="en-US" altLang="da-DK" sz="1400" b="1" dirty="0">
              <a:solidFill>
                <a:srgbClr val="0000FF"/>
              </a:solidFill>
              <a:latin typeface="Courier New" pitchFamily="49" charset="0"/>
            </a:endParaRPr>
          </a:p>
          <a:p>
            <a:pPr eaLnBrk="1" hangingPunct="1"/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 country1.reset();</a:t>
            </a:r>
          </a:p>
          <a:p>
            <a:pPr eaLnBrk="1" hangingPunct="1"/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 assertEquals(.., </a:t>
            </a:r>
            <a:r>
              <a:rPr lang="en-US" altLang="da-DK" sz="1400" b="1" dirty="0" err="1">
                <a:solidFill>
                  <a:schemeClr val="tx1"/>
                </a:solidFill>
                <a:latin typeface="Courier New" pitchFamily="49" charset="0"/>
              </a:rPr>
              <a:t>cityA.getValue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());      </a:t>
            </a:r>
            <a:r>
              <a:rPr lang="en-US" altLang="da-DK" sz="1400" b="1" spc="-100" dirty="0">
                <a:solidFill>
                  <a:srgbClr val="0000FF"/>
                </a:solidFill>
                <a:latin typeface="Courier New" pitchFamily="49" charset="0"/>
              </a:rPr>
              <a:t>/</a:t>
            </a:r>
            <a:r>
              <a:rPr lang="en-US" altLang="da-DK" sz="1400" b="1" spc="-50" dirty="0">
                <a:solidFill>
                  <a:srgbClr val="0000FF"/>
                </a:solidFill>
                <a:latin typeface="Courier New" pitchFamily="49" charset="0"/>
              </a:rPr>
              <a:t>/ </a:t>
            </a:r>
            <a:r>
              <a:rPr lang="en-US" altLang="da-DK" sz="1400" b="1" spc="-50" dirty="0" err="1">
                <a:solidFill>
                  <a:srgbClr val="0000FF"/>
                </a:solidFill>
                <a:latin typeface="Courier New" pitchFamily="49" charset="0"/>
              </a:rPr>
              <a:t>cityA</a:t>
            </a:r>
            <a:r>
              <a:rPr lang="en-US" altLang="da-DK" sz="1400" b="1" spc="-50" dirty="0">
                <a:solidFill>
                  <a:srgbClr val="0000FF"/>
                </a:solidFill>
                <a:latin typeface="Courier New" pitchFamily="49" charset="0"/>
              </a:rPr>
              <a:t> is reset</a:t>
            </a:r>
          </a:p>
          <a:p>
            <a:pPr eaLnBrk="1" hangingPunct="1"/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altLang="da-DK" sz="1400" b="1" dirty="0" err="1">
                <a:solidFill>
                  <a:schemeClr val="tx1"/>
                </a:solidFill>
                <a:latin typeface="Courier New" pitchFamily="49" charset="0"/>
              </a:rPr>
              <a:t>assertEquals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(</a:t>
            </a:r>
            <a:r>
              <a:rPr lang="en-US" altLang="da-DK" sz="1400" b="1" dirty="0" err="1">
                <a:solidFill>
                  <a:schemeClr val="tx1"/>
                </a:solidFill>
                <a:latin typeface="Courier New" pitchFamily="49" charset="0"/>
              </a:rPr>
              <a:t>valueE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, </a:t>
            </a:r>
            <a:r>
              <a:rPr lang="en-US" altLang="da-DK" sz="1400" b="1" dirty="0" err="1">
                <a:solidFill>
                  <a:schemeClr val="tx1"/>
                </a:solidFill>
                <a:latin typeface="Courier New" pitchFamily="49" charset="0"/>
              </a:rPr>
              <a:t>cityE.getValue</a:t>
            </a: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());  </a:t>
            </a:r>
            <a:r>
              <a:rPr lang="en-US" altLang="da-DK" sz="1400" b="1" spc="-50" dirty="0">
                <a:solidFill>
                  <a:srgbClr val="0000FF"/>
                </a:solidFill>
                <a:latin typeface="Courier New" pitchFamily="49" charset="0"/>
              </a:rPr>
              <a:t>// </a:t>
            </a:r>
            <a:r>
              <a:rPr lang="en-US" altLang="da-DK" sz="1400" b="1" spc="-50" dirty="0" err="1">
                <a:solidFill>
                  <a:srgbClr val="0000FF"/>
                </a:solidFill>
                <a:latin typeface="Courier New" pitchFamily="49" charset="0"/>
              </a:rPr>
              <a:t>cityE</a:t>
            </a:r>
            <a:r>
              <a:rPr lang="en-US" altLang="da-DK" sz="1400" b="1" spc="-50" dirty="0">
                <a:solidFill>
                  <a:srgbClr val="0000FF"/>
                </a:solidFill>
                <a:latin typeface="Courier New" pitchFamily="49" charset="0"/>
              </a:rPr>
              <a:t> is unchanged</a:t>
            </a:r>
          </a:p>
          <a:p>
            <a:pPr eaLnBrk="1" hangingPunct="1">
              <a:lnSpc>
                <a:spcPct val="60000"/>
              </a:lnSpc>
            </a:pPr>
            <a:r>
              <a:rPr lang="en-US" altLang="da-DK" sz="1400" b="1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532440" y="6394380"/>
            <a:ext cx="61156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CA5836E-6711-417F-AF48-31ACC3CF4030}" type="slidenum">
              <a:rPr lang="da-DK" altLang="da-DK" smtClean="0"/>
              <a:pPr>
                <a:defRPr/>
              </a:pPr>
              <a:t>35</a:t>
            </a:fld>
            <a:endParaRPr lang="da-DK" altLang="da-DK" dirty="0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467544" y="332656"/>
            <a:ext cx="8568952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9pPr>
          </a:lstStyle>
          <a:p>
            <a:pPr eaLnBrk="1" hangingPunct="1"/>
            <a:r>
              <a:rPr lang="da-DK" altLang="da-DK" sz="3200" kern="0" dirty="0">
                <a:ea typeface="ＭＳ Ｐゴシック" pitchFamily="34" charset="-128"/>
              </a:rPr>
              <a:t>Eksempler på testmetoder for Country</a:t>
            </a:r>
          </a:p>
        </p:txBody>
      </p:sp>
      <p:sp>
        <p:nvSpPr>
          <p:cNvPr id="13" name="Line 22"/>
          <p:cNvSpPr>
            <a:spLocks noChangeShapeType="1"/>
          </p:cNvSpPr>
          <p:nvPr/>
        </p:nvSpPr>
        <p:spPr bwMode="auto">
          <a:xfrm flipH="1" flipV="1">
            <a:off x="6517176" y="4961467"/>
            <a:ext cx="359079" cy="233023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endParaRPr lang="da-DK"/>
          </a:p>
        </p:txBody>
      </p:sp>
      <p:sp>
        <p:nvSpPr>
          <p:cNvPr id="14" name="Line 22"/>
          <p:cNvSpPr>
            <a:spLocks noChangeShapeType="1"/>
          </p:cNvSpPr>
          <p:nvPr/>
        </p:nvSpPr>
        <p:spPr bwMode="auto">
          <a:xfrm flipH="1">
            <a:off x="6325984" y="5438065"/>
            <a:ext cx="552335" cy="63731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endParaRPr lang="da-DK"/>
          </a:p>
        </p:txBody>
      </p:sp>
      <p:sp>
        <p:nvSpPr>
          <p:cNvPr id="15" name="Line 22"/>
          <p:cNvSpPr>
            <a:spLocks noChangeShapeType="1"/>
          </p:cNvSpPr>
          <p:nvPr/>
        </p:nvSpPr>
        <p:spPr bwMode="auto">
          <a:xfrm flipH="1">
            <a:off x="5965309" y="5626488"/>
            <a:ext cx="834502" cy="1122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endParaRPr lang="da-DK"/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6790429" y="5014753"/>
            <a:ext cx="2212255" cy="757130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FF"/>
            </a:solidFill>
          </a:ln>
        </p:spPr>
        <p:txBody>
          <a:bodyPr wrap="square">
            <a:spAutoFit/>
          </a:bodyPr>
          <a:lstStyle>
            <a:defPPr>
              <a:defRPr lang="da-DK"/>
            </a:defPPr>
            <a:lvl1pPr>
              <a:lnSpc>
                <a:spcPct val="90000"/>
              </a:lnSpc>
              <a:spcBef>
                <a:spcPts val="300"/>
              </a:spcBef>
              <a:defRPr sz="1200" b="1">
                <a:solidFill>
                  <a:srgbClr val="0000FF"/>
                </a:solidFill>
              </a:defRPr>
            </a:lvl1pPr>
          </a:lstStyle>
          <a:p>
            <a:r>
              <a:rPr lang="da-DK" altLang="da-DK" dirty="0"/>
              <a:t>Disse tre ting kan testes på samme måde, som I testede roll metoden i Die klassen</a:t>
            </a:r>
            <a:br>
              <a:rPr lang="da-DK" altLang="da-DK" dirty="0"/>
            </a:br>
            <a:r>
              <a:rPr lang="da-DK" altLang="da-DK" dirty="0"/>
              <a:t>(i Raflebæger 4)</a:t>
            </a:r>
          </a:p>
        </p:txBody>
      </p:sp>
      <p:sp>
        <p:nvSpPr>
          <p:cNvPr id="16" name="Rectangle 28"/>
          <p:cNvSpPr>
            <a:spLocks noChangeArrowheads="1"/>
          </p:cNvSpPr>
          <p:nvPr/>
        </p:nvSpPr>
        <p:spPr bwMode="auto">
          <a:xfrm>
            <a:off x="1953491" y="4703650"/>
            <a:ext cx="648391" cy="174691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endParaRPr lang="en-US" altLang="da-DK" dirty="0"/>
          </a:p>
        </p:txBody>
      </p:sp>
      <p:sp>
        <p:nvSpPr>
          <p:cNvPr id="17" name="Text Box 21"/>
          <p:cNvSpPr txBox="1">
            <a:spLocks noChangeArrowheads="1"/>
          </p:cNvSpPr>
          <p:nvPr/>
        </p:nvSpPr>
        <p:spPr bwMode="auto">
          <a:xfrm>
            <a:off x="6542546" y="1243175"/>
            <a:ext cx="2435200" cy="590931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FF"/>
            </a:solidFill>
          </a:ln>
        </p:spPr>
        <p:txBody>
          <a:bodyPr wrap="square">
            <a:spAutoFit/>
          </a:bodyPr>
          <a:lstStyle>
            <a:defPPr>
              <a:defRPr lang="da-DK"/>
            </a:defPPr>
            <a:lvl1pPr>
              <a:lnSpc>
                <a:spcPct val="90000"/>
              </a:lnSpc>
              <a:spcBef>
                <a:spcPts val="300"/>
              </a:spcBef>
              <a:defRPr sz="1200" b="1">
                <a:solidFill>
                  <a:srgbClr val="0000FF"/>
                </a:solidFill>
              </a:defRPr>
            </a:lvl1pPr>
          </a:lstStyle>
          <a:p>
            <a:r>
              <a:rPr lang="da-DK" altLang="da-DK" dirty="0"/>
              <a:t>Ved at kalde </a:t>
            </a:r>
            <a:r>
              <a:rPr lang="da-DK" altLang="da-DK" dirty="0" err="1"/>
              <a:t>arrive</a:t>
            </a:r>
            <a:r>
              <a:rPr lang="da-DK" altLang="da-DK" dirty="0"/>
              <a:t> 3 gange på hver by, er I rimeligt sikre på, at byernes værdi er ændret</a:t>
            </a:r>
          </a:p>
        </p:txBody>
      </p:sp>
      <p:sp>
        <p:nvSpPr>
          <p:cNvPr id="19" name="Text Box 21"/>
          <p:cNvSpPr txBox="1">
            <a:spLocks noChangeArrowheads="1"/>
          </p:cNvSpPr>
          <p:nvPr/>
        </p:nvSpPr>
        <p:spPr bwMode="auto">
          <a:xfrm>
            <a:off x="1331640" y="6028604"/>
            <a:ext cx="3186583" cy="424732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FF"/>
            </a:solidFill>
          </a:ln>
        </p:spPr>
        <p:txBody>
          <a:bodyPr wrap="square">
            <a:spAutoFit/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da-DK" altLang="da-DK" sz="1200" b="1" dirty="0">
                <a:solidFill>
                  <a:srgbClr val="0000FF"/>
                </a:solidFill>
              </a:rPr>
              <a:t>Lav også en testmetode, der tester, hvad der sker, hvis bonus kaldes med 1 og 0</a:t>
            </a:r>
          </a:p>
        </p:txBody>
      </p:sp>
    </p:spTree>
    <p:extLst>
      <p:ext uri="{BB962C8B-B14F-4D97-AF65-F5344CB8AC3E}">
        <p14:creationId xmlns:p14="http://schemas.microsoft.com/office/powerpoint/2010/main" val="33019098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 animBg="1"/>
      <p:bldP spid="14" grpId="0" animBg="1"/>
      <p:bldP spid="15" grpId="0" animBg="1"/>
      <p:bldP spid="12" grpId="0" animBg="1"/>
      <p:bldP spid="16" grpId="0" animBg="1"/>
      <p:bldP spid="1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568952" cy="682625"/>
          </a:xfrm>
        </p:spPr>
        <p:txBody>
          <a:bodyPr/>
          <a:lstStyle/>
          <a:p>
            <a:r>
              <a:rPr lang="da-DK" altLang="da-DK" sz="3200" dirty="0">
                <a:ea typeface="ＭＳ Ｐゴシック" pitchFamily="34" charset="-128"/>
              </a:rPr>
              <a:t>Negative tests og dokumentation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532440" y="6400800"/>
            <a:ext cx="61156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CA5836E-6711-417F-AF48-31ACC3CF4030}" type="slidenum">
              <a:rPr lang="da-DK" altLang="da-DK" smtClean="0"/>
              <a:pPr>
                <a:defRPr/>
              </a:pPr>
              <a:t>36</a:t>
            </a:fld>
            <a:endParaRPr lang="da-DK" altLang="da-DK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67544" y="1196752"/>
            <a:ext cx="8460940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da-DK" altLang="da-DK" sz="2000" dirty="0"/>
              <a:t>Husk de negative test, såsom</a:t>
            </a:r>
          </a:p>
          <a:p>
            <a:pPr lvl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–"/>
            </a:pPr>
            <a:r>
              <a:rPr lang="da-DK" altLang="da-DK" sz="1800" b="1" dirty="0" err="1"/>
              <a:t>getCity</a:t>
            </a:r>
            <a:r>
              <a:rPr lang="da-DK" altLang="da-DK" sz="1800" b="1" dirty="0"/>
              <a:t>("city") </a:t>
            </a:r>
            <a:r>
              <a:rPr lang="da-DK" altLang="da-DK" sz="1800" dirty="0"/>
              <a:t> hvor </a:t>
            </a:r>
            <a:r>
              <a:rPr lang="da-DK" altLang="da-DK" sz="1800" b="1" dirty="0"/>
              <a:t>"city"</a:t>
            </a:r>
            <a:r>
              <a:rPr lang="da-DK" altLang="da-DK" sz="1800" dirty="0"/>
              <a:t> ikke findes i landet</a:t>
            </a:r>
          </a:p>
          <a:p>
            <a:pPr lvl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–"/>
            </a:pPr>
            <a:r>
              <a:rPr lang="da-DK" altLang="da-DK" sz="1800" b="1" dirty="0" err="1"/>
              <a:t>getRoads</a:t>
            </a:r>
            <a:r>
              <a:rPr lang="da-DK" altLang="da-DK" sz="1800" b="1" dirty="0"/>
              <a:t>(c)</a:t>
            </a:r>
            <a:r>
              <a:rPr lang="da-DK" altLang="da-DK" sz="1800" dirty="0"/>
              <a:t>   hvor c ikke findes i landet</a:t>
            </a:r>
          </a:p>
          <a:p>
            <a:pPr lvl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–"/>
            </a:pPr>
            <a:r>
              <a:rPr lang="da-DK" altLang="da-DK" sz="1800" dirty="0"/>
              <a:t>I skal teste alle de specialtilfælde, som er beskrevet i opgaveformuleringen</a:t>
            </a:r>
          </a:p>
          <a:p>
            <a:pPr>
              <a:spcBef>
                <a:spcPts val="1200"/>
              </a:spcBef>
            </a:pPr>
            <a:r>
              <a:rPr lang="da-DK" sz="2000" dirty="0"/>
              <a:t>Dokumentationen for jeres testklasser kan holdes på et minimum</a:t>
            </a:r>
          </a:p>
          <a:p>
            <a:pPr lvl="1">
              <a:spcBef>
                <a:spcPts val="400"/>
              </a:spcBef>
            </a:pPr>
            <a:r>
              <a:rPr lang="da-DK" sz="1800" dirty="0"/>
              <a:t>Testklassens navn fortæller, hvilken klassen den tester</a:t>
            </a:r>
          </a:p>
          <a:p>
            <a:pPr lvl="1">
              <a:spcBef>
                <a:spcPts val="400"/>
              </a:spcBef>
            </a:pPr>
            <a:r>
              <a:rPr lang="da-DK" sz="1800" dirty="0"/>
              <a:t>Testmetodens navn fortæller, hvilken metode den tester</a:t>
            </a:r>
          </a:p>
          <a:p>
            <a:pPr lvl="1">
              <a:spcBef>
                <a:spcPts val="400"/>
              </a:spcBef>
            </a:pPr>
            <a:r>
              <a:rPr lang="da-DK" sz="1800" dirty="0"/>
              <a:t>Testmetoder har ingen parametre og returnerer intet, så @</a:t>
            </a:r>
            <a:r>
              <a:rPr lang="da-DK" sz="1800" dirty="0" err="1"/>
              <a:t>param</a:t>
            </a:r>
            <a:r>
              <a:rPr lang="da-DK" sz="1800" dirty="0"/>
              <a:t> og @return tags giver ikke mening</a:t>
            </a:r>
          </a:p>
          <a:p>
            <a:pPr marL="342900" lvl="1" indent="-342900">
              <a:spcBef>
                <a:spcPts val="1800"/>
              </a:spcBef>
              <a:buChar char="•"/>
            </a:pPr>
            <a:r>
              <a:rPr lang="da-DK" b="1" dirty="0">
                <a:solidFill>
                  <a:srgbClr val="A50021"/>
                </a:solidFill>
                <a:ea typeface="ＭＳ Ｐゴシック" pitchFamily="-106" charset="-128"/>
                <a:cs typeface="ＭＳ Ｐゴシック" pitchFamily="-106" charset="-128"/>
              </a:rPr>
              <a:t>I kan derfor nøjes med at indsætte</a:t>
            </a:r>
          </a:p>
          <a:p>
            <a:pPr lvl="1">
              <a:spcBef>
                <a:spcPts val="400"/>
              </a:spcBef>
            </a:pPr>
            <a:r>
              <a:rPr lang="da-DK" sz="1800" dirty="0"/>
              <a:t>@</a:t>
            </a:r>
            <a:r>
              <a:rPr lang="da-DK" sz="1800" dirty="0" err="1"/>
              <a:t>author</a:t>
            </a:r>
            <a:r>
              <a:rPr lang="da-DK" sz="1800" dirty="0"/>
              <a:t> og @version tags</a:t>
            </a:r>
          </a:p>
          <a:p>
            <a:pPr lvl="1">
              <a:spcBef>
                <a:spcPts val="400"/>
              </a:spcBef>
            </a:pPr>
            <a:r>
              <a:rPr lang="da-DK" sz="1800" dirty="0"/>
              <a:t>Forklarende // kommentarer i kompleks kode (som illustreret på mine slides)</a:t>
            </a:r>
          </a:p>
        </p:txBody>
      </p:sp>
    </p:spTree>
    <p:extLst>
      <p:ext uri="{BB962C8B-B14F-4D97-AF65-F5344CB8AC3E}">
        <p14:creationId xmlns:p14="http://schemas.microsoft.com/office/powerpoint/2010/main" val="2327442247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568952" cy="682625"/>
          </a:xfrm>
        </p:spPr>
        <p:txBody>
          <a:bodyPr/>
          <a:lstStyle/>
          <a:p>
            <a:r>
              <a:rPr lang="da-DK" altLang="da-DK" sz="3200" dirty="0">
                <a:ea typeface="ＭＳ Ｐゴシック" pitchFamily="34" charset="-128"/>
              </a:rPr>
              <a:t>Testserveren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532440" y="6400800"/>
            <a:ext cx="61156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CA5836E-6711-417F-AF48-31ACC3CF4030}" type="slidenum">
              <a:rPr lang="da-DK" altLang="da-DK" smtClean="0"/>
              <a:pPr>
                <a:defRPr/>
              </a:pPr>
              <a:t>37</a:t>
            </a:fld>
            <a:endParaRPr lang="da-DK" altLang="da-DK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95536" y="1052736"/>
            <a:ext cx="8640960" cy="554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ts val="1200"/>
              </a:spcBef>
            </a:pPr>
            <a:r>
              <a:rPr lang="da-DK" sz="2000" dirty="0"/>
              <a:t>Testserveren skal også anvendes for Computerspil 2</a:t>
            </a:r>
          </a:p>
          <a:p>
            <a:pPr lvl="1">
              <a:spcBef>
                <a:spcPts val="400"/>
              </a:spcBef>
            </a:pPr>
            <a:r>
              <a:rPr lang="da-DK" sz="1800" dirty="0"/>
              <a:t>Serveren tester at jeres regression tests er fornuftige</a:t>
            </a:r>
          </a:p>
          <a:p>
            <a:pPr lvl="1">
              <a:spcBef>
                <a:spcPts val="400"/>
              </a:spcBef>
            </a:pPr>
            <a:r>
              <a:rPr lang="da-DK" sz="1800" dirty="0"/>
              <a:t>Regression tests kan imidlertid laves på mange forskellige måder, og det</a:t>
            </a:r>
            <a:br>
              <a:rPr lang="da-DK" sz="1800" dirty="0"/>
            </a:br>
            <a:r>
              <a:rPr lang="da-DK" sz="1800" dirty="0"/>
              <a:t>er ikke altid helt entydigt, hvad der bør testes</a:t>
            </a:r>
          </a:p>
          <a:p>
            <a:pPr marL="342900" lvl="1" indent="-342900">
              <a:spcBef>
                <a:spcPts val="1800"/>
              </a:spcBef>
              <a:buChar char="•"/>
            </a:pPr>
            <a:r>
              <a:rPr lang="da-DK" b="1" dirty="0">
                <a:solidFill>
                  <a:srgbClr val="A50021"/>
                </a:solidFill>
                <a:ea typeface="ＭＳ Ｐゴシック" pitchFamily="-106" charset="-128"/>
                <a:cs typeface="ＭＳ Ｐゴシック" pitchFamily="-106" charset="-128"/>
              </a:rPr>
              <a:t>Som illustreret i videoen om Regression tests, afprøver testserveren derfor, at jeres regression tests</a:t>
            </a:r>
          </a:p>
          <a:p>
            <a:pPr lvl="1">
              <a:spcBef>
                <a:spcPts val="400"/>
              </a:spcBef>
            </a:pPr>
            <a:r>
              <a:rPr lang="da-DK" sz="1800" b="1" dirty="0">
                <a:solidFill>
                  <a:srgbClr val="008000"/>
                </a:solidFill>
              </a:rPr>
              <a:t>ikke</a:t>
            </a:r>
            <a:r>
              <a:rPr lang="da-DK" sz="1800" dirty="0"/>
              <a:t> finder fejl i et korrekt projekt</a:t>
            </a:r>
          </a:p>
          <a:p>
            <a:pPr lvl="1">
              <a:spcBef>
                <a:spcPts val="400"/>
              </a:spcBef>
            </a:pPr>
            <a:r>
              <a:rPr lang="da-DK" sz="1800" dirty="0"/>
              <a:t>finder de</a:t>
            </a:r>
            <a:r>
              <a:rPr lang="da-DK" sz="1800" b="1" dirty="0">
                <a:solidFill>
                  <a:srgbClr val="008000"/>
                </a:solidFill>
              </a:rPr>
              <a:t> fleste</a:t>
            </a:r>
            <a:r>
              <a:rPr lang="da-DK" sz="1800" dirty="0"/>
              <a:t> fejl i nogle forkerte projekter</a:t>
            </a:r>
            <a:endParaRPr lang="da-DK" sz="1800" kern="0" dirty="0">
              <a:ea typeface="ＭＳ Ｐゴシック" pitchFamily="34" charset="-128"/>
            </a:endParaRPr>
          </a:p>
          <a:p>
            <a:pPr marL="342900" lvl="1" indent="-342900">
              <a:spcBef>
                <a:spcPts val="1800"/>
              </a:spcBef>
              <a:buFontTx/>
              <a:buChar char="•"/>
            </a:pPr>
            <a:r>
              <a:rPr lang="da-DK" b="1" dirty="0">
                <a:solidFill>
                  <a:srgbClr val="A50021"/>
                </a:solidFill>
                <a:ea typeface="ＭＳ Ｐゴシック" pitchFamily="-106" charset="-128"/>
                <a:cs typeface="ＭＳ Ｐゴシック" pitchFamily="-106" charset="-128"/>
              </a:rPr>
              <a:t>Brug testserveren med omtanke</a:t>
            </a:r>
          </a:p>
          <a:p>
            <a:pPr lvl="1">
              <a:spcBef>
                <a:spcPts val="400"/>
              </a:spcBef>
              <a:buFontTx/>
              <a:buChar char="–"/>
            </a:pPr>
            <a:r>
              <a:rPr lang="da-DK" sz="1800" kern="0" dirty="0">
                <a:ea typeface="ＭＳ Ｐゴシック" pitchFamily="34" charset="-128"/>
              </a:rPr>
              <a:t>Som i Computerspil 1, kan I teste, hver enkelt opgave, så snart I er færdige med den</a:t>
            </a:r>
          </a:p>
          <a:p>
            <a:pPr lvl="1">
              <a:spcBef>
                <a:spcPts val="400"/>
              </a:spcBef>
            </a:pPr>
            <a:r>
              <a:rPr lang="da-DK" sz="1800" kern="0" dirty="0">
                <a:ea typeface="ＭＳ Ｐゴシック" pitchFamily="34" charset="-128"/>
              </a:rPr>
              <a:t>Når I får en fejlrapport, bør I rette alle de fejl, der rapporteres og kontrollere, at rettelserne er korrekte, </a:t>
            </a:r>
            <a:r>
              <a:rPr lang="da-DK" sz="1800" b="1" kern="0" dirty="0">
                <a:solidFill>
                  <a:srgbClr val="008000"/>
                </a:solidFill>
                <a:ea typeface="ＭＳ Ｐゴシック" pitchFamily="34" charset="-128"/>
              </a:rPr>
              <a:t>før</a:t>
            </a:r>
            <a:r>
              <a:rPr lang="da-DK" sz="1800" kern="0" dirty="0">
                <a:ea typeface="ＭＳ Ｐゴシック" pitchFamily="34" charset="-128"/>
              </a:rPr>
              <a:t> I atter forsøger at køre testserveren</a:t>
            </a:r>
          </a:p>
          <a:p>
            <a:pPr marL="342900" lvl="1" indent="-342900">
              <a:spcBef>
                <a:spcPts val="1800"/>
              </a:spcBef>
              <a:buFontTx/>
              <a:buChar char="•"/>
            </a:pPr>
            <a:r>
              <a:rPr lang="da-DK" b="1" dirty="0">
                <a:solidFill>
                  <a:srgbClr val="A50021"/>
                </a:solidFill>
                <a:ea typeface="ＭＳ Ｐゴシック" pitchFamily="-106" charset="-128"/>
                <a:cs typeface="ＭＳ Ｐゴシック" pitchFamily="-106" charset="-128"/>
              </a:rPr>
              <a:t>Testserveren understøtter </a:t>
            </a:r>
            <a:r>
              <a:rPr lang="da-DK" b="1" dirty="0">
                <a:solidFill>
                  <a:srgbClr val="008000"/>
                </a:solidFill>
                <a:ea typeface="ＭＳ Ｐゴシック" pitchFamily="-106" charset="-128"/>
                <a:cs typeface="ＭＳ Ｐゴシック" pitchFamily="-106" charset="-128"/>
              </a:rPr>
              <a:t>ikke</a:t>
            </a:r>
            <a:r>
              <a:rPr lang="da-DK" b="1" dirty="0">
                <a:solidFill>
                  <a:srgbClr val="A50021"/>
                </a:solidFill>
                <a:ea typeface="ＭＳ Ｐゴシック" pitchFamily="-106" charset="-128"/>
                <a:cs typeface="ＭＳ Ｐゴシック" pitchFamily="-106" charset="-128"/>
              </a:rPr>
              <a:t> </a:t>
            </a:r>
            <a:r>
              <a:rPr lang="da-DK" b="1" dirty="0" err="1">
                <a:solidFill>
                  <a:srgbClr val="A50021"/>
                </a:solidFill>
                <a:ea typeface="ＭＳ Ｐゴシック" pitchFamily="-106" charset="-128"/>
                <a:cs typeface="ＭＳ Ｐゴシック" pitchFamily="-106" charset="-128"/>
              </a:rPr>
              <a:t>Hamcrest</a:t>
            </a:r>
            <a:r>
              <a:rPr lang="da-DK" b="1" dirty="0">
                <a:solidFill>
                  <a:srgbClr val="A50021"/>
                </a:solidFill>
                <a:ea typeface="ＭＳ Ｐゴシック" pitchFamily="-106" charset="-128"/>
                <a:cs typeface="ＭＳ Ｐゴシック" pitchFamily="-106" charset="-128"/>
              </a:rPr>
              <a:t> og Jupiter</a:t>
            </a:r>
          </a:p>
          <a:p>
            <a:pPr lvl="1">
              <a:spcBef>
                <a:spcPts val="400"/>
              </a:spcBef>
              <a:buFontTx/>
              <a:buChar char="–"/>
            </a:pPr>
            <a:r>
              <a:rPr lang="da-DK" sz="1800" kern="0" dirty="0">
                <a:ea typeface="ＭＳ Ｐゴシック" pitchFamily="34" charset="-128"/>
              </a:rPr>
              <a:t>Som nogle af jer måske kender fra andre kurser</a:t>
            </a:r>
          </a:p>
        </p:txBody>
      </p:sp>
    </p:spTree>
    <p:extLst>
      <p:ext uri="{BB962C8B-B14F-4D97-AF65-F5344CB8AC3E}">
        <p14:creationId xmlns:p14="http://schemas.microsoft.com/office/powerpoint/2010/main" val="2610024354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568952" cy="682625"/>
          </a:xfrm>
        </p:spPr>
        <p:txBody>
          <a:bodyPr/>
          <a:lstStyle/>
          <a:p>
            <a:r>
              <a:rPr lang="da-DK" altLang="da-DK" sz="3200" dirty="0">
                <a:ea typeface="ＭＳ Ｐゴシック" pitchFamily="34" charset="-128"/>
              </a:rPr>
              <a:t>Testserveren (fortsat)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532440" y="6400800"/>
            <a:ext cx="61156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CA5836E-6711-417F-AF48-31ACC3CF4030}" type="slidenum">
              <a:rPr lang="da-DK" altLang="da-DK" smtClean="0"/>
              <a:pPr>
                <a:defRPr/>
              </a:pPr>
              <a:t>38</a:t>
            </a:fld>
            <a:endParaRPr lang="da-DK" altLang="da-DK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95536" y="1052736"/>
            <a:ext cx="8640960" cy="554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ts val="1200"/>
              </a:spcBef>
            </a:pPr>
            <a:r>
              <a:rPr lang="da-DK" sz="2000" dirty="0"/>
              <a:t>Nogle studerende synes, at det er smart at sende ting til testserveren uden selv at teste dem ordentligt først</a:t>
            </a:r>
          </a:p>
          <a:p>
            <a:pPr lvl="1">
              <a:spcBef>
                <a:spcPts val="600"/>
              </a:spcBef>
            </a:pPr>
            <a:r>
              <a:rPr lang="da-DK" sz="1800" dirty="0"/>
              <a:t>Det er generelt dumt og koster ofte en del ekstra bøvl og besvær</a:t>
            </a:r>
          </a:p>
          <a:p>
            <a:pPr lvl="1">
              <a:spcBef>
                <a:spcPts val="600"/>
              </a:spcBef>
            </a:pPr>
            <a:r>
              <a:rPr lang="da-DK" sz="1800" dirty="0"/>
              <a:t>For regression tests er det endog en </a:t>
            </a:r>
            <a:r>
              <a:rPr lang="da-DK" sz="1800" b="1" dirty="0">
                <a:solidFill>
                  <a:srgbClr val="008000"/>
                </a:solidFill>
              </a:rPr>
              <a:t>MEGET</a:t>
            </a:r>
            <a:r>
              <a:rPr lang="da-DK" sz="1800" dirty="0"/>
              <a:t> dum idé</a:t>
            </a:r>
          </a:p>
          <a:p>
            <a:pPr lvl="1">
              <a:spcBef>
                <a:spcPts val="600"/>
              </a:spcBef>
            </a:pPr>
            <a:r>
              <a:rPr lang="da-DK" sz="1800" dirty="0"/>
              <a:t>Hvis der f.eks. er en lille fejl i jeres test af </a:t>
            </a:r>
            <a:r>
              <a:rPr lang="da-DK" sz="1800" dirty="0" err="1"/>
              <a:t>toString</a:t>
            </a:r>
            <a:r>
              <a:rPr lang="da-DK" sz="1800" dirty="0"/>
              <a:t> metoden for en klasse, vil </a:t>
            </a:r>
            <a:r>
              <a:rPr lang="da-DK" sz="1800" b="1" dirty="0">
                <a:solidFill>
                  <a:srgbClr val="008000"/>
                </a:solidFill>
              </a:rPr>
              <a:t>BlueJ’s testsystem</a:t>
            </a:r>
            <a:r>
              <a:rPr lang="da-DK" sz="1800" dirty="0"/>
              <a:t> fortælle jer, at fejlen ligger i </a:t>
            </a:r>
            <a:r>
              <a:rPr lang="da-DK" sz="1800" b="1" dirty="0">
                <a:solidFill>
                  <a:srgbClr val="008000"/>
                </a:solidFill>
              </a:rPr>
              <a:t>testen af </a:t>
            </a:r>
            <a:r>
              <a:rPr lang="da-DK" sz="1800" b="1" dirty="0" err="1">
                <a:solidFill>
                  <a:srgbClr val="008000"/>
                </a:solidFill>
              </a:rPr>
              <a:t>toString</a:t>
            </a:r>
            <a:r>
              <a:rPr lang="da-DK" sz="1800" dirty="0"/>
              <a:t> metoden (og i mere komplekse tilfælde præcis hvilken assertion det er, der fejler)</a:t>
            </a:r>
          </a:p>
          <a:p>
            <a:pPr lvl="1">
              <a:spcBef>
                <a:spcPts val="600"/>
              </a:spcBef>
            </a:pPr>
            <a:r>
              <a:rPr lang="da-DK" sz="1800" b="1" dirty="0">
                <a:solidFill>
                  <a:srgbClr val="008000"/>
                </a:solidFill>
              </a:rPr>
              <a:t>Testserveren</a:t>
            </a:r>
            <a:r>
              <a:rPr lang="da-DK" sz="1800" dirty="0"/>
              <a:t> derimod vil blot fortælle jer, at jeres regression tests for klassen finder fejl i et </a:t>
            </a:r>
            <a:r>
              <a:rPr lang="da-DK" sz="1800" b="1" dirty="0">
                <a:solidFill>
                  <a:srgbClr val="008000"/>
                </a:solidFill>
              </a:rPr>
              <a:t>korrekt projekt </a:t>
            </a:r>
            <a:r>
              <a:rPr lang="da-DK" sz="1800" dirty="0"/>
              <a:t>– uden at fortælle, hvilken metode testene fejler for</a:t>
            </a:r>
          </a:p>
          <a:p>
            <a:pPr lvl="1">
              <a:spcBef>
                <a:spcPts val="600"/>
              </a:spcBef>
            </a:pPr>
            <a:r>
              <a:rPr lang="da-DK" sz="1800" dirty="0"/>
              <a:t>Dermed bliver fejlen </a:t>
            </a:r>
            <a:r>
              <a:rPr lang="da-DK" sz="1800" b="1" dirty="0">
                <a:solidFill>
                  <a:srgbClr val="008000"/>
                </a:solidFill>
              </a:rPr>
              <a:t>meget vanskeligere</a:t>
            </a:r>
            <a:r>
              <a:rPr lang="da-DK" sz="1800" dirty="0"/>
              <a:t> at lokalisere</a:t>
            </a:r>
          </a:p>
        </p:txBody>
      </p:sp>
    </p:spTree>
    <p:extLst>
      <p:ext uri="{BB962C8B-B14F-4D97-AF65-F5344CB8AC3E}">
        <p14:creationId xmlns:p14="http://schemas.microsoft.com/office/powerpoint/2010/main" val="1989861738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13726" y="249529"/>
            <a:ext cx="8207375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  <a:ea typeface="ＭＳ Ｐゴシック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pitchFamily="-105" charset="0"/>
              </a:defRPr>
            </a:lvl9pPr>
          </a:lstStyle>
          <a:p>
            <a:pPr eaLnBrk="1" hangingPunct="1"/>
            <a:r>
              <a:rPr lang="da-DK" altLang="da-DK" sz="3200" dirty="0">
                <a:solidFill>
                  <a:srgbClr val="C00000"/>
                </a:solidFill>
                <a:cs typeface="Arial"/>
              </a:rPr>
              <a:t>●</a:t>
            </a:r>
            <a:r>
              <a:rPr lang="da-DK" altLang="da-DK" sz="3200" dirty="0">
                <a:cs typeface="Arial"/>
              </a:rPr>
              <a:t> </a:t>
            </a:r>
            <a:r>
              <a:rPr lang="da-DK" altLang="en-US" sz="3200" kern="0" dirty="0">
                <a:ea typeface="ＭＳ Ｐゴシック" pitchFamily="34" charset="-128"/>
              </a:rPr>
              <a:t>Opsummering</a:t>
            </a:r>
            <a:endParaRPr lang="da-DK" altLang="da-DK" sz="3200" kern="0" dirty="0">
              <a:ea typeface="ＭＳ Ｐゴシック" pitchFamily="34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496696" y="6395842"/>
            <a:ext cx="647304" cy="457200"/>
          </a:xfrm>
          <a:prstGeom prst="rect">
            <a:avLst/>
          </a:prstGeom>
        </p:spPr>
        <p:txBody>
          <a:bodyPr/>
          <a:lstStyle/>
          <a:p>
            <a:fld id="{D5F120ED-4883-459A-AC97-4FAD8D591FCC}" type="slidenum">
              <a:rPr lang="da-DK" altLang="da-DK" smtClean="0"/>
              <a:pPr/>
              <a:t>39</a:t>
            </a:fld>
            <a:endParaRPr lang="da-DK" altLang="da-DK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95536" y="1124907"/>
            <a:ext cx="8640960" cy="56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ts val="800"/>
              </a:spcBef>
            </a:pPr>
            <a:r>
              <a:rPr lang="da-DK" sz="2000" kern="0" dirty="0"/>
              <a:t>Abstrakte klasser og interfaces</a:t>
            </a:r>
          </a:p>
          <a:p>
            <a:pPr lvl="1">
              <a:spcBef>
                <a:spcPts val="300"/>
              </a:spcBef>
            </a:pPr>
            <a:r>
              <a:rPr lang="da-DK" sz="1800" kern="0" dirty="0"/>
              <a:t>En abstrakt klasse er en klasse, som man ikke kan lave instanser af</a:t>
            </a:r>
          </a:p>
          <a:p>
            <a:pPr lvl="1">
              <a:spcBef>
                <a:spcPts val="300"/>
              </a:spcBef>
            </a:pPr>
            <a:r>
              <a:rPr lang="da-DK" sz="1800" kern="0" dirty="0"/>
              <a:t>En abstrakt klasse kan indeholde abstrakte metoder, hvor kun hovedet er angivet, mens implementationen (kroppen) mangler</a:t>
            </a:r>
          </a:p>
          <a:p>
            <a:pPr lvl="1">
              <a:spcBef>
                <a:spcPts val="300"/>
              </a:spcBef>
            </a:pPr>
            <a:r>
              <a:rPr lang="da-DK" sz="1800" kern="0" dirty="0"/>
              <a:t>I et interface er alle metoder abstrakte (men fra og med Java 8 kan der </a:t>
            </a:r>
            <a:r>
              <a:rPr lang="da-DK" sz="1800" kern="0"/>
              <a:t>være klassemetoder </a:t>
            </a:r>
            <a:r>
              <a:rPr lang="da-DK" sz="1800" kern="0" dirty="0"/>
              <a:t>og default metoder)</a:t>
            </a:r>
          </a:p>
          <a:p>
            <a:pPr>
              <a:spcBef>
                <a:spcPts val="800"/>
              </a:spcBef>
            </a:pPr>
            <a:r>
              <a:rPr lang="da-DK" sz="2000" kern="0" dirty="0"/>
              <a:t>Funktionelle interfaces</a:t>
            </a:r>
          </a:p>
          <a:p>
            <a:pPr lvl="1">
              <a:spcBef>
                <a:spcPts val="300"/>
              </a:spcBef>
            </a:pPr>
            <a:r>
              <a:rPr lang="da-DK" sz="1800" kern="0" dirty="0"/>
              <a:t>Har kun én enkelt abstract metode</a:t>
            </a:r>
          </a:p>
          <a:p>
            <a:pPr lvl="1">
              <a:spcBef>
                <a:spcPts val="300"/>
              </a:spcBef>
            </a:pPr>
            <a:r>
              <a:rPr lang="da-DK" sz="1800" kern="0" dirty="0"/>
              <a:t>De steder, hvor man skal bruge et objekt, hvis type er et funktionelt interface, kan man i stedet bruge en lambda</a:t>
            </a:r>
            <a:endParaRPr lang="da-DK" kern="0" dirty="0"/>
          </a:p>
          <a:p>
            <a:pPr>
              <a:spcBef>
                <a:spcPts val="800"/>
              </a:spcBef>
            </a:pPr>
            <a:r>
              <a:rPr lang="da-DK" sz="2000" kern="0" dirty="0"/>
              <a:t>Wildcards (jokere)</a:t>
            </a:r>
          </a:p>
          <a:p>
            <a:pPr lvl="1">
              <a:spcBef>
                <a:spcPts val="300"/>
              </a:spcBef>
            </a:pPr>
            <a:r>
              <a:rPr lang="da-DK" sz="1800" kern="0" dirty="0"/>
              <a:t>Gør det muligt at beskrive komplicerede</a:t>
            </a:r>
            <a:br>
              <a:rPr lang="da-DK" sz="1800" kern="0" dirty="0"/>
            </a:br>
            <a:r>
              <a:rPr lang="da-DK" sz="1800" kern="0" dirty="0"/>
              <a:t>typebegrænsninger i forbindelse med generiske klasser</a:t>
            </a:r>
          </a:p>
          <a:p>
            <a:pPr marL="342900" lvl="1" indent="-342900">
              <a:spcBef>
                <a:spcPts val="800"/>
              </a:spcBef>
              <a:buFontTx/>
              <a:buChar char="•"/>
            </a:pPr>
            <a:r>
              <a:rPr lang="da-DK" altLang="da-DK" b="1" kern="0" dirty="0">
                <a:solidFill>
                  <a:srgbClr val="A50021"/>
                </a:solidFill>
                <a:ea typeface="ＭＳ Ｐゴシック" pitchFamily="34" charset="-128"/>
                <a:cs typeface="ＭＳ Ｐゴシック" pitchFamily="-106" charset="-128"/>
              </a:rPr>
              <a:t>Afleveringsopgave: Computerspil 2</a:t>
            </a:r>
          </a:p>
          <a:p>
            <a:pPr lvl="1">
              <a:spcBef>
                <a:spcPts val="300"/>
              </a:spcBef>
            </a:pPr>
            <a:r>
              <a:rPr lang="da-DK" altLang="da-DK" sz="1800" kern="0" dirty="0">
                <a:ea typeface="ＭＳ Ｐゴシック" pitchFamily="34" charset="-128"/>
              </a:rPr>
              <a:t>T</a:t>
            </a:r>
            <a:r>
              <a:rPr lang="da-DK" sz="1800" kern="0" dirty="0"/>
              <a:t>est af de klasser, som I har implementeret i den første delaflevering</a:t>
            </a:r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  <a:tabLst>
                <a:tab pos="180975" algn="l"/>
              </a:tabLst>
            </a:pPr>
            <a:endParaRPr lang="da-DK" altLang="da-DK" sz="2000" kern="0" dirty="0"/>
          </a:p>
        </p:txBody>
      </p:sp>
    </p:spTree>
    <p:extLst>
      <p:ext uri="{BB962C8B-B14F-4D97-AF65-F5344CB8AC3E}">
        <p14:creationId xmlns:p14="http://schemas.microsoft.com/office/powerpoint/2010/main" val="23083632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a-DK" altLang="da-DK" sz="3200" noProof="0" dirty="0">
                <a:ea typeface="ＭＳ Ｐゴシック" pitchFamily="34" charset="-128"/>
              </a:rPr>
              <a:t>Det var alt for nu…..              … spørgsmål</a:t>
            </a:r>
          </a:p>
        </p:txBody>
      </p:sp>
      <p:pic>
        <p:nvPicPr>
          <p:cNvPr id="16" name="Picture 2" descr="j0404263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916831"/>
            <a:ext cx="4213225" cy="3589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532440" y="6400800"/>
            <a:ext cx="611560" cy="457200"/>
          </a:xfrm>
          <a:prstGeom prst="rect">
            <a:avLst/>
          </a:prstGeom>
        </p:spPr>
        <p:txBody>
          <a:bodyPr/>
          <a:lstStyle/>
          <a:p>
            <a:pPr algn="ctr"/>
            <a:fld id="{075E60B5-46BA-4D08-962C-193FD827B169}" type="slidenum">
              <a:rPr lang="da-DK" altLang="da-DK" smtClean="0"/>
              <a:pPr algn="ctr"/>
              <a:t>40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102805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000066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a-DK" sz="2000" b="0" i="0" u="none" strike="noStrike" cap="none" normalizeH="0" baseline="0">
            <a:ln>
              <a:noFill/>
            </a:ln>
            <a:solidFill>
              <a:srgbClr val="A5002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000066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a-DK" sz="2000" b="0" i="0" u="none" strike="noStrike" cap="none" normalizeH="0" baseline="0">
            <a:ln>
              <a:noFill/>
            </a:ln>
            <a:solidFill>
              <a:srgbClr val="A5002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9910</TotalTime>
  <Words>6359</Words>
  <Application>Microsoft Office PowerPoint</Application>
  <PresentationFormat>On-screen Show (4:3)</PresentationFormat>
  <Paragraphs>762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ＭＳ Ｐゴシック</vt:lpstr>
      <vt:lpstr>Arial</vt:lpstr>
      <vt:lpstr>Courier New</vt:lpstr>
      <vt:lpstr>Times New Roman</vt:lpstr>
      <vt:lpstr>Wingdings</vt:lpstr>
      <vt:lpstr>Standarddesign</vt:lpstr>
      <vt:lpstr>PowerPoint Presentation</vt:lpstr>
      <vt:lpstr>Træning i mundtlig præsentation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Collection frameworket (udsnit)</vt:lpstr>
      <vt:lpstr>Brug af Collection og Comparable</vt:lpstr>
      <vt:lpstr>● Funktionelle interfaces</vt:lpstr>
      <vt:lpstr>Metoder i Stream interfacet</vt:lpstr>
      <vt:lpstr>Funktionel sortering</vt:lpstr>
      <vt:lpstr>Billedredigering</vt:lpstr>
      <vt:lpstr>Billedredigering (fortsat)</vt:lpstr>
      <vt:lpstr>● Wildcards og typebegrænsninger</vt:lpstr>
      <vt:lpstr>Eksempler fra ArrayList&lt;E&gt; klassen</vt:lpstr>
      <vt:lpstr>Eksempler fra Collections</vt:lpstr>
      <vt:lpstr>Eksempler fra Collections (fortsat)</vt:lpstr>
      <vt:lpstr>Eksempler fra Collections (sort metoderne)</vt:lpstr>
      <vt:lpstr>Eksempel fra foxes and rabbits projektet</vt:lpstr>
      <vt:lpstr>Opsummering af wildcards og typebegrænsninger</vt:lpstr>
      <vt:lpstr>● Afleveringsopgave: Computerspil 2</vt:lpstr>
      <vt:lpstr>Generelt om testmetoder</vt:lpstr>
      <vt:lpstr>Brug af Test Fixture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Negative tests og dokumentation</vt:lpstr>
      <vt:lpstr>Testserveren</vt:lpstr>
      <vt:lpstr>Testserveren (fortsat)</vt:lpstr>
      <vt:lpstr>PowerPoint Presentation</vt:lpstr>
      <vt:lpstr>Det var alt for nu…..              … spørgsmål</vt:lpstr>
    </vt:vector>
  </TitlesOfParts>
  <Company>DAIMI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Programmering  – fra instruktion til modellering</dc:title>
  <dc:creator>Michael E. Caspersen</dc:creator>
  <cp:lastModifiedBy>Kurt Jensen</cp:lastModifiedBy>
  <cp:revision>925</cp:revision>
  <cp:lastPrinted>2018-10-30T12:43:05Z</cp:lastPrinted>
  <dcterms:created xsi:type="dcterms:W3CDTF">2009-09-02T10:07:09Z</dcterms:created>
  <dcterms:modified xsi:type="dcterms:W3CDTF">2025-11-05T10:29:41Z</dcterms:modified>
</cp:coreProperties>
</file>