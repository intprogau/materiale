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handoutMasterIdLst>
    <p:handoutMasterId r:id="rId36"/>
  </p:handoutMasterIdLst>
  <p:sldIdLst>
    <p:sldId id="343" r:id="rId2"/>
    <p:sldId id="651" r:id="rId3"/>
    <p:sldId id="652" r:id="rId4"/>
    <p:sldId id="653" r:id="rId5"/>
    <p:sldId id="650" r:id="rId6"/>
    <p:sldId id="654" r:id="rId7"/>
    <p:sldId id="655" r:id="rId8"/>
    <p:sldId id="656" r:id="rId9"/>
    <p:sldId id="658" r:id="rId10"/>
    <p:sldId id="659" r:id="rId11"/>
    <p:sldId id="660" r:id="rId12"/>
    <p:sldId id="662" r:id="rId13"/>
    <p:sldId id="663" r:id="rId14"/>
    <p:sldId id="661" r:id="rId15"/>
    <p:sldId id="664" r:id="rId16"/>
    <p:sldId id="665" r:id="rId17"/>
    <p:sldId id="668" r:id="rId18"/>
    <p:sldId id="666" r:id="rId19"/>
    <p:sldId id="669" r:id="rId20"/>
    <p:sldId id="670" r:id="rId21"/>
    <p:sldId id="671" r:id="rId22"/>
    <p:sldId id="675" r:id="rId23"/>
    <p:sldId id="672" r:id="rId24"/>
    <p:sldId id="684" r:id="rId25"/>
    <p:sldId id="683" r:id="rId26"/>
    <p:sldId id="674" r:id="rId27"/>
    <p:sldId id="677" r:id="rId28"/>
    <p:sldId id="678" r:id="rId29"/>
    <p:sldId id="679" r:id="rId30"/>
    <p:sldId id="681" r:id="rId31"/>
    <p:sldId id="688" r:id="rId32"/>
    <p:sldId id="682" r:id="rId33"/>
    <p:sldId id="438" r:id="rId34"/>
  </p:sldIdLst>
  <p:sldSz cx="9144000" cy="6858000" type="screen4x3"/>
  <p:notesSz cx="6761163" cy="9942513"/>
  <p:defaultTextStyle>
    <a:defPPr>
      <a:defRPr lang="da-DK"/>
    </a:defPPr>
    <a:lvl1pPr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2">
          <p15:clr>
            <a:srgbClr val="A4A3A4"/>
          </p15:clr>
        </p15:guide>
        <p15:guide id="2" pos="213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00"/>
    <a:srgbClr val="0000FF"/>
    <a:srgbClr val="009900"/>
    <a:srgbClr val="3399FF"/>
    <a:srgbClr val="FF3399"/>
    <a:srgbClr val="A50021"/>
    <a:srgbClr val="CCECFF"/>
    <a:srgbClr val="FFFFCC"/>
    <a:srgbClr val="CCFFCC"/>
    <a:srgbClr val="99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ABAA61E-AAC8-4C85-B445-C1B352BFC34A}" v="2" dt="2025-11-17T16:32:53.9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779" autoAdjust="0"/>
    <p:restoredTop sz="96699" autoAdjust="0"/>
  </p:normalViewPr>
  <p:slideViewPr>
    <p:cSldViewPr>
      <p:cViewPr varScale="1">
        <p:scale>
          <a:sx n="114" d="100"/>
          <a:sy n="114" d="100"/>
        </p:scale>
        <p:origin x="210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9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4242"/>
    </p:cViewPr>
  </p:sorterViewPr>
  <p:notesViewPr>
    <p:cSldViewPr>
      <p:cViewPr varScale="1">
        <p:scale>
          <a:sx n="88" d="100"/>
          <a:sy n="88" d="100"/>
        </p:scale>
        <p:origin x="-2220" y="-102"/>
      </p:cViewPr>
      <p:guideLst>
        <p:guide orient="horz" pos="3132"/>
        <p:guide pos="213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urt Jensen" userId="536d7847-4321-45c6-997a-4b9f60543789" providerId="ADAL" clId="{E17C5AF6-11E3-421A-B6F2-416B0C981305}"/>
    <pc:docChg chg="undo custSel modSld">
      <pc:chgData name="Kurt Jensen" userId="536d7847-4321-45c6-997a-4b9f60543789" providerId="ADAL" clId="{E17C5AF6-11E3-421A-B6F2-416B0C981305}" dt="2025-11-17T16:32:53.903" v="25"/>
      <pc:docMkLst>
        <pc:docMk/>
      </pc:docMkLst>
      <pc:sldChg chg="addSp modSp">
        <pc:chgData name="Kurt Jensen" userId="536d7847-4321-45c6-997a-4b9f60543789" providerId="ADAL" clId="{E17C5AF6-11E3-421A-B6F2-416B0C981305}" dt="2025-11-17T16:32:53.903" v="25"/>
        <pc:sldMkLst>
          <pc:docMk/>
          <pc:sldMk cId="341299607" sldId="651"/>
        </pc:sldMkLst>
        <pc:spChg chg="add mod">
          <ac:chgData name="Kurt Jensen" userId="536d7847-4321-45c6-997a-4b9f60543789" providerId="ADAL" clId="{E17C5AF6-11E3-421A-B6F2-416B0C981305}" dt="2025-11-17T16:32:53.903" v="25"/>
          <ac:spMkLst>
            <pc:docMk/>
            <pc:sldMk cId="341299607" sldId="651"/>
            <ac:spMk id="3" creationId="{3D35512F-A83B-7C7C-BC3C-DF232951930A}"/>
          </ac:spMkLst>
        </pc:spChg>
      </pc:sldChg>
      <pc:sldChg chg="addSp modSp">
        <pc:chgData name="Kurt Jensen" userId="536d7847-4321-45c6-997a-4b9f60543789" providerId="ADAL" clId="{E17C5AF6-11E3-421A-B6F2-416B0C981305}" dt="2025-11-17T16:32:48.189" v="24"/>
        <pc:sldMkLst>
          <pc:docMk/>
          <pc:sldMk cId="1889414913" sldId="652"/>
        </pc:sldMkLst>
        <pc:spChg chg="add mod">
          <ac:chgData name="Kurt Jensen" userId="536d7847-4321-45c6-997a-4b9f60543789" providerId="ADAL" clId="{E17C5AF6-11E3-421A-B6F2-416B0C981305}" dt="2025-11-17T16:32:48.189" v="24"/>
          <ac:spMkLst>
            <pc:docMk/>
            <pc:sldMk cId="1889414913" sldId="652"/>
            <ac:spMk id="2" creationId="{EC9BA4D4-168D-EFD1-B506-9F1C8A1A6557}"/>
          </ac:spMkLst>
        </pc:spChg>
      </pc:sldChg>
      <pc:sldChg chg="addSp delSp modSp mod">
        <pc:chgData name="Kurt Jensen" userId="536d7847-4321-45c6-997a-4b9f60543789" providerId="ADAL" clId="{E17C5AF6-11E3-421A-B6F2-416B0C981305}" dt="2025-11-17T11:47:48.583" v="23" actId="166"/>
        <pc:sldMkLst>
          <pc:docMk/>
          <pc:sldMk cId="30888390" sldId="688"/>
        </pc:sldMkLst>
        <pc:spChg chg="mod">
          <ac:chgData name="Kurt Jensen" userId="536d7847-4321-45c6-997a-4b9f60543789" providerId="ADAL" clId="{E17C5AF6-11E3-421A-B6F2-416B0C981305}" dt="2025-11-14T09:05:31.024" v="17" actId="20577"/>
          <ac:spMkLst>
            <pc:docMk/>
            <pc:sldMk cId="30888390" sldId="688"/>
            <ac:spMk id="10" creationId="{00000000-0000-0000-0000-000000000000}"/>
          </ac:spMkLst>
        </pc:spChg>
        <pc:spChg chg="ord">
          <ac:chgData name="Kurt Jensen" userId="536d7847-4321-45c6-997a-4b9f60543789" providerId="ADAL" clId="{E17C5AF6-11E3-421A-B6F2-416B0C981305}" dt="2025-11-17T11:47:48.583" v="23" actId="166"/>
          <ac:spMkLst>
            <pc:docMk/>
            <pc:sldMk cId="30888390" sldId="688"/>
            <ac:spMk id="11" creationId="{00000000-0000-0000-0000-000000000000}"/>
          </ac:spMkLst>
        </pc:spChg>
        <pc:picChg chg="add mod">
          <ac:chgData name="Kurt Jensen" userId="536d7847-4321-45c6-997a-4b9f60543789" providerId="ADAL" clId="{E17C5AF6-11E3-421A-B6F2-416B0C981305}" dt="2025-11-17T11:47:41.821" v="22" actId="14100"/>
          <ac:picMkLst>
            <pc:docMk/>
            <pc:sldMk cId="30888390" sldId="688"/>
            <ac:picMk id="4" creationId="{0E35F907-5B18-EA88-4EA4-A113CF3C6BDB}"/>
          </ac:picMkLst>
        </pc:picChg>
        <pc:picChg chg="add mod">
          <ac:chgData name="Kurt Jensen" userId="536d7847-4321-45c6-997a-4b9f60543789" providerId="ADAL" clId="{E17C5AF6-11E3-421A-B6F2-416B0C981305}" dt="2025-11-14T09:02:45.760" v="8" actId="14100"/>
          <ac:picMkLst>
            <pc:docMk/>
            <pc:sldMk cId="30888390" sldId="688"/>
            <ac:picMk id="5" creationId="{6FE796CF-DF49-53BB-E7BC-185E55FE80F1}"/>
          </ac:picMkLst>
        </pc:picChg>
        <pc:picChg chg="mod">
          <ac:chgData name="Kurt Jensen" userId="536d7847-4321-45c6-997a-4b9f60543789" providerId="ADAL" clId="{E17C5AF6-11E3-421A-B6F2-416B0C981305}" dt="2025-11-14T09:03:28.465" v="13" actId="1076"/>
          <ac:picMkLst>
            <pc:docMk/>
            <pc:sldMk cId="30888390" sldId="688"/>
            <ac:picMk id="7" creationId="{00000000-0000-0000-0000-000000000000}"/>
          </ac:picMkLst>
        </pc:picChg>
        <pc:picChg chg="add del mod">
          <ac:chgData name="Kurt Jensen" userId="536d7847-4321-45c6-997a-4b9f60543789" providerId="ADAL" clId="{E17C5AF6-11E3-421A-B6F2-416B0C981305}" dt="2025-11-17T11:47:31.531" v="19" actId="478"/>
          <ac:picMkLst>
            <pc:docMk/>
            <pc:sldMk cId="30888390" sldId="688"/>
            <ac:picMk id="9" creationId="{969BDBF6-5EC0-1548-E9CA-3383604B6FCA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039" cy="4965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t" anchorCtr="0" compatLnSpc="1">
            <a:prstTxWarp prst="textNoShape">
              <a:avLst/>
            </a:prstTxWarp>
          </a:bodyPr>
          <a:lstStyle>
            <a:lvl1pPr defTabSz="954542">
              <a:defRPr sz="1300">
                <a:solidFill>
                  <a:schemeClr val="tx1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614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29613" y="0"/>
            <a:ext cx="2930039" cy="4965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t" anchorCtr="0" compatLnSpc="1">
            <a:prstTxWarp prst="textNoShape">
              <a:avLst/>
            </a:prstTxWarp>
          </a:bodyPr>
          <a:lstStyle>
            <a:lvl1pPr algn="r" defTabSz="954542">
              <a:defRPr sz="1300">
                <a:solidFill>
                  <a:schemeClr val="tx1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614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44385"/>
            <a:ext cx="2930039" cy="4965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b" anchorCtr="0" compatLnSpc="1">
            <a:prstTxWarp prst="textNoShape">
              <a:avLst/>
            </a:prstTxWarp>
          </a:bodyPr>
          <a:lstStyle>
            <a:lvl1pPr defTabSz="954542">
              <a:defRPr sz="1300">
                <a:solidFill>
                  <a:schemeClr val="tx1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614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29613" y="9444385"/>
            <a:ext cx="2930039" cy="4965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b" anchorCtr="0" compatLnSpc="1">
            <a:prstTxWarp prst="textNoShape">
              <a:avLst/>
            </a:prstTxWarp>
          </a:bodyPr>
          <a:lstStyle>
            <a:lvl1pPr algn="r" defTabSz="954542">
              <a:defRPr sz="1300">
                <a:solidFill>
                  <a:schemeClr val="tx1"/>
                </a:solidFill>
                <a:latin typeface="Times New Roman" pitchFamily="18" charset="0"/>
              </a:defRPr>
            </a:lvl1pPr>
          </a:lstStyle>
          <a:p>
            <a:fld id="{3897A82C-780D-4210-8377-8FEE4ACB15B5}" type="slidenum">
              <a:rPr lang="da-DK" altLang="da-DK"/>
              <a:pPr/>
              <a:t>‹#›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7870973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039" cy="4965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t" anchorCtr="0" compatLnSpc="1">
            <a:prstTxWarp prst="textNoShape">
              <a:avLst/>
            </a:prstTxWarp>
          </a:bodyPr>
          <a:lstStyle>
            <a:lvl1pPr defTabSz="954542">
              <a:defRPr sz="1300" b="1">
                <a:solidFill>
                  <a:srgbClr val="CC0000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31125" y="0"/>
            <a:ext cx="2930039" cy="4965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t" anchorCtr="0" compatLnSpc="1">
            <a:prstTxWarp prst="textNoShape">
              <a:avLst/>
            </a:prstTxWarp>
          </a:bodyPr>
          <a:lstStyle>
            <a:lvl1pPr algn="r" defTabSz="954542">
              <a:defRPr sz="1300" b="1">
                <a:solidFill>
                  <a:srgbClr val="CC0000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6938" y="746125"/>
            <a:ext cx="4967287" cy="3727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1085" y="4722192"/>
            <a:ext cx="4958993" cy="4473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noProof="0"/>
              <a:t>Klik for at redigere teksttypografierne i masteren</a:t>
            </a:r>
          </a:p>
          <a:p>
            <a:pPr lvl="1"/>
            <a:r>
              <a:rPr lang="da-DK" noProof="0"/>
              <a:t>Andet niveau</a:t>
            </a:r>
          </a:p>
          <a:p>
            <a:pPr lvl="2"/>
            <a:r>
              <a:rPr lang="da-DK" noProof="0"/>
              <a:t>Tredje niveau</a:t>
            </a:r>
          </a:p>
          <a:p>
            <a:pPr lvl="3"/>
            <a:r>
              <a:rPr lang="da-DK" noProof="0"/>
              <a:t>Fjerde niveau</a:t>
            </a:r>
          </a:p>
          <a:p>
            <a:pPr lvl="4"/>
            <a:r>
              <a:rPr lang="da-DK" noProof="0"/>
              <a:t>Femte niveau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45928"/>
            <a:ext cx="2930039" cy="4965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b" anchorCtr="0" compatLnSpc="1">
            <a:prstTxWarp prst="textNoShape">
              <a:avLst/>
            </a:prstTxWarp>
          </a:bodyPr>
          <a:lstStyle>
            <a:lvl1pPr defTabSz="954542">
              <a:defRPr sz="1300" b="1">
                <a:solidFill>
                  <a:srgbClr val="CC0000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31125" y="9445928"/>
            <a:ext cx="2930039" cy="4965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b" anchorCtr="0" compatLnSpc="1">
            <a:prstTxWarp prst="textNoShape">
              <a:avLst/>
            </a:prstTxWarp>
          </a:bodyPr>
          <a:lstStyle>
            <a:lvl1pPr algn="r" defTabSz="954542">
              <a:defRPr sz="1300" b="1">
                <a:solidFill>
                  <a:srgbClr val="CC0000"/>
                </a:solidFill>
                <a:latin typeface="Times New Roman" pitchFamily="18" charset="0"/>
              </a:defRPr>
            </a:lvl1pPr>
          </a:lstStyle>
          <a:p>
            <a:fld id="{4B17CE37-4641-4131-A94A-505FEC827471}" type="slidenum">
              <a:rPr lang="da-DK" altLang="da-DK"/>
              <a:pPr/>
              <a:t>‹#›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40694889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pitchFamily="-106" charset="-128"/>
        <a:cs typeface="ＭＳ Ｐゴシック" pitchFamily="-106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17CE37-4641-4131-A94A-505FEC827471}" type="slidenum">
              <a:rPr lang="da-DK" altLang="da-DK" smtClean="0"/>
              <a:pPr/>
              <a:t>1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8933028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17CE37-4641-4131-A94A-505FEC827471}" type="slidenum">
              <a:rPr lang="da-DK" altLang="da-DK" smtClean="0"/>
              <a:pPr/>
              <a:t>2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8933028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17CE37-4641-4131-A94A-505FEC827471}" type="slidenum">
              <a:rPr lang="da-DK" altLang="da-DK" smtClean="0"/>
              <a:pPr/>
              <a:t>3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8933028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17CE37-4641-4131-A94A-505FEC827471}" type="slidenum">
              <a:rPr lang="da-DK" altLang="da-DK" smtClean="0"/>
              <a:pPr/>
              <a:t>4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893302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5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6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7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8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9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10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11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12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13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14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15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16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17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18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19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20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21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22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23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24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7874464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25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42778345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26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01700" y="739775"/>
            <a:ext cx="4932363" cy="36988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27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6201689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01700" y="739775"/>
            <a:ext cx="4932363" cy="36988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28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03420922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01700" y="739775"/>
            <a:ext cx="4932363" cy="36988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29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3336589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30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29175944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96938" y="746125"/>
            <a:ext cx="4967287" cy="3727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31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39176425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17CE37-4641-4131-A94A-505FEC827471}" type="slidenum">
              <a:rPr lang="da-DK" altLang="da-DK" smtClean="0"/>
              <a:pPr/>
              <a:t>32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4508035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542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1pPr>
            <a:lvl2pPr marL="715907" indent="-275349" defTabSz="954542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2pPr>
            <a:lvl3pPr marL="1101395" indent="-220279" defTabSz="954542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3pPr>
            <a:lvl4pPr marL="1541953" indent="-220279" defTabSz="954542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4pPr>
            <a:lvl5pPr marL="1982511" indent="-220279" defTabSz="954542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5pPr>
            <a:lvl6pPr marL="2423069" indent="-220279" defTabSz="954542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6pPr>
            <a:lvl7pPr marL="2863626" indent="-220279" defTabSz="954542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7pPr>
            <a:lvl8pPr marL="3304184" indent="-220279" defTabSz="954542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8pPr>
            <a:lvl9pPr marL="3744742" indent="-220279" defTabSz="954542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0A7C83F2-97F6-4FF2-A03C-029400408B2C}" type="slidenum">
              <a:rPr lang="da-DK" altLang="da-DK" sz="1300">
                <a:solidFill>
                  <a:srgbClr val="CC0000"/>
                </a:solidFill>
              </a:rPr>
              <a:pPr eaLnBrk="1" hangingPunct="1">
                <a:spcBef>
                  <a:spcPct val="0"/>
                </a:spcBef>
              </a:pPr>
              <a:t>33</a:t>
            </a:fld>
            <a:endParaRPr lang="da-DK" altLang="da-DK" sz="1300">
              <a:solidFill>
                <a:srgbClr val="CC0000"/>
              </a:solidFill>
            </a:endParaRPr>
          </a:p>
        </p:txBody>
      </p:sp>
      <p:sp>
        <p:nvSpPr>
          <p:cNvPr id="102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896938" y="746125"/>
            <a:ext cx="4967287" cy="3727450"/>
          </a:xfrm>
          <a:ln/>
        </p:spPr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Click to edit Master text styles</a:t>
            </a:r>
          </a:p>
          <a:p>
            <a:pPr lvl="1"/>
            <a:r>
              <a:rPr lang="da-DK"/>
              <a:t>Second level</a:t>
            </a:r>
          </a:p>
          <a:p>
            <a:pPr lvl="2"/>
            <a:r>
              <a:rPr lang="da-DK"/>
              <a:t>Third level</a:t>
            </a:r>
          </a:p>
          <a:p>
            <a:pPr lvl="3"/>
            <a:r>
              <a:rPr lang="da-DK"/>
              <a:t>Fourth level</a:t>
            </a:r>
          </a:p>
          <a:p>
            <a:pPr lvl="4"/>
            <a:r>
              <a:rPr lang="da-DK"/>
              <a:t>Fifth level</a:t>
            </a: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88424" y="6400800"/>
            <a:ext cx="784143" cy="457200"/>
          </a:xfrm>
          <a:prstGeom prst="rect">
            <a:avLst/>
          </a:prstGeom>
          <a:ln/>
        </p:spPr>
        <p:txBody>
          <a:bodyPr/>
          <a:lstStyle>
            <a:lvl1pPr algn="ctr">
              <a:defRPr sz="1800" b="1"/>
            </a:lvl1pPr>
          </a:lstStyle>
          <a:p>
            <a:fld id="{AFFA0464-6430-46B6-9821-63ECB517BF02}" type="slidenum">
              <a:rPr lang="da-DK" altLang="da-DK" smtClean="0"/>
              <a:pPr/>
              <a:t>‹#›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802838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Click to edit Master title style</a:t>
            </a: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88424" y="6400800"/>
            <a:ext cx="784143" cy="457200"/>
          </a:xfrm>
          <a:ln/>
        </p:spPr>
        <p:txBody>
          <a:bodyPr/>
          <a:lstStyle>
            <a:lvl1pPr algn="ctr">
              <a:defRPr sz="1800" b="1"/>
            </a:lvl1pPr>
          </a:lstStyle>
          <a:p>
            <a:fld id="{AFFA0464-6430-46B6-9821-63ECB517BF02}" type="slidenum">
              <a:rPr lang="da-DK" altLang="da-DK" smtClean="0"/>
              <a:pPr/>
              <a:t>‹#›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3813216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68313" y="260350"/>
            <a:ext cx="8207375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a-DK" altLang="da-DK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68313" y="1052513"/>
            <a:ext cx="8207375" cy="5195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altLang="da-DK"/>
              <a:t>Click to edit Master text styles</a:t>
            </a:r>
          </a:p>
          <a:p>
            <a:pPr lvl="1"/>
            <a:r>
              <a:rPr lang="da-DK" altLang="da-DK"/>
              <a:t>Second level</a:t>
            </a:r>
          </a:p>
          <a:p>
            <a:pPr lvl="2"/>
            <a:r>
              <a:rPr lang="da-DK" altLang="da-DK"/>
              <a:t>Third level</a:t>
            </a:r>
          </a:p>
          <a:p>
            <a:pPr lvl="3"/>
            <a:r>
              <a:rPr lang="da-DK" altLang="da-DK"/>
              <a:t>Fourth level</a:t>
            </a:r>
          </a:p>
          <a:p>
            <a:pPr lvl="4"/>
            <a:r>
              <a:rPr lang="da-DK" altLang="da-DK"/>
              <a:t>Fifth level</a:t>
            </a:r>
          </a:p>
        </p:txBody>
      </p:sp>
      <p:sp>
        <p:nvSpPr>
          <p:cNvPr id="1031" name="Line 9"/>
          <p:cNvSpPr>
            <a:spLocks noChangeShapeType="1"/>
          </p:cNvSpPr>
          <p:nvPr/>
        </p:nvSpPr>
        <p:spPr bwMode="auto">
          <a:xfrm flipV="1">
            <a:off x="468313" y="981075"/>
            <a:ext cx="8207375" cy="0"/>
          </a:xfrm>
          <a:prstGeom prst="line">
            <a:avLst/>
          </a:prstGeom>
          <a:noFill/>
          <a:ln w="25400">
            <a:solidFill>
              <a:srgbClr val="0000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a-DK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4"/>
          </p:nvPr>
        </p:nvSpPr>
        <p:spPr>
          <a:xfrm>
            <a:off x="8388424" y="6400800"/>
            <a:ext cx="784143" cy="457200"/>
          </a:xfrm>
          <a:prstGeom prst="rect">
            <a:avLst/>
          </a:prstGeom>
          <a:ln/>
        </p:spPr>
        <p:txBody>
          <a:bodyPr/>
          <a:lstStyle>
            <a:lvl1pPr algn="ctr">
              <a:defRPr sz="1800" b="1">
                <a:solidFill>
                  <a:srgbClr val="002060"/>
                </a:solidFill>
              </a:defRPr>
            </a:lvl1pPr>
          </a:lstStyle>
          <a:p>
            <a:fld id="{AFFA0464-6430-46B6-9821-63ECB517BF02}" type="slidenum">
              <a:rPr lang="da-DK" altLang="da-DK" smtClean="0"/>
              <a:pPr/>
              <a:t>‹#›</a:t>
            </a:fld>
            <a:endParaRPr lang="da-DK" altLang="da-DK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4" r:id="rId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+mj-lt"/>
          <a:ea typeface="ＭＳ Ｐゴシック" pitchFamily="-106" charset="-128"/>
          <a:cs typeface="ＭＳ Ｐゴシック" pitchFamily="-106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pitchFamily="-106" charset="-128"/>
          <a:cs typeface="ＭＳ Ｐゴシック" pitchFamily="-106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pitchFamily="-106" charset="-128"/>
          <a:cs typeface="ＭＳ Ｐゴシック" pitchFamily="-106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pitchFamily="-106" charset="-128"/>
          <a:cs typeface="ＭＳ Ｐゴシック" pitchFamily="-106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pitchFamily="-106" charset="-128"/>
          <a:cs typeface="ＭＳ Ｐゴシック" pitchFamily="-106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400" b="1">
          <a:solidFill>
            <a:srgbClr val="A50021"/>
          </a:solidFill>
          <a:latin typeface="+mn-lt"/>
          <a:ea typeface="ＭＳ Ｐゴシック" pitchFamily="-106" charset="-128"/>
          <a:cs typeface="ＭＳ Ｐゴシック" pitchFamily="-106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rgbClr val="000066"/>
          </a:solidFill>
          <a:latin typeface="+mn-lt"/>
          <a:ea typeface="ＭＳ Ｐゴシック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tx1"/>
          </a:solidFill>
          <a:latin typeface="+mn-lt"/>
          <a:ea typeface="ＭＳ Ｐゴシック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Times New Roman" charset="0"/>
          <a:ea typeface="ＭＳ Ｐゴシック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ＭＳ Ｐゴシック" charset="-128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ＭＳ Ｐゴシック" charset="-128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ＭＳ Ｐゴシック" charset="-128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ＭＳ Ｐゴシック" charset="-128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ＭＳ Ｐゴシック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w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60350"/>
            <a:ext cx="8568183" cy="682625"/>
          </a:xfrm>
        </p:spPr>
        <p:txBody>
          <a:bodyPr/>
          <a:lstStyle/>
          <a:p>
            <a:pPr eaLnBrk="1" hangingPunct="1"/>
            <a:r>
              <a:rPr lang="da-DK" altLang="da-DK" sz="3200" noProof="0" dirty="0">
                <a:ea typeface="ＭＳ Ｐゴシック" pitchFamily="34" charset="-128"/>
              </a:rPr>
              <a:t>Forelæsning Uge </a:t>
            </a:r>
            <a:r>
              <a:rPr lang="da-DK" altLang="da-DK" sz="3200">
                <a:ea typeface="ＭＳ Ｐゴシック" pitchFamily="34" charset="-128"/>
              </a:rPr>
              <a:t>13 </a:t>
            </a:r>
            <a:endParaRPr lang="da-DK" altLang="da-DK" sz="3200" noProof="0" dirty="0">
              <a:ea typeface="ＭＳ Ｐゴシック" pitchFamily="34" charset="-128"/>
            </a:endParaRPr>
          </a:p>
        </p:txBody>
      </p:sp>
      <p:sp>
        <p:nvSpPr>
          <p:cNvPr id="3072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7544" y="1052735"/>
            <a:ext cx="8496944" cy="2088233"/>
          </a:xfrm>
        </p:spPr>
        <p:txBody>
          <a:bodyPr/>
          <a:lstStyle/>
          <a:p>
            <a:pPr>
              <a:spcBef>
                <a:spcPts val="1200"/>
              </a:spcBef>
            </a:pPr>
            <a:r>
              <a:rPr lang="da-DK" altLang="da-DK" sz="2000" dirty="0">
                <a:ea typeface="ＭＳ Ｐゴシック" pitchFamily="34" charset="-128"/>
              </a:rPr>
              <a:t>Konstruktion af grafiske brugergrænseflader (</a:t>
            </a:r>
            <a:r>
              <a:rPr lang="da-DK" altLang="da-DK" sz="2000" dirty="0" err="1">
                <a:ea typeface="ＭＳ Ｐゴシック" pitchFamily="34" charset="-128"/>
              </a:rPr>
              <a:t>GUI'er</a:t>
            </a:r>
            <a:r>
              <a:rPr lang="da-DK" altLang="da-DK" sz="2000" dirty="0">
                <a:ea typeface="ＭＳ Ｐゴシック" pitchFamily="34" charset="-128"/>
              </a:rPr>
              <a:t>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Definition af de elementer, der vises på skærmen</a:t>
            </a:r>
            <a:br>
              <a:rPr lang="da-DK" altLang="da-DK" sz="1800" kern="1200" dirty="0">
                <a:ea typeface="ＭＳ Ｐゴシック" pitchFamily="34" charset="-128"/>
                <a:cs typeface="+mn-cs"/>
              </a:rPr>
            </a:br>
            <a:r>
              <a:rPr lang="da-DK" altLang="da-DK" sz="1800" kern="1200" dirty="0">
                <a:ea typeface="ＭＳ Ｐゴシック" pitchFamily="34" charset="-128"/>
                <a:cs typeface="+mn-cs"/>
              </a:rPr>
              <a:t>(vinduer, knapper, menuer, scrollbarer, tekster, osv.)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Hvordan reagerer de på input (via mus og tastatur)?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Hvordan placeres de i forhold til hinanden (layout)?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2628" y="3823475"/>
            <a:ext cx="3661625" cy="28902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84796" y="2838680"/>
            <a:ext cx="8263668" cy="25202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900"/>
              </a:spcBef>
            </a:pPr>
            <a:r>
              <a:rPr lang="da-DK" altLang="da-DK" sz="2000" kern="0" dirty="0">
                <a:ea typeface="ＭＳ Ｐゴシック" pitchFamily="34" charset="-128"/>
              </a:rPr>
              <a:t>Anonyme indre klasser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Sprogkonstruktion, der bl.a. er nyttig i </a:t>
            </a:r>
            <a:r>
              <a:rPr lang="da-DK" altLang="da-DK" sz="1800" kern="0" spc="-50" dirty="0">
                <a:ea typeface="ＭＳ Ｐゴシック" pitchFamily="34" charset="-128"/>
              </a:rPr>
              <a:t>forbindelse med visse GUI events</a:t>
            </a:r>
          </a:p>
          <a:p>
            <a:pPr marL="342900" lvl="1" indent="-342900">
              <a:spcBef>
                <a:spcPts val="1200"/>
              </a:spcBef>
              <a:buFontTx/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Afleveringsopgave: Computerspil 3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Brug af nedarvning og</a:t>
            </a:r>
            <a:br>
              <a:rPr lang="da-DK" altLang="da-DK" sz="1800" dirty="0">
                <a:ea typeface="ＭＳ Ｐゴシック" pitchFamily="34" charset="-128"/>
              </a:rPr>
            </a:br>
            <a:r>
              <a:rPr lang="da-DK" altLang="da-DK" sz="1800" dirty="0" err="1">
                <a:ea typeface="ＭＳ Ｐゴシック" pitchFamily="34" charset="-128"/>
              </a:rPr>
              <a:t>dynamic</a:t>
            </a:r>
            <a:r>
              <a:rPr lang="da-DK" altLang="da-DK" sz="1800" dirty="0">
                <a:ea typeface="ＭＳ Ｐゴシック" pitchFamily="34" charset="-128"/>
              </a:rPr>
              <a:t> </a:t>
            </a:r>
            <a:r>
              <a:rPr lang="da-DK" altLang="da-DK" sz="1800" dirty="0" err="1">
                <a:ea typeface="ＭＳ Ｐゴシック" pitchFamily="34" charset="-128"/>
              </a:rPr>
              <a:t>method</a:t>
            </a:r>
            <a:r>
              <a:rPr lang="da-DK" altLang="da-DK" sz="1800" dirty="0">
                <a:ea typeface="ＭＳ Ｐゴシック" pitchFamily="34" charset="-128"/>
              </a:rPr>
              <a:t> </a:t>
            </a:r>
            <a:r>
              <a:rPr lang="da-DK" altLang="da-DK" sz="1800" dirty="0" err="1">
                <a:ea typeface="ＭＳ Ｐゴシック" pitchFamily="34" charset="-128"/>
              </a:rPr>
              <a:t>lookup</a:t>
            </a:r>
            <a:endParaRPr lang="da-DK" altLang="da-DK" sz="1800" dirty="0"/>
          </a:p>
        </p:txBody>
      </p:sp>
    </p:spTree>
    <p:extLst>
      <p:ext uri="{BB962C8B-B14F-4D97-AF65-F5344CB8AC3E}">
        <p14:creationId xmlns:p14="http://schemas.microsoft.com/office/powerpoint/2010/main" val="888698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47036" y="1052736"/>
            <a:ext cx="8696963" cy="3240360"/>
          </a:xfrm>
        </p:spPr>
        <p:txBody>
          <a:bodyPr/>
          <a:lstStyle/>
          <a:p>
            <a:pPr>
              <a:spcBef>
                <a:spcPts val="1200"/>
              </a:spcBef>
            </a:pPr>
            <a:r>
              <a:rPr lang="da-DK" altLang="da-DK" sz="2000" dirty="0">
                <a:ea typeface="ＭＳ Ｐゴシック" pitchFamily="34" charset="-128"/>
              </a:rPr>
              <a:t>Java indeholder tre forskellige biblioteker til konstruktion af </a:t>
            </a:r>
            <a:r>
              <a:rPr lang="da-DK" altLang="da-DK" sz="2000" dirty="0" err="1">
                <a:ea typeface="ＭＳ Ｐゴシック" pitchFamily="34" charset="-128"/>
              </a:rPr>
              <a:t>GUI'er</a:t>
            </a:r>
            <a:endParaRPr lang="da-DK" altLang="da-DK" sz="2000" dirty="0">
              <a:ea typeface="ＭＳ Ｐゴシック" pitchFamily="34" charset="-128"/>
            </a:endParaRPr>
          </a:p>
          <a:p>
            <a:pPr lvl="1">
              <a:spcBef>
                <a:spcPts val="4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Ældste (1995): </a:t>
            </a:r>
            <a:r>
              <a:rPr lang="da-DK" altLang="da-DK" sz="1800" b="1" kern="1200" dirty="0">
                <a:solidFill>
                  <a:srgbClr val="008000"/>
                </a:solidFill>
                <a:ea typeface="ＭＳ Ｐゴシック" pitchFamily="34" charset="-128"/>
                <a:cs typeface="+mn-cs"/>
              </a:rPr>
              <a:t>AWT</a:t>
            </a:r>
            <a:r>
              <a:rPr lang="da-DK" altLang="da-DK" sz="1800" kern="1200" dirty="0">
                <a:ea typeface="ＭＳ Ｐゴシック" pitchFamily="34" charset="-128"/>
                <a:cs typeface="+mn-cs"/>
              </a:rPr>
              <a:t> (Abstract </a:t>
            </a:r>
            <a:r>
              <a:rPr lang="da-DK" altLang="da-DK" sz="1800" kern="1200" dirty="0" err="1">
                <a:ea typeface="ＭＳ Ｐゴシック" pitchFamily="34" charset="-128"/>
                <a:cs typeface="+mn-cs"/>
              </a:rPr>
              <a:t>Window</a:t>
            </a:r>
            <a:r>
              <a:rPr lang="da-DK" altLang="da-DK" sz="1800" kern="1200" dirty="0">
                <a:ea typeface="ＭＳ Ｐゴシック" pitchFamily="34" charset="-128"/>
                <a:cs typeface="+mn-cs"/>
              </a:rPr>
              <a:t> Toolkit)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Mellemste (2008): </a:t>
            </a:r>
            <a:r>
              <a:rPr lang="da-DK" altLang="da-DK" sz="1800" b="1" kern="1200" dirty="0">
                <a:solidFill>
                  <a:srgbClr val="008000"/>
                </a:solidFill>
                <a:ea typeface="ＭＳ Ｐゴシック" pitchFamily="34" charset="-128"/>
                <a:cs typeface="+mn-cs"/>
              </a:rPr>
              <a:t>Swing</a:t>
            </a:r>
            <a:r>
              <a:rPr lang="da-DK" altLang="da-DK" sz="1800" kern="1200" dirty="0">
                <a:ea typeface="ＭＳ Ｐゴシック" pitchFamily="34" charset="-128"/>
                <a:cs typeface="+mn-cs"/>
              </a:rPr>
              <a:t> (langt bedre på mange punkter)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Nyeste (2015): </a:t>
            </a:r>
            <a:r>
              <a:rPr lang="da-DK" altLang="da-DK" sz="1800" b="1" kern="1200" dirty="0" err="1">
                <a:solidFill>
                  <a:srgbClr val="008000"/>
                </a:solidFill>
                <a:ea typeface="ＭＳ Ｐゴシック" pitchFamily="34" charset="-128"/>
                <a:cs typeface="+mn-cs"/>
              </a:rPr>
              <a:t>JavaFX</a:t>
            </a:r>
            <a:endParaRPr lang="da-DK" altLang="da-DK" sz="1800" b="1" kern="1200" dirty="0">
              <a:solidFill>
                <a:srgbClr val="008000"/>
              </a:solidFill>
              <a:ea typeface="ＭＳ Ｐゴシック" pitchFamily="34" charset="-128"/>
              <a:cs typeface="+mn-cs"/>
            </a:endParaRP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Vi vil koncentrere os om brugen af Swing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Mange Swing klasser er helt nye  </a:t>
            </a:r>
            <a:r>
              <a:rPr lang="da-DK" altLang="da-DK" sz="1800" kern="1200" baseline="-15000" dirty="0">
                <a:solidFill>
                  <a:srgbClr val="FF0000"/>
                </a:solidFill>
                <a:ea typeface="ＭＳ Ｐゴシック" pitchFamily="34" charset="-128"/>
                <a:cs typeface="+mn-cs"/>
              </a:rPr>
              <a:t>▀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Andre erstatter AWT klasser </a:t>
            </a:r>
            <a:r>
              <a:rPr lang="da-DK" altLang="da-DK" sz="1800" kern="1200" dirty="0">
                <a:ea typeface="ＭＳ Ｐゴシック" pitchFamily="34" charset="-128"/>
              </a:rPr>
              <a:t> </a:t>
            </a:r>
            <a:r>
              <a:rPr lang="da-DK" altLang="da-DK" sz="1800" kern="1200" baseline="-15000" dirty="0">
                <a:solidFill>
                  <a:srgbClr val="0000FF"/>
                </a:solidFill>
                <a:ea typeface="ＭＳ Ｐゴシック" pitchFamily="34" charset="-128"/>
              </a:rPr>
              <a:t>▀</a:t>
            </a:r>
            <a:endParaRPr lang="da-DK" altLang="da-DK" sz="1800" kern="1200" baseline="-15000" dirty="0">
              <a:solidFill>
                <a:srgbClr val="0000FF"/>
              </a:solidFill>
              <a:ea typeface="ＭＳ Ｐゴシック" pitchFamily="34" charset="-128"/>
              <a:cs typeface="+mn-cs"/>
            </a:endParaRPr>
          </a:p>
          <a:p>
            <a:pPr lvl="1">
              <a:spcBef>
                <a:spcPts val="4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Endelig bruger Swing også klasser</a:t>
            </a:r>
            <a:br>
              <a:rPr lang="da-DK" altLang="da-DK" sz="1800" kern="1200" dirty="0">
                <a:ea typeface="ＭＳ Ｐゴシック" pitchFamily="34" charset="-128"/>
                <a:cs typeface="+mn-cs"/>
              </a:rPr>
            </a:br>
            <a:r>
              <a:rPr lang="da-DK" altLang="da-DK" sz="1800" kern="1200" dirty="0">
                <a:ea typeface="ＭＳ Ｐゴシック" pitchFamily="34" charset="-128"/>
                <a:cs typeface="+mn-cs"/>
              </a:rPr>
              <a:t>fra </a:t>
            </a:r>
            <a:r>
              <a:rPr lang="da-DK" altLang="da-DK" sz="1800" kern="1200" dirty="0" err="1">
                <a:ea typeface="ＭＳ Ｐゴシック" pitchFamily="34" charset="-128"/>
                <a:cs typeface="+mn-cs"/>
              </a:rPr>
              <a:t>AWT</a:t>
            </a:r>
            <a:r>
              <a:rPr lang="da-DK" altLang="da-DK" sz="1800" kern="1200" dirty="0">
                <a:ea typeface="ＭＳ Ｐゴシック" pitchFamily="34" charset="-128"/>
                <a:cs typeface="+mn-cs"/>
              </a:rPr>
              <a:t> (uden at ændre dem) </a:t>
            </a:r>
            <a:r>
              <a:rPr lang="da-DK" altLang="da-DK" sz="1800" kern="1200" dirty="0">
                <a:ea typeface="ＭＳ Ｐゴシック" pitchFamily="34" charset="-128"/>
              </a:rPr>
              <a:t> </a:t>
            </a:r>
            <a:r>
              <a:rPr lang="da-DK" altLang="da-DK" sz="1800" kern="1200" baseline="-15000" dirty="0">
                <a:solidFill>
                  <a:srgbClr val="008000"/>
                </a:solidFill>
                <a:ea typeface="ＭＳ Ｐゴシック" pitchFamily="34" charset="-128"/>
              </a:rPr>
              <a:t>▀</a:t>
            </a:r>
            <a:endParaRPr lang="da-DK" altLang="da-DK" sz="1800" kern="1200" baseline="-15000" dirty="0">
              <a:solidFill>
                <a:srgbClr val="008000"/>
              </a:solidFill>
              <a:ea typeface="ＭＳ Ｐゴシック" pitchFamily="34" charset="-128"/>
              <a:cs typeface="+mn-cs"/>
            </a:endParaRPr>
          </a:p>
          <a:p>
            <a:pPr>
              <a:spcBef>
                <a:spcPts val="1200"/>
              </a:spcBef>
            </a:pPr>
            <a:endParaRPr lang="da-DK" altLang="da-DK" sz="2000" dirty="0">
              <a:ea typeface="ＭＳ Ｐゴシック" pitchFamily="34" charset="-128"/>
            </a:endParaRPr>
          </a:p>
        </p:txBody>
      </p:sp>
      <p:pic>
        <p:nvPicPr>
          <p:cNvPr id="4" name="Picture 3" descr="fig11-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3" r="9108"/>
          <a:stretch/>
        </p:blipFill>
        <p:spPr bwMode="auto">
          <a:xfrm>
            <a:off x="5076056" y="2906361"/>
            <a:ext cx="3384376" cy="11707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21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60350"/>
            <a:ext cx="8568183" cy="682625"/>
          </a:xfrm>
        </p:spPr>
        <p:txBody>
          <a:bodyPr/>
          <a:lstStyle/>
          <a:p>
            <a:pPr eaLnBrk="1" hangingPunct="1"/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AWT og Swing</a:t>
            </a:r>
            <a:endParaRPr lang="da-DK" altLang="da-DK" sz="3200" noProof="0" dirty="0">
              <a:ea typeface="ＭＳ Ｐゴシック" pitchFamily="34" charset="-128"/>
            </a:endParaRP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85754" y="4293096"/>
            <a:ext cx="8352928" cy="13681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Når der er ækvivalente klasser i AWT og Swing, tilføjer Swing et J foran navnet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Button, Frame og Menu er klasser i AWT</a:t>
            </a:r>
          </a:p>
          <a:p>
            <a:pPr lvl="1">
              <a:spcBef>
                <a:spcPts val="400"/>
              </a:spcBef>
            </a:pPr>
            <a:r>
              <a:rPr lang="da-DK" altLang="da-DK" sz="1800" dirty="0" err="1">
                <a:ea typeface="ＭＳ Ｐゴシック" pitchFamily="34" charset="-128"/>
              </a:rPr>
              <a:t>JButton</a:t>
            </a:r>
            <a:r>
              <a:rPr lang="da-DK" altLang="da-DK" sz="1800" dirty="0">
                <a:ea typeface="ＭＳ Ｐゴシック" pitchFamily="34" charset="-128"/>
              </a:rPr>
              <a:t>, </a:t>
            </a:r>
            <a:r>
              <a:rPr lang="da-DK" altLang="da-DK" sz="1800" dirty="0" err="1">
                <a:ea typeface="ＭＳ Ｐゴシック" pitchFamily="34" charset="-128"/>
              </a:rPr>
              <a:t>JFrame</a:t>
            </a:r>
            <a:r>
              <a:rPr lang="da-DK" altLang="da-DK" sz="1800" dirty="0">
                <a:ea typeface="ＭＳ Ｐゴシック" pitchFamily="34" charset="-128"/>
              </a:rPr>
              <a:t> og </a:t>
            </a:r>
            <a:r>
              <a:rPr lang="da-DK" altLang="da-DK" sz="1800" dirty="0" err="1">
                <a:ea typeface="ＭＳ Ｐゴシック" pitchFamily="34" charset="-128"/>
              </a:rPr>
              <a:t>JMenu</a:t>
            </a:r>
            <a:r>
              <a:rPr lang="da-DK" altLang="da-DK" sz="1800" dirty="0">
                <a:ea typeface="ＭＳ Ｐゴシック" pitchFamily="34" charset="-128"/>
              </a:rPr>
              <a:t> er klasser i Swing</a:t>
            </a:r>
            <a:endParaRPr lang="da-DK" altLang="da-DK" sz="2000" kern="0" dirty="0">
              <a:ea typeface="ＭＳ Ｐゴシック" pitchFamily="34" charset="-128"/>
            </a:endParaRPr>
          </a:p>
        </p:txBody>
      </p:sp>
      <p:sp>
        <p:nvSpPr>
          <p:cNvPr id="6" name="Freeform 5"/>
          <p:cNvSpPr/>
          <p:nvPr/>
        </p:nvSpPr>
        <p:spPr bwMode="auto">
          <a:xfrm>
            <a:off x="6979444" y="3436144"/>
            <a:ext cx="1154906" cy="607219"/>
          </a:xfrm>
          <a:custGeom>
            <a:avLst/>
            <a:gdLst>
              <a:gd name="connsiteX0" fmla="*/ 4762 w 1154906"/>
              <a:gd name="connsiteY0" fmla="*/ 2381 h 607219"/>
              <a:gd name="connsiteX1" fmla="*/ 0 w 1154906"/>
              <a:gd name="connsiteY1" fmla="*/ 607219 h 607219"/>
              <a:gd name="connsiteX2" fmla="*/ 1154906 w 1154906"/>
              <a:gd name="connsiteY2" fmla="*/ 604837 h 607219"/>
              <a:gd name="connsiteX3" fmla="*/ 1152525 w 1154906"/>
              <a:gd name="connsiteY3" fmla="*/ 402431 h 607219"/>
              <a:gd name="connsiteX4" fmla="*/ 914400 w 1154906"/>
              <a:gd name="connsiteY4" fmla="*/ 402431 h 607219"/>
              <a:gd name="connsiteX5" fmla="*/ 921544 w 1154906"/>
              <a:gd name="connsiteY5" fmla="*/ 197644 h 607219"/>
              <a:gd name="connsiteX6" fmla="*/ 457200 w 1154906"/>
              <a:gd name="connsiteY6" fmla="*/ 200025 h 607219"/>
              <a:gd name="connsiteX7" fmla="*/ 464344 w 1154906"/>
              <a:gd name="connsiteY7" fmla="*/ 0 h 607219"/>
              <a:gd name="connsiteX8" fmla="*/ 4762 w 1154906"/>
              <a:gd name="connsiteY8" fmla="*/ 2381 h 607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54906" h="607219">
                <a:moveTo>
                  <a:pt x="4762" y="2381"/>
                </a:moveTo>
                <a:cubicBezTo>
                  <a:pt x="3175" y="203994"/>
                  <a:pt x="1587" y="405606"/>
                  <a:pt x="0" y="607219"/>
                </a:cubicBezTo>
                <a:lnTo>
                  <a:pt x="1154906" y="604837"/>
                </a:lnTo>
                <a:cubicBezTo>
                  <a:pt x="1154112" y="537368"/>
                  <a:pt x="1153319" y="469900"/>
                  <a:pt x="1152525" y="402431"/>
                </a:cubicBezTo>
                <a:lnTo>
                  <a:pt x="914400" y="402431"/>
                </a:lnTo>
                <a:lnTo>
                  <a:pt x="921544" y="197644"/>
                </a:lnTo>
                <a:lnTo>
                  <a:pt x="457200" y="200025"/>
                </a:lnTo>
                <a:lnTo>
                  <a:pt x="464344" y="0"/>
                </a:lnTo>
                <a:lnTo>
                  <a:pt x="4762" y="2381"/>
                </a:lnTo>
                <a:close/>
              </a:path>
            </a:pathLst>
          </a:custGeom>
          <a:noFill/>
          <a:ln w="28575" cap="flat" cmpd="sng" algn="ctr">
            <a:solidFill>
              <a:srgbClr val="008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6986588" y="3031331"/>
            <a:ext cx="1147762" cy="371104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8" name="Freeform 7"/>
          <p:cNvSpPr/>
          <p:nvPr/>
        </p:nvSpPr>
        <p:spPr bwMode="auto">
          <a:xfrm>
            <a:off x="7462838" y="3445669"/>
            <a:ext cx="690562" cy="369094"/>
          </a:xfrm>
          <a:custGeom>
            <a:avLst/>
            <a:gdLst>
              <a:gd name="connsiteX0" fmla="*/ 7143 w 690562"/>
              <a:gd name="connsiteY0" fmla="*/ 4762 h 369094"/>
              <a:gd name="connsiteX1" fmla="*/ 690562 w 690562"/>
              <a:gd name="connsiteY1" fmla="*/ 0 h 369094"/>
              <a:gd name="connsiteX2" fmla="*/ 678656 w 690562"/>
              <a:gd name="connsiteY2" fmla="*/ 369094 h 369094"/>
              <a:gd name="connsiteX3" fmla="*/ 457200 w 690562"/>
              <a:gd name="connsiteY3" fmla="*/ 361950 h 369094"/>
              <a:gd name="connsiteX4" fmla="*/ 461962 w 690562"/>
              <a:gd name="connsiteY4" fmla="*/ 159544 h 369094"/>
              <a:gd name="connsiteX5" fmla="*/ 0 w 690562"/>
              <a:gd name="connsiteY5" fmla="*/ 157162 h 369094"/>
              <a:gd name="connsiteX6" fmla="*/ 7143 w 690562"/>
              <a:gd name="connsiteY6" fmla="*/ 4762 h 3690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90562" h="369094">
                <a:moveTo>
                  <a:pt x="7143" y="4762"/>
                </a:moveTo>
                <a:lnTo>
                  <a:pt x="690562" y="0"/>
                </a:lnTo>
                <a:lnTo>
                  <a:pt x="678656" y="369094"/>
                </a:lnTo>
                <a:lnTo>
                  <a:pt x="457200" y="361950"/>
                </a:lnTo>
                <a:lnTo>
                  <a:pt x="461962" y="159544"/>
                </a:lnTo>
                <a:lnTo>
                  <a:pt x="0" y="157162"/>
                </a:lnTo>
                <a:lnTo>
                  <a:pt x="7143" y="4762"/>
                </a:lnTo>
                <a:close/>
              </a:path>
            </a:pathLst>
          </a:custGeom>
          <a:noFill/>
          <a:ln w="28575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2" name="Down Arrow 1"/>
          <p:cNvSpPr/>
          <p:nvPr/>
        </p:nvSpPr>
        <p:spPr bwMode="auto">
          <a:xfrm>
            <a:off x="7380312" y="2449664"/>
            <a:ext cx="421530" cy="422988"/>
          </a:xfrm>
          <a:prstGeom prst="downArrow">
            <a:avLst/>
          </a:prstGeom>
          <a:noFill/>
          <a:ln w="57150" cap="flat" cmpd="sng" algn="ctr">
            <a:solidFill>
              <a:srgbClr val="008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3D35512F-A83B-7C7C-BC3C-DF232951930A}"/>
              </a:ext>
            </a:extLst>
          </p:cNvPr>
          <p:cNvSpPr txBox="1">
            <a:spLocks/>
          </p:cNvSpPr>
          <p:nvPr/>
        </p:nvSpPr>
        <p:spPr>
          <a:xfrm>
            <a:off x="8532440" y="6400800"/>
            <a:ext cx="611560" cy="457200"/>
          </a:xfrm>
          <a:prstGeom prst="rect">
            <a:avLst/>
          </a:prstGeom>
          <a:ln/>
        </p:spPr>
        <p:txBody>
          <a:bodyPr/>
          <a:lstStyle>
            <a:defPPr>
              <a:defRPr lang="da-DK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800" b="1" kern="1200">
                <a:solidFill>
                  <a:srgbClr val="002060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341299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60350"/>
            <a:ext cx="8568183" cy="682625"/>
          </a:xfrm>
        </p:spPr>
        <p:txBody>
          <a:bodyPr/>
          <a:lstStyle/>
          <a:p>
            <a:pPr eaLnBrk="1" hangingPunct="1"/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</a:t>
            </a:r>
            <a:r>
              <a:rPr lang="da-DK" altLang="da-DK" sz="3200" noProof="0" dirty="0">
                <a:ea typeface="ＭＳ Ｐゴシック" pitchFamily="34" charset="-128"/>
              </a:rPr>
              <a:t>Vinduer (frames)</a:t>
            </a:r>
          </a:p>
        </p:txBody>
      </p:sp>
      <p:sp>
        <p:nvSpPr>
          <p:cNvPr id="3072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7544" y="1052736"/>
            <a:ext cx="8280920" cy="2664295"/>
          </a:xfrm>
        </p:spPr>
        <p:txBody>
          <a:bodyPr/>
          <a:lstStyle/>
          <a:p>
            <a:pPr>
              <a:spcBef>
                <a:spcPts val="1200"/>
              </a:spcBef>
            </a:pPr>
            <a:r>
              <a:rPr lang="da-DK" altLang="da-DK" sz="2000" dirty="0">
                <a:ea typeface="ＭＳ Ｐゴシック" pitchFamily="34" charset="-128"/>
              </a:rPr>
              <a:t>Lad os starte med at se, hvordan vi kan opbygge et vindue med nedenstående indhold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Dette gøres ved hjælp af en </a:t>
            </a:r>
            <a:r>
              <a:rPr lang="da-DK" altLang="da-DK" sz="1800" b="1" dirty="0">
                <a:solidFill>
                  <a:srgbClr val="008000"/>
                </a:solidFill>
                <a:ea typeface="ＭＳ Ｐゴシック" pitchFamily="34" charset="-128"/>
              </a:rPr>
              <a:t>frame</a:t>
            </a:r>
            <a:r>
              <a:rPr lang="da-DK" altLang="da-DK" sz="1800" dirty="0">
                <a:solidFill>
                  <a:srgbClr val="008000"/>
                </a:solidFill>
                <a:ea typeface="ＭＳ Ｐゴシック" pitchFamily="34" charset="-128"/>
              </a:rPr>
              <a:t> </a:t>
            </a:r>
            <a:r>
              <a:rPr lang="da-DK" altLang="da-DK" sz="1800" dirty="0">
                <a:ea typeface="ＭＳ Ｐゴシック" pitchFamily="34" charset="-128"/>
              </a:rPr>
              <a:t>(ramme)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Det er </a:t>
            </a:r>
            <a:r>
              <a:rPr lang="da-DK" altLang="da-DK" sz="1800" b="1" dirty="0">
                <a:solidFill>
                  <a:srgbClr val="008000"/>
                </a:solidFill>
                <a:ea typeface="ＭＳ Ｐゴシック" pitchFamily="34" charset="-128"/>
              </a:rPr>
              <a:t>operativsystemet</a:t>
            </a:r>
            <a:r>
              <a:rPr lang="da-DK" altLang="da-DK" sz="1800" dirty="0">
                <a:ea typeface="ＭＳ Ｐゴシック" pitchFamily="34" charset="-128"/>
              </a:rPr>
              <a:t>, der bestemmer, hvordan vinduet vises på skærmen (dvs. om den er øverst, delvist skjult af andre vinduer, eller helt gemt)</a:t>
            </a:r>
          </a:p>
        </p:txBody>
      </p:sp>
      <p:pic>
        <p:nvPicPr>
          <p:cNvPr id="6" name="Picture 5" descr="fig-13.2.png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62" t="2582" r="2862" b="11086"/>
          <a:stretch/>
        </p:blipFill>
        <p:spPr>
          <a:xfrm>
            <a:off x="2429177" y="2824471"/>
            <a:ext cx="4618551" cy="3836600"/>
          </a:xfrm>
          <a:prstGeom prst="rect">
            <a:avLst/>
          </a:prstGeom>
        </p:spPr>
      </p:pic>
      <p:sp>
        <p:nvSpPr>
          <p:cNvPr id="5" name="Rectangle 28"/>
          <p:cNvSpPr>
            <a:spLocks noChangeArrowheads="1"/>
          </p:cNvSpPr>
          <p:nvPr/>
        </p:nvSpPr>
        <p:spPr bwMode="auto">
          <a:xfrm>
            <a:off x="2595154" y="2880196"/>
            <a:ext cx="4267200" cy="3790570"/>
          </a:xfrm>
          <a:prstGeom prst="rect">
            <a:avLst/>
          </a:prstGeom>
          <a:noFill/>
          <a:ln w="25400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7" name="Line 7"/>
          <p:cNvSpPr>
            <a:spLocks noChangeShapeType="1"/>
          </p:cNvSpPr>
          <p:nvPr/>
        </p:nvSpPr>
        <p:spPr bwMode="auto">
          <a:xfrm>
            <a:off x="2085886" y="4734198"/>
            <a:ext cx="500437" cy="1383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1400182" y="4576563"/>
            <a:ext cx="746542" cy="3099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Frame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9BA4D4-168D-EFD1-B506-9F1C8A1A6557}"/>
              </a:ext>
            </a:extLst>
          </p:cNvPr>
          <p:cNvSpPr txBox="1">
            <a:spLocks/>
          </p:cNvSpPr>
          <p:nvPr/>
        </p:nvSpPr>
        <p:spPr>
          <a:xfrm>
            <a:off x="8532440" y="6400800"/>
            <a:ext cx="611560" cy="457200"/>
          </a:xfrm>
          <a:prstGeom prst="rect">
            <a:avLst/>
          </a:prstGeom>
          <a:ln/>
        </p:spPr>
        <p:txBody>
          <a:bodyPr/>
          <a:lstStyle>
            <a:defPPr>
              <a:defRPr lang="da-DK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800" b="1" kern="1200">
                <a:solidFill>
                  <a:srgbClr val="002060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1889414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Box 5"/>
          <p:cNvSpPr txBox="1">
            <a:spLocks noChangeArrowheads="1"/>
          </p:cNvSpPr>
          <p:nvPr/>
        </p:nvSpPr>
        <p:spPr bwMode="auto">
          <a:xfrm>
            <a:off x="996212" y="2518360"/>
            <a:ext cx="1486288" cy="7408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da-DK" sz="1400" dirty="0">
                <a:solidFill>
                  <a:srgbClr val="0000FF"/>
                </a:solidFill>
                <a:latin typeface="Arial" pitchFamily="34" charset="0"/>
                <a:ea typeface="ＭＳ Ｐゴシック" pitchFamily="34" charset="-128"/>
              </a:rPr>
              <a:t>Menubar</a:t>
            </a:r>
            <a:br>
              <a:rPr lang="da-DK" sz="1400" dirty="0">
                <a:solidFill>
                  <a:srgbClr val="0000FF"/>
                </a:solidFill>
                <a:latin typeface="Arial" pitchFamily="34" charset="0"/>
                <a:ea typeface="ＭＳ Ｐゴシック" pitchFamily="34" charset="-128"/>
              </a:rPr>
            </a:br>
            <a:r>
              <a:rPr lang="da-DK" sz="1400" spc="-60" dirty="0">
                <a:solidFill>
                  <a:srgbClr val="0000FF"/>
                </a:solidFill>
                <a:latin typeface="Arial" pitchFamily="34" charset="0"/>
                <a:ea typeface="ＭＳ Ｐゴシック" pitchFamily="34" charset="-128"/>
              </a:rPr>
              <a:t>med 3 menuer</a:t>
            </a:r>
            <a:br>
              <a:rPr lang="da-DK" sz="1400" spc="-60" dirty="0">
                <a:solidFill>
                  <a:srgbClr val="0000FF"/>
                </a:solidFill>
                <a:latin typeface="Arial" pitchFamily="34" charset="0"/>
                <a:ea typeface="ＭＳ Ｐゴシック" pitchFamily="34" charset="-128"/>
              </a:rPr>
            </a:br>
            <a:r>
              <a:rPr lang="da-DK" sz="1400" spc="-60" dirty="0">
                <a:solidFill>
                  <a:srgbClr val="0000FF"/>
                </a:solidFill>
                <a:latin typeface="Arial" pitchFamily="34" charset="0"/>
                <a:ea typeface="ＭＳ Ｐゴシック" pitchFamily="34" charset="-128"/>
              </a:rPr>
              <a:t>(</a:t>
            </a:r>
            <a:r>
              <a:rPr lang="da-DK" sz="1400" spc="-60" dirty="0" err="1">
                <a:solidFill>
                  <a:srgbClr val="0000FF"/>
                </a:solidFill>
                <a:latin typeface="Arial" pitchFamily="34" charset="0"/>
                <a:ea typeface="ＭＳ Ｐゴシック" pitchFamily="34" charset="-128"/>
              </a:rPr>
              <a:t>optional</a:t>
            </a:r>
            <a:r>
              <a:rPr lang="da-DK" sz="1400" spc="-60" dirty="0">
                <a:solidFill>
                  <a:srgbClr val="0000FF"/>
                </a:solidFill>
                <a:latin typeface="Arial" pitchFamily="34" charset="0"/>
                <a:ea typeface="ＭＳ Ｐゴシック" pitchFamily="34" charset="-128"/>
              </a:rPr>
              <a:t>)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2700831" y="2226221"/>
            <a:ext cx="4594405" cy="4171428"/>
            <a:chOff x="2547937" y="2350765"/>
            <a:chExt cx="4594405" cy="4171428"/>
          </a:xfrm>
        </p:grpSpPr>
        <p:grpSp>
          <p:nvGrpSpPr>
            <p:cNvPr id="3" name="Group 2"/>
            <p:cNvGrpSpPr/>
            <p:nvPr/>
          </p:nvGrpSpPr>
          <p:grpSpPr>
            <a:xfrm>
              <a:off x="2547937" y="2350765"/>
              <a:ext cx="4594405" cy="4171428"/>
              <a:chOff x="3093223" y="1815465"/>
              <a:chExt cx="4594405" cy="4171428"/>
            </a:xfrm>
          </p:grpSpPr>
          <p:pic>
            <p:nvPicPr>
              <p:cNvPr id="5" name="Picture 4" descr="imageviewer-jframe.tiff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93223" y="1821293"/>
                <a:ext cx="4572000" cy="4165600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6" name="Picture 2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668453" y="1815465"/>
                <a:ext cx="1019175" cy="209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63327" y="6172896"/>
              <a:ext cx="1619250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28" name="Picture 4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55367" y="2937891"/>
              <a:ext cx="1619250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4" name="Rectangle 28"/>
          <p:cNvSpPr>
            <a:spLocks noChangeArrowheads="1"/>
          </p:cNvSpPr>
          <p:nvPr/>
        </p:nvSpPr>
        <p:spPr bwMode="auto">
          <a:xfrm>
            <a:off x="2695929" y="2806484"/>
            <a:ext cx="4574351" cy="3594316"/>
          </a:xfrm>
          <a:prstGeom prst="rect">
            <a:avLst/>
          </a:prstGeom>
          <a:noFill/>
          <a:ln w="25400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0721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60350"/>
            <a:ext cx="8568183" cy="682625"/>
          </a:xfrm>
        </p:spPr>
        <p:txBody>
          <a:bodyPr/>
          <a:lstStyle/>
          <a:p>
            <a:pPr eaLnBrk="1" hangingPunct="1"/>
            <a:r>
              <a:rPr lang="da-DK" altLang="da-DK" sz="3200" noProof="0" dirty="0">
                <a:ea typeface="ＭＳ Ｐゴシック" pitchFamily="34" charset="-128"/>
              </a:rPr>
              <a:t>Terminologi for frames (vinduer)</a:t>
            </a: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4674615" y="1714633"/>
            <a:ext cx="545575" cy="3099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eaLnBrk="1" hangingPunct="1">
              <a:spcBef>
                <a:spcPct val="50000"/>
              </a:spcBef>
              <a:buFontTx/>
              <a:buNone/>
              <a:defRPr sz="1400" b="1">
                <a:solidFill>
                  <a:srgbClr val="0000FF"/>
                </a:solidFill>
              </a:defRPr>
            </a:lvl1pPr>
          </a:lstStyle>
          <a:p>
            <a:r>
              <a:rPr lang="en-GB" dirty="0" err="1">
                <a:solidFill>
                  <a:srgbClr val="FF0000"/>
                </a:solidFill>
              </a:rPr>
              <a:t>Titel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10" name="Line 7"/>
          <p:cNvSpPr>
            <a:spLocks noChangeShapeType="1"/>
          </p:cNvSpPr>
          <p:nvPr/>
        </p:nvSpPr>
        <p:spPr bwMode="auto">
          <a:xfrm flipH="1">
            <a:off x="4947403" y="1997495"/>
            <a:ext cx="0" cy="249784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Text Box 10"/>
          <p:cNvSpPr txBox="1">
            <a:spLocks noChangeArrowheads="1"/>
          </p:cNvSpPr>
          <p:nvPr/>
        </p:nvSpPr>
        <p:spPr bwMode="auto">
          <a:xfrm>
            <a:off x="1085539" y="1198138"/>
            <a:ext cx="5643509" cy="5254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defPPr>
              <a:defRPr lang="da-DK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9pPr>
          </a:lstStyle>
          <a:p>
            <a:pPr>
              <a:defRPr/>
            </a:pPr>
            <a:r>
              <a:rPr lang="da-DK" sz="1400" dirty="0">
                <a:solidFill>
                  <a:srgbClr val="FF0000"/>
                </a:solidFill>
                <a:latin typeface="Arial" pitchFamily="34" charset="0"/>
                <a:ea typeface="ＭＳ Ｐゴシック" pitchFamily="34" charset="-128"/>
              </a:rPr>
              <a:t>Knapper til kontrol af vinduet (minimer, maksimer, luk)</a:t>
            </a:r>
          </a:p>
          <a:p>
            <a:pPr marL="182563" indent="-182563">
              <a:buFont typeface="Arial" panose="020B0604020202020204" pitchFamily="34" charset="0"/>
              <a:buChar char="•"/>
              <a:defRPr/>
            </a:pPr>
            <a:r>
              <a:rPr lang="da-DK" sz="1400" dirty="0">
                <a:solidFill>
                  <a:srgbClr val="FF0000"/>
                </a:solidFill>
                <a:latin typeface="Arial" pitchFamily="34" charset="0"/>
                <a:ea typeface="ＭＳ Ｐゴシック" pitchFamily="34" charset="-128"/>
              </a:rPr>
              <a:t>Udseendet af kontrolknapperne afhænger af operativsystemet</a:t>
            </a:r>
          </a:p>
        </p:txBody>
      </p:sp>
      <p:sp>
        <p:nvSpPr>
          <p:cNvPr id="17" name="Rectangle 28"/>
          <p:cNvSpPr>
            <a:spLocks noChangeArrowheads="1"/>
          </p:cNvSpPr>
          <p:nvPr/>
        </p:nvSpPr>
        <p:spPr bwMode="auto">
          <a:xfrm>
            <a:off x="2683146" y="2518360"/>
            <a:ext cx="1851247" cy="258355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0" name="Line 7"/>
          <p:cNvSpPr>
            <a:spLocks noChangeShapeType="1"/>
          </p:cNvSpPr>
          <p:nvPr/>
        </p:nvSpPr>
        <p:spPr bwMode="auto">
          <a:xfrm>
            <a:off x="1937657" y="2358571"/>
            <a:ext cx="750798" cy="124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" name="Text Box 5"/>
          <p:cNvSpPr txBox="1">
            <a:spLocks noChangeArrowheads="1"/>
          </p:cNvSpPr>
          <p:nvPr/>
        </p:nvSpPr>
        <p:spPr bwMode="auto">
          <a:xfrm>
            <a:off x="1025384" y="2200040"/>
            <a:ext cx="824498" cy="3099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1400" dirty="0" err="1">
                <a:solidFill>
                  <a:srgbClr val="FF0000"/>
                </a:solidFill>
                <a:latin typeface="Arial" pitchFamily="34" charset="0"/>
                <a:ea typeface="ＭＳ Ｐゴシック" pitchFamily="34" charset="-128"/>
              </a:rPr>
              <a:t>Titelbar</a:t>
            </a:r>
            <a:endParaRPr lang="en-GB" sz="1400" dirty="0">
              <a:solidFill>
                <a:srgbClr val="FF0000"/>
              </a:solidFill>
              <a:latin typeface="Arial" pitchFamily="34" charset="0"/>
              <a:ea typeface="ＭＳ Ｐゴシック" pitchFamily="34" charset="-128"/>
            </a:endParaRPr>
          </a:p>
        </p:txBody>
      </p:sp>
      <p:sp>
        <p:nvSpPr>
          <p:cNvPr id="25" name="Rectangle 28"/>
          <p:cNvSpPr>
            <a:spLocks noChangeArrowheads="1"/>
          </p:cNvSpPr>
          <p:nvPr/>
        </p:nvSpPr>
        <p:spPr bwMode="auto">
          <a:xfrm>
            <a:off x="2778109" y="4648203"/>
            <a:ext cx="968377" cy="194691"/>
          </a:xfrm>
          <a:prstGeom prst="rect">
            <a:avLst/>
          </a:prstGeom>
          <a:noFill/>
          <a:ln w="25400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7" name="Line 7"/>
          <p:cNvSpPr>
            <a:spLocks noChangeShapeType="1"/>
          </p:cNvSpPr>
          <p:nvPr/>
        </p:nvSpPr>
        <p:spPr bwMode="auto">
          <a:xfrm flipH="1" flipV="1">
            <a:off x="3234548" y="4837056"/>
            <a:ext cx="0" cy="345562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" name="Text Box 5"/>
          <p:cNvSpPr txBox="1">
            <a:spLocks noChangeArrowheads="1"/>
          </p:cNvSpPr>
          <p:nvPr/>
        </p:nvSpPr>
        <p:spPr bwMode="auto">
          <a:xfrm>
            <a:off x="2919762" y="5120782"/>
            <a:ext cx="648232" cy="3099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Label</a:t>
            </a:r>
          </a:p>
        </p:txBody>
      </p:sp>
      <p:sp>
        <p:nvSpPr>
          <p:cNvPr id="29" name="Text Box 5"/>
          <p:cNvSpPr txBox="1">
            <a:spLocks noChangeArrowheads="1"/>
          </p:cNvSpPr>
          <p:nvPr/>
        </p:nvSpPr>
        <p:spPr bwMode="auto">
          <a:xfrm>
            <a:off x="2768090" y="4609452"/>
            <a:ext cx="1012113" cy="2791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1200" dirty="0">
                <a:latin typeface="Arial" pitchFamily="34" charset="0"/>
                <a:ea typeface="ＭＳ Ｐゴシック" pitchFamily="34" charset="-128"/>
              </a:rPr>
              <a:t>I am a label</a:t>
            </a:r>
          </a:p>
        </p:txBody>
      </p:sp>
      <p:sp>
        <p:nvSpPr>
          <p:cNvPr id="31" name="Line 7"/>
          <p:cNvSpPr>
            <a:spLocks noChangeShapeType="1"/>
          </p:cNvSpPr>
          <p:nvPr/>
        </p:nvSpPr>
        <p:spPr bwMode="auto">
          <a:xfrm flipV="1">
            <a:off x="1939402" y="2689243"/>
            <a:ext cx="721340" cy="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3" name="Rectangle 28"/>
          <p:cNvSpPr>
            <a:spLocks noChangeArrowheads="1"/>
          </p:cNvSpPr>
          <p:nvPr/>
        </p:nvSpPr>
        <p:spPr bwMode="auto">
          <a:xfrm>
            <a:off x="2687908" y="2520294"/>
            <a:ext cx="4587826" cy="254992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4" name="Rectangle 28"/>
          <p:cNvSpPr>
            <a:spLocks noChangeArrowheads="1"/>
          </p:cNvSpPr>
          <p:nvPr/>
        </p:nvSpPr>
        <p:spPr bwMode="auto">
          <a:xfrm>
            <a:off x="2678331" y="2221831"/>
            <a:ext cx="4589381" cy="266377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7" name="Line 7"/>
          <p:cNvSpPr>
            <a:spLocks noChangeShapeType="1"/>
          </p:cNvSpPr>
          <p:nvPr/>
        </p:nvSpPr>
        <p:spPr bwMode="auto">
          <a:xfrm>
            <a:off x="6691320" y="1973931"/>
            <a:ext cx="0" cy="255921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" name="Text Box 21"/>
          <p:cNvSpPr txBox="1">
            <a:spLocks noChangeArrowheads="1"/>
          </p:cNvSpPr>
          <p:nvPr/>
        </p:nvSpPr>
        <p:spPr bwMode="auto">
          <a:xfrm>
            <a:off x="5914445" y="4345322"/>
            <a:ext cx="2942261" cy="1703030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For </a:t>
            </a:r>
            <a:r>
              <a:rPr lang="da-DK" altLang="da-DK" sz="1400" b="1" dirty="0" err="1">
                <a:solidFill>
                  <a:srgbClr val="0000FF"/>
                </a:solidFill>
              </a:rPr>
              <a:t>GUI'er</a:t>
            </a:r>
            <a:r>
              <a:rPr lang="da-DK" altLang="da-DK" sz="1400" b="1" dirty="0">
                <a:solidFill>
                  <a:srgbClr val="0000FF"/>
                </a:solidFill>
              </a:rPr>
              <a:t> bruger jeg primært engelsk terminologi</a:t>
            </a:r>
          </a:p>
          <a:p>
            <a:pPr marL="182563" indent="-182563" eaLnBrk="1" hangingPunct="1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Dvs. </a:t>
            </a:r>
            <a:r>
              <a:rPr lang="da-DK" altLang="da-DK" sz="1400" b="1" dirty="0" err="1">
                <a:solidFill>
                  <a:srgbClr val="0000FF"/>
                </a:solidFill>
              </a:rPr>
              <a:t>content</a:t>
            </a:r>
            <a:r>
              <a:rPr lang="da-DK" altLang="da-DK" sz="1400" b="1" dirty="0">
                <a:solidFill>
                  <a:srgbClr val="0000FF"/>
                </a:solidFill>
              </a:rPr>
              <a:t> </a:t>
            </a:r>
            <a:r>
              <a:rPr lang="da-DK" altLang="da-DK" sz="1400" b="1" dirty="0" err="1">
                <a:solidFill>
                  <a:srgbClr val="0000FF"/>
                </a:solidFill>
              </a:rPr>
              <a:t>pane</a:t>
            </a:r>
            <a:r>
              <a:rPr lang="da-DK" altLang="da-DK" sz="1400" b="1" dirty="0">
                <a:solidFill>
                  <a:srgbClr val="0000FF"/>
                </a:solidFill>
              </a:rPr>
              <a:t> (i stedet for indholdsramme).</a:t>
            </a:r>
          </a:p>
          <a:p>
            <a:pPr marL="182563" indent="-182563" eaLnBrk="1" hangingPunct="1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Kun danske betegnelser, hvor oversættelsen er helt oplagt (f.eks. vindue, menu og knap)</a:t>
            </a:r>
          </a:p>
        </p:txBody>
      </p:sp>
      <p:sp>
        <p:nvSpPr>
          <p:cNvPr id="44" name="Text Box 6"/>
          <p:cNvSpPr txBox="1">
            <a:spLocks noChangeArrowheads="1"/>
          </p:cNvSpPr>
          <p:nvPr/>
        </p:nvSpPr>
        <p:spPr bwMode="auto">
          <a:xfrm>
            <a:off x="2827356" y="2923943"/>
            <a:ext cx="4240092" cy="13871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da-DK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da-DK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Af typen Container</a:t>
            </a:r>
          </a:p>
          <a:p>
            <a:pPr marL="182563" indent="-182563" eaLnBrk="1" hangingPunct="1"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da-DK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Kan indeholde forskellige GUI elementer</a:t>
            </a:r>
            <a:br>
              <a:rPr lang="da-DK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</a:br>
            <a:r>
              <a:rPr lang="da-DK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(på tilsvarende vis som en arrayliste indeholder elementer)</a:t>
            </a:r>
          </a:p>
          <a:p>
            <a:pPr marL="182563" indent="-182563" eaLnBrk="1" hangingPunct="1"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da-DK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I dette tilfælde indeholder den kun ét element, som er en label</a:t>
            </a:r>
          </a:p>
        </p:txBody>
      </p:sp>
      <p:sp>
        <p:nvSpPr>
          <p:cNvPr id="35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4</a:t>
            </a:fld>
            <a:endParaRPr lang="da-DK" altLang="da-DK" dirty="0"/>
          </a:p>
        </p:txBody>
      </p:sp>
      <p:sp>
        <p:nvSpPr>
          <p:cNvPr id="36" name="Text Box 5"/>
          <p:cNvSpPr txBox="1">
            <a:spLocks noChangeArrowheads="1"/>
          </p:cNvSpPr>
          <p:nvPr/>
        </p:nvSpPr>
        <p:spPr bwMode="auto">
          <a:xfrm>
            <a:off x="6275264" y="1704499"/>
            <a:ext cx="965627" cy="3099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1400" dirty="0">
                <a:solidFill>
                  <a:srgbClr val="FF0000"/>
                </a:solidFill>
                <a:latin typeface="Arial" pitchFamily="34" charset="0"/>
                <a:ea typeface="ＭＳ Ｐゴシック" pitchFamily="34" charset="-128"/>
              </a:rPr>
              <a:t>Windows</a:t>
            </a:r>
          </a:p>
        </p:txBody>
      </p:sp>
      <p:sp>
        <p:nvSpPr>
          <p:cNvPr id="39" name="Line 7"/>
          <p:cNvSpPr>
            <a:spLocks noChangeShapeType="1"/>
          </p:cNvSpPr>
          <p:nvPr/>
        </p:nvSpPr>
        <p:spPr bwMode="auto">
          <a:xfrm>
            <a:off x="3134089" y="1953886"/>
            <a:ext cx="0" cy="255921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" name="Text Box 5"/>
          <p:cNvSpPr txBox="1">
            <a:spLocks noChangeArrowheads="1"/>
          </p:cNvSpPr>
          <p:nvPr/>
        </p:nvSpPr>
        <p:spPr bwMode="auto">
          <a:xfrm>
            <a:off x="2718033" y="1684454"/>
            <a:ext cx="678689" cy="3099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1400" dirty="0">
                <a:solidFill>
                  <a:srgbClr val="FF0000"/>
                </a:solidFill>
                <a:latin typeface="Arial" pitchFamily="34" charset="0"/>
                <a:ea typeface="ＭＳ Ｐゴシック" pitchFamily="34" charset="-128"/>
              </a:rPr>
              <a:t>Apple</a:t>
            </a:r>
          </a:p>
        </p:txBody>
      </p:sp>
      <p:sp>
        <p:nvSpPr>
          <p:cNvPr id="38" name="Line 7"/>
          <p:cNvSpPr>
            <a:spLocks noChangeShapeType="1"/>
          </p:cNvSpPr>
          <p:nvPr/>
        </p:nvSpPr>
        <p:spPr bwMode="auto">
          <a:xfrm flipV="1">
            <a:off x="2341513" y="3806040"/>
            <a:ext cx="336818" cy="0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2" name="Text Box 5"/>
          <p:cNvSpPr txBox="1">
            <a:spLocks noChangeArrowheads="1"/>
          </p:cNvSpPr>
          <p:nvPr/>
        </p:nvSpPr>
        <p:spPr bwMode="auto">
          <a:xfrm>
            <a:off x="500918" y="3430088"/>
            <a:ext cx="2116551" cy="7408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da-DK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Content </a:t>
            </a:r>
            <a:r>
              <a:rPr lang="da-DK" sz="1400" dirty="0" err="1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pane</a:t>
            </a:r>
            <a:endParaRPr lang="da-DK" sz="1400" dirty="0">
              <a:solidFill>
                <a:srgbClr val="008000"/>
              </a:solidFill>
              <a:latin typeface="Arial" pitchFamily="34" charset="0"/>
              <a:ea typeface="ＭＳ Ｐゴシック" pitchFamily="34" charset="-128"/>
            </a:endParaRPr>
          </a:p>
          <a:p>
            <a:pPr marL="176213" indent="-176213" eaLnBrk="1" hangingPunct="1"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content </a:t>
            </a:r>
            <a:r>
              <a:rPr lang="en-GB" sz="1400" dirty="0">
                <a:solidFill>
                  <a:srgbClr val="008000"/>
                </a:solidFill>
                <a:latin typeface="Arial"/>
                <a:ea typeface="ＭＳ Ｐゴシック" pitchFamily="34" charset="-128"/>
                <a:cs typeface="Arial"/>
              </a:rPr>
              <a:t>≈</a:t>
            </a:r>
            <a:r>
              <a:rPr lang="en-GB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 </a:t>
            </a:r>
            <a:r>
              <a:rPr lang="en-GB" sz="1400" dirty="0" err="1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indhold</a:t>
            </a:r>
            <a:endParaRPr lang="en-GB" sz="1400" dirty="0">
              <a:solidFill>
                <a:srgbClr val="008000"/>
              </a:solidFill>
              <a:latin typeface="Arial" pitchFamily="34" charset="0"/>
              <a:ea typeface="ＭＳ Ｐゴシック" pitchFamily="34" charset="-128"/>
            </a:endParaRPr>
          </a:p>
          <a:p>
            <a:pPr marL="176213" indent="-176213" eaLnBrk="1" hangingPunct="1"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pane </a:t>
            </a:r>
            <a:r>
              <a:rPr lang="en-GB" sz="1400" dirty="0">
                <a:solidFill>
                  <a:srgbClr val="008000"/>
                </a:solidFill>
                <a:latin typeface="Arial"/>
                <a:ea typeface="ＭＳ Ｐゴシック" pitchFamily="34" charset="-128"/>
                <a:cs typeface="Arial"/>
              </a:rPr>
              <a:t>≈</a:t>
            </a:r>
            <a:r>
              <a:rPr lang="en-GB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 </a:t>
            </a:r>
            <a:r>
              <a:rPr lang="en-GB" sz="1400" dirty="0" err="1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ramme</a:t>
            </a:r>
            <a:r>
              <a:rPr lang="en-GB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/rude</a:t>
            </a:r>
            <a:endParaRPr lang="da-DK" sz="1400" spc="-60" dirty="0">
              <a:solidFill>
                <a:srgbClr val="008000"/>
              </a:solidFill>
              <a:latin typeface="Arial" pitchFamily="34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22009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24" grpId="0" animBg="1"/>
      <p:bldP spid="7" grpId="0"/>
      <p:bldP spid="10" grpId="0" animBg="1"/>
      <p:bldP spid="12" grpId="0"/>
      <p:bldP spid="17" grpId="0" animBg="1"/>
      <p:bldP spid="20" grpId="0" animBg="1"/>
      <p:bldP spid="21" grpId="0"/>
      <p:bldP spid="25" grpId="0" animBg="1"/>
      <p:bldP spid="27" grpId="0" animBg="1"/>
      <p:bldP spid="28" grpId="0"/>
      <p:bldP spid="29" grpId="0"/>
      <p:bldP spid="31" grpId="0" animBg="1"/>
      <p:bldP spid="33" grpId="0" animBg="1"/>
      <p:bldP spid="34" grpId="0" animBg="1"/>
      <p:bldP spid="37" grpId="0" animBg="1"/>
      <p:bldP spid="40" grpId="0" animBg="1"/>
      <p:bldP spid="44" grpId="0"/>
      <p:bldP spid="36" grpId="0"/>
      <p:bldP spid="39" grpId="0" animBg="1"/>
      <p:bldP spid="41" grpId="0"/>
      <p:bldP spid="38" grpId="0" animBg="1"/>
      <p:bldP spid="4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Java kode for simpel frame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5</a:t>
            </a:fld>
            <a:endParaRPr lang="da-DK" altLang="da-DK" dirty="0"/>
          </a:p>
        </p:txBody>
      </p:sp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2316651" y="1052736"/>
            <a:ext cx="6557541" cy="5037939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900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import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java.awt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.*;</a:t>
            </a:r>
          </a:p>
          <a:p>
            <a:pPr eaLnBrk="1" hangingPunct="1"/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import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java.awt.event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.*;</a:t>
            </a:r>
          </a:p>
          <a:p>
            <a:pPr eaLnBrk="1" hangingPunct="1"/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import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javax.swing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.*;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class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ImageViewer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{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frame;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ImageViewer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}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frame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ImageViewer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        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Container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frame.getContentPane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label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"I am a label"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(label);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frame.pack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frame.setVisible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70C0"/>
                </a:solidFill>
                <a:latin typeface="Courier New" pitchFamily="49" charset="0"/>
              </a:rPr>
              <a:t>true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}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6" name="Rectangle 28"/>
          <p:cNvSpPr>
            <a:spLocks noChangeArrowheads="1"/>
          </p:cNvSpPr>
          <p:nvPr/>
        </p:nvSpPr>
        <p:spPr bwMode="auto">
          <a:xfrm>
            <a:off x="2572618" y="2249555"/>
            <a:ext cx="2856327" cy="274017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8" name="Line 22"/>
          <p:cNvSpPr>
            <a:spLocks noChangeShapeType="1"/>
          </p:cNvSpPr>
          <p:nvPr/>
        </p:nvSpPr>
        <p:spPr bwMode="auto">
          <a:xfrm>
            <a:off x="1835696" y="2386563"/>
            <a:ext cx="736922" cy="4024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endParaRPr lang="da-DK"/>
          </a:p>
        </p:txBody>
      </p:sp>
      <p:sp>
        <p:nvSpPr>
          <p:cNvPr id="9" name="Text Box 21"/>
          <p:cNvSpPr txBox="1">
            <a:spLocks noChangeArrowheads="1"/>
          </p:cNvSpPr>
          <p:nvPr/>
        </p:nvSpPr>
        <p:spPr bwMode="auto">
          <a:xfrm>
            <a:off x="539552" y="2043441"/>
            <a:ext cx="1482362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Feltvariabel af type </a:t>
            </a:r>
            <a:r>
              <a:rPr lang="da-DK" altLang="da-DK" sz="1400" b="1" dirty="0" err="1">
                <a:solidFill>
                  <a:srgbClr val="0000FF"/>
                </a:solidFill>
              </a:rPr>
              <a:t>JFrame</a:t>
            </a:r>
            <a:endParaRPr lang="da-DK" altLang="da-DK" sz="1400" b="1" dirty="0">
              <a:solidFill>
                <a:srgbClr val="0000FF"/>
              </a:solidFill>
            </a:endParaRPr>
          </a:p>
        </p:txBody>
      </p:sp>
      <p:sp>
        <p:nvSpPr>
          <p:cNvPr id="11" name="Rectangle 28"/>
          <p:cNvSpPr>
            <a:spLocks noChangeArrowheads="1"/>
          </p:cNvSpPr>
          <p:nvPr/>
        </p:nvSpPr>
        <p:spPr bwMode="auto">
          <a:xfrm>
            <a:off x="2548004" y="3559706"/>
            <a:ext cx="6194695" cy="2187129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3" name="Rectangle 28"/>
          <p:cNvSpPr>
            <a:spLocks noChangeArrowheads="1"/>
          </p:cNvSpPr>
          <p:nvPr/>
        </p:nvSpPr>
        <p:spPr bwMode="auto">
          <a:xfrm>
            <a:off x="2811128" y="3855987"/>
            <a:ext cx="4239932" cy="265617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5" name="Text Box 21"/>
          <p:cNvSpPr txBox="1">
            <a:spLocks noChangeArrowheads="1"/>
          </p:cNvSpPr>
          <p:nvPr/>
        </p:nvSpPr>
        <p:spPr bwMode="auto">
          <a:xfrm>
            <a:off x="17725" y="4727745"/>
            <a:ext cx="2121625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Skab en label og tilføj den til </a:t>
            </a:r>
            <a:r>
              <a:rPr lang="da-DK" altLang="da-DK" sz="1400" b="1" dirty="0" err="1">
                <a:solidFill>
                  <a:srgbClr val="FF0000"/>
                </a:solidFill>
              </a:rPr>
              <a:t>contentPane</a:t>
            </a:r>
            <a:endParaRPr lang="da-DK" altLang="da-DK" sz="1400" b="1" dirty="0">
              <a:solidFill>
                <a:srgbClr val="FF0000"/>
              </a:solidFill>
            </a:endParaRPr>
          </a:p>
        </p:txBody>
      </p:sp>
      <p:sp>
        <p:nvSpPr>
          <p:cNvPr id="16" name="Text Box 21"/>
          <p:cNvSpPr txBox="1">
            <a:spLocks noChangeArrowheads="1"/>
          </p:cNvSpPr>
          <p:nvPr/>
        </p:nvSpPr>
        <p:spPr bwMode="auto">
          <a:xfrm>
            <a:off x="850880" y="3599312"/>
            <a:ext cx="1539705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Initialisering af feltvariablen</a:t>
            </a:r>
          </a:p>
        </p:txBody>
      </p:sp>
      <p:sp>
        <p:nvSpPr>
          <p:cNvPr id="19" name="Line 22"/>
          <p:cNvSpPr>
            <a:spLocks noChangeShapeType="1"/>
          </p:cNvSpPr>
          <p:nvPr/>
        </p:nvSpPr>
        <p:spPr bwMode="auto">
          <a:xfrm flipV="1">
            <a:off x="2070749" y="3970623"/>
            <a:ext cx="679809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da-DK" dirty="0"/>
              <a:t>                     </a:t>
            </a:r>
          </a:p>
        </p:txBody>
      </p:sp>
      <p:sp>
        <p:nvSpPr>
          <p:cNvPr id="17" name="Rectangle 28"/>
          <p:cNvSpPr>
            <a:spLocks noChangeArrowheads="1"/>
          </p:cNvSpPr>
          <p:nvPr/>
        </p:nvSpPr>
        <p:spPr bwMode="auto">
          <a:xfrm>
            <a:off x="2565299" y="2575123"/>
            <a:ext cx="2863647" cy="753121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8" name="Line 22"/>
          <p:cNvSpPr>
            <a:spLocks noChangeShapeType="1"/>
          </p:cNvSpPr>
          <p:nvPr/>
        </p:nvSpPr>
        <p:spPr bwMode="auto">
          <a:xfrm>
            <a:off x="1682536" y="2987861"/>
            <a:ext cx="853398" cy="44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endParaRPr lang="da-DK"/>
          </a:p>
        </p:txBody>
      </p:sp>
      <p:sp>
        <p:nvSpPr>
          <p:cNvPr id="21" name="Text Box 21"/>
          <p:cNvSpPr txBox="1">
            <a:spLocks noChangeArrowheads="1"/>
          </p:cNvSpPr>
          <p:nvPr/>
        </p:nvSpPr>
        <p:spPr bwMode="auto">
          <a:xfrm>
            <a:off x="530408" y="2829689"/>
            <a:ext cx="1206952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Konstruktør</a:t>
            </a:r>
          </a:p>
        </p:txBody>
      </p:sp>
      <p:sp>
        <p:nvSpPr>
          <p:cNvPr id="22" name="Line 22"/>
          <p:cNvSpPr>
            <a:spLocks noChangeShapeType="1"/>
          </p:cNvSpPr>
          <p:nvPr/>
        </p:nvSpPr>
        <p:spPr bwMode="auto">
          <a:xfrm>
            <a:off x="6277310" y="3259061"/>
            <a:ext cx="0" cy="292019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4" name="Rectangle 28"/>
          <p:cNvSpPr>
            <a:spLocks noChangeArrowheads="1"/>
          </p:cNvSpPr>
          <p:nvPr/>
        </p:nvSpPr>
        <p:spPr bwMode="auto">
          <a:xfrm>
            <a:off x="2808079" y="4182123"/>
            <a:ext cx="5843179" cy="286953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5" name="Text Box 21"/>
          <p:cNvSpPr txBox="1">
            <a:spLocks noChangeArrowheads="1"/>
          </p:cNvSpPr>
          <p:nvPr/>
        </p:nvSpPr>
        <p:spPr bwMode="auto">
          <a:xfrm>
            <a:off x="26868" y="4175433"/>
            <a:ext cx="2448273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Erklæring af lokal</a:t>
            </a:r>
            <a:br>
              <a:rPr lang="da-DK" altLang="da-DK" sz="1400" b="1" dirty="0">
                <a:solidFill>
                  <a:srgbClr val="FF0000"/>
                </a:solidFill>
              </a:rPr>
            </a:br>
            <a:r>
              <a:rPr lang="da-DK" altLang="da-DK" sz="1400" b="1" dirty="0">
                <a:solidFill>
                  <a:srgbClr val="FF0000"/>
                </a:solidFill>
              </a:rPr>
              <a:t>variabel af type Container</a:t>
            </a:r>
          </a:p>
        </p:txBody>
      </p:sp>
      <p:sp>
        <p:nvSpPr>
          <p:cNvPr id="26" name="Line 22"/>
          <p:cNvSpPr>
            <a:spLocks noChangeShapeType="1"/>
          </p:cNvSpPr>
          <p:nvPr/>
        </p:nvSpPr>
        <p:spPr bwMode="auto">
          <a:xfrm flipV="1">
            <a:off x="1720107" y="4320184"/>
            <a:ext cx="1085315" cy="258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da-DK" dirty="0"/>
              <a:t>                           </a:t>
            </a:r>
          </a:p>
        </p:txBody>
      </p:sp>
      <p:sp>
        <p:nvSpPr>
          <p:cNvPr id="27" name="Rectangle 28"/>
          <p:cNvSpPr>
            <a:spLocks noChangeArrowheads="1"/>
          </p:cNvSpPr>
          <p:nvPr/>
        </p:nvSpPr>
        <p:spPr bwMode="auto">
          <a:xfrm>
            <a:off x="2805032" y="4535691"/>
            <a:ext cx="5286545" cy="493509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9" name="Line 22"/>
          <p:cNvSpPr>
            <a:spLocks noChangeShapeType="1"/>
          </p:cNvSpPr>
          <p:nvPr/>
        </p:nvSpPr>
        <p:spPr bwMode="auto">
          <a:xfrm>
            <a:off x="2004661" y="4851230"/>
            <a:ext cx="800371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da-DK" dirty="0"/>
              <a:t>                     </a:t>
            </a:r>
          </a:p>
        </p:txBody>
      </p:sp>
      <p:sp>
        <p:nvSpPr>
          <p:cNvPr id="30" name="Rectangle 28"/>
          <p:cNvSpPr>
            <a:spLocks noChangeArrowheads="1"/>
          </p:cNvSpPr>
          <p:nvPr/>
        </p:nvSpPr>
        <p:spPr bwMode="auto">
          <a:xfrm>
            <a:off x="2811128" y="5081283"/>
            <a:ext cx="2932339" cy="503361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1" name="Line 22"/>
          <p:cNvSpPr>
            <a:spLocks noChangeShapeType="1"/>
          </p:cNvSpPr>
          <p:nvPr/>
        </p:nvSpPr>
        <p:spPr bwMode="auto">
          <a:xfrm>
            <a:off x="1729251" y="5421480"/>
            <a:ext cx="1081877" cy="113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da-DK" dirty="0"/>
              <a:t>                     </a:t>
            </a:r>
          </a:p>
        </p:txBody>
      </p:sp>
      <p:sp>
        <p:nvSpPr>
          <p:cNvPr id="32" name="Text Box 21"/>
          <p:cNvSpPr txBox="1">
            <a:spLocks noChangeArrowheads="1"/>
          </p:cNvSpPr>
          <p:nvPr/>
        </p:nvSpPr>
        <p:spPr bwMode="auto">
          <a:xfrm>
            <a:off x="26869" y="5274965"/>
            <a:ext cx="1986418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Rammen pakkes (størrelser og layout) og gøres synlig</a:t>
            </a:r>
          </a:p>
        </p:txBody>
      </p:sp>
      <p:sp>
        <p:nvSpPr>
          <p:cNvPr id="34" name="Rectangle 28"/>
          <p:cNvSpPr>
            <a:spLocks noChangeArrowheads="1"/>
          </p:cNvSpPr>
          <p:nvPr/>
        </p:nvSpPr>
        <p:spPr bwMode="auto">
          <a:xfrm>
            <a:off x="2410885" y="1130456"/>
            <a:ext cx="3015129" cy="775982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5" name="Line 22"/>
          <p:cNvSpPr>
            <a:spLocks noChangeShapeType="1"/>
          </p:cNvSpPr>
          <p:nvPr/>
        </p:nvSpPr>
        <p:spPr bwMode="auto">
          <a:xfrm>
            <a:off x="1943290" y="1253904"/>
            <a:ext cx="48461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endParaRPr lang="da-DK"/>
          </a:p>
        </p:txBody>
      </p:sp>
      <p:sp>
        <p:nvSpPr>
          <p:cNvPr id="36" name="Text Box 21"/>
          <p:cNvSpPr txBox="1">
            <a:spLocks noChangeArrowheads="1"/>
          </p:cNvSpPr>
          <p:nvPr/>
        </p:nvSpPr>
        <p:spPr bwMode="auto">
          <a:xfrm>
            <a:off x="215677" y="1107600"/>
            <a:ext cx="1980059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Importer relevante pakker fra AWT og Swing (bemærk x'et)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5831437" y="188640"/>
            <a:ext cx="3163670" cy="2063909"/>
            <a:chOff x="5521509" y="5725882"/>
            <a:chExt cx="2349781" cy="1525494"/>
          </a:xfrm>
        </p:grpSpPr>
        <p:pic>
          <p:nvPicPr>
            <p:cNvPr id="42" name="Picture 41" descr="imageviewer-jframe.tiff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" b="93182"/>
            <a:stretch/>
          </p:blipFill>
          <p:spPr bwMode="auto">
            <a:xfrm>
              <a:off x="5521509" y="5725882"/>
              <a:ext cx="2341789" cy="174605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42" descr="imageviewer-jframe.tiff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9547" b="27743"/>
            <a:stretch/>
          </p:blipFill>
          <p:spPr bwMode="auto">
            <a:xfrm>
              <a:off x="5529501" y="5901132"/>
              <a:ext cx="2341789" cy="1350244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4" name="Text Box 5"/>
            <p:cNvSpPr txBox="1">
              <a:spLocks noChangeArrowheads="1"/>
            </p:cNvSpPr>
            <p:nvPr/>
          </p:nvSpPr>
          <p:spPr bwMode="auto">
            <a:xfrm>
              <a:off x="5521509" y="6453749"/>
              <a:ext cx="1170895" cy="2176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square" lIns="90000" tIns="46800" rIns="90000" bIns="46800">
              <a:spAutoFit/>
            </a:bodyPr>
            <a:lstStyle>
              <a:defPPr>
                <a:defRPr lang="da-DK"/>
              </a:defPPr>
              <a:lvl1pPr eaLnBrk="0" hangingPunct="0">
                <a:defRPr sz="1800" b="1"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sz="800" dirty="0">
                  <a:latin typeface="Arial" pitchFamily="34" charset="0"/>
                  <a:ea typeface="ＭＳ Ｐゴシック" pitchFamily="34" charset="-128"/>
                </a:rPr>
                <a:t>I am a label</a:t>
              </a:r>
            </a:p>
          </p:txBody>
        </p:sp>
      </p:grpSp>
      <p:sp>
        <p:nvSpPr>
          <p:cNvPr id="45" name="Text Box 21"/>
          <p:cNvSpPr txBox="1">
            <a:spLocks noChangeArrowheads="1"/>
          </p:cNvSpPr>
          <p:nvPr/>
        </p:nvSpPr>
        <p:spPr bwMode="auto">
          <a:xfrm>
            <a:off x="5831437" y="2425809"/>
            <a:ext cx="2657515" cy="867930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Privat metode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Indeholder al kode til konstruktion af rammen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spc="-60" dirty="0">
                <a:solidFill>
                  <a:srgbClr val="0000FF"/>
                </a:solidFill>
              </a:rPr>
              <a:t>Eksempel på god "cohesion"</a:t>
            </a:r>
          </a:p>
        </p:txBody>
      </p:sp>
    </p:spTree>
    <p:extLst>
      <p:ext uri="{BB962C8B-B14F-4D97-AF65-F5344CB8AC3E}">
        <p14:creationId xmlns:p14="http://schemas.microsoft.com/office/powerpoint/2010/main" val="1165943541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2642656" cy="682625"/>
          </a:xfrm>
        </p:spPr>
        <p:txBody>
          <a:bodyPr/>
          <a:lstStyle/>
          <a:p>
            <a:pPr lvl="1"/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</a:t>
            </a:r>
            <a:r>
              <a:rPr lang="da-DK" altLang="da-DK" sz="3200" dirty="0">
                <a:ea typeface="ＭＳ Ｐゴシック" pitchFamily="34" charset="-128"/>
              </a:rPr>
              <a:t>Menuer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6</a:t>
            </a:fld>
            <a:endParaRPr lang="da-DK" altLang="da-DK" dirty="0"/>
          </a:p>
        </p:txBody>
      </p:sp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512993" y="1078387"/>
            <a:ext cx="4637955" cy="1451809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frame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ImageViewer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        </a:t>
            </a:r>
          </a:p>
          <a:p>
            <a:pPr eaLnBrk="1" hangingPunct="1">
              <a:lnSpc>
                <a:spcPct val="60000"/>
              </a:lnSpc>
              <a:spcBef>
                <a:spcPts val="3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3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(frame);</a:t>
            </a:r>
          </a:p>
          <a:p>
            <a:pPr eaLnBrk="1" hangingPunct="1">
              <a:lnSpc>
                <a:spcPct val="9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39" name="Text Box 4"/>
          <p:cNvSpPr txBox="1">
            <a:spLocks noChangeArrowheads="1"/>
          </p:cNvSpPr>
          <p:nvPr/>
        </p:nvSpPr>
        <p:spPr bwMode="auto">
          <a:xfrm>
            <a:off x="2771800" y="3112360"/>
            <a:ext cx="5728734" cy="3557000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frame) {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frame.setJMenuBar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        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>
                <a:solidFill>
                  <a:srgbClr val="0000FF"/>
                </a:solidFill>
                <a:latin typeface="Courier New" pitchFamily="49" charset="0"/>
              </a:rPr>
              <a:t>// Create the File menu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fileMenu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"File"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menubar.add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fileMenu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        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openItem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"Open"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fileMenu.add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openItem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quitItem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"Quit"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fileMenu.add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quitItem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  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  </a:t>
            </a:r>
          </a:p>
          <a:p>
            <a:pPr eaLnBrk="1" hangingPunct="1">
              <a:lnSpc>
                <a:spcPct val="5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40" name="Rectangle 28"/>
          <p:cNvSpPr>
            <a:spLocks noChangeArrowheads="1"/>
          </p:cNvSpPr>
          <p:nvPr/>
        </p:nvSpPr>
        <p:spPr bwMode="auto">
          <a:xfrm>
            <a:off x="3014128" y="3478102"/>
            <a:ext cx="4273640" cy="494928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41" name="Line 22"/>
          <p:cNvSpPr>
            <a:spLocks noChangeShapeType="1"/>
          </p:cNvSpPr>
          <p:nvPr/>
        </p:nvSpPr>
        <p:spPr bwMode="auto">
          <a:xfrm flipV="1">
            <a:off x="2551666" y="3780881"/>
            <a:ext cx="43055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42" name="Text Box 21"/>
          <p:cNvSpPr txBox="1">
            <a:spLocks noChangeArrowheads="1"/>
          </p:cNvSpPr>
          <p:nvPr/>
        </p:nvSpPr>
        <p:spPr bwMode="auto">
          <a:xfrm>
            <a:off x="111672" y="3640339"/>
            <a:ext cx="2664296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spc="-60" dirty="0">
                <a:solidFill>
                  <a:srgbClr val="0000FF"/>
                </a:solidFill>
              </a:rPr>
              <a:t>Skab en </a:t>
            </a:r>
            <a:r>
              <a:rPr lang="da-DK" altLang="da-DK" sz="1400" b="1" spc="-60" dirty="0">
                <a:solidFill>
                  <a:srgbClr val="008000"/>
                </a:solidFill>
              </a:rPr>
              <a:t>menubar</a:t>
            </a:r>
            <a:r>
              <a:rPr lang="da-DK" altLang="da-DK" sz="1400" b="1" spc="-60" dirty="0">
                <a:solidFill>
                  <a:srgbClr val="0000FF"/>
                </a:solidFill>
              </a:rPr>
              <a:t> og lad den </a:t>
            </a:r>
            <a:r>
              <a:rPr lang="da-DK" altLang="da-DK" sz="1400" b="1" dirty="0">
                <a:solidFill>
                  <a:srgbClr val="0000FF"/>
                </a:solidFill>
              </a:rPr>
              <a:t>være menubar for </a:t>
            </a:r>
            <a:r>
              <a:rPr lang="da-DK" altLang="da-DK" sz="1400" b="1" dirty="0">
                <a:solidFill>
                  <a:srgbClr val="FF0000"/>
                </a:solidFill>
              </a:rPr>
              <a:t>rammen</a:t>
            </a:r>
          </a:p>
        </p:txBody>
      </p:sp>
      <p:sp>
        <p:nvSpPr>
          <p:cNvPr id="43" name="Rectangle 28"/>
          <p:cNvSpPr>
            <a:spLocks noChangeArrowheads="1"/>
          </p:cNvSpPr>
          <p:nvPr/>
        </p:nvSpPr>
        <p:spPr bwMode="auto">
          <a:xfrm>
            <a:off x="3020224" y="4270582"/>
            <a:ext cx="4432096" cy="494928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44" name="Line 22"/>
          <p:cNvSpPr>
            <a:spLocks noChangeShapeType="1"/>
          </p:cNvSpPr>
          <p:nvPr/>
        </p:nvSpPr>
        <p:spPr bwMode="auto">
          <a:xfrm>
            <a:off x="2535608" y="4408894"/>
            <a:ext cx="502584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45" name="Text Box 21"/>
          <p:cNvSpPr txBox="1">
            <a:spLocks noChangeArrowheads="1"/>
          </p:cNvSpPr>
          <p:nvPr/>
        </p:nvSpPr>
        <p:spPr bwMode="auto">
          <a:xfrm>
            <a:off x="126763" y="4268686"/>
            <a:ext cx="2676822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en </a:t>
            </a:r>
            <a:r>
              <a:rPr lang="da-DK" altLang="da-DK" sz="1400" b="1" dirty="0">
                <a:solidFill>
                  <a:srgbClr val="008000"/>
                </a:solidFill>
              </a:rPr>
              <a:t>menu</a:t>
            </a:r>
            <a:r>
              <a:rPr lang="da-DK" altLang="da-DK" sz="1400" b="1" dirty="0">
                <a:solidFill>
                  <a:srgbClr val="0000FF"/>
                </a:solidFill>
              </a:rPr>
              <a:t> med navnet </a:t>
            </a:r>
            <a:r>
              <a:rPr lang="da-DK" altLang="da-DK" sz="1400" b="1" spc="-30" dirty="0">
                <a:solidFill>
                  <a:srgbClr val="0000FF"/>
                </a:solidFill>
              </a:rPr>
              <a:t>File og tilføj den til </a:t>
            </a:r>
            <a:r>
              <a:rPr lang="da-DK" altLang="da-DK" sz="1400" b="1" spc="-30" dirty="0" err="1">
                <a:solidFill>
                  <a:srgbClr val="FF0000"/>
                </a:solidFill>
              </a:rPr>
              <a:t>menubaren</a:t>
            </a:r>
            <a:endParaRPr lang="da-DK" altLang="da-DK" sz="1400" b="1" spc="-30" dirty="0">
              <a:solidFill>
                <a:srgbClr val="FF0000"/>
              </a:solidFill>
            </a:endParaRPr>
          </a:p>
        </p:txBody>
      </p:sp>
      <p:sp>
        <p:nvSpPr>
          <p:cNvPr id="46" name="Rectangle 28"/>
          <p:cNvSpPr>
            <a:spLocks noChangeArrowheads="1"/>
          </p:cNvSpPr>
          <p:nvPr/>
        </p:nvSpPr>
        <p:spPr bwMode="auto">
          <a:xfrm>
            <a:off x="3020224" y="4846654"/>
            <a:ext cx="5364824" cy="516264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47" name="Line 22"/>
          <p:cNvSpPr>
            <a:spLocks noChangeShapeType="1"/>
          </p:cNvSpPr>
          <p:nvPr/>
        </p:nvSpPr>
        <p:spPr bwMode="auto">
          <a:xfrm>
            <a:off x="2216989" y="4983701"/>
            <a:ext cx="803235" cy="126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48" name="Text Box 21"/>
          <p:cNvSpPr txBox="1">
            <a:spLocks noChangeArrowheads="1"/>
          </p:cNvSpPr>
          <p:nvPr/>
        </p:nvSpPr>
        <p:spPr bwMode="auto">
          <a:xfrm>
            <a:off x="107504" y="4847013"/>
            <a:ext cx="2216624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en </a:t>
            </a:r>
            <a:r>
              <a:rPr lang="da-DK" altLang="da-DK" sz="1400" b="1" dirty="0">
                <a:solidFill>
                  <a:srgbClr val="008000"/>
                </a:solidFill>
              </a:rPr>
              <a:t>menuindgang</a:t>
            </a:r>
            <a:r>
              <a:rPr lang="da-DK" altLang="da-DK" sz="1400" b="1" dirty="0">
                <a:solidFill>
                  <a:srgbClr val="0000FF"/>
                </a:solidFill>
              </a:rPr>
              <a:t> med navnet Open og tilføj den til </a:t>
            </a:r>
            <a:r>
              <a:rPr lang="da-DK" altLang="da-DK" sz="1400" b="1" dirty="0">
                <a:solidFill>
                  <a:srgbClr val="FF0000"/>
                </a:solidFill>
              </a:rPr>
              <a:t>File menuen</a:t>
            </a:r>
          </a:p>
        </p:txBody>
      </p:sp>
      <p:sp>
        <p:nvSpPr>
          <p:cNvPr id="49" name="Rectangle 28"/>
          <p:cNvSpPr>
            <a:spLocks noChangeArrowheads="1"/>
          </p:cNvSpPr>
          <p:nvPr/>
        </p:nvSpPr>
        <p:spPr bwMode="auto">
          <a:xfrm>
            <a:off x="3017176" y="5716148"/>
            <a:ext cx="5381757" cy="493782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50" name="Line 22"/>
          <p:cNvSpPr>
            <a:spLocks noChangeShapeType="1"/>
          </p:cNvSpPr>
          <p:nvPr/>
        </p:nvSpPr>
        <p:spPr bwMode="auto">
          <a:xfrm>
            <a:off x="2216989" y="5854762"/>
            <a:ext cx="797139" cy="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51" name="Text Box 21"/>
          <p:cNvSpPr txBox="1">
            <a:spLocks noChangeArrowheads="1"/>
          </p:cNvSpPr>
          <p:nvPr/>
        </p:nvSpPr>
        <p:spPr bwMode="auto">
          <a:xfrm>
            <a:off x="115848" y="5678687"/>
            <a:ext cx="2356096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en </a:t>
            </a:r>
            <a:r>
              <a:rPr lang="da-DK" altLang="da-DK" sz="1400" b="1" dirty="0">
                <a:solidFill>
                  <a:srgbClr val="008000"/>
                </a:solidFill>
              </a:rPr>
              <a:t>menuindgang</a:t>
            </a:r>
            <a:r>
              <a:rPr lang="da-DK" altLang="da-DK" sz="1400" b="1" dirty="0">
                <a:solidFill>
                  <a:srgbClr val="0000FF"/>
                </a:solidFill>
              </a:rPr>
              <a:t> med navnet </a:t>
            </a:r>
            <a:r>
              <a:rPr lang="da-DK" altLang="da-DK" sz="1400" b="1" dirty="0" err="1">
                <a:solidFill>
                  <a:srgbClr val="0000FF"/>
                </a:solidFill>
              </a:rPr>
              <a:t>Quit</a:t>
            </a:r>
            <a:r>
              <a:rPr lang="da-DK" altLang="da-DK" sz="1400" b="1" dirty="0">
                <a:solidFill>
                  <a:srgbClr val="0000FF"/>
                </a:solidFill>
              </a:rPr>
              <a:t> og</a:t>
            </a:r>
            <a:br>
              <a:rPr lang="da-DK" altLang="da-DK" sz="1400" b="1" dirty="0">
                <a:solidFill>
                  <a:srgbClr val="0000FF"/>
                </a:solidFill>
              </a:rPr>
            </a:br>
            <a:r>
              <a:rPr lang="da-DK" altLang="da-DK" sz="1400" b="1" dirty="0">
                <a:solidFill>
                  <a:srgbClr val="0000FF"/>
                </a:solidFill>
              </a:rPr>
              <a:t>tilføj den til </a:t>
            </a:r>
            <a:r>
              <a:rPr lang="da-DK" altLang="da-DK" sz="1400" b="1" dirty="0">
                <a:solidFill>
                  <a:srgbClr val="FF0000"/>
                </a:solidFill>
              </a:rPr>
              <a:t>File menuen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364792" y="266872"/>
            <a:ext cx="2356370" cy="1692286"/>
            <a:chOff x="6364792" y="266872"/>
            <a:chExt cx="2356370" cy="1692286"/>
          </a:xfrm>
        </p:grpSpPr>
        <p:grpSp>
          <p:nvGrpSpPr>
            <p:cNvPr id="34" name="Group 33"/>
            <p:cNvGrpSpPr/>
            <p:nvPr/>
          </p:nvGrpSpPr>
          <p:grpSpPr>
            <a:xfrm>
              <a:off x="6364792" y="266872"/>
              <a:ext cx="2356370" cy="1692286"/>
              <a:chOff x="5918139" y="5230635"/>
              <a:chExt cx="2356370" cy="1692286"/>
            </a:xfrm>
          </p:grpSpPr>
          <p:pic>
            <p:nvPicPr>
              <p:cNvPr id="35" name="Picture 34" descr="imageviewer-jframe.tiff"/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" b="85219"/>
              <a:stretch/>
            </p:blipFill>
            <p:spPr bwMode="auto">
              <a:xfrm>
                <a:off x="5927559" y="5230635"/>
                <a:ext cx="2341789" cy="378594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6" name="Picture 35" descr="imageviewer-jframe.tiff"/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9547" b="27743"/>
              <a:stretch/>
            </p:blipFill>
            <p:spPr bwMode="auto">
              <a:xfrm>
                <a:off x="5932720" y="5572677"/>
                <a:ext cx="2341789" cy="1350244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7" name="Text Box 5"/>
              <p:cNvSpPr txBox="1">
                <a:spLocks noChangeArrowheads="1"/>
              </p:cNvSpPr>
              <p:nvPr/>
            </p:nvSpPr>
            <p:spPr bwMode="auto">
              <a:xfrm>
                <a:off x="5918139" y="6161294"/>
                <a:ext cx="1170895" cy="21762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square" lIns="90000" tIns="46800" rIns="90000" bIns="46800">
                <a:spAutoFit/>
              </a:bodyPr>
              <a:lstStyle>
                <a:defPPr>
                  <a:defRPr lang="da-DK"/>
                </a:defPPr>
                <a:lvl1pPr eaLnBrk="0" hangingPunct="0">
                  <a:defRPr sz="1800" b="1">
                    <a:solidFill>
                      <a:schemeClr val="tx1"/>
                    </a:solidFill>
                    <a:latin typeface="Arial" charset="0"/>
                    <a:ea typeface="MS PGothic" charset="-128"/>
                  </a:defRPr>
                </a:lvl1pPr>
                <a:lvl2pPr eaLnBrk="0" hangingPunct="0"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2pPr>
                <a:lvl3pPr eaLnBrk="0" hangingPunct="0"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3pPr>
                <a:lvl4pPr eaLnBrk="0" hangingPunct="0"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4pPr>
                <a:lvl5pPr eaLnBrk="0" hangingPunct="0"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5pPr>
                <a:lvl6pPr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6pPr>
                <a:lvl7pPr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7pPr>
                <a:lvl8pPr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8pPr>
                <a:lvl9pPr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GB" sz="800" dirty="0">
                    <a:latin typeface="Arial" pitchFamily="34" charset="0"/>
                    <a:ea typeface="ＭＳ Ｐゴシック" pitchFamily="34" charset="-128"/>
                  </a:rPr>
                  <a:t>I am a label</a:t>
                </a:r>
              </a:p>
            </p:txBody>
          </p:sp>
        </p:grpSp>
        <p:sp>
          <p:nvSpPr>
            <p:cNvPr id="32" name="Rectangle 28"/>
            <p:cNvSpPr>
              <a:spLocks noChangeArrowheads="1"/>
            </p:cNvSpPr>
            <p:nvPr/>
          </p:nvSpPr>
          <p:spPr bwMode="auto">
            <a:xfrm>
              <a:off x="6374212" y="443002"/>
              <a:ext cx="2336286" cy="162778"/>
            </a:xfrm>
            <a:prstGeom prst="rect">
              <a:avLst/>
            </a:prstGeom>
            <a:noFill/>
            <a:ln w="25400">
              <a:solidFill>
                <a:srgbClr val="008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grpSp>
          <p:nvGrpSpPr>
            <p:cNvPr id="3" name="Group 2"/>
            <p:cNvGrpSpPr/>
            <p:nvPr/>
          </p:nvGrpSpPr>
          <p:grpSpPr>
            <a:xfrm>
              <a:off x="6384902" y="617816"/>
              <a:ext cx="410478" cy="342700"/>
              <a:chOff x="5497396" y="402663"/>
              <a:chExt cx="410478" cy="342700"/>
            </a:xfrm>
            <a:solidFill>
              <a:schemeClr val="bg1">
                <a:lumMod val="85000"/>
              </a:schemeClr>
            </a:solidFill>
          </p:grpSpPr>
          <p:sp>
            <p:nvSpPr>
              <p:cNvPr id="57" name="Text Box 21"/>
              <p:cNvSpPr txBox="1">
                <a:spLocks noChangeArrowheads="1"/>
              </p:cNvSpPr>
              <p:nvPr/>
            </p:nvSpPr>
            <p:spPr bwMode="auto">
              <a:xfrm>
                <a:off x="5497397" y="402663"/>
                <a:ext cx="410477" cy="182812"/>
              </a:xfrm>
              <a:prstGeom prst="rect">
                <a:avLst/>
              </a:prstGeom>
              <a:grpFill/>
              <a:ln w="9525" algn="ctr">
                <a:solidFill>
                  <a:srgbClr val="0070C0"/>
                </a:solidFill>
                <a:miter lim="800000"/>
                <a:headEnd/>
                <a:tailEnd/>
              </a:ln>
            </p:spPr>
            <p:txBody>
              <a:bodyPr wrap="square" lIns="54000" tIns="28800" rIns="54000" bIns="28800">
                <a:spAutoFit/>
              </a:bodyPr>
              <a:lstStyle>
                <a:defPPr>
                  <a:defRPr lang="da-DK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5pPr>
                <a:lvl6pPr marL="22860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6pPr>
                <a:lvl7pPr marL="27432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7pPr>
                <a:lvl8pPr marL="32004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8pPr>
                <a:lvl9pPr marL="36576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9pPr>
              </a:lstStyle>
              <a:p>
                <a:pPr eaLnBrk="1" hangingPunct="1">
                  <a:lnSpc>
                    <a:spcPct val="90000"/>
                  </a:lnSpc>
                  <a:spcBef>
                    <a:spcPct val="50000"/>
                  </a:spcBef>
                  <a:buFontTx/>
                  <a:buNone/>
                </a:pPr>
                <a:r>
                  <a:rPr lang="da-DK" altLang="da-DK" sz="900" b="1" dirty="0">
                    <a:solidFill>
                      <a:schemeClr val="tx1"/>
                    </a:solidFill>
                  </a:rPr>
                  <a:t>Open</a:t>
                </a:r>
              </a:p>
            </p:txBody>
          </p:sp>
          <p:sp>
            <p:nvSpPr>
              <p:cNvPr id="60" name="Text Box 21"/>
              <p:cNvSpPr txBox="1">
                <a:spLocks noChangeArrowheads="1"/>
              </p:cNvSpPr>
              <p:nvPr/>
            </p:nvSpPr>
            <p:spPr bwMode="auto">
              <a:xfrm>
                <a:off x="5497396" y="562551"/>
                <a:ext cx="410477" cy="182812"/>
              </a:xfrm>
              <a:prstGeom prst="rect">
                <a:avLst/>
              </a:prstGeom>
              <a:grpFill/>
              <a:ln w="9525" algn="ctr">
                <a:solidFill>
                  <a:srgbClr val="0070C0"/>
                </a:solidFill>
                <a:miter lim="800000"/>
                <a:headEnd/>
                <a:tailEnd/>
              </a:ln>
            </p:spPr>
            <p:txBody>
              <a:bodyPr wrap="square" lIns="54000" tIns="28800" rIns="54000" bIns="28800">
                <a:spAutoFit/>
              </a:bodyPr>
              <a:lstStyle>
                <a:defPPr>
                  <a:defRPr lang="da-DK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5pPr>
                <a:lvl6pPr marL="22860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6pPr>
                <a:lvl7pPr marL="27432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7pPr>
                <a:lvl8pPr marL="32004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8pPr>
                <a:lvl9pPr marL="36576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9pPr>
              </a:lstStyle>
              <a:p>
                <a:pPr eaLnBrk="1" hangingPunct="1">
                  <a:lnSpc>
                    <a:spcPct val="90000"/>
                  </a:lnSpc>
                  <a:spcBef>
                    <a:spcPct val="50000"/>
                  </a:spcBef>
                  <a:buFontTx/>
                  <a:buNone/>
                </a:pPr>
                <a:r>
                  <a:rPr lang="da-DK" altLang="da-DK" sz="900" b="1" dirty="0" err="1">
                    <a:solidFill>
                      <a:schemeClr val="tx1"/>
                    </a:solidFill>
                  </a:rPr>
                  <a:t>Quit</a:t>
                </a:r>
                <a:endParaRPr lang="da-DK" altLang="da-DK" sz="900" b="1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61" name="Text Box 21"/>
          <p:cNvSpPr txBox="1">
            <a:spLocks noChangeArrowheads="1"/>
          </p:cNvSpPr>
          <p:nvPr/>
        </p:nvSpPr>
        <p:spPr bwMode="auto">
          <a:xfrm>
            <a:off x="7222050" y="872859"/>
            <a:ext cx="1265225" cy="789960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marL="182563" indent="-182563" eaLnBrk="1" hangingPunct="1"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Menubar</a:t>
            </a:r>
          </a:p>
          <a:p>
            <a:pPr marL="182563" indent="-182563" eaLnBrk="1" hangingPunct="1"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Menu</a:t>
            </a:r>
          </a:p>
          <a:p>
            <a:pPr marL="182563" indent="-182563" eaLnBrk="1" hangingPunct="1"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 err="1">
                <a:solidFill>
                  <a:srgbClr val="0000FF"/>
                </a:solidFill>
              </a:rPr>
              <a:t>MenuItem</a:t>
            </a:r>
            <a:endParaRPr lang="da-DK" altLang="da-DK" sz="1400" b="1" dirty="0">
              <a:solidFill>
                <a:srgbClr val="0000FF"/>
              </a:solidFill>
            </a:endParaRPr>
          </a:p>
        </p:txBody>
      </p:sp>
      <p:sp>
        <p:nvSpPr>
          <p:cNvPr id="59" name="Line 22"/>
          <p:cNvSpPr>
            <a:spLocks noChangeShapeType="1"/>
          </p:cNvSpPr>
          <p:nvPr/>
        </p:nvSpPr>
        <p:spPr bwMode="auto">
          <a:xfrm>
            <a:off x="3937753" y="2808202"/>
            <a:ext cx="0" cy="292019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62" name="Text Box 21"/>
          <p:cNvSpPr txBox="1">
            <a:spLocks noChangeArrowheads="1"/>
          </p:cNvSpPr>
          <p:nvPr/>
        </p:nvSpPr>
        <p:spPr bwMode="auto">
          <a:xfrm>
            <a:off x="3391912" y="1717208"/>
            <a:ext cx="2672457" cy="1113125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Privat metode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Indeholder al kode til konstruktion af </a:t>
            </a:r>
            <a:r>
              <a:rPr lang="da-DK" altLang="da-DK" sz="1400" b="1" dirty="0" err="1">
                <a:solidFill>
                  <a:srgbClr val="0000FF"/>
                </a:solidFill>
              </a:rPr>
              <a:t>menubaren</a:t>
            </a:r>
            <a:endParaRPr lang="da-DK" altLang="da-DK" sz="1400" b="1" dirty="0">
              <a:solidFill>
                <a:srgbClr val="0000FF"/>
              </a:solidFill>
            </a:endParaRPr>
          </a:p>
          <a:p>
            <a:pPr marL="182563" indent="-182563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Har rammen (frame) som parameter</a:t>
            </a:r>
          </a:p>
        </p:txBody>
      </p:sp>
      <p:sp>
        <p:nvSpPr>
          <p:cNvPr id="29" name="Rectangle 28"/>
          <p:cNvSpPr>
            <a:spLocks noChangeArrowheads="1"/>
          </p:cNvSpPr>
          <p:nvPr/>
        </p:nvSpPr>
        <p:spPr bwMode="auto">
          <a:xfrm>
            <a:off x="762962" y="1827828"/>
            <a:ext cx="2450501" cy="262229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</p:spTree>
    <p:extLst>
      <p:ext uri="{BB962C8B-B14F-4D97-AF65-F5344CB8AC3E}">
        <p14:creationId xmlns:p14="http://schemas.microsoft.com/office/powerpoint/2010/main" val="1341830516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</a:t>
            </a:r>
            <a:r>
              <a:rPr lang="da-DK" altLang="da-DK" sz="3200" dirty="0">
                <a:ea typeface="ＭＳ Ｐゴシック" pitchFamily="34" charset="-128"/>
              </a:rPr>
              <a:t>Håndtering af events (actions)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7</a:t>
            </a:fld>
            <a:endParaRPr lang="da-DK" altLang="da-DK" dirty="0"/>
          </a:p>
        </p:txBody>
      </p:sp>
      <p:sp>
        <p:nvSpPr>
          <p:cNvPr id="27" name="Rectangle 3"/>
          <p:cNvSpPr txBox="1">
            <a:spLocks noChangeArrowheads="1"/>
          </p:cNvSpPr>
          <p:nvPr/>
        </p:nvSpPr>
        <p:spPr bwMode="auto">
          <a:xfrm>
            <a:off x="393454" y="953809"/>
            <a:ext cx="8571033" cy="27124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altLang="da-DK" sz="2000" kern="0" dirty="0">
                <a:ea typeface="ＭＳ Ｐゴシック" pitchFamily="34" charset="-128"/>
              </a:rPr>
              <a:t>Brugerne aktiverer objekterne i GUI'en ved </a:t>
            </a:r>
            <a:r>
              <a:rPr lang="da-DK" altLang="da-DK" sz="2000" kern="0" spc="-100" dirty="0">
                <a:ea typeface="ＭＳ Ｐゴシック" pitchFamily="34" charset="-128"/>
              </a:rPr>
              <a:t>hjælp af mus og tastatur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1200" spc="-50" dirty="0">
                <a:ea typeface="ＭＳ Ｐゴシック" pitchFamily="34" charset="-128"/>
              </a:rPr>
              <a:t>Man kan trykke på knapper og menuindgange,</a:t>
            </a:r>
            <a:r>
              <a:rPr lang="da-DK" altLang="da-DK" sz="1800" spc="-50" dirty="0">
                <a:ea typeface="ＭＳ Ｐゴシック" pitchFamily="34" charset="-128"/>
              </a:rPr>
              <a:t> indtaste tekst i tekstbokse,</a:t>
            </a:r>
            <a:r>
              <a:rPr lang="da-DK" altLang="da-DK" sz="1800" kern="1200" spc="-50" dirty="0">
                <a:ea typeface="ＭＳ Ｐゴシック" pitchFamily="34" charset="-128"/>
              </a:rPr>
              <a:t> osv.</a:t>
            </a:r>
          </a:p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Når et GUI objekt aktiveres af brugeren genereres et </a:t>
            </a:r>
            <a:r>
              <a:rPr lang="da-DK" altLang="da-DK" b="1" kern="0" dirty="0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ActionEvent</a:t>
            </a:r>
          </a:p>
          <a:p>
            <a:pPr lvl="1">
              <a:spcBef>
                <a:spcPts val="400"/>
              </a:spcBef>
            </a:pPr>
            <a:r>
              <a:rPr lang="da-DK" altLang="da-DK" sz="1800" dirty="0">
                <a:ea typeface="ＭＳ Ｐゴシック" pitchFamily="34" charset="-128"/>
              </a:rPr>
              <a:t>Dette sendes til alle de objekter, som </a:t>
            </a:r>
            <a:r>
              <a:rPr lang="da-DK" altLang="da-DK" sz="1800" b="1" dirty="0">
                <a:solidFill>
                  <a:srgbClr val="008000"/>
                </a:solidFill>
                <a:ea typeface="ＭＳ Ｐゴシック" pitchFamily="34" charset="-128"/>
              </a:rPr>
              <a:t>abonnerer</a:t>
            </a:r>
            <a:r>
              <a:rPr lang="da-DK" altLang="da-DK" sz="1800" dirty="0">
                <a:solidFill>
                  <a:srgbClr val="008000"/>
                </a:solidFill>
                <a:ea typeface="ＭＳ Ｐゴシック" pitchFamily="34" charset="-128"/>
              </a:rPr>
              <a:t> </a:t>
            </a:r>
            <a:r>
              <a:rPr lang="da-DK" altLang="da-DK" sz="1800" dirty="0">
                <a:ea typeface="ＭＳ Ｐゴシック" pitchFamily="34" charset="-128"/>
              </a:rPr>
              <a:t>på ActionEvents fra det pågældende GUI objekt</a:t>
            </a:r>
          </a:p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Man registrerer sig som abonnent via </a:t>
            </a:r>
            <a:r>
              <a:rPr lang="da-DK" altLang="da-DK" b="1" kern="0" dirty="0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addActionListener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metoden</a:t>
            </a:r>
          </a:p>
          <a:p>
            <a:pPr lvl="1">
              <a:spcBef>
                <a:spcPts val="400"/>
              </a:spcBef>
            </a:pPr>
            <a:r>
              <a:rPr lang="da-DK" altLang="da-DK" sz="1800" spc="-40" dirty="0">
                <a:ea typeface="ＭＳ Ｐゴシック" pitchFamily="34" charset="-128"/>
              </a:rPr>
              <a:t>Parameteren fortæller, hvad der skal gøres, når et </a:t>
            </a:r>
            <a:r>
              <a:rPr lang="da-DK" altLang="da-DK" sz="1800" b="1" spc="-40" dirty="0">
                <a:solidFill>
                  <a:srgbClr val="008000"/>
                </a:solidFill>
                <a:ea typeface="ＭＳ Ｐゴシック" pitchFamily="34" charset="-128"/>
              </a:rPr>
              <a:t>ActionEvent  e</a:t>
            </a:r>
            <a:r>
              <a:rPr lang="da-DK" altLang="da-DK" sz="1800" spc="-40" dirty="0">
                <a:ea typeface="ＭＳ Ｐゴシック" pitchFamily="34" charset="-128"/>
              </a:rPr>
              <a:t> modtages</a:t>
            </a:r>
          </a:p>
        </p:txBody>
      </p:sp>
      <p:sp>
        <p:nvSpPr>
          <p:cNvPr id="28" name="Text Box 4"/>
          <p:cNvSpPr txBox="1">
            <a:spLocks noChangeArrowheads="1"/>
          </p:cNvSpPr>
          <p:nvPr/>
        </p:nvSpPr>
        <p:spPr bwMode="auto">
          <a:xfrm>
            <a:off x="1187624" y="3814383"/>
            <a:ext cx="6055629" cy="1621086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frame) {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        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quitItem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"Quit"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fileMenu.add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quitItem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quitItem.</a:t>
            </a:r>
            <a:r>
              <a:rPr lang="en-US" altLang="da-DK" sz="1600" b="1" spc="-100" dirty="0" err="1">
                <a:solidFill>
                  <a:schemeClr val="tx1"/>
                </a:solidFill>
                <a:latin typeface="Courier New" pitchFamily="49" charset="0"/>
              </a:rPr>
              <a:t>addActionListener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e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-&gt;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System.exit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(0));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  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29" name="Rectangle 28"/>
          <p:cNvSpPr>
            <a:spLocks noChangeArrowheads="1"/>
          </p:cNvSpPr>
          <p:nvPr/>
        </p:nvSpPr>
        <p:spPr bwMode="auto">
          <a:xfrm>
            <a:off x="4631961" y="4752027"/>
            <a:ext cx="2211049" cy="244600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62" name="Line 22"/>
          <p:cNvSpPr>
            <a:spLocks noChangeShapeType="1"/>
          </p:cNvSpPr>
          <p:nvPr/>
        </p:nvSpPr>
        <p:spPr bwMode="auto">
          <a:xfrm flipH="1" flipV="1">
            <a:off x="5724128" y="4996626"/>
            <a:ext cx="432048" cy="608201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63" name="Text Box 21"/>
          <p:cNvSpPr txBox="1">
            <a:spLocks noChangeArrowheads="1"/>
          </p:cNvSpPr>
          <p:nvPr/>
        </p:nvSpPr>
        <p:spPr bwMode="auto">
          <a:xfrm>
            <a:off x="5267800" y="5607121"/>
            <a:ext cx="3600400" cy="8679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Kald af </a:t>
            </a:r>
            <a:r>
              <a:rPr lang="da-DK" altLang="da-DK" sz="1400" b="1" dirty="0">
                <a:solidFill>
                  <a:srgbClr val="008000"/>
                </a:solidFill>
              </a:rPr>
              <a:t>exit</a:t>
            </a:r>
            <a:r>
              <a:rPr lang="da-DK" altLang="da-DK" sz="1400" b="1" dirty="0">
                <a:solidFill>
                  <a:srgbClr val="FF0000"/>
                </a:solidFill>
              </a:rPr>
              <a:t> metoden i </a:t>
            </a:r>
            <a:r>
              <a:rPr lang="da-DK" altLang="da-DK" sz="1400" b="1" dirty="0">
                <a:solidFill>
                  <a:srgbClr val="008000"/>
                </a:solidFill>
              </a:rPr>
              <a:t>System</a:t>
            </a:r>
            <a:r>
              <a:rPr lang="da-DK" altLang="da-DK" sz="1400" b="1" dirty="0">
                <a:solidFill>
                  <a:srgbClr val="FF0000"/>
                </a:solidFill>
              </a:rPr>
              <a:t> klassen</a:t>
            </a:r>
          </a:p>
          <a:p>
            <a:pPr marL="182563" indent="-182563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Stopper udførelsen af programmet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Parameterværdien 0 indikerer, at det er en normal terminering</a:t>
            </a:r>
          </a:p>
        </p:txBody>
      </p:sp>
      <p:sp>
        <p:nvSpPr>
          <p:cNvPr id="11" name="Text Box 21"/>
          <p:cNvSpPr txBox="1">
            <a:spLocks noChangeArrowheads="1"/>
          </p:cNvSpPr>
          <p:nvPr/>
        </p:nvSpPr>
        <p:spPr bwMode="auto">
          <a:xfrm>
            <a:off x="7020272" y="3661152"/>
            <a:ext cx="2016224" cy="830997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spc="-40" dirty="0">
                <a:solidFill>
                  <a:srgbClr val="0000FF"/>
                </a:solidFill>
              </a:rPr>
              <a:t>Vi kan bruge en </a:t>
            </a:r>
            <a:r>
              <a:rPr lang="da-DK" altLang="da-DK" sz="1200" b="1" spc="-40" dirty="0">
                <a:solidFill>
                  <a:srgbClr val="008000"/>
                </a:solidFill>
              </a:rPr>
              <a:t>lambda</a:t>
            </a:r>
            <a:r>
              <a:rPr lang="da-DK" altLang="da-DK" sz="1200" b="1" spc="-40" dirty="0">
                <a:solidFill>
                  <a:srgbClr val="0000FF"/>
                </a:solidFill>
              </a:rPr>
              <a:t>, fordi </a:t>
            </a:r>
            <a:r>
              <a:rPr lang="da-DK" altLang="da-DK" sz="1200" b="1" dirty="0">
                <a:solidFill>
                  <a:srgbClr val="0000FF"/>
                </a:solidFill>
              </a:rPr>
              <a:t>parametertypen er </a:t>
            </a:r>
            <a:r>
              <a:rPr lang="da-DK" altLang="da-DK" sz="1200" b="1" dirty="0" err="1">
                <a:solidFill>
                  <a:srgbClr val="008000"/>
                </a:solidFill>
              </a:rPr>
              <a:t>ActionListener</a:t>
            </a:r>
            <a:r>
              <a:rPr lang="da-DK" altLang="da-DK" sz="1200" b="1" dirty="0">
                <a:solidFill>
                  <a:srgbClr val="0000FF"/>
                </a:solidFill>
              </a:rPr>
              <a:t>, som er et funktionelt interface </a:t>
            </a:r>
          </a:p>
        </p:txBody>
      </p:sp>
      <p:sp>
        <p:nvSpPr>
          <p:cNvPr id="12" name="Line 22"/>
          <p:cNvSpPr>
            <a:spLocks noChangeShapeType="1"/>
          </p:cNvSpPr>
          <p:nvPr/>
        </p:nvSpPr>
        <p:spPr bwMode="auto">
          <a:xfrm flipH="1">
            <a:off x="6843010" y="4476021"/>
            <a:ext cx="177262" cy="276006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3" name="Text Box 21"/>
          <p:cNvSpPr txBox="1">
            <a:spLocks noChangeArrowheads="1"/>
          </p:cNvSpPr>
          <p:nvPr/>
        </p:nvSpPr>
        <p:spPr bwMode="auto">
          <a:xfrm>
            <a:off x="972016" y="5604827"/>
            <a:ext cx="4080176" cy="8679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  <a:defRPr sz="1400" b="1">
                <a:solidFill>
                  <a:srgbClr val="FF0000"/>
                </a:solidFill>
              </a:defRPr>
            </a:lvl1pPr>
          </a:lstStyle>
          <a:p>
            <a:r>
              <a:rPr lang="da-DK" altLang="da-DK" dirty="0" err="1"/>
              <a:t>ActionEvent’et</a:t>
            </a:r>
            <a:r>
              <a:rPr lang="da-DK" altLang="da-DK" dirty="0"/>
              <a:t> </a:t>
            </a:r>
            <a:r>
              <a:rPr lang="da-DK" altLang="da-DK" dirty="0">
                <a:solidFill>
                  <a:srgbClr val="008000"/>
                </a:solidFill>
              </a:rPr>
              <a:t>e</a:t>
            </a:r>
            <a:r>
              <a:rPr lang="da-DK" altLang="da-DK" dirty="0"/>
              <a:t> indeholder forskellige information om aktiveringen (bl.a. tidspunkt og eventuel brug af modifier </a:t>
            </a:r>
            <a:r>
              <a:rPr lang="da-DK" altLang="da-DK" dirty="0" err="1"/>
              <a:t>keys</a:t>
            </a:r>
            <a:r>
              <a:rPr lang="da-DK" altLang="da-DK" dirty="0"/>
              <a:t>)</a:t>
            </a:r>
          </a:p>
          <a:p>
            <a:pPr marL="182563" indent="-182563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dirty="0"/>
              <a:t>I vores tilfælde ignoreres denne information</a:t>
            </a:r>
          </a:p>
        </p:txBody>
      </p:sp>
      <p:sp>
        <p:nvSpPr>
          <p:cNvPr id="14" name="Line 22"/>
          <p:cNvSpPr>
            <a:spLocks noChangeShapeType="1"/>
          </p:cNvSpPr>
          <p:nvPr/>
        </p:nvSpPr>
        <p:spPr bwMode="auto">
          <a:xfrm flipV="1">
            <a:off x="4067944" y="4990250"/>
            <a:ext cx="648072" cy="593376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64618028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4536504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Håndtering af billeder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8</a:t>
            </a:fld>
            <a:endParaRPr lang="da-DK" altLang="da-DK" dirty="0"/>
          </a:p>
        </p:txBody>
      </p:sp>
      <p:sp>
        <p:nvSpPr>
          <p:cNvPr id="27" name="Rectangle 3"/>
          <p:cNvSpPr txBox="1">
            <a:spLocks noChangeArrowheads="1"/>
          </p:cNvSpPr>
          <p:nvPr/>
        </p:nvSpPr>
        <p:spPr bwMode="auto">
          <a:xfrm>
            <a:off x="437539" y="1052736"/>
            <a:ext cx="8310926" cy="50405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altLang="da-DK" sz="2000" kern="0" dirty="0">
                <a:ea typeface="ＭＳ Ｐゴシック" pitchFamily="34" charset="-128"/>
              </a:rPr>
              <a:t>Vi introducerer tre nye klasser</a:t>
            </a:r>
            <a:endParaRPr lang="da-DK" altLang="da-DK" sz="2000" kern="0" spc="-100" dirty="0">
              <a:ea typeface="ＭＳ Ｐゴシック" pitchFamily="34" charset="-128"/>
            </a:endParaRP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kern="0" dirty="0" err="1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OFImage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repræsenterer et billede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 err="1">
                <a:ea typeface="ＭＳ Ｐゴシック" pitchFamily="34" charset="-128"/>
              </a:rPr>
              <a:t>OFIMage</a:t>
            </a:r>
            <a:r>
              <a:rPr lang="da-DK" altLang="da-DK" sz="1800" dirty="0">
                <a:ea typeface="ＭＳ Ｐゴシック" pitchFamily="34" charset="-128"/>
              </a:rPr>
              <a:t> modellerer vores interne</a:t>
            </a:r>
            <a:br>
              <a:rPr lang="da-DK" altLang="da-DK" sz="1800" dirty="0">
                <a:ea typeface="ＭＳ Ｐゴシック" pitchFamily="34" charset="-128"/>
              </a:rPr>
            </a:br>
            <a:r>
              <a:rPr lang="da-DK" altLang="da-DK" sz="1800" dirty="0">
                <a:ea typeface="ＭＳ Ｐゴシック" pitchFamily="34" charset="-128"/>
              </a:rPr>
              <a:t>billedformat (OF </a:t>
            </a:r>
            <a:r>
              <a:rPr lang="da-DK" altLang="da-DK" sz="1800" dirty="0">
                <a:latin typeface="Arial"/>
                <a:ea typeface="ＭＳ Ｐゴシック" pitchFamily="34" charset="-128"/>
                <a:cs typeface="Arial"/>
              </a:rPr>
              <a:t>≈</a:t>
            </a:r>
            <a:r>
              <a:rPr lang="da-DK" altLang="da-DK" sz="1800" dirty="0">
                <a:ea typeface="ＭＳ Ｐゴシック" pitchFamily="34" charset="-128"/>
              </a:rPr>
              <a:t> "Objects First")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Bruger et 2-dimensionalt array, hvor</a:t>
            </a:r>
            <a:br>
              <a:rPr lang="da-DK" altLang="da-DK" sz="1800" dirty="0">
                <a:ea typeface="ＭＳ Ｐゴシック" pitchFamily="34" charset="-128"/>
              </a:rPr>
            </a:br>
            <a:r>
              <a:rPr lang="da-DK" altLang="da-DK" sz="1800" dirty="0">
                <a:ea typeface="ＭＳ Ｐゴシック" pitchFamily="34" charset="-128"/>
              </a:rPr>
              <a:t>hvert element angiver en farve fra klassen </a:t>
            </a:r>
            <a:r>
              <a:rPr lang="da-DK" altLang="da-DK" sz="1800" dirty="0" err="1">
                <a:ea typeface="ＭＳ Ｐゴシック" pitchFamily="34" charset="-128"/>
              </a:rPr>
              <a:t>Color</a:t>
            </a:r>
            <a:endParaRPr lang="da-DK" altLang="da-DK" sz="1800" dirty="0">
              <a:ea typeface="ＭＳ Ｐゴシック" pitchFamily="34" charset="-128"/>
            </a:endParaRPr>
          </a:p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 err="1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ImageFileManger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er grænsefladen til filsystemet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Indeholder klassemetoder til at konvertere et billede på en fil til et </a:t>
            </a:r>
            <a:r>
              <a:rPr lang="da-DK" altLang="da-DK" sz="1800" dirty="0" err="1">
                <a:ea typeface="ＭＳ Ｐゴシック" pitchFamily="34" charset="-128"/>
              </a:rPr>
              <a:t>OFIMage</a:t>
            </a:r>
            <a:r>
              <a:rPr lang="da-DK" altLang="da-DK" sz="1800" dirty="0">
                <a:ea typeface="ＭＳ Ｐゴシック" pitchFamily="34" charset="-128"/>
              </a:rPr>
              <a:t> objekt og tilbage igen</a:t>
            </a:r>
          </a:p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 err="1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ImagePanel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implementerer en Swing komponent, hvori billedet kan vises (subklasse af </a:t>
            </a:r>
            <a:r>
              <a:rPr lang="da-DK" altLang="da-DK" b="1" kern="0" dirty="0" err="1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JComponent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)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Indeholder en metode, hvormed kan man vælge det </a:t>
            </a:r>
            <a:r>
              <a:rPr lang="da-DK" altLang="da-DK" sz="1800" dirty="0" err="1">
                <a:ea typeface="ＭＳ Ｐゴシック" pitchFamily="34" charset="-128"/>
              </a:rPr>
              <a:t>OFImage</a:t>
            </a:r>
            <a:r>
              <a:rPr lang="da-DK" altLang="da-DK" sz="1800" dirty="0">
                <a:ea typeface="ＭＳ Ｐゴシック" pitchFamily="34" charset="-128"/>
              </a:rPr>
              <a:t> objekt, der skal vises i Swing komponenten (og dermed i vores vindue)</a:t>
            </a:r>
          </a:p>
          <a:p>
            <a:pPr lvl="1">
              <a:spcBef>
                <a:spcPts val="100"/>
              </a:spcBef>
            </a:pPr>
            <a:endParaRPr lang="da-DK" altLang="da-DK" sz="1800" dirty="0">
              <a:ea typeface="ＭＳ Ｐゴシック" pitchFamily="34" charset="-128"/>
            </a:endParaRPr>
          </a:p>
          <a:p>
            <a:pPr lvl="1">
              <a:spcBef>
                <a:spcPts val="100"/>
              </a:spcBef>
            </a:pPr>
            <a:endParaRPr lang="da-DK" altLang="da-DK" sz="1800" kern="1200" dirty="0">
              <a:ea typeface="ＭＳ Ｐゴシック" pitchFamily="34" charset="-128"/>
              <a:cs typeface="+mn-cs"/>
            </a:endParaRPr>
          </a:p>
          <a:p>
            <a:pPr>
              <a:spcBef>
                <a:spcPts val="1200"/>
              </a:spcBef>
            </a:pPr>
            <a:endParaRPr lang="da-DK" altLang="da-DK" sz="2000" kern="0" dirty="0">
              <a:ea typeface="ＭＳ Ｐゴシック" pitchFamily="34" charset="-128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5103655" y="476672"/>
            <a:ext cx="3932841" cy="2376264"/>
            <a:chOff x="5103655" y="476672"/>
            <a:chExt cx="3932841" cy="2376264"/>
          </a:xfrm>
        </p:grpSpPr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03655" y="476672"/>
              <a:ext cx="3932841" cy="23762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" name="Rectangle 5"/>
            <p:cNvSpPr>
              <a:spLocks noChangeArrowheads="1"/>
            </p:cNvSpPr>
            <p:nvPr/>
          </p:nvSpPr>
          <p:spPr bwMode="auto">
            <a:xfrm>
              <a:off x="6296687" y="513119"/>
              <a:ext cx="1027222" cy="531909"/>
            </a:xfrm>
            <a:prstGeom prst="rect">
              <a:avLst/>
            </a:prstGeom>
            <a:noFill/>
            <a:ln w="381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</p:grp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5142801" y="1431873"/>
            <a:ext cx="1027222" cy="531909"/>
          </a:xfrm>
          <a:prstGeom prst="rect">
            <a:avLst/>
          </a:prstGeom>
          <a:noFill/>
          <a:ln w="381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7036916" y="2263542"/>
            <a:ext cx="1027222" cy="531909"/>
          </a:xfrm>
          <a:prstGeom prst="rect">
            <a:avLst/>
          </a:prstGeom>
          <a:noFill/>
          <a:ln w="381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7781498" y="1449292"/>
            <a:ext cx="1170913" cy="518846"/>
          </a:xfrm>
          <a:prstGeom prst="rect">
            <a:avLst/>
          </a:prstGeom>
          <a:noFill/>
          <a:ln w="381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1" name="Text Box 21"/>
          <p:cNvSpPr txBox="1">
            <a:spLocks noChangeArrowheads="1"/>
          </p:cNvSpPr>
          <p:nvPr/>
        </p:nvSpPr>
        <p:spPr bwMode="auto">
          <a:xfrm>
            <a:off x="7262220" y="2474936"/>
            <a:ext cx="652128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  <a:defRPr sz="1000" b="1" spc="-50">
                <a:solidFill>
                  <a:srgbClr val="FF0000"/>
                </a:solidFill>
              </a:defRPr>
            </a:lvl1pPr>
          </a:lstStyle>
          <a:p>
            <a:r>
              <a:rPr lang="da-DK" altLang="da-DK" dirty="0"/>
              <a:t>Billede</a:t>
            </a: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7974577" y="1590482"/>
            <a:ext cx="95901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  <a:defRPr sz="1000" b="1" spc="-50">
                <a:solidFill>
                  <a:srgbClr val="FF0000"/>
                </a:solidFill>
              </a:defRPr>
            </a:lvl1pPr>
          </a:lstStyle>
          <a:p>
            <a:r>
              <a:rPr lang="da-DK" altLang="da-DK" dirty="0"/>
              <a:t>Grænseflade til filsystem</a:t>
            </a:r>
          </a:p>
        </p:txBody>
      </p:sp>
      <p:sp>
        <p:nvSpPr>
          <p:cNvPr id="13" name="Text Box 21"/>
          <p:cNvSpPr txBox="1">
            <a:spLocks noChangeArrowheads="1"/>
          </p:cNvSpPr>
          <p:nvPr/>
        </p:nvSpPr>
        <p:spPr bwMode="auto">
          <a:xfrm>
            <a:off x="5098255" y="1574458"/>
            <a:ext cx="119843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000" b="1" spc="-50" dirty="0">
                <a:solidFill>
                  <a:srgbClr val="FF0000"/>
                </a:solidFill>
              </a:rPr>
              <a:t>GUI objekt, hvori billedet kan vises</a:t>
            </a:r>
          </a:p>
        </p:txBody>
      </p:sp>
    </p:spTree>
    <p:extLst>
      <p:ext uri="{BB962C8B-B14F-4D97-AF65-F5344CB8AC3E}">
        <p14:creationId xmlns:p14="http://schemas.microsoft.com/office/powerpoint/2010/main" val="84368152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 err="1">
                <a:ea typeface="ＭＳ Ｐゴシック" pitchFamily="34" charset="-128"/>
              </a:rPr>
              <a:t>openFile</a:t>
            </a:r>
            <a:r>
              <a:rPr lang="da-DK" altLang="da-DK" sz="3200" dirty="0">
                <a:ea typeface="ＭＳ Ｐゴシック" pitchFamily="34" charset="-128"/>
              </a:rPr>
              <a:t> metoden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9</a:t>
            </a:fld>
            <a:endParaRPr lang="da-DK" altLang="da-DK" dirty="0"/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1331640" y="1867145"/>
            <a:ext cx="4203023" cy="1325620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lnSpc>
                <a:spcPct val="6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29" name="Rectangle 28"/>
          <p:cNvSpPr>
            <a:spLocks noChangeArrowheads="1"/>
          </p:cNvSpPr>
          <p:nvPr/>
        </p:nvSpPr>
        <p:spPr bwMode="auto">
          <a:xfrm>
            <a:off x="1613141" y="2302390"/>
            <a:ext cx="3700731" cy="492568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3" name="Text Box 4"/>
          <p:cNvSpPr txBox="1">
            <a:spLocks noChangeArrowheads="1"/>
          </p:cNvSpPr>
          <p:nvPr/>
        </p:nvSpPr>
        <p:spPr bwMode="auto">
          <a:xfrm>
            <a:off x="2915816" y="4232258"/>
            <a:ext cx="5924136" cy="1479509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openFile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spcBef>
                <a:spcPts val="3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OFImage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image =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ImageFileManager.getImage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>
              <a:spcBef>
                <a:spcPts val="3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imagePanel.setImage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(image);</a:t>
            </a:r>
          </a:p>
          <a:p>
            <a:pPr eaLnBrk="1" hangingPunct="1">
              <a:spcBef>
                <a:spcPts val="3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frame.pack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14" name="Rectangle 13"/>
          <p:cNvSpPr>
            <a:spLocks noChangeArrowheads="1"/>
          </p:cNvSpPr>
          <p:nvPr/>
        </p:nvSpPr>
        <p:spPr bwMode="auto">
          <a:xfrm>
            <a:off x="5185684" y="4542219"/>
            <a:ext cx="3310128" cy="248131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5" name="Rectangle 14"/>
          <p:cNvSpPr>
            <a:spLocks noChangeArrowheads="1"/>
          </p:cNvSpPr>
          <p:nvPr/>
        </p:nvSpPr>
        <p:spPr bwMode="auto">
          <a:xfrm>
            <a:off x="3171735" y="4842476"/>
            <a:ext cx="3473658" cy="248131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auto">
          <a:xfrm>
            <a:off x="3168170" y="5134106"/>
            <a:ext cx="1757633" cy="248131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67544" y="1052736"/>
            <a:ext cx="8568952" cy="873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altLang="da-DK" sz="2000" kern="0" dirty="0">
                <a:ea typeface="ＭＳ Ｐゴシック" pitchFamily="34" charset="-128"/>
              </a:rPr>
              <a:t>I </a:t>
            </a:r>
            <a:r>
              <a:rPr lang="da-DK" altLang="da-DK" sz="2000" kern="0" dirty="0" err="1">
                <a:ea typeface="ＭＳ Ｐゴシック" pitchFamily="34" charset="-128"/>
              </a:rPr>
              <a:t>makeFrame</a:t>
            </a:r>
            <a:r>
              <a:rPr lang="da-DK" altLang="da-DK" sz="2000" kern="0" dirty="0">
                <a:ea typeface="ＭＳ Ｐゴシック" pitchFamily="34" charset="-128"/>
              </a:rPr>
              <a:t> metoden skabes et </a:t>
            </a:r>
            <a:r>
              <a:rPr lang="da-DK" altLang="da-DK" sz="2000" kern="0" dirty="0" err="1">
                <a:ea typeface="ＭＳ Ｐゴシック" pitchFamily="34" charset="-128"/>
              </a:rPr>
              <a:t>ImagePanel</a:t>
            </a:r>
            <a:r>
              <a:rPr lang="da-DK" altLang="da-DK" sz="2000" kern="0" dirty="0">
                <a:ea typeface="ＭＳ Ｐゴシック" pitchFamily="34" charset="-128"/>
              </a:rPr>
              <a:t> objekt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Objektet </a:t>
            </a:r>
            <a:r>
              <a:rPr lang="da-DK" altLang="da-DK" sz="1800" kern="0" dirty="0" err="1">
                <a:ea typeface="ＭＳ Ｐゴシック" pitchFamily="34" charset="-128"/>
              </a:rPr>
              <a:t>assignes</a:t>
            </a:r>
            <a:r>
              <a:rPr lang="da-DK" altLang="da-DK" sz="1800" kern="0" dirty="0">
                <a:ea typeface="ＭＳ Ｐゴシック" pitchFamily="34" charset="-128"/>
              </a:rPr>
              <a:t> til feltvariablen </a:t>
            </a:r>
            <a:r>
              <a:rPr lang="da-DK" altLang="da-DK" sz="1800" kern="0" dirty="0" err="1">
                <a:ea typeface="ＭＳ Ｐゴシック" pitchFamily="34" charset="-128"/>
              </a:rPr>
              <a:t>imagePanel</a:t>
            </a:r>
            <a:r>
              <a:rPr lang="da-DK" altLang="da-DK" sz="1800" kern="0" dirty="0">
                <a:ea typeface="ＭＳ Ｐゴシック" pitchFamily="34" charset="-128"/>
              </a:rPr>
              <a:t> og tilføjes til </a:t>
            </a:r>
            <a:r>
              <a:rPr lang="da-DK" altLang="da-DK" sz="1800" kern="0" dirty="0" err="1">
                <a:ea typeface="ＭＳ Ｐゴシック" pitchFamily="34" charset="-128"/>
              </a:rPr>
              <a:t>contentPane</a:t>
            </a:r>
            <a:endParaRPr lang="da-DK" altLang="da-DK" sz="1800" kern="0" dirty="0">
              <a:ea typeface="ＭＳ Ｐゴシック" pitchFamily="34" charset="-128"/>
            </a:endParaRPr>
          </a:p>
        </p:txBody>
      </p:sp>
      <p:sp>
        <p:nvSpPr>
          <p:cNvPr id="18" name="Rectangle 3"/>
          <p:cNvSpPr txBox="1">
            <a:spLocks noChangeArrowheads="1"/>
          </p:cNvSpPr>
          <p:nvPr/>
        </p:nvSpPr>
        <p:spPr bwMode="auto">
          <a:xfrm>
            <a:off x="467544" y="3327539"/>
            <a:ext cx="7768481" cy="4369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altLang="da-DK" sz="2000" kern="0" spc="-100" dirty="0">
                <a:ea typeface="ＭＳ Ｐゴシック" pitchFamily="34" charset="-128"/>
              </a:rPr>
              <a:t>Når brugeren vælger Open i File menuen kaldes </a:t>
            </a:r>
            <a:r>
              <a:rPr lang="da-DK" altLang="da-DK" sz="2000" kern="0" spc="-100" dirty="0" err="1">
                <a:ea typeface="ＭＳ Ｐゴシック" pitchFamily="34" charset="-128"/>
              </a:rPr>
              <a:t>openFile</a:t>
            </a:r>
            <a:r>
              <a:rPr lang="da-DK" altLang="da-DK" sz="2000" kern="0" spc="-100" dirty="0">
                <a:ea typeface="ＭＳ Ｐゴシック" pitchFamily="34" charset="-128"/>
              </a:rPr>
              <a:t> metoden</a:t>
            </a:r>
          </a:p>
        </p:txBody>
      </p:sp>
      <p:sp>
        <p:nvSpPr>
          <p:cNvPr id="19" name="Line 22"/>
          <p:cNvSpPr>
            <a:spLocks noChangeShapeType="1"/>
          </p:cNvSpPr>
          <p:nvPr/>
        </p:nvSpPr>
        <p:spPr bwMode="auto">
          <a:xfrm>
            <a:off x="8273173" y="3093234"/>
            <a:ext cx="1" cy="144898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1" name="Text Box 21"/>
          <p:cNvSpPr txBox="1">
            <a:spLocks noChangeArrowheads="1"/>
          </p:cNvSpPr>
          <p:nvPr/>
        </p:nvSpPr>
        <p:spPr bwMode="auto">
          <a:xfrm>
            <a:off x="68707" y="4610476"/>
            <a:ext cx="2762169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Det indlæste </a:t>
            </a:r>
            <a:r>
              <a:rPr lang="da-DK" altLang="da-DK" sz="1400" b="1" dirty="0" err="1">
                <a:solidFill>
                  <a:srgbClr val="0000FF"/>
                </a:solidFill>
              </a:rPr>
              <a:t>OFImage</a:t>
            </a:r>
            <a:r>
              <a:rPr lang="da-DK" altLang="da-DK" sz="1400" b="1" dirty="0">
                <a:solidFill>
                  <a:srgbClr val="0000FF"/>
                </a:solidFill>
              </a:rPr>
              <a:t> objekt tilknyttes </a:t>
            </a:r>
            <a:r>
              <a:rPr lang="da-DK" altLang="da-DK" sz="1400" b="1" dirty="0" err="1">
                <a:solidFill>
                  <a:srgbClr val="0000FF"/>
                </a:solidFill>
              </a:rPr>
              <a:t>imagePanel</a:t>
            </a:r>
            <a:r>
              <a:rPr lang="da-DK" altLang="da-DK" sz="1400" b="1" dirty="0">
                <a:solidFill>
                  <a:srgbClr val="0000FF"/>
                </a:solidFill>
              </a:rPr>
              <a:t> objektet</a:t>
            </a:r>
          </a:p>
        </p:txBody>
      </p:sp>
      <p:sp>
        <p:nvSpPr>
          <p:cNvPr id="22" name="Text Box 21"/>
          <p:cNvSpPr txBox="1">
            <a:spLocks noChangeArrowheads="1"/>
          </p:cNvSpPr>
          <p:nvPr/>
        </p:nvSpPr>
        <p:spPr bwMode="auto">
          <a:xfrm>
            <a:off x="3318433" y="5834136"/>
            <a:ext cx="2117663" cy="8679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Rammen pakkes, idet </a:t>
            </a:r>
            <a:r>
              <a:rPr lang="da-DK" altLang="da-DK" sz="1400" b="1" dirty="0" err="1">
                <a:solidFill>
                  <a:srgbClr val="0000FF"/>
                </a:solidFill>
              </a:rPr>
              <a:t>imagePanel</a:t>
            </a:r>
            <a:r>
              <a:rPr lang="da-DK" altLang="da-DK" sz="1400" b="1" dirty="0">
                <a:solidFill>
                  <a:srgbClr val="0000FF"/>
                </a:solidFill>
              </a:rPr>
              <a:t> objektet har skiftet indhold og dermed størrelse</a:t>
            </a:r>
          </a:p>
        </p:txBody>
      </p:sp>
      <p:sp>
        <p:nvSpPr>
          <p:cNvPr id="23" name="Line 22"/>
          <p:cNvSpPr>
            <a:spLocks noChangeShapeType="1"/>
          </p:cNvSpPr>
          <p:nvPr/>
        </p:nvSpPr>
        <p:spPr bwMode="auto">
          <a:xfrm flipV="1">
            <a:off x="2771801" y="4957754"/>
            <a:ext cx="396370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4" name="Line 22"/>
          <p:cNvSpPr>
            <a:spLocks noChangeShapeType="1"/>
          </p:cNvSpPr>
          <p:nvPr/>
        </p:nvSpPr>
        <p:spPr bwMode="auto">
          <a:xfrm flipV="1">
            <a:off x="3851920" y="5382236"/>
            <a:ext cx="0" cy="50237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7" name="Text Box 4"/>
          <p:cNvSpPr txBox="1">
            <a:spLocks noChangeArrowheads="1"/>
          </p:cNvSpPr>
          <p:nvPr/>
        </p:nvSpPr>
        <p:spPr bwMode="auto">
          <a:xfrm>
            <a:off x="1337546" y="3760142"/>
            <a:ext cx="5296167" cy="340735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openItem.</a:t>
            </a:r>
            <a:r>
              <a:rPr lang="en-US" altLang="da-DK" sz="1600" b="1" spc="-100" dirty="0" err="1">
                <a:solidFill>
                  <a:schemeClr val="tx1"/>
                </a:solidFill>
                <a:latin typeface="Courier New" pitchFamily="49" charset="0"/>
              </a:rPr>
              <a:t>addActionListener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e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-&gt;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openFile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());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28" name="Text Box 21"/>
          <p:cNvSpPr txBox="1">
            <a:spLocks noChangeArrowheads="1"/>
          </p:cNvSpPr>
          <p:nvPr/>
        </p:nvSpPr>
        <p:spPr bwMode="auto">
          <a:xfrm>
            <a:off x="6028661" y="2103493"/>
            <a:ext cx="3115339" cy="11644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  <a:defRPr sz="1400" b="1">
                <a:solidFill>
                  <a:srgbClr val="0000FF"/>
                </a:solidFill>
              </a:defRPr>
            </a:lvl1pPr>
          </a:lstStyle>
          <a:p>
            <a:r>
              <a:rPr lang="da-DK" altLang="da-DK" dirty="0"/>
              <a:t>Klassemetode i </a:t>
            </a:r>
            <a:r>
              <a:rPr lang="da-DK" altLang="da-DK" dirty="0" err="1"/>
              <a:t>ImageFileManager</a:t>
            </a:r>
            <a:endParaRPr lang="da-DK" altLang="da-DK" dirty="0"/>
          </a:p>
          <a:p>
            <a:pPr marL="179388" indent="-179388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dirty="0"/>
              <a:t>Åbner en dialogboks,</a:t>
            </a:r>
            <a:br>
              <a:rPr lang="da-DK" altLang="da-DK" dirty="0"/>
            </a:br>
            <a:r>
              <a:rPr lang="da-DK" altLang="da-DK" dirty="0"/>
              <a:t>hvori brugeren vælger en fil</a:t>
            </a:r>
          </a:p>
          <a:p>
            <a:pPr marL="179388" indent="-179388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dirty="0"/>
              <a:t>Filens billede returneres som et </a:t>
            </a:r>
            <a:r>
              <a:rPr lang="da-DK" altLang="da-DK" dirty="0" err="1"/>
              <a:t>OFImage</a:t>
            </a:r>
            <a:r>
              <a:rPr lang="da-DK" altLang="da-DK" dirty="0"/>
              <a:t> objekt</a:t>
            </a:r>
          </a:p>
        </p:txBody>
      </p:sp>
      <p:sp>
        <p:nvSpPr>
          <p:cNvPr id="33" name="Rectangle 32"/>
          <p:cNvSpPr>
            <a:spLocks noChangeArrowheads="1"/>
          </p:cNvSpPr>
          <p:nvPr/>
        </p:nvSpPr>
        <p:spPr bwMode="auto">
          <a:xfrm>
            <a:off x="3181234" y="4537569"/>
            <a:ext cx="981464" cy="248131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grpSp>
        <p:nvGrpSpPr>
          <p:cNvPr id="4" name="Group 3"/>
          <p:cNvGrpSpPr/>
          <p:nvPr/>
        </p:nvGrpSpPr>
        <p:grpSpPr>
          <a:xfrm>
            <a:off x="5508104" y="5077943"/>
            <a:ext cx="3658160" cy="1772848"/>
            <a:chOff x="5508104" y="5077943"/>
            <a:chExt cx="3658160" cy="1772848"/>
          </a:xfrm>
        </p:grpSpPr>
        <p:grpSp>
          <p:nvGrpSpPr>
            <p:cNvPr id="3" name="Group 2"/>
            <p:cNvGrpSpPr/>
            <p:nvPr/>
          </p:nvGrpSpPr>
          <p:grpSpPr>
            <a:xfrm>
              <a:off x="5508104" y="5077943"/>
              <a:ext cx="2246528" cy="1772848"/>
              <a:chOff x="5154992" y="4816969"/>
              <a:chExt cx="2932895" cy="1977337"/>
            </a:xfrm>
          </p:grpSpPr>
          <p:pic>
            <p:nvPicPr>
              <p:cNvPr id="25" name="Picture 24" descr="fig-13.2.png"/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400" t="695" r="3624" b="89205"/>
              <a:stretch/>
            </p:blipFill>
            <p:spPr>
              <a:xfrm>
                <a:off x="5154992" y="4816969"/>
                <a:ext cx="2926182" cy="284397"/>
              </a:xfrm>
              <a:prstGeom prst="rect">
                <a:avLst/>
              </a:prstGeom>
            </p:spPr>
          </p:pic>
          <p:pic>
            <p:nvPicPr>
              <p:cNvPr id="26" name="Picture 25" descr="fig-13.2.png"/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400" t="14430" r="3624" b="25964"/>
              <a:stretch/>
            </p:blipFill>
            <p:spPr>
              <a:xfrm>
                <a:off x="5161705" y="5116030"/>
                <a:ext cx="2926182" cy="1678276"/>
              </a:xfrm>
              <a:prstGeom prst="rect">
                <a:avLst/>
              </a:prstGeom>
            </p:spPr>
          </p:pic>
        </p:grpSp>
        <p:sp>
          <p:nvSpPr>
            <p:cNvPr id="30" name="Rectangle 29"/>
            <p:cNvSpPr>
              <a:spLocks noChangeArrowheads="1"/>
            </p:cNvSpPr>
            <p:nvPr/>
          </p:nvSpPr>
          <p:spPr bwMode="auto">
            <a:xfrm>
              <a:off x="5613828" y="5361320"/>
              <a:ext cx="2068796" cy="1482978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32" name="Line 22"/>
            <p:cNvSpPr>
              <a:spLocks noChangeShapeType="1"/>
            </p:cNvSpPr>
            <p:nvPr/>
          </p:nvSpPr>
          <p:spPr bwMode="auto">
            <a:xfrm flipH="1" flipV="1">
              <a:off x="7686444" y="6093296"/>
              <a:ext cx="275074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endParaRPr lang="da-DK"/>
            </a:p>
          </p:txBody>
        </p:sp>
        <p:sp>
          <p:nvSpPr>
            <p:cNvPr id="35" name="Text Box 21"/>
            <p:cNvSpPr txBox="1">
              <a:spLocks noChangeArrowheads="1"/>
            </p:cNvSpPr>
            <p:nvPr/>
          </p:nvSpPr>
          <p:spPr bwMode="auto">
            <a:xfrm>
              <a:off x="7961518" y="5943209"/>
              <a:ext cx="1204746" cy="286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1400" b="1" dirty="0" err="1">
                  <a:solidFill>
                    <a:srgbClr val="0000FF"/>
                  </a:solidFill>
                </a:rPr>
                <a:t>imagePanel</a:t>
              </a:r>
              <a:endParaRPr lang="da-DK" altLang="da-DK" sz="1400" b="1" dirty="0">
                <a:solidFill>
                  <a:srgbClr val="0000FF"/>
                </a:solidFill>
              </a:endParaRPr>
            </a:p>
          </p:txBody>
        </p:sp>
      </p:grpSp>
      <p:grpSp>
        <p:nvGrpSpPr>
          <p:cNvPr id="38" name="Group 37"/>
          <p:cNvGrpSpPr/>
          <p:nvPr/>
        </p:nvGrpSpPr>
        <p:grpSpPr>
          <a:xfrm>
            <a:off x="43386" y="5052986"/>
            <a:ext cx="2847538" cy="1780446"/>
            <a:chOff x="5098255" y="476672"/>
            <a:chExt cx="3938241" cy="2376264"/>
          </a:xfrm>
        </p:grpSpPr>
        <p:grpSp>
          <p:nvGrpSpPr>
            <p:cNvPr id="39" name="Group 38"/>
            <p:cNvGrpSpPr/>
            <p:nvPr/>
          </p:nvGrpSpPr>
          <p:grpSpPr>
            <a:xfrm>
              <a:off x="5103655" y="476672"/>
              <a:ext cx="3932841" cy="2376264"/>
              <a:chOff x="5103655" y="476672"/>
              <a:chExt cx="3932841" cy="2376264"/>
            </a:xfrm>
          </p:grpSpPr>
          <p:pic>
            <p:nvPicPr>
              <p:cNvPr id="46" name="Picture 2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03655" y="476672"/>
                <a:ext cx="3932841" cy="237626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7" name="Rectangle 46"/>
              <p:cNvSpPr>
                <a:spLocks noChangeArrowheads="1"/>
              </p:cNvSpPr>
              <p:nvPr/>
            </p:nvSpPr>
            <p:spPr bwMode="auto">
              <a:xfrm>
                <a:off x="6296687" y="513119"/>
                <a:ext cx="1027222" cy="531909"/>
              </a:xfrm>
              <a:prstGeom prst="rect">
                <a:avLst/>
              </a:prstGeom>
              <a:noFill/>
              <a:ln w="38100">
                <a:solidFill>
                  <a:srgbClr val="0000FF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anchor="ctr">
                <a:spAutoFit/>
              </a:bodyPr>
              <a:lstStyle>
                <a:lvl1pPr eaLnBrk="0" hangingPunct="0"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1pPr>
                <a:lvl2pPr marL="742950" indent="-285750" eaLnBrk="0" hangingPunct="0"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2pPr>
                <a:lvl3pPr marL="1143000" indent="-228600" eaLnBrk="0" hangingPunct="0"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3pPr>
                <a:lvl4pPr marL="1600200" indent="-228600" eaLnBrk="0" hangingPunct="0"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4pPr>
                <a:lvl5pPr marL="2057400" indent="-228600" eaLnBrk="0" hangingPunct="0"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9pPr>
              </a:lstStyle>
              <a:p>
                <a:pPr algn="ctr" eaLnBrk="1" hangingPunct="1"/>
                <a:endParaRPr lang="en-US" altLang="da-DK" dirty="0"/>
              </a:p>
            </p:txBody>
          </p:sp>
        </p:grpSp>
        <p:sp>
          <p:nvSpPr>
            <p:cNvPr id="40" name="Rectangle 39"/>
            <p:cNvSpPr>
              <a:spLocks noChangeArrowheads="1"/>
            </p:cNvSpPr>
            <p:nvPr/>
          </p:nvSpPr>
          <p:spPr bwMode="auto">
            <a:xfrm>
              <a:off x="5142801" y="1431873"/>
              <a:ext cx="1027222" cy="531909"/>
            </a:xfrm>
            <a:prstGeom prst="rect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41" name="Rectangle 40"/>
            <p:cNvSpPr>
              <a:spLocks noChangeArrowheads="1"/>
            </p:cNvSpPr>
            <p:nvPr/>
          </p:nvSpPr>
          <p:spPr bwMode="auto">
            <a:xfrm>
              <a:off x="7036916" y="2263542"/>
              <a:ext cx="1027222" cy="531909"/>
            </a:xfrm>
            <a:prstGeom prst="rect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42" name="Rectangle 41"/>
            <p:cNvSpPr>
              <a:spLocks noChangeArrowheads="1"/>
            </p:cNvSpPr>
            <p:nvPr/>
          </p:nvSpPr>
          <p:spPr bwMode="auto">
            <a:xfrm>
              <a:off x="7781498" y="1449292"/>
              <a:ext cx="1170913" cy="518846"/>
            </a:xfrm>
            <a:prstGeom prst="rect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43" name="Text Box 21"/>
            <p:cNvSpPr txBox="1">
              <a:spLocks noChangeArrowheads="1"/>
            </p:cNvSpPr>
            <p:nvPr/>
          </p:nvSpPr>
          <p:spPr bwMode="auto">
            <a:xfrm>
              <a:off x="7262220" y="2474936"/>
              <a:ext cx="652128" cy="2584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  <a:defRPr sz="1000" b="1" spc="-50">
                  <a:solidFill>
                    <a:srgbClr val="FF0000"/>
                  </a:solidFill>
                </a:defRPr>
              </a:lvl1pPr>
            </a:lstStyle>
            <a:p>
              <a:r>
                <a:rPr lang="da-DK" altLang="da-DK" sz="700" dirty="0"/>
                <a:t>Billede</a:t>
              </a:r>
            </a:p>
          </p:txBody>
        </p:sp>
        <p:sp>
          <p:nvSpPr>
            <p:cNvPr id="44" name="Text Box 21"/>
            <p:cNvSpPr txBox="1">
              <a:spLocks noChangeArrowheads="1"/>
            </p:cNvSpPr>
            <p:nvPr/>
          </p:nvSpPr>
          <p:spPr bwMode="auto">
            <a:xfrm>
              <a:off x="7974576" y="1590482"/>
              <a:ext cx="959018" cy="3820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  <a:defRPr sz="1000" b="1" spc="-50">
                  <a:solidFill>
                    <a:srgbClr val="FF0000"/>
                  </a:solidFill>
                </a:defRPr>
              </a:lvl1pPr>
            </a:lstStyle>
            <a:p>
              <a:r>
                <a:rPr lang="da-DK" altLang="da-DK" sz="700" dirty="0"/>
                <a:t>Grænseflade til filsystem</a:t>
              </a:r>
            </a:p>
          </p:txBody>
        </p:sp>
        <p:sp>
          <p:nvSpPr>
            <p:cNvPr id="45" name="Text Box 21"/>
            <p:cNvSpPr txBox="1">
              <a:spLocks noChangeArrowheads="1"/>
            </p:cNvSpPr>
            <p:nvPr/>
          </p:nvSpPr>
          <p:spPr bwMode="auto">
            <a:xfrm>
              <a:off x="5098255" y="1574458"/>
              <a:ext cx="1198433" cy="3820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700" b="1" spc="-50" dirty="0">
                  <a:solidFill>
                    <a:srgbClr val="FF0000"/>
                  </a:solidFill>
                </a:rPr>
                <a:t>GUI objekt, hvori billedet kan vises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8342615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8" grpId="0"/>
      <p:bldP spid="19" grpId="0" animBg="1"/>
      <p:bldP spid="21" grpId="0"/>
      <p:bldP spid="22" grpId="0"/>
      <p:bldP spid="23" grpId="0" animBg="1"/>
      <p:bldP spid="24" grpId="0" animBg="1"/>
      <p:bldP spid="27" grpId="0" animBg="1"/>
      <p:bldP spid="28" grpId="0" animBg="1"/>
      <p:bldP spid="3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solidFill>
                  <a:srgbClr val="A50021"/>
                </a:solidFill>
                <a:ea typeface="ＭＳ Ｐゴシック" pitchFamily="34" charset="-128"/>
                <a:cs typeface="Arial"/>
              </a:rPr>
              <a:t>●</a:t>
            </a:r>
            <a:r>
              <a:rPr lang="da-DK" altLang="da-DK" sz="3200" dirty="0">
                <a:ea typeface="ＭＳ Ｐゴシック" pitchFamily="34" charset="-128"/>
                <a:cs typeface="Arial"/>
              </a:rPr>
              <a:t> </a:t>
            </a:r>
            <a:r>
              <a:rPr lang="da-DK" altLang="da-DK" sz="3200" dirty="0">
                <a:ea typeface="ＭＳ Ｐゴシック" pitchFamily="34" charset="-128"/>
              </a:rPr>
              <a:t>Layout managers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38643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10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395536" y="1052736"/>
            <a:ext cx="8640960" cy="13247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altLang="da-DK" sz="2000" kern="0" dirty="0">
                <a:ea typeface="ＭＳ Ｐゴシック" pitchFamily="34" charset="-128"/>
              </a:rPr>
              <a:t>Swing bruger </a:t>
            </a:r>
            <a:r>
              <a:rPr lang="da-DK" altLang="da-DK" sz="2000" kern="0" dirty="0">
                <a:solidFill>
                  <a:srgbClr val="008000"/>
                </a:solidFill>
                <a:ea typeface="ＭＳ Ｐゴシック" pitchFamily="34" charset="-128"/>
              </a:rPr>
              <a:t>layout managers</a:t>
            </a:r>
            <a:r>
              <a:rPr lang="da-DK" altLang="da-DK" sz="2000" kern="0" dirty="0">
                <a:ea typeface="ＭＳ Ｐゴシック" pitchFamily="34" charset="-128"/>
              </a:rPr>
              <a:t> til at bestemme, hvordan de enkelte elementer i en frame placeres i forhold til hinanden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Det er en layout manager, der sørger for, at de to labels i nedenstående vindue placeres hhv. over og under billedet, og at de er venstrejusteret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676" y="2540352"/>
            <a:ext cx="3162300" cy="282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9491" y="2392507"/>
            <a:ext cx="3529013" cy="3157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Text Box 21"/>
          <p:cNvSpPr txBox="1">
            <a:spLocks noChangeArrowheads="1"/>
          </p:cNvSpPr>
          <p:nvPr/>
        </p:nvSpPr>
        <p:spPr bwMode="auto">
          <a:xfrm>
            <a:off x="8052266" y="5082035"/>
            <a:ext cx="1002595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00FF"/>
                </a:solidFill>
              </a:rPr>
              <a:t>Lidt større</a:t>
            </a:r>
          </a:p>
        </p:txBody>
      </p:sp>
      <p:sp>
        <p:nvSpPr>
          <p:cNvPr id="28" name="Line 22"/>
          <p:cNvSpPr>
            <a:spLocks noChangeShapeType="1"/>
          </p:cNvSpPr>
          <p:nvPr/>
        </p:nvSpPr>
        <p:spPr bwMode="auto">
          <a:xfrm flipV="1">
            <a:off x="995182" y="2841727"/>
            <a:ext cx="262906" cy="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30" name="Text Box 21"/>
          <p:cNvSpPr txBox="1">
            <a:spLocks noChangeArrowheads="1"/>
          </p:cNvSpPr>
          <p:nvPr/>
        </p:nvSpPr>
        <p:spPr bwMode="auto">
          <a:xfrm>
            <a:off x="316108" y="2686065"/>
            <a:ext cx="877568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Label</a:t>
            </a:r>
            <a:br>
              <a:rPr lang="da-DK" altLang="da-DK" sz="1400" b="1" dirty="0">
                <a:solidFill>
                  <a:srgbClr val="0000FF"/>
                </a:solidFill>
              </a:rPr>
            </a:br>
            <a:r>
              <a:rPr lang="da-DK" altLang="da-DK" sz="1400" b="1" dirty="0">
                <a:solidFill>
                  <a:srgbClr val="0000FF"/>
                </a:solidFill>
              </a:rPr>
              <a:t>(filnavn)</a:t>
            </a:r>
          </a:p>
        </p:txBody>
      </p:sp>
      <p:sp>
        <p:nvSpPr>
          <p:cNvPr id="31" name="Line 22"/>
          <p:cNvSpPr>
            <a:spLocks noChangeShapeType="1"/>
          </p:cNvSpPr>
          <p:nvPr/>
        </p:nvSpPr>
        <p:spPr bwMode="auto">
          <a:xfrm>
            <a:off x="941707" y="5277873"/>
            <a:ext cx="243260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32" name="Text Box 21"/>
          <p:cNvSpPr txBox="1">
            <a:spLocks noChangeArrowheads="1"/>
          </p:cNvSpPr>
          <p:nvPr/>
        </p:nvSpPr>
        <p:spPr bwMode="auto">
          <a:xfrm>
            <a:off x="331778" y="5113325"/>
            <a:ext cx="1342966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Label</a:t>
            </a:r>
            <a:br>
              <a:rPr lang="da-DK" altLang="da-DK" sz="1400" b="1" dirty="0">
                <a:solidFill>
                  <a:srgbClr val="0000FF"/>
                </a:solidFill>
              </a:rPr>
            </a:br>
            <a:r>
              <a:rPr lang="da-DK" altLang="da-DK" sz="1400" b="1" dirty="0">
                <a:solidFill>
                  <a:srgbClr val="0000FF"/>
                </a:solidFill>
              </a:rPr>
              <a:t>(status info)</a:t>
            </a:r>
          </a:p>
        </p:txBody>
      </p:sp>
      <p:sp>
        <p:nvSpPr>
          <p:cNvPr id="33" name="Line 22"/>
          <p:cNvSpPr>
            <a:spLocks noChangeShapeType="1"/>
          </p:cNvSpPr>
          <p:nvPr/>
        </p:nvSpPr>
        <p:spPr bwMode="auto">
          <a:xfrm flipV="1">
            <a:off x="886424" y="4005065"/>
            <a:ext cx="371666" cy="614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34" name="Text Box 21"/>
          <p:cNvSpPr txBox="1">
            <a:spLocks noChangeArrowheads="1"/>
          </p:cNvSpPr>
          <p:nvPr/>
        </p:nvSpPr>
        <p:spPr bwMode="auto">
          <a:xfrm>
            <a:off x="64883" y="3633991"/>
            <a:ext cx="1258088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 err="1">
                <a:solidFill>
                  <a:srgbClr val="0000FF"/>
                </a:solidFill>
              </a:rPr>
              <a:t>ImagePanel</a:t>
            </a:r>
            <a:r>
              <a:rPr lang="da-DK" altLang="da-DK" sz="1400" b="1" dirty="0">
                <a:solidFill>
                  <a:srgbClr val="0000FF"/>
                </a:solidFill>
              </a:rPr>
              <a:t> (billede)</a:t>
            </a:r>
          </a:p>
        </p:txBody>
      </p:sp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3229" y="2854622"/>
            <a:ext cx="2152650" cy="2347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Rectangle 3"/>
          <p:cNvSpPr txBox="1">
            <a:spLocks noChangeArrowheads="1"/>
          </p:cNvSpPr>
          <p:nvPr/>
        </p:nvSpPr>
        <p:spPr bwMode="auto">
          <a:xfrm>
            <a:off x="386828" y="5658472"/>
            <a:ext cx="8455129" cy="9264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Det er også layout manageren, der bestemmer, hvad der sker med de tre elementer, når billedet gøres mindre eller større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spc="-20" dirty="0">
                <a:ea typeface="ＭＳ Ｐゴシック" pitchFamily="34" charset="-128"/>
              </a:rPr>
              <a:t>Der er mange forskellige layout managers, som vi nu vil studere (nogle af)</a:t>
            </a:r>
          </a:p>
        </p:txBody>
      </p:sp>
      <p:sp>
        <p:nvSpPr>
          <p:cNvPr id="27" name="Text Box 21"/>
          <p:cNvSpPr txBox="1">
            <a:spLocks noChangeArrowheads="1"/>
          </p:cNvSpPr>
          <p:nvPr/>
        </p:nvSpPr>
        <p:spPr bwMode="auto">
          <a:xfrm>
            <a:off x="4771317" y="3356992"/>
            <a:ext cx="108012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00FF"/>
                </a:solidFill>
              </a:rPr>
              <a:t>Lidt mindre</a:t>
            </a:r>
          </a:p>
        </p:txBody>
      </p:sp>
    </p:spTree>
    <p:extLst>
      <p:ext uri="{BB962C8B-B14F-4D97-AF65-F5344CB8AC3E}">
        <p14:creationId xmlns:p14="http://schemas.microsoft.com/office/powerpoint/2010/main" val="24266570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Flow layout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11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554528" y="1052736"/>
            <a:ext cx="7977912" cy="18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Elementerne placeres efter hinanden fra venstre mod højre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Om nødvendigt begyndes på en eller flere nye linjer, der alle centreres horisontalt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Elementernes størrelse ændres ikke, når vinduet skaleres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Den horisontale og vertikale afstand mellem elementerne er fast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2951031"/>
            <a:ext cx="4733925" cy="84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852" y="3798756"/>
            <a:ext cx="3295650" cy="1704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3793" y="5035252"/>
            <a:ext cx="1390650" cy="156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 Box 21"/>
          <p:cNvSpPr txBox="1">
            <a:spLocks noChangeArrowheads="1"/>
          </p:cNvSpPr>
          <p:nvPr/>
        </p:nvSpPr>
        <p:spPr bwMode="auto">
          <a:xfrm>
            <a:off x="5076056" y="3994756"/>
            <a:ext cx="3703559" cy="2400657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spcBef>
                <a:spcPct val="50000"/>
              </a:spcBef>
            </a:pPr>
            <a:r>
              <a:rPr lang="da-DK" altLang="da-DK" sz="1400" b="1" dirty="0">
                <a:solidFill>
                  <a:srgbClr val="0000FF"/>
                </a:solidFill>
              </a:rPr>
              <a:t>Her vil vi kun se på layout managernes "standard" opførsel</a:t>
            </a:r>
          </a:p>
          <a:p>
            <a:pPr eaLnBrk="1" hangingPunct="1">
              <a:spcBef>
                <a:spcPts val="600"/>
              </a:spcBef>
            </a:pPr>
            <a:r>
              <a:rPr lang="da-DK" altLang="da-DK" sz="1400" b="1" dirty="0">
                <a:solidFill>
                  <a:srgbClr val="0000FF"/>
                </a:solidFill>
              </a:rPr>
              <a:t>Alle layout managers har parametre, der bestemmer deres detaljerede opførsel</a:t>
            </a:r>
          </a:p>
          <a:p>
            <a:pPr marL="182563" indent="-182563" eaLnBrk="1" hangingPunct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Venstre mod højre / højre mod venstre</a:t>
            </a:r>
          </a:p>
          <a:p>
            <a:pPr marL="182563" indent="-182563" eaLnBrk="1" hangingPunct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Vertikalt / horisontalt</a:t>
            </a:r>
          </a:p>
          <a:p>
            <a:pPr marL="182563" indent="-182563" eaLnBrk="1" hangingPunct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Afstand mellem elementerne</a:t>
            </a:r>
          </a:p>
          <a:p>
            <a:pPr marL="182563" indent="-182563" eaLnBrk="1" hangingPunct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 err="1">
                <a:solidFill>
                  <a:srgbClr val="0000FF"/>
                </a:solidFill>
              </a:rPr>
              <a:t>Alignment</a:t>
            </a:r>
            <a:r>
              <a:rPr lang="da-DK" altLang="da-DK" sz="1400" b="1" dirty="0">
                <a:solidFill>
                  <a:srgbClr val="0000FF"/>
                </a:solidFill>
              </a:rPr>
              <a:t>, osv.</a:t>
            </a:r>
          </a:p>
          <a:p>
            <a:pPr>
              <a:spcBef>
                <a:spcPts val="600"/>
              </a:spcBef>
            </a:pPr>
            <a:r>
              <a:rPr lang="da-DK" altLang="da-DK" sz="1400" b="1" dirty="0">
                <a:solidFill>
                  <a:srgbClr val="0000FF"/>
                </a:solidFill>
              </a:rPr>
              <a:t>Se Java </a:t>
            </a:r>
            <a:r>
              <a:rPr lang="da-DK" altLang="da-DK" sz="1400" b="1" dirty="0" err="1">
                <a:solidFill>
                  <a:srgbClr val="0000FF"/>
                </a:solidFill>
              </a:rPr>
              <a:t>API'en</a:t>
            </a:r>
            <a:r>
              <a:rPr lang="da-DK" altLang="da-DK" sz="1400" b="1" dirty="0">
                <a:solidFill>
                  <a:srgbClr val="0000FF"/>
                </a:solidFill>
              </a:rPr>
              <a:t> eller en GUI </a:t>
            </a:r>
            <a:r>
              <a:rPr lang="da-DK" altLang="da-DK" sz="1400" b="1" dirty="0" err="1">
                <a:solidFill>
                  <a:srgbClr val="0000FF"/>
                </a:solidFill>
              </a:rPr>
              <a:t>tutorial</a:t>
            </a:r>
            <a:r>
              <a:rPr lang="da-DK" altLang="da-DK" sz="1400" b="1" dirty="0">
                <a:solidFill>
                  <a:srgbClr val="0000FF"/>
                </a:solidFill>
              </a:rPr>
              <a:t> for detaljer</a:t>
            </a:r>
          </a:p>
        </p:txBody>
      </p:sp>
    </p:spTree>
    <p:extLst>
      <p:ext uri="{BB962C8B-B14F-4D97-AF65-F5344CB8AC3E}">
        <p14:creationId xmlns:p14="http://schemas.microsoft.com/office/powerpoint/2010/main" val="572413982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Horisontalt </a:t>
            </a:r>
            <a:r>
              <a:rPr lang="da-DK" altLang="da-DK" sz="3200" dirty="0" err="1">
                <a:ea typeface="ＭＳ Ｐゴシック" pitchFamily="34" charset="-128"/>
              </a:rPr>
              <a:t>box</a:t>
            </a:r>
            <a:r>
              <a:rPr lang="da-DK" altLang="da-DK" sz="3200" dirty="0">
                <a:ea typeface="ＭＳ Ｐゴシック" pitchFamily="34" charset="-128"/>
              </a:rPr>
              <a:t> layout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12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67544" y="1052736"/>
            <a:ext cx="7992888" cy="21602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Ligner flow design, men opfører sig anderledes, når vinduet skaleres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Elementerne placeres fra venstre mod højre på </a:t>
            </a: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én enkelt linje</a:t>
            </a:r>
            <a:r>
              <a:rPr lang="da-DK" altLang="da-DK" sz="1800" kern="0" dirty="0">
                <a:ea typeface="ＭＳ Ｐゴシック" pitchFamily="34" charset="-128"/>
              </a:rPr>
              <a:t>, der er </a:t>
            </a: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venstrejusteret og centreres vertikalt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Elementernes størrelse ændres ikke, når vinduet skaleres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Den horisontale afstand mellem elementerne er fast</a:t>
            </a:r>
          </a:p>
          <a:p>
            <a:pPr lvl="1">
              <a:spcBef>
                <a:spcPts val="600"/>
              </a:spcBef>
            </a:pPr>
            <a:endParaRPr lang="da-DK" altLang="da-DK" sz="1800" kern="0" dirty="0">
              <a:ea typeface="ＭＳ Ｐゴシック" pitchFamily="34" charset="-128"/>
            </a:endParaRPr>
          </a:p>
        </p:txBody>
      </p:sp>
      <p:pic>
        <p:nvPicPr>
          <p:cNvPr id="4102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2452" y="3356992"/>
            <a:ext cx="4476750" cy="71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103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0438" y="5257854"/>
            <a:ext cx="492442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104" name="Picture 8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5865" y="4149080"/>
            <a:ext cx="2571750" cy="99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07578041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4447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Vertikalt </a:t>
            </a:r>
            <a:r>
              <a:rPr lang="da-DK" altLang="da-DK" sz="3200" dirty="0" err="1">
                <a:ea typeface="ＭＳ Ｐゴシック" pitchFamily="34" charset="-128"/>
              </a:rPr>
              <a:t>box</a:t>
            </a:r>
            <a:r>
              <a:rPr lang="da-DK" altLang="da-DK" sz="3200" dirty="0">
                <a:ea typeface="ＭＳ Ｐゴシック" pitchFamily="34" charset="-128"/>
              </a:rPr>
              <a:t> layout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13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67544" y="1052736"/>
            <a:ext cx="7488832" cy="23042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Nu placeres elementerne vertikalt under hinanden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Elementerne er venstrejusteret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Elementernes størrelse ændres ikke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Om nødvendigt forkortes nogle af teksterne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Den vertikale afstand mellem elementerne er fast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3041271"/>
            <a:ext cx="1990725" cy="171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0" y="3056873"/>
            <a:ext cx="1333500" cy="1352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3034407"/>
            <a:ext cx="2495550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32612090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Grid layout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14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67545" y="1052736"/>
            <a:ext cx="8353546" cy="14401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Elementer placeres i et gitter (</a:t>
            </a:r>
            <a:r>
              <a:rPr lang="da-DK" altLang="da-DK" b="1" kern="0" dirty="0" err="1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grid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Elementernes har ens størrelse, og denne tilpasses, så vinduet fyldes ud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Der kan dog være ubrugte pladser i gitteret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Om nødvendigt forkortes nogle af teksterne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488" y="2738222"/>
            <a:ext cx="3743325" cy="121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767" y="4084662"/>
            <a:ext cx="4886325" cy="2152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3116" y="4043705"/>
            <a:ext cx="2847975" cy="904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14820177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Border layout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15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67544" y="1052736"/>
            <a:ext cx="7848872" cy="14401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Der er fem elementer (hvoraf et eller flere kan udelades)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Når vinduet skaleres er det primært størrelsen på center elementet, der ændres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Vestlige og østlige element har fast bredde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Nordlige og sydlige element har fast højde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599" y="2924944"/>
            <a:ext cx="2028825" cy="1209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7863" y="2924944"/>
            <a:ext cx="3114675" cy="281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598" y="4313067"/>
            <a:ext cx="1533525" cy="111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3"/>
          <p:cNvSpPr txBox="1">
            <a:spLocks noChangeArrowheads="1"/>
          </p:cNvSpPr>
          <p:nvPr/>
        </p:nvSpPr>
        <p:spPr bwMode="auto">
          <a:xfrm>
            <a:off x="395536" y="5877272"/>
            <a:ext cx="8488208" cy="7343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FontTx/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Umiddelbart kan man tro, at border layoutet er for specielt til at være nyttigt, men det er ingenlunde tilfældet</a:t>
            </a:r>
          </a:p>
          <a:p>
            <a:pPr marL="342900" lvl="1" indent="-342900">
              <a:spcBef>
                <a:spcPts val="1800"/>
              </a:spcBef>
              <a:buChar char="•"/>
            </a:pPr>
            <a:endParaRPr lang="da-DK" altLang="da-DK" b="1" kern="0" dirty="0">
              <a:solidFill>
                <a:srgbClr val="A50021"/>
              </a:solidFill>
              <a:ea typeface="ＭＳ Ｐゴシック" pitchFamily="34" charset="-128"/>
              <a:cs typeface="ＭＳ Ｐゴシック" pitchFamily="-106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09039473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Border layout (fortsat)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16</a:t>
            </a:fld>
            <a:endParaRPr lang="da-DK" altLang="da-DK" dirty="0"/>
          </a:p>
        </p:txBody>
      </p:sp>
      <p:grpSp>
        <p:nvGrpSpPr>
          <p:cNvPr id="3" name="Group 2"/>
          <p:cNvGrpSpPr/>
          <p:nvPr/>
        </p:nvGrpSpPr>
        <p:grpSpPr>
          <a:xfrm>
            <a:off x="457502" y="1833565"/>
            <a:ext cx="4276262" cy="3637979"/>
            <a:chOff x="457502" y="1833565"/>
            <a:chExt cx="4276262" cy="3637979"/>
          </a:xfrm>
        </p:grpSpPr>
        <p:pic>
          <p:nvPicPr>
            <p:cNvPr id="6148" name="Picture 4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7502" y="1833565"/>
              <a:ext cx="4276262" cy="36379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Rectangle 28"/>
            <p:cNvSpPr>
              <a:spLocks noChangeArrowheads="1"/>
            </p:cNvSpPr>
            <p:nvPr/>
          </p:nvSpPr>
          <p:spPr bwMode="auto">
            <a:xfrm>
              <a:off x="1242204" y="2276872"/>
              <a:ext cx="3303917" cy="2415898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11" name="Text Box 5"/>
            <p:cNvSpPr txBox="1">
              <a:spLocks noChangeArrowheads="1"/>
            </p:cNvSpPr>
            <p:nvPr/>
          </p:nvSpPr>
          <p:spPr bwMode="auto">
            <a:xfrm>
              <a:off x="2454627" y="3427839"/>
              <a:ext cx="749221" cy="309958"/>
            </a:xfrm>
            <a:prstGeom prst="rect">
              <a:avLst/>
            </a:prstGeom>
            <a:solidFill>
              <a:srgbClr val="CCECFF">
                <a:alpha val="69804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defPPr>
                <a:defRPr lang="da-DK"/>
              </a:defPPr>
              <a:lvl1pPr eaLnBrk="1" hangingPunct="1">
                <a:spcBef>
                  <a:spcPct val="50000"/>
                </a:spcBef>
                <a:defRPr sz="1400" b="1">
                  <a:solidFill>
                    <a:srgbClr val="0000FF"/>
                  </a:solidFill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r>
                <a:rPr lang="en-GB" dirty="0" err="1"/>
                <a:t>Center</a:t>
              </a:r>
              <a:endParaRPr lang="en-GB" dirty="0"/>
            </a:p>
          </p:txBody>
        </p:sp>
        <p:sp>
          <p:nvSpPr>
            <p:cNvPr id="16" name="Rectangle 28"/>
            <p:cNvSpPr>
              <a:spLocks noChangeArrowheads="1"/>
            </p:cNvSpPr>
            <p:nvPr/>
          </p:nvSpPr>
          <p:spPr bwMode="auto">
            <a:xfrm>
              <a:off x="506696" y="4692769"/>
              <a:ext cx="4056678" cy="690113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18" name="Rectangle 28"/>
            <p:cNvSpPr>
              <a:spLocks noChangeArrowheads="1"/>
            </p:cNvSpPr>
            <p:nvPr/>
          </p:nvSpPr>
          <p:spPr bwMode="auto">
            <a:xfrm>
              <a:off x="500333" y="2283123"/>
              <a:ext cx="741872" cy="2401020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19" name="Text Box 5"/>
            <p:cNvSpPr txBox="1">
              <a:spLocks noChangeArrowheads="1"/>
            </p:cNvSpPr>
            <p:nvPr/>
          </p:nvSpPr>
          <p:spPr bwMode="auto">
            <a:xfrm>
              <a:off x="2489133" y="4808865"/>
              <a:ext cx="688307" cy="309958"/>
            </a:xfrm>
            <a:prstGeom prst="rect">
              <a:avLst/>
            </a:prstGeom>
            <a:solidFill>
              <a:srgbClr val="CCECFF">
                <a:alpha val="69804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defPPr>
                <a:defRPr lang="da-DK"/>
              </a:defPPr>
              <a:lvl1pPr eaLnBrk="0" hangingPunct="0">
                <a:defRPr sz="1800" b="1"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sz="1400" dirty="0">
                  <a:solidFill>
                    <a:srgbClr val="0000FF"/>
                  </a:solidFill>
                  <a:latin typeface="Arial" pitchFamily="34" charset="0"/>
                  <a:ea typeface="ＭＳ Ｐゴシック" pitchFamily="34" charset="-128"/>
                </a:rPr>
                <a:t>South</a:t>
              </a:r>
            </a:p>
          </p:txBody>
        </p:sp>
        <p:sp>
          <p:nvSpPr>
            <p:cNvPr id="20" name="Text Box 5"/>
            <p:cNvSpPr txBox="1">
              <a:spLocks noChangeArrowheads="1"/>
            </p:cNvSpPr>
            <p:nvPr/>
          </p:nvSpPr>
          <p:spPr bwMode="auto">
            <a:xfrm>
              <a:off x="559397" y="3436466"/>
              <a:ext cx="606489" cy="309958"/>
            </a:xfrm>
            <a:prstGeom prst="rect">
              <a:avLst/>
            </a:prstGeom>
            <a:solidFill>
              <a:srgbClr val="CCECFF">
                <a:alpha val="69804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defPPr>
                <a:defRPr lang="da-DK"/>
              </a:defPPr>
              <a:lvl1pPr eaLnBrk="1" hangingPunct="1">
                <a:spcBef>
                  <a:spcPct val="50000"/>
                </a:spcBef>
                <a:defRPr sz="1400" b="1">
                  <a:solidFill>
                    <a:srgbClr val="0000FF"/>
                  </a:solidFill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r>
                <a:rPr lang="en-GB" dirty="0"/>
                <a:t>West</a:t>
              </a: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5010556" y="1860850"/>
            <a:ext cx="3879943" cy="3634593"/>
            <a:chOff x="5010556" y="1860850"/>
            <a:chExt cx="3879943" cy="3634593"/>
          </a:xfrm>
        </p:grpSpPr>
        <p:pic>
          <p:nvPicPr>
            <p:cNvPr id="14" name="Picture 2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10556" y="1860850"/>
              <a:ext cx="3879943" cy="36345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1" name="Rectangle 28"/>
            <p:cNvSpPr>
              <a:spLocks noChangeArrowheads="1"/>
            </p:cNvSpPr>
            <p:nvPr/>
          </p:nvSpPr>
          <p:spPr bwMode="auto">
            <a:xfrm>
              <a:off x="5095337" y="2394766"/>
              <a:ext cx="3160142" cy="2686191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22" name="Rectangle 28"/>
            <p:cNvSpPr>
              <a:spLocks noChangeArrowheads="1"/>
            </p:cNvSpPr>
            <p:nvPr/>
          </p:nvSpPr>
          <p:spPr bwMode="auto">
            <a:xfrm>
              <a:off x="5101087" y="5083333"/>
              <a:ext cx="3697856" cy="325429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23" name="Rectangle 28"/>
            <p:cNvSpPr>
              <a:spLocks noChangeArrowheads="1"/>
            </p:cNvSpPr>
            <p:nvPr/>
          </p:nvSpPr>
          <p:spPr bwMode="auto">
            <a:xfrm>
              <a:off x="5080959" y="2190609"/>
              <a:ext cx="3709358" cy="216161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24" name="Rectangle 28"/>
            <p:cNvSpPr>
              <a:spLocks noChangeArrowheads="1"/>
            </p:cNvSpPr>
            <p:nvPr/>
          </p:nvSpPr>
          <p:spPr bwMode="auto">
            <a:xfrm>
              <a:off x="8258355" y="2400517"/>
              <a:ext cx="523336" cy="2686191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25" name="Text Box 5"/>
            <p:cNvSpPr txBox="1">
              <a:spLocks noChangeArrowheads="1"/>
            </p:cNvSpPr>
            <p:nvPr/>
          </p:nvSpPr>
          <p:spPr bwMode="auto">
            <a:xfrm>
              <a:off x="6367759" y="3436466"/>
              <a:ext cx="749221" cy="309958"/>
            </a:xfrm>
            <a:prstGeom prst="rect">
              <a:avLst/>
            </a:prstGeom>
            <a:solidFill>
              <a:srgbClr val="CCECFF">
                <a:alpha val="69804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defPPr>
                <a:defRPr lang="da-DK"/>
              </a:defPPr>
              <a:lvl1pPr eaLnBrk="1" hangingPunct="1">
                <a:spcBef>
                  <a:spcPct val="50000"/>
                </a:spcBef>
                <a:defRPr sz="1400" b="1">
                  <a:solidFill>
                    <a:srgbClr val="0000FF"/>
                  </a:solidFill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r>
                <a:rPr lang="en-GB" dirty="0" err="1"/>
                <a:t>Center</a:t>
              </a:r>
              <a:endParaRPr lang="en-GB" dirty="0"/>
            </a:p>
          </p:txBody>
        </p:sp>
        <p:sp>
          <p:nvSpPr>
            <p:cNvPr id="26" name="Text Box 5"/>
            <p:cNvSpPr txBox="1">
              <a:spLocks noChangeArrowheads="1"/>
            </p:cNvSpPr>
            <p:nvPr/>
          </p:nvSpPr>
          <p:spPr bwMode="auto">
            <a:xfrm>
              <a:off x="6398216" y="5094578"/>
              <a:ext cx="688307" cy="309958"/>
            </a:xfrm>
            <a:prstGeom prst="rect">
              <a:avLst/>
            </a:prstGeom>
            <a:solidFill>
              <a:srgbClr val="CCECFF">
                <a:alpha val="69804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defPPr>
                <a:defRPr lang="da-DK"/>
              </a:defPPr>
              <a:lvl1pPr eaLnBrk="1" hangingPunct="1">
                <a:spcBef>
                  <a:spcPct val="50000"/>
                </a:spcBef>
                <a:defRPr sz="1400" b="1">
                  <a:solidFill>
                    <a:srgbClr val="0000FF"/>
                  </a:solidFill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r>
                <a:rPr lang="en-GB" dirty="0"/>
                <a:t>South</a:t>
              </a:r>
            </a:p>
          </p:txBody>
        </p:sp>
        <p:sp>
          <p:nvSpPr>
            <p:cNvPr id="27" name="Text Box 5"/>
            <p:cNvSpPr txBox="1">
              <a:spLocks noChangeArrowheads="1"/>
            </p:cNvSpPr>
            <p:nvPr/>
          </p:nvSpPr>
          <p:spPr bwMode="auto">
            <a:xfrm>
              <a:off x="6412643" y="2121893"/>
              <a:ext cx="659453" cy="309958"/>
            </a:xfrm>
            <a:prstGeom prst="rect">
              <a:avLst/>
            </a:prstGeom>
            <a:solidFill>
              <a:srgbClr val="CCECFF">
                <a:alpha val="69804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defPPr>
                <a:defRPr lang="da-DK"/>
              </a:defPPr>
              <a:lvl1pPr eaLnBrk="1" hangingPunct="1">
                <a:spcBef>
                  <a:spcPct val="50000"/>
                </a:spcBef>
                <a:defRPr sz="1400" b="1">
                  <a:solidFill>
                    <a:srgbClr val="0000FF"/>
                  </a:solidFill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r>
                <a:rPr lang="en-GB" dirty="0"/>
                <a:t>North</a:t>
              </a:r>
            </a:p>
          </p:txBody>
        </p:sp>
        <p:sp>
          <p:nvSpPr>
            <p:cNvPr id="28" name="Text Box 5"/>
            <p:cNvSpPr txBox="1">
              <a:spLocks noChangeArrowheads="1"/>
            </p:cNvSpPr>
            <p:nvPr/>
          </p:nvSpPr>
          <p:spPr bwMode="auto">
            <a:xfrm>
              <a:off x="8243610" y="3436466"/>
              <a:ext cx="560067" cy="309958"/>
            </a:xfrm>
            <a:prstGeom prst="rect">
              <a:avLst/>
            </a:prstGeom>
            <a:solidFill>
              <a:srgbClr val="CCECFF">
                <a:alpha val="69804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defPPr>
                <a:defRPr lang="da-DK"/>
              </a:defPPr>
              <a:lvl1pPr eaLnBrk="1" hangingPunct="1">
                <a:spcBef>
                  <a:spcPct val="50000"/>
                </a:spcBef>
                <a:defRPr sz="1400" b="1">
                  <a:solidFill>
                    <a:srgbClr val="0000FF"/>
                  </a:solidFill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r>
                <a:rPr lang="en-GB" dirty="0"/>
                <a:t>East</a:t>
              </a:r>
            </a:p>
          </p:txBody>
        </p:sp>
      </p:grpSp>
      <p:sp>
        <p:nvSpPr>
          <p:cNvPr id="29" name="Rectangle 3"/>
          <p:cNvSpPr txBox="1">
            <a:spLocks noChangeArrowheads="1"/>
          </p:cNvSpPr>
          <p:nvPr/>
        </p:nvSpPr>
        <p:spPr bwMode="auto">
          <a:xfrm>
            <a:off x="423409" y="1189362"/>
            <a:ext cx="4584038" cy="46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FontTx/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BlueJ's vinduer er Border layouts</a:t>
            </a:r>
          </a:p>
        </p:txBody>
      </p:sp>
      <p:sp>
        <p:nvSpPr>
          <p:cNvPr id="30" name="Text Box 21"/>
          <p:cNvSpPr txBox="1">
            <a:spLocks noChangeArrowheads="1"/>
          </p:cNvSpPr>
          <p:nvPr/>
        </p:nvSpPr>
        <p:spPr bwMode="auto">
          <a:xfrm>
            <a:off x="1506309" y="5508822"/>
            <a:ext cx="191356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9900"/>
                </a:solidFill>
              </a:rPr>
              <a:t>North og East mangler</a:t>
            </a:r>
          </a:p>
        </p:txBody>
      </p:sp>
      <p:sp>
        <p:nvSpPr>
          <p:cNvPr id="31" name="Text Box 21"/>
          <p:cNvSpPr txBox="1">
            <a:spLocks noChangeArrowheads="1"/>
          </p:cNvSpPr>
          <p:nvPr/>
        </p:nvSpPr>
        <p:spPr bwMode="auto">
          <a:xfrm>
            <a:off x="6228184" y="5508822"/>
            <a:ext cx="129614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9900"/>
                </a:solidFill>
              </a:rPr>
              <a:t>West mangler</a:t>
            </a:r>
          </a:p>
        </p:txBody>
      </p:sp>
    </p:spTree>
    <p:extLst>
      <p:ext uri="{BB962C8B-B14F-4D97-AF65-F5344CB8AC3E}">
        <p14:creationId xmlns:p14="http://schemas.microsoft.com/office/powerpoint/2010/main" val="4074865208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Box 4"/>
          <p:cNvSpPr txBox="1">
            <a:spLocks noChangeArrowheads="1"/>
          </p:cNvSpPr>
          <p:nvPr/>
        </p:nvSpPr>
        <p:spPr bwMode="auto">
          <a:xfrm>
            <a:off x="2343945" y="3651936"/>
            <a:ext cx="6717084" cy="3135347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Container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frame.getContentPane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contentPane.setLayout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BorderLayout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(6,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6));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filenameLabel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filenameLabel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,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BorderLayout.NORTH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,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BorderLayout.CENTER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statusLabel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statusLabel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,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BorderLayout.SOUTH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...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4952321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Border layout (fortsat)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11085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17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77800" y="1052736"/>
            <a:ext cx="4414536" cy="23762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Vores vindue med billedet er også et border layout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 to labels er placeret i henholdsvis North og South, mens billedet er placeret i Center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West og East mangler</a:t>
            </a:r>
          </a:p>
        </p:txBody>
      </p:sp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4196" y="620688"/>
            <a:ext cx="3291085" cy="29441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Text Box 21"/>
          <p:cNvSpPr txBox="1">
            <a:spLocks noChangeArrowheads="1"/>
          </p:cNvSpPr>
          <p:nvPr/>
        </p:nvSpPr>
        <p:spPr bwMode="auto">
          <a:xfrm>
            <a:off x="4759651" y="1028020"/>
            <a:ext cx="66767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00FF"/>
                </a:solidFill>
              </a:rPr>
              <a:t>Label</a:t>
            </a:r>
          </a:p>
        </p:txBody>
      </p:sp>
      <p:sp>
        <p:nvSpPr>
          <p:cNvPr id="16" name="Text Box 21"/>
          <p:cNvSpPr txBox="1">
            <a:spLocks noChangeArrowheads="1"/>
          </p:cNvSpPr>
          <p:nvPr/>
        </p:nvSpPr>
        <p:spPr bwMode="auto">
          <a:xfrm>
            <a:off x="4747159" y="3133616"/>
            <a:ext cx="66767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00FF"/>
                </a:solidFill>
              </a:rPr>
              <a:t>Label</a:t>
            </a:r>
          </a:p>
        </p:txBody>
      </p:sp>
      <p:sp>
        <p:nvSpPr>
          <p:cNvPr id="18" name="Line 22"/>
          <p:cNvSpPr>
            <a:spLocks noChangeShapeType="1"/>
          </p:cNvSpPr>
          <p:nvPr/>
        </p:nvSpPr>
        <p:spPr bwMode="auto">
          <a:xfrm>
            <a:off x="5316509" y="2117701"/>
            <a:ext cx="32903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9" name="Text Box 21"/>
          <p:cNvSpPr txBox="1">
            <a:spLocks noChangeArrowheads="1"/>
          </p:cNvSpPr>
          <p:nvPr/>
        </p:nvSpPr>
        <p:spPr bwMode="auto">
          <a:xfrm>
            <a:off x="4640081" y="1954254"/>
            <a:ext cx="70384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00FF"/>
                </a:solidFill>
              </a:rPr>
              <a:t>Billede</a:t>
            </a:r>
          </a:p>
        </p:txBody>
      </p:sp>
      <p:sp>
        <p:nvSpPr>
          <p:cNvPr id="21" name="Line 22"/>
          <p:cNvSpPr>
            <a:spLocks noChangeShapeType="1"/>
          </p:cNvSpPr>
          <p:nvPr/>
        </p:nvSpPr>
        <p:spPr bwMode="auto">
          <a:xfrm>
            <a:off x="5343930" y="3272116"/>
            <a:ext cx="275065" cy="212034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2" name="Line 22"/>
          <p:cNvSpPr>
            <a:spLocks noChangeShapeType="1"/>
          </p:cNvSpPr>
          <p:nvPr/>
        </p:nvSpPr>
        <p:spPr bwMode="auto">
          <a:xfrm flipV="1">
            <a:off x="5347857" y="980728"/>
            <a:ext cx="297688" cy="185792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3" name="Text Box 21"/>
          <p:cNvSpPr txBox="1">
            <a:spLocks noChangeArrowheads="1"/>
          </p:cNvSpPr>
          <p:nvPr/>
        </p:nvSpPr>
        <p:spPr bwMode="auto">
          <a:xfrm>
            <a:off x="111473" y="3622062"/>
            <a:ext cx="2393357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spc="-40" dirty="0">
                <a:solidFill>
                  <a:srgbClr val="FF0000"/>
                </a:solidFill>
              </a:rPr>
              <a:t>Feltvariablen </a:t>
            </a:r>
            <a:r>
              <a:rPr lang="da-DK" altLang="da-DK" sz="1400" b="1" spc="-40" dirty="0" err="1">
                <a:solidFill>
                  <a:srgbClr val="FF0000"/>
                </a:solidFill>
              </a:rPr>
              <a:t>contentPane</a:t>
            </a:r>
            <a:r>
              <a:rPr lang="da-DK" altLang="da-DK" sz="1400" b="1" spc="-40" dirty="0">
                <a:solidFill>
                  <a:srgbClr val="FF0000"/>
                </a:solidFill>
              </a:rPr>
              <a:t> </a:t>
            </a:r>
            <a:r>
              <a:rPr lang="da-DK" altLang="da-DK" sz="1400" b="1" dirty="0">
                <a:solidFill>
                  <a:srgbClr val="FF0000"/>
                </a:solidFill>
              </a:rPr>
              <a:t>sættes til at pege på rammens </a:t>
            </a:r>
            <a:r>
              <a:rPr lang="da-DK" altLang="da-DK" sz="1400" b="1" dirty="0" err="1">
                <a:solidFill>
                  <a:srgbClr val="FF0000"/>
                </a:solidFill>
              </a:rPr>
              <a:t>content</a:t>
            </a:r>
            <a:r>
              <a:rPr lang="da-DK" altLang="da-DK" sz="1400" b="1" dirty="0">
                <a:solidFill>
                  <a:srgbClr val="FF0000"/>
                </a:solidFill>
              </a:rPr>
              <a:t> </a:t>
            </a:r>
            <a:r>
              <a:rPr lang="da-DK" altLang="da-DK" sz="1400" b="1" dirty="0" err="1">
                <a:solidFill>
                  <a:srgbClr val="FF0000"/>
                </a:solidFill>
              </a:rPr>
              <a:t>pane</a:t>
            </a:r>
            <a:endParaRPr lang="da-DK" altLang="da-DK" sz="1400" b="1" dirty="0">
              <a:solidFill>
                <a:srgbClr val="FF0000"/>
              </a:solidFill>
            </a:endParaRPr>
          </a:p>
        </p:txBody>
      </p:sp>
      <p:sp>
        <p:nvSpPr>
          <p:cNvPr id="24" name="Line 22"/>
          <p:cNvSpPr>
            <a:spLocks noChangeShapeType="1"/>
          </p:cNvSpPr>
          <p:nvPr/>
        </p:nvSpPr>
        <p:spPr bwMode="auto">
          <a:xfrm flipV="1">
            <a:off x="2210613" y="4564940"/>
            <a:ext cx="432048" cy="2588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 </a:t>
            </a:r>
          </a:p>
        </p:txBody>
      </p:sp>
      <p:sp>
        <p:nvSpPr>
          <p:cNvPr id="26" name="Rectangle 28"/>
          <p:cNvSpPr>
            <a:spLocks noChangeArrowheads="1"/>
          </p:cNvSpPr>
          <p:nvPr/>
        </p:nvSpPr>
        <p:spPr bwMode="auto">
          <a:xfrm>
            <a:off x="2627566" y="4442604"/>
            <a:ext cx="5826321" cy="255120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7" name="Rectangle 28"/>
          <p:cNvSpPr>
            <a:spLocks noChangeArrowheads="1"/>
          </p:cNvSpPr>
          <p:nvPr/>
        </p:nvSpPr>
        <p:spPr bwMode="auto">
          <a:xfrm>
            <a:off x="2619545" y="4745850"/>
            <a:ext cx="6308333" cy="527438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8" name="Rectangle 28"/>
          <p:cNvSpPr>
            <a:spLocks noChangeArrowheads="1"/>
          </p:cNvSpPr>
          <p:nvPr/>
        </p:nvSpPr>
        <p:spPr bwMode="auto">
          <a:xfrm>
            <a:off x="2627567" y="5323366"/>
            <a:ext cx="6316353" cy="489284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9" name="Rectangle 28"/>
          <p:cNvSpPr>
            <a:spLocks noChangeArrowheads="1"/>
          </p:cNvSpPr>
          <p:nvPr/>
        </p:nvSpPr>
        <p:spPr bwMode="auto">
          <a:xfrm>
            <a:off x="2627567" y="5884839"/>
            <a:ext cx="6316354" cy="505327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0" name="Text Box 21"/>
          <p:cNvSpPr txBox="1">
            <a:spLocks noChangeArrowheads="1"/>
          </p:cNvSpPr>
          <p:nvPr/>
        </p:nvSpPr>
        <p:spPr bwMode="auto">
          <a:xfrm>
            <a:off x="114298" y="4768233"/>
            <a:ext cx="2135665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første label og placér den i NORTH</a:t>
            </a:r>
          </a:p>
        </p:txBody>
      </p:sp>
      <p:sp>
        <p:nvSpPr>
          <p:cNvPr id="31" name="Text Box 21"/>
          <p:cNvSpPr txBox="1">
            <a:spLocks noChangeArrowheads="1"/>
          </p:cNvSpPr>
          <p:nvPr/>
        </p:nvSpPr>
        <p:spPr bwMode="auto">
          <a:xfrm>
            <a:off x="114996" y="6055155"/>
            <a:ext cx="2119804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anden label og placér den i SOUTH</a:t>
            </a:r>
          </a:p>
        </p:txBody>
      </p:sp>
      <p:sp>
        <p:nvSpPr>
          <p:cNvPr id="32" name="Text Box 21"/>
          <p:cNvSpPr txBox="1">
            <a:spLocks noChangeArrowheads="1"/>
          </p:cNvSpPr>
          <p:nvPr/>
        </p:nvSpPr>
        <p:spPr bwMode="auto">
          <a:xfrm>
            <a:off x="110419" y="5397141"/>
            <a:ext cx="2316218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et </a:t>
            </a:r>
            <a:r>
              <a:rPr lang="da-DK" altLang="da-DK" sz="1400" b="1" dirty="0" err="1">
                <a:solidFill>
                  <a:srgbClr val="0000FF"/>
                </a:solidFill>
              </a:rPr>
              <a:t>ImagePanel</a:t>
            </a:r>
            <a:r>
              <a:rPr lang="da-DK" altLang="da-DK" sz="1400" b="1" dirty="0">
                <a:solidFill>
                  <a:srgbClr val="0000FF"/>
                </a:solidFill>
              </a:rPr>
              <a:t> og placér det i CENTER</a:t>
            </a:r>
          </a:p>
        </p:txBody>
      </p:sp>
      <p:sp>
        <p:nvSpPr>
          <p:cNvPr id="33" name="Line 22"/>
          <p:cNvSpPr>
            <a:spLocks noChangeShapeType="1"/>
          </p:cNvSpPr>
          <p:nvPr/>
        </p:nvSpPr>
        <p:spPr bwMode="auto">
          <a:xfrm flipV="1">
            <a:off x="2195518" y="5010588"/>
            <a:ext cx="432048" cy="2588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 </a:t>
            </a:r>
          </a:p>
        </p:txBody>
      </p:sp>
      <p:sp>
        <p:nvSpPr>
          <p:cNvPr id="34" name="Line 22"/>
          <p:cNvSpPr>
            <a:spLocks noChangeShapeType="1"/>
          </p:cNvSpPr>
          <p:nvPr/>
        </p:nvSpPr>
        <p:spPr bwMode="auto">
          <a:xfrm flipV="1">
            <a:off x="2187497" y="5608424"/>
            <a:ext cx="440070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 </a:t>
            </a:r>
          </a:p>
        </p:txBody>
      </p:sp>
      <p:sp>
        <p:nvSpPr>
          <p:cNvPr id="35" name="Line 22"/>
          <p:cNvSpPr>
            <a:spLocks noChangeShapeType="1"/>
          </p:cNvSpPr>
          <p:nvPr/>
        </p:nvSpPr>
        <p:spPr bwMode="auto">
          <a:xfrm flipV="1">
            <a:off x="2195519" y="6200208"/>
            <a:ext cx="432048" cy="2588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 </a:t>
            </a:r>
          </a:p>
        </p:txBody>
      </p:sp>
      <p:sp>
        <p:nvSpPr>
          <p:cNvPr id="36" name="Text Box 21"/>
          <p:cNvSpPr txBox="1">
            <a:spLocks noChangeArrowheads="1"/>
          </p:cNvSpPr>
          <p:nvPr/>
        </p:nvSpPr>
        <p:spPr bwMode="auto">
          <a:xfrm>
            <a:off x="112981" y="4414681"/>
            <a:ext cx="2161215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Sæt layoutet til Border</a:t>
            </a:r>
          </a:p>
        </p:txBody>
      </p:sp>
      <p:sp>
        <p:nvSpPr>
          <p:cNvPr id="37" name="Rectangle 28"/>
          <p:cNvSpPr>
            <a:spLocks noChangeArrowheads="1"/>
          </p:cNvSpPr>
          <p:nvPr/>
        </p:nvSpPr>
        <p:spPr bwMode="auto">
          <a:xfrm>
            <a:off x="2624689" y="4097547"/>
            <a:ext cx="5820571" cy="267419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8" name="Line 22"/>
          <p:cNvSpPr>
            <a:spLocks noChangeShapeType="1"/>
          </p:cNvSpPr>
          <p:nvPr/>
        </p:nvSpPr>
        <p:spPr bwMode="auto">
          <a:xfrm>
            <a:off x="2187497" y="3980453"/>
            <a:ext cx="450750" cy="27130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 dirty="0"/>
          </a:p>
        </p:txBody>
      </p:sp>
      <p:sp>
        <p:nvSpPr>
          <p:cNvPr id="39" name="Text Box 21"/>
          <p:cNvSpPr txBox="1">
            <a:spLocks noChangeArrowheads="1"/>
          </p:cNvSpPr>
          <p:nvPr/>
        </p:nvSpPr>
        <p:spPr bwMode="auto">
          <a:xfrm>
            <a:off x="3074442" y="6454753"/>
            <a:ext cx="5256090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 err="1">
                <a:solidFill>
                  <a:srgbClr val="FF0000"/>
                </a:solidFill>
              </a:rPr>
              <a:t>filenameLabel</a:t>
            </a:r>
            <a:r>
              <a:rPr lang="da-DK" altLang="da-DK" sz="1400" b="1" dirty="0">
                <a:solidFill>
                  <a:srgbClr val="FF0000"/>
                </a:solidFill>
              </a:rPr>
              <a:t>, </a:t>
            </a:r>
            <a:r>
              <a:rPr lang="da-DK" altLang="da-DK" sz="1400" b="1" dirty="0" err="1">
                <a:solidFill>
                  <a:srgbClr val="FF0000"/>
                </a:solidFill>
              </a:rPr>
              <a:t>imagePanel</a:t>
            </a:r>
            <a:r>
              <a:rPr lang="da-DK" altLang="da-DK" sz="1400" b="1" dirty="0">
                <a:solidFill>
                  <a:srgbClr val="FF0000"/>
                </a:solidFill>
              </a:rPr>
              <a:t> og </a:t>
            </a:r>
            <a:r>
              <a:rPr lang="da-DK" altLang="da-DK" sz="1400" b="1" dirty="0" err="1">
                <a:solidFill>
                  <a:srgbClr val="FF0000"/>
                </a:solidFill>
              </a:rPr>
              <a:t>statusLabel</a:t>
            </a:r>
            <a:r>
              <a:rPr lang="da-DK" altLang="da-DK" sz="1400" b="1" dirty="0">
                <a:solidFill>
                  <a:srgbClr val="FF0000"/>
                </a:solidFill>
              </a:rPr>
              <a:t> er feltvariabler</a:t>
            </a:r>
          </a:p>
        </p:txBody>
      </p:sp>
    </p:spTree>
    <p:extLst>
      <p:ext uri="{BB962C8B-B14F-4D97-AF65-F5344CB8AC3E}">
        <p14:creationId xmlns:p14="http://schemas.microsoft.com/office/powerpoint/2010/main" val="86527756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3" grpId="0"/>
      <p:bldP spid="24" grpId="0" animBg="1"/>
      <p:bldP spid="26" grpId="0" animBg="1"/>
      <p:bldP spid="27" grpId="0" animBg="1"/>
      <p:bldP spid="28" grpId="0" animBg="1"/>
      <p:bldP spid="29" grpId="0" animBg="1"/>
      <p:bldP spid="30" grpId="0"/>
      <p:bldP spid="31" grpId="0"/>
      <p:bldP spid="32" grpId="0"/>
      <p:bldP spid="33" grpId="0" animBg="1"/>
      <p:bldP spid="34" grpId="0" animBg="1"/>
      <p:bldP spid="35" grpId="0" animBg="1"/>
      <p:bldP spid="36" grpId="0"/>
      <p:bldP spid="37" grpId="0" animBg="1"/>
      <p:bldP spid="38" grpId="0" animBg="1"/>
      <p:bldP spid="3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236" y="1574056"/>
            <a:ext cx="6343650" cy="5118896"/>
          </a:xfrm>
          <a:prstGeom prst="rect">
            <a:avLst/>
          </a:prstGeom>
        </p:spPr>
      </p:pic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Indlejring af layout managers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18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97280" y="1058996"/>
            <a:ext cx="8568952" cy="4721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De forskellige layout managers kan bruges inde i hinanden</a:t>
            </a:r>
          </a:p>
        </p:txBody>
      </p:sp>
      <p:sp>
        <p:nvSpPr>
          <p:cNvPr id="14" name="Rectangle 13"/>
          <p:cNvSpPr>
            <a:spLocks noChangeArrowheads="1"/>
          </p:cNvSpPr>
          <p:nvPr/>
        </p:nvSpPr>
        <p:spPr bwMode="auto">
          <a:xfrm>
            <a:off x="1779433" y="2169440"/>
            <a:ext cx="823911" cy="856722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auto">
          <a:xfrm>
            <a:off x="1789723" y="5719763"/>
            <a:ext cx="6013539" cy="637905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2" name="Text Box 21"/>
          <p:cNvSpPr txBox="1">
            <a:spLocks noChangeArrowheads="1"/>
          </p:cNvSpPr>
          <p:nvPr/>
        </p:nvSpPr>
        <p:spPr bwMode="auto">
          <a:xfrm>
            <a:off x="285718" y="2464628"/>
            <a:ext cx="117209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Grid layout</a:t>
            </a:r>
          </a:p>
        </p:txBody>
      </p:sp>
      <p:sp>
        <p:nvSpPr>
          <p:cNvPr id="24" name="Text Box 21"/>
          <p:cNvSpPr txBox="1">
            <a:spLocks noChangeArrowheads="1"/>
          </p:cNvSpPr>
          <p:nvPr/>
        </p:nvSpPr>
        <p:spPr bwMode="auto">
          <a:xfrm>
            <a:off x="227106" y="5819405"/>
            <a:ext cx="131561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Flow layout</a:t>
            </a:r>
          </a:p>
        </p:txBody>
      </p:sp>
      <p:sp>
        <p:nvSpPr>
          <p:cNvPr id="25" name="Rectangle 24"/>
          <p:cNvSpPr>
            <a:spLocks noChangeArrowheads="1"/>
          </p:cNvSpPr>
          <p:nvPr/>
        </p:nvSpPr>
        <p:spPr bwMode="auto">
          <a:xfrm>
            <a:off x="1779433" y="3433313"/>
            <a:ext cx="821216" cy="2191109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7" name="Text Box 21"/>
          <p:cNvSpPr txBox="1">
            <a:spLocks noChangeArrowheads="1"/>
          </p:cNvSpPr>
          <p:nvPr/>
        </p:nvSpPr>
        <p:spPr bwMode="auto">
          <a:xfrm>
            <a:off x="179512" y="4467465"/>
            <a:ext cx="131561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Andet layout</a:t>
            </a:r>
          </a:p>
        </p:txBody>
      </p:sp>
      <p:sp>
        <p:nvSpPr>
          <p:cNvPr id="28" name="Rectangle 27"/>
          <p:cNvSpPr>
            <a:spLocks noChangeArrowheads="1"/>
          </p:cNvSpPr>
          <p:nvPr/>
        </p:nvSpPr>
        <p:spPr bwMode="auto">
          <a:xfrm>
            <a:off x="1727045" y="2113471"/>
            <a:ext cx="951241" cy="3559195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0" name="Text Box 21"/>
          <p:cNvSpPr txBox="1">
            <a:spLocks noChangeArrowheads="1"/>
          </p:cNvSpPr>
          <p:nvPr/>
        </p:nvSpPr>
        <p:spPr bwMode="auto">
          <a:xfrm>
            <a:off x="434191" y="3331393"/>
            <a:ext cx="1122393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Vertikalt </a:t>
            </a:r>
            <a:r>
              <a:rPr lang="da-DK" altLang="da-DK" sz="1400" b="1" dirty="0" err="1">
                <a:solidFill>
                  <a:srgbClr val="0000FF"/>
                </a:solidFill>
              </a:rPr>
              <a:t>box</a:t>
            </a:r>
            <a:r>
              <a:rPr lang="da-DK" altLang="da-DK" sz="1400" b="1" dirty="0">
                <a:solidFill>
                  <a:srgbClr val="0000FF"/>
                </a:solidFill>
              </a:rPr>
              <a:t> layout</a:t>
            </a:r>
          </a:p>
        </p:txBody>
      </p:sp>
      <p:sp>
        <p:nvSpPr>
          <p:cNvPr id="31" name="Rectangle 30"/>
          <p:cNvSpPr>
            <a:spLocks noChangeArrowheads="1"/>
          </p:cNvSpPr>
          <p:nvPr/>
        </p:nvSpPr>
        <p:spPr bwMode="auto">
          <a:xfrm>
            <a:off x="1655608" y="2061713"/>
            <a:ext cx="6302045" cy="4631239"/>
          </a:xfrm>
          <a:prstGeom prst="rect">
            <a:avLst/>
          </a:prstGeom>
          <a:noFill/>
          <a:ln w="57150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5" name="Line 22"/>
          <p:cNvSpPr>
            <a:spLocks noChangeShapeType="1"/>
          </p:cNvSpPr>
          <p:nvPr/>
        </p:nvSpPr>
        <p:spPr bwMode="auto">
          <a:xfrm flipH="1" flipV="1">
            <a:off x="7978580" y="4136280"/>
            <a:ext cx="295984" cy="7272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36" name="Text Box 21"/>
          <p:cNvSpPr txBox="1">
            <a:spLocks noChangeArrowheads="1"/>
          </p:cNvSpPr>
          <p:nvPr/>
        </p:nvSpPr>
        <p:spPr bwMode="auto">
          <a:xfrm>
            <a:off x="8264172" y="3981696"/>
            <a:ext cx="819918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8000"/>
                </a:solidFill>
              </a:rPr>
              <a:t>Border layout</a:t>
            </a:r>
          </a:p>
        </p:txBody>
      </p:sp>
      <p:sp>
        <p:nvSpPr>
          <p:cNvPr id="21" name="Line 22"/>
          <p:cNvSpPr>
            <a:spLocks noChangeShapeType="1"/>
          </p:cNvSpPr>
          <p:nvPr/>
        </p:nvSpPr>
        <p:spPr bwMode="auto">
          <a:xfrm>
            <a:off x="1408111" y="2646590"/>
            <a:ext cx="373986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3" name="Line 22"/>
          <p:cNvSpPr>
            <a:spLocks noChangeShapeType="1"/>
          </p:cNvSpPr>
          <p:nvPr/>
        </p:nvSpPr>
        <p:spPr bwMode="auto">
          <a:xfrm>
            <a:off x="1349499" y="6001367"/>
            <a:ext cx="37398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6" name="Line 22"/>
          <p:cNvSpPr>
            <a:spLocks noChangeShapeType="1"/>
          </p:cNvSpPr>
          <p:nvPr/>
        </p:nvSpPr>
        <p:spPr bwMode="auto">
          <a:xfrm>
            <a:off x="1432412" y="4628321"/>
            <a:ext cx="373986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9" name="Line 22"/>
          <p:cNvSpPr>
            <a:spLocks noChangeShapeType="1"/>
          </p:cNvSpPr>
          <p:nvPr/>
        </p:nvSpPr>
        <p:spPr bwMode="auto">
          <a:xfrm>
            <a:off x="1407251" y="3501008"/>
            <a:ext cx="37398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34" name="Text Box 21"/>
          <p:cNvSpPr txBox="1">
            <a:spLocks noChangeArrowheads="1"/>
          </p:cNvSpPr>
          <p:nvPr/>
        </p:nvSpPr>
        <p:spPr bwMode="auto">
          <a:xfrm>
            <a:off x="1914622" y="3157579"/>
            <a:ext cx="535016" cy="2169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900" b="1" dirty="0">
                <a:solidFill>
                  <a:srgbClr val="FF0000"/>
                </a:solidFill>
              </a:rPr>
              <a:t>"Luft"</a:t>
            </a:r>
          </a:p>
        </p:txBody>
      </p:sp>
      <p:sp>
        <p:nvSpPr>
          <p:cNvPr id="37" name="Rectangle 36"/>
          <p:cNvSpPr>
            <a:spLocks noChangeArrowheads="1"/>
          </p:cNvSpPr>
          <p:nvPr/>
        </p:nvSpPr>
        <p:spPr bwMode="auto">
          <a:xfrm>
            <a:off x="1784195" y="3089592"/>
            <a:ext cx="819149" cy="291964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2" name="Rectangle 31"/>
          <p:cNvSpPr>
            <a:spLocks noChangeArrowheads="1"/>
          </p:cNvSpPr>
          <p:nvPr/>
        </p:nvSpPr>
        <p:spPr bwMode="auto">
          <a:xfrm>
            <a:off x="2715691" y="2109563"/>
            <a:ext cx="5079756" cy="3559195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8" name="Text Box 21"/>
          <p:cNvSpPr txBox="1">
            <a:spLocks noChangeArrowheads="1"/>
          </p:cNvSpPr>
          <p:nvPr/>
        </p:nvSpPr>
        <p:spPr bwMode="auto">
          <a:xfrm>
            <a:off x="6419794" y="2243703"/>
            <a:ext cx="131561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Tredje layout</a:t>
            </a:r>
          </a:p>
        </p:txBody>
      </p:sp>
      <p:sp>
        <p:nvSpPr>
          <p:cNvPr id="33" name="Text Box 21"/>
          <p:cNvSpPr txBox="1">
            <a:spLocks noChangeArrowheads="1"/>
          </p:cNvSpPr>
          <p:nvPr/>
        </p:nvSpPr>
        <p:spPr bwMode="auto">
          <a:xfrm>
            <a:off x="5630855" y="5157192"/>
            <a:ext cx="3207365" cy="954107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spcBef>
                <a:spcPct val="50000"/>
              </a:spcBef>
            </a:pPr>
            <a:r>
              <a:rPr lang="da-DK" altLang="da-DK" sz="1400" b="1" dirty="0">
                <a:solidFill>
                  <a:srgbClr val="0000FF"/>
                </a:solidFill>
              </a:rPr>
              <a:t>Når vi kalder </a:t>
            </a:r>
            <a:r>
              <a:rPr lang="da-DK" altLang="da-DK" sz="1400" b="1" dirty="0" err="1">
                <a:solidFill>
                  <a:srgbClr val="008000"/>
                </a:solidFill>
              </a:rPr>
              <a:t>frame.pack</a:t>
            </a:r>
            <a:r>
              <a:rPr lang="da-DK" altLang="da-DK" sz="1400" b="1" dirty="0">
                <a:solidFill>
                  <a:srgbClr val="008000"/>
                </a:solidFill>
              </a:rPr>
              <a:t>()</a:t>
            </a:r>
            <a:r>
              <a:rPr lang="da-DK" altLang="da-DK" sz="1400" b="1" dirty="0">
                <a:solidFill>
                  <a:srgbClr val="0000FF"/>
                </a:solidFill>
              </a:rPr>
              <a:t> aktiveres alle disse layout managers, og vi får dermed den ønskede placering af de forskellige GUI objekter</a:t>
            </a:r>
          </a:p>
        </p:txBody>
      </p:sp>
    </p:spTree>
    <p:extLst>
      <p:ext uri="{BB962C8B-B14F-4D97-AF65-F5344CB8AC3E}">
        <p14:creationId xmlns:p14="http://schemas.microsoft.com/office/powerpoint/2010/main" val="49238299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9" grpId="0" animBg="1"/>
      <p:bldP spid="22" grpId="0"/>
      <p:bldP spid="24" grpId="0"/>
      <p:bldP spid="25" grpId="0" animBg="1"/>
      <p:bldP spid="27" grpId="0"/>
      <p:bldP spid="28" grpId="0" animBg="1"/>
      <p:bldP spid="30" grpId="0"/>
      <p:bldP spid="31" grpId="0" animBg="1"/>
      <p:bldP spid="35" grpId="0" animBg="1"/>
      <p:bldP spid="36" grpId="0"/>
      <p:bldP spid="21" grpId="0" animBg="1"/>
      <p:bldP spid="23" grpId="0" animBg="1"/>
      <p:bldP spid="26" grpId="0" animBg="1"/>
      <p:bldP spid="29" grpId="0" animBg="1"/>
      <p:bldP spid="34" grpId="0"/>
      <p:bldP spid="37" grpId="0" animBg="1"/>
      <p:bldP spid="32" grpId="0" animBg="1"/>
      <p:bldP spid="38" grpId="0"/>
      <p:bldP spid="3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2963109"/>
            <a:ext cx="2736520" cy="1329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" name="Text Box 4"/>
          <p:cNvSpPr txBox="1">
            <a:spLocks noChangeArrowheads="1"/>
          </p:cNvSpPr>
          <p:nvPr/>
        </p:nvSpPr>
        <p:spPr bwMode="auto">
          <a:xfrm>
            <a:off x="2915487" y="1391903"/>
            <a:ext cx="6130009" cy="2461316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helpMenu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"Help"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menubar.add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helpMenu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spc="-50" dirty="0" err="1">
                <a:solidFill>
                  <a:schemeClr val="tx1"/>
                </a:solidFill>
                <a:latin typeface="Courier New" pitchFamily="49" charset="0"/>
              </a:rPr>
              <a:t>aboutItem</a:t>
            </a:r>
            <a:r>
              <a:rPr lang="en-US" altLang="da-DK" sz="1600" b="1" spc="-50" dirty="0">
                <a:solidFill>
                  <a:schemeClr val="tx1"/>
                </a:solidFill>
                <a:latin typeface="Courier New" pitchFamily="49" charset="0"/>
              </a:rPr>
              <a:t> =</a:t>
            </a:r>
            <a:br>
              <a:rPr lang="en-US" altLang="da-DK" sz="1600" b="1" spc="-50" dirty="0">
                <a:solidFill>
                  <a:schemeClr val="tx1"/>
                </a:solidFill>
                <a:latin typeface="Courier New" pitchFamily="49" charset="0"/>
              </a:rPr>
            </a:br>
            <a:r>
              <a:rPr lang="en-US" altLang="da-DK" sz="1600" b="1" spc="-50" dirty="0">
                <a:solidFill>
                  <a:schemeClr val="tx1"/>
                </a:solidFill>
                <a:latin typeface="Courier New" pitchFamily="49" charset="0"/>
              </a:rPr>
              <a:t>    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"About 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ImageViewer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..."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helpMenu.add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spc="-50" dirty="0" err="1">
                <a:solidFill>
                  <a:schemeClr val="tx1"/>
                </a:solidFill>
                <a:latin typeface="Courier New" pitchFamily="49" charset="0"/>
              </a:rPr>
              <a:t>aboutItem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 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spc="-50" dirty="0" err="1">
                <a:solidFill>
                  <a:schemeClr val="tx1"/>
                </a:solidFill>
                <a:latin typeface="Courier New" pitchFamily="49" charset="0"/>
              </a:rPr>
              <a:t>aboutItem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.addActionListener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e -&gt;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showAbout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</a:t>
            </a:r>
            <a:r>
              <a:rPr lang="da-DK" altLang="da-DK" sz="3200" dirty="0">
                <a:ea typeface="ＭＳ Ｐゴシック" pitchFamily="34" charset="-128"/>
              </a:rPr>
              <a:t>Dialogbokse og knapper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19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500922" y="993077"/>
            <a:ext cx="7239430" cy="4012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Vi vil nu lave en menuindgang der åbner en dialogboks</a:t>
            </a:r>
          </a:p>
        </p:txBody>
      </p:sp>
      <p:sp>
        <p:nvSpPr>
          <p:cNvPr id="33" name="Text Box 21"/>
          <p:cNvSpPr txBox="1">
            <a:spLocks noChangeArrowheads="1"/>
          </p:cNvSpPr>
          <p:nvPr/>
        </p:nvSpPr>
        <p:spPr bwMode="auto">
          <a:xfrm>
            <a:off x="157953" y="1472159"/>
            <a:ext cx="2160240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Help menu og tilføj den til </a:t>
            </a:r>
            <a:r>
              <a:rPr lang="da-DK" altLang="da-DK" sz="1400" b="1" dirty="0" err="1">
                <a:solidFill>
                  <a:srgbClr val="0000FF"/>
                </a:solidFill>
              </a:rPr>
              <a:t>menubaren</a:t>
            </a:r>
            <a:endParaRPr lang="da-DK" altLang="da-DK" sz="1400" b="1" dirty="0">
              <a:solidFill>
                <a:srgbClr val="0000FF"/>
              </a:solidFill>
            </a:endParaRPr>
          </a:p>
        </p:txBody>
      </p:sp>
      <p:sp>
        <p:nvSpPr>
          <p:cNvPr id="34" name="Line 22"/>
          <p:cNvSpPr>
            <a:spLocks noChangeShapeType="1"/>
          </p:cNvSpPr>
          <p:nvPr/>
        </p:nvSpPr>
        <p:spPr bwMode="auto">
          <a:xfrm>
            <a:off x="2361439" y="1852565"/>
            <a:ext cx="825388" cy="191256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37" name="Rectangle 28"/>
          <p:cNvSpPr>
            <a:spLocks noChangeArrowheads="1"/>
          </p:cNvSpPr>
          <p:nvPr/>
        </p:nvSpPr>
        <p:spPr bwMode="auto">
          <a:xfrm>
            <a:off x="3186825" y="1844702"/>
            <a:ext cx="4383841" cy="525944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8" name="Rectangle 28"/>
          <p:cNvSpPr>
            <a:spLocks noChangeArrowheads="1"/>
          </p:cNvSpPr>
          <p:nvPr/>
        </p:nvSpPr>
        <p:spPr bwMode="auto">
          <a:xfrm>
            <a:off x="3192922" y="2414045"/>
            <a:ext cx="5758335" cy="1052423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9" name="Line 22"/>
          <p:cNvSpPr>
            <a:spLocks noChangeShapeType="1"/>
          </p:cNvSpPr>
          <p:nvPr/>
        </p:nvSpPr>
        <p:spPr bwMode="auto">
          <a:xfrm>
            <a:off x="2735385" y="2625969"/>
            <a:ext cx="467070" cy="10167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 </a:t>
            </a:r>
          </a:p>
        </p:txBody>
      </p:sp>
      <p:sp>
        <p:nvSpPr>
          <p:cNvPr id="40" name="Text Box 21"/>
          <p:cNvSpPr txBox="1">
            <a:spLocks noChangeArrowheads="1"/>
          </p:cNvSpPr>
          <p:nvPr/>
        </p:nvSpPr>
        <p:spPr bwMode="auto">
          <a:xfrm>
            <a:off x="123941" y="2004458"/>
            <a:ext cx="2691513" cy="8679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menuindgang, tilføj den til Help menuen og fortæl, at den skal aktivere </a:t>
            </a:r>
            <a:r>
              <a:rPr lang="da-DK" altLang="da-DK" sz="1400" b="1" dirty="0" err="1">
                <a:solidFill>
                  <a:srgbClr val="0000FF"/>
                </a:solidFill>
              </a:rPr>
              <a:t>showAbout</a:t>
            </a:r>
            <a:r>
              <a:rPr lang="da-DK" altLang="da-DK" sz="1400" b="1" dirty="0">
                <a:solidFill>
                  <a:srgbClr val="0000FF"/>
                </a:solidFill>
              </a:rPr>
              <a:t> metoden</a:t>
            </a:r>
          </a:p>
        </p:txBody>
      </p:sp>
      <p:sp>
        <p:nvSpPr>
          <p:cNvPr id="41" name="Text Box 4"/>
          <p:cNvSpPr txBox="1">
            <a:spLocks noChangeArrowheads="1"/>
          </p:cNvSpPr>
          <p:nvPr/>
        </p:nvSpPr>
        <p:spPr bwMode="auto">
          <a:xfrm>
            <a:off x="3544708" y="3953290"/>
            <a:ext cx="5273277" cy="1574919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showAbout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JOptionPane.showMessageDialog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frame, 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ImageViewer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\n"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+ VERSION,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"About 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ImageViewer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“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,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JOptionPane.INFORMATION_MESSAGE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42" name="Rectangle 28"/>
          <p:cNvSpPr>
            <a:spLocks noChangeArrowheads="1"/>
          </p:cNvSpPr>
          <p:nvPr/>
        </p:nvSpPr>
        <p:spPr bwMode="auto">
          <a:xfrm>
            <a:off x="3819797" y="4289514"/>
            <a:ext cx="4856204" cy="1060086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43" name="Line 22"/>
          <p:cNvSpPr>
            <a:spLocks noChangeShapeType="1"/>
          </p:cNvSpPr>
          <p:nvPr/>
        </p:nvSpPr>
        <p:spPr bwMode="auto">
          <a:xfrm flipV="1">
            <a:off x="3116209" y="4435366"/>
            <a:ext cx="670823" cy="70539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 </a:t>
            </a:r>
          </a:p>
        </p:txBody>
      </p:sp>
      <p:sp>
        <p:nvSpPr>
          <p:cNvPr id="44" name="Text Box 21"/>
          <p:cNvSpPr txBox="1">
            <a:spLocks noChangeArrowheads="1"/>
          </p:cNvSpPr>
          <p:nvPr/>
        </p:nvSpPr>
        <p:spPr bwMode="auto">
          <a:xfrm>
            <a:off x="626600" y="4364627"/>
            <a:ext cx="2781004" cy="2304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spc="-60" dirty="0">
                <a:solidFill>
                  <a:srgbClr val="FF0000"/>
                </a:solidFill>
              </a:rPr>
              <a:t>Klassemetode i </a:t>
            </a:r>
            <a:r>
              <a:rPr lang="da-DK" altLang="da-DK" sz="1400" b="1" spc="-60" dirty="0" err="1">
                <a:solidFill>
                  <a:srgbClr val="FF0000"/>
                </a:solidFill>
              </a:rPr>
              <a:t>JOptionPane</a:t>
            </a:r>
            <a:r>
              <a:rPr lang="da-DK" altLang="da-DK" sz="1400" b="1" spc="-60" dirty="0">
                <a:solidFill>
                  <a:srgbClr val="FF0000"/>
                </a:solidFill>
              </a:rPr>
              <a:t>, hvor p</a:t>
            </a:r>
            <a:r>
              <a:rPr lang="da-DK" altLang="da-DK" sz="1400" b="1" dirty="0">
                <a:solidFill>
                  <a:srgbClr val="FF0000"/>
                </a:solidFill>
              </a:rPr>
              <a:t>arametrene angiver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Rammen som den tilknyttes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Teksten, der skal vises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Titlen, der skal vises øverst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spc="-60" dirty="0">
                <a:solidFill>
                  <a:srgbClr val="FF0000"/>
                </a:solidFill>
              </a:rPr>
              <a:t>Message typen</a:t>
            </a:r>
          </a:p>
          <a:p>
            <a:pPr marL="361950" lvl="1" indent="-180975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altLang="da-DK" sz="1200" b="1" dirty="0">
                <a:solidFill>
                  <a:srgbClr val="FF0000"/>
                </a:solidFill>
              </a:rPr>
              <a:t>INFORMATION_MESSAGE</a:t>
            </a:r>
          </a:p>
          <a:p>
            <a:pPr marL="361950" lvl="1" indent="-180975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altLang="da-DK" sz="1200" b="1" dirty="0">
                <a:solidFill>
                  <a:srgbClr val="FF0000"/>
                </a:solidFill>
              </a:rPr>
              <a:t>ERROR_MESSAGE</a:t>
            </a:r>
          </a:p>
          <a:p>
            <a:pPr marL="361950" lvl="1" indent="-180975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altLang="da-DK" sz="1200" b="1" dirty="0">
                <a:solidFill>
                  <a:srgbClr val="FF0000"/>
                </a:solidFill>
              </a:rPr>
              <a:t>WARNING_MESSAGE</a:t>
            </a:r>
          </a:p>
          <a:p>
            <a:pPr marL="361950" lvl="1" indent="-180975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altLang="da-DK" sz="1200" b="1" dirty="0">
                <a:solidFill>
                  <a:srgbClr val="FF0000"/>
                </a:solidFill>
              </a:rPr>
              <a:t>QUESTION_MESSAGE</a:t>
            </a:r>
          </a:p>
          <a:p>
            <a:pPr marL="361950" lvl="1" indent="-180975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altLang="da-DK" sz="1200" b="1" dirty="0">
                <a:solidFill>
                  <a:srgbClr val="FF0000"/>
                </a:solidFill>
              </a:rPr>
              <a:t>PLAIN_MESSAGE</a:t>
            </a:r>
            <a:endParaRPr lang="da-DK" altLang="da-DK" sz="1200" b="1" dirty="0">
              <a:solidFill>
                <a:srgbClr val="FF0000"/>
              </a:solidFill>
            </a:endParaRPr>
          </a:p>
        </p:txBody>
      </p:sp>
      <p:sp>
        <p:nvSpPr>
          <p:cNvPr id="45" name="Rectangle 28"/>
          <p:cNvSpPr>
            <a:spLocks noChangeArrowheads="1"/>
          </p:cNvSpPr>
          <p:nvPr/>
        </p:nvSpPr>
        <p:spPr bwMode="auto">
          <a:xfrm>
            <a:off x="6646234" y="3149487"/>
            <a:ext cx="1959603" cy="24019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9" name="Text Box 21"/>
          <p:cNvSpPr txBox="1">
            <a:spLocks noChangeArrowheads="1"/>
          </p:cNvSpPr>
          <p:nvPr/>
        </p:nvSpPr>
        <p:spPr bwMode="auto">
          <a:xfrm>
            <a:off x="3544708" y="5638309"/>
            <a:ext cx="4288077" cy="1031051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da-DK" altLang="da-DK" sz="1400" b="1" dirty="0">
                <a:solidFill>
                  <a:srgbClr val="0000FF"/>
                </a:solidFill>
              </a:rPr>
              <a:t>Forskellige slags dialogbokse</a:t>
            </a:r>
          </a:p>
          <a:p>
            <a:pPr marL="180975" indent="-180975" eaLnBrk="1" hangingPunct="1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 err="1">
                <a:solidFill>
                  <a:srgbClr val="0000FF"/>
                </a:solidFill>
              </a:rPr>
              <a:t>MessageDialog</a:t>
            </a:r>
            <a:r>
              <a:rPr lang="da-DK" altLang="da-DK" sz="1400" b="1" dirty="0">
                <a:solidFill>
                  <a:srgbClr val="0000FF"/>
                </a:solidFill>
              </a:rPr>
              <a:t>: OK </a:t>
            </a:r>
            <a:r>
              <a:rPr lang="da-DK" altLang="da-DK" sz="1400" b="1" dirty="0" err="1">
                <a:solidFill>
                  <a:srgbClr val="0000FF"/>
                </a:solidFill>
              </a:rPr>
              <a:t>button</a:t>
            </a:r>
            <a:endParaRPr lang="da-DK" altLang="da-DK" sz="1400" b="1" dirty="0">
              <a:solidFill>
                <a:srgbClr val="0000FF"/>
              </a:solidFill>
            </a:endParaRPr>
          </a:p>
          <a:p>
            <a:pPr marL="180975" indent="-180975" eaLnBrk="1" hangingPunct="1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 err="1">
                <a:solidFill>
                  <a:srgbClr val="0000FF"/>
                </a:solidFill>
              </a:rPr>
              <a:t>ConfirmDialog</a:t>
            </a:r>
            <a:r>
              <a:rPr lang="da-DK" altLang="da-DK" sz="1400" b="1" dirty="0">
                <a:solidFill>
                  <a:srgbClr val="0000FF"/>
                </a:solidFill>
              </a:rPr>
              <a:t>: Yes, No, </a:t>
            </a:r>
            <a:r>
              <a:rPr lang="da-DK" altLang="da-DK" sz="1400" b="1" dirty="0" err="1">
                <a:solidFill>
                  <a:srgbClr val="0000FF"/>
                </a:solidFill>
              </a:rPr>
              <a:t>Cancel</a:t>
            </a:r>
            <a:r>
              <a:rPr lang="da-DK" altLang="da-DK" sz="1400" b="1" dirty="0">
                <a:solidFill>
                  <a:srgbClr val="0000FF"/>
                </a:solidFill>
              </a:rPr>
              <a:t> </a:t>
            </a:r>
            <a:r>
              <a:rPr lang="da-DK" altLang="da-DK" sz="1400" b="1" dirty="0" err="1">
                <a:solidFill>
                  <a:srgbClr val="0000FF"/>
                </a:solidFill>
              </a:rPr>
              <a:t>button</a:t>
            </a:r>
            <a:endParaRPr lang="da-DK" altLang="da-DK" sz="1400" b="1" dirty="0">
              <a:solidFill>
                <a:srgbClr val="0000FF"/>
              </a:solidFill>
            </a:endParaRPr>
          </a:p>
          <a:p>
            <a:pPr marL="180975" indent="-180975" eaLnBrk="1" hangingPunct="1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 err="1">
                <a:solidFill>
                  <a:srgbClr val="0000FF"/>
                </a:solidFill>
              </a:rPr>
              <a:t>InputDialog</a:t>
            </a:r>
            <a:r>
              <a:rPr lang="da-DK" altLang="da-DK" sz="1400" b="1" dirty="0">
                <a:solidFill>
                  <a:srgbClr val="0000FF"/>
                </a:solidFill>
              </a:rPr>
              <a:t>: Tekstfelt til input + nogle knapper</a:t>
            </a:r>
          </a:p>
        </p:txBody>
      </p:sp>
      <p:sp>
        <p:nvSpPr>
          <p:cNvPr id="20" name="Rectangle 28"/>
          <p:cNvSpPr>
            <a:spLocks noChangeArrowheads="1"/>
          </p:cNvSpPr>
          <p:nvPr/>
        </p:nvSpPr>
        <p:spPr bwMode="auto">
          <a:xfrm>
            <a:off x="3860800" y="4335943"/>
            <a:ext cx="3567611" cy="201224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1" name="Rectangle 28"/>
          <p:cNvSpPr>
            <a:spLocks noChangeArrowheads="1"/>
          </p:cNvSpPr>
          <p:nvPr/>
        </p:nvSpPr>
        <p:spPr bwMode="auto">
          <a:xfrm>
            <a:off x="3787032" y="5942675"/>
            <a:ext cx="2308967" cy="196868"/>
          </a:xfrm>
          <a:prstGeom prst="rect">
            <a:avLst/>
          </a:prstGeom>
          <a:noFill/>
          <a:ln w="25400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2" name="Rectangle 28"/>
          <p:cNvSpPr>
            <a:spLocks noChangeArrowheads="1"/>
          </p:cNvSpPr>
          <p:nvPr/>
        </p:nvSpPr>
        <p:spPr bwMode="auto">
          <a:xfrm>
            <a:off x="4593600" y="5097600"/>
            <a:ext cx="3810171" cy="194194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3" name="Rectangle 28"/>
          <p:cNvSpPr>
            <a:spLocks noChangeArrowheads="1"/>
          </p:cNvSpPr>
          <p:nvPr/>
        </p:nvSpPr>
        <p:spPr bwMode="auto">
          <a:xfrm>
            <a:off x="1042158" y="5598851"/>
            <a:ext cx="2037103" cy="200164"/>
          </a:xfrm>
          <a:prstGeom prst="rect">
            <a:avLst/>
          </a:prstGeom>
          <a:noFill/>
          <a:ln w="25400">
            <a:solidFill>
              <a:srgbClr val="FF339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grpSp>
        <p:nvGrpSpPr>
          <p:cNvPr id="25" name="Group 24"/>
          <p:cNvGrpSpPr/>
          <p:nvPr/>
        </p:nvGrpSpPr>
        <p:grpSpPr>
          <a:xfrm>
            <a:off x="6692963" y="139750"/>
            <a:ext cx="2346950" cy="767295"/>
            <a:chOff x="6374212" y="266872"/>
            <a:chExt cx="2346950" cy="767295"/>
          </a:xfrm>
        </p:grpSpPr>
        <p:grpSp>
          <p:nvGrpSpPr>
            <p:cNvPr id="26" name="Group 25"/>
            <p:cNvGrpSpPr/>
            <p:nvPr/>
          </p:nvGrpSpPr>
          <p:grpSpPr>
            <a:xfrm>
              <a:off x="6374212" y="266872"/>
              <a:ext cx="2346950" cy="767295"/>
              <a:chOff x="5927559" y="5230635"/>
              <a:chExt cx="2346950" cy="767295"/>
            </a:xfrm>
          </p:grpSpPr>
          <p:pic>
            <p:nvPicPr>
              <p:cNvPr id="31" name="Picture 30" descr="imageviewer-jframe.tiff"/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" b="85219"/>
              <a:stretch/>
            </p:blipFill>
            <p:spPr bwMode="auto">
              <a:xfrm>
                <a:off x="5927559" y="5230635"/>
                <a:ext cx="2341789" cy="378594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5" name="Picture 34" descr="imageviewer-jframe.tiff"/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9547" b="63852"/>
              <a:stretch/>
            </p:blipFill>
            <p:spPr bwMode="auto">
              <a:xfrm>
                <a:off x="5932720" y="5572677"/>
                <a:ext cx="2341789" cy="425253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7" name="Rectangle 28"/>
            <p:cNvSpPr>
              <a:spLocks noChangeArrowheads="1"/>
            </p:cNvSpPr>
            <p:nvPr/>
          </p:nvSpPr>
          <p:spPr bwMode="auto">
            <a:xfrm>
              <a:off x="6374212" y="443002"/>
              <a:ext cx="2336286" cy="162778"/>
            </a:xfrm>
            <a:prstGeom prst="rect">
              <a:avLst/>
            </a:prstGeom>
            <a:noFill/>
            <a:ln w="25400">
              <a:solidFill>
                <a:srgbClr val="008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30" name="Text Box 21"/>
            <p:cNvSpPr txBox="1">
              <a:spLocks noChangeArrowheads="1"/>
            </p:cNvSpPr>
            <p:nvPr/>
          </p:nvSpPr>
          <p:spPr bwMode="auto">
            <a:xfrm>
              <a:off x="7013844" y="628390"/>
              <a:ext cx="1165415" cy="16896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 algn="ctr">
              <a:solidFill>
                <a:srgbClr val="0070C0"/>
              </a:solidFill>
              <a:miter lim="800000"/>
              <a:headEnd/>
              <a:tailEnd/>
            </a:ln>
          </p:spPr>
          <p:txBody>
            <a:bodyPr wrap="square" lIns="54000" tIns="28800" rIns="54000" bIns="28800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800" b="1" dirty="0" err="1">
                  <a:solidFill>
                    <a:schemeClr val="tx1"/>
                  </a:solidFill>
                </a:rPr>
                <a:t>About</a:t>
              </a:r>
              <a:r>
                <a:rPr lang="da-DK" altLang="da-DK" sz="800" b="1" dirty="0">
                  <a:solidFill>
                    <a:schemeClr val="tx1"/>
                  </a:solidFill>
                </a:rPr>
                <a:t> </a:t>
              </a:r>
              <a:r>
                <a:rPr lang="da-DK" altLang="da-DK" sz="800" b="1" dirty="0" err="1">
                  <a:solidFill>
                    <a:schemeClr val="tx1"/>
                  </a:solidFill>
                </a:rPr>
                <a:t>ImageViewer</a:t>
              </a:r>
              <a:r>
                <a:rPr lang="da-DK" altLang="da-DK" sz="800" b="1" dirty="0">
                  <a:solidFill>
                    <a:schemeClr val="tx1"/>
                  </a:solidFill>
                </a:rPr>
                <a:t>…</a:t>
              </a:r>
            </a:p>
          </p:txBody>
        </p:sp>
      </p:grpSp>
      <p:sp>
        <p:nvSpPr>
          <p:cNvPr id="46" name="Rectangle 28"/>
          <p:cNvSpPr>
            <a:spLocks noChangeArrowheads="1"/>
          </p:cNvSpPr>
          <p:nvPr/>
        </p:nvSpPr>
        <p:spPr bwMode="auto">
          <a:xfrm>
            <a:off x="1228565" y="3783552"/>
            <a:ext cx="463115" cy="319583"/>
          </a:xfrm>
          <a:prstGeom prst="rect">
            <a:avLst/>
          </a:prstGeom>
          <a:noFill/>
          <a:ln w="25400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" name="Oval 2"/>
          <p:cNvSpPr/>
          <p:nvPr/>
        </p:nvSpPr>
        <p:spPr bwMode="auto">
          <a:xfrm>
            <a:off x="273151" y="3365727"/>
            <a:ext cx="353449" cy="316509"/>
          </a:xfrm>
          <a:prstGeom prst="ellipse">
            <a:avLst/>
          </a:prstGeom>
          <a:noFill/>
          <a:ln w="25400">
            <a:solidFill>
              <a:srgbClr val="FF339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/>
          <a:p>
            <a:pPr algn="ctr"/>
            <a:endParaRPr lang="da-DK"/>
          </a:p>
        </p:txBody>
      </p:sp>
      <p:sp>
        <p:nvSpPr>
          <p:cNvPr id="47" name="Rectangle 28"/>
          <p:cNvSpPr>
            <a:spLocks noChangeArrowheads="1"/>
          </p:cNvSpPr>
          <p:nvPr/>
        </p:nvSpPr>
        <p:spPr bwMode="auto">
          <a:xfrm>
            <a:off x="4581796" y="4574776"/>
            <a:ext cx="3250989" cy="222376"/>
          </a:xfrm>
          <a:prstGeom prst="rect">
            <a:avLst/>
          </a:prstGeom>
          <a:noFill/>
          <a:ln w="25400">
            <a:solidFill>
              <a:srgbClr val="3399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49" name="Rectangle 28"/>
          <p:cNvSpPr>
            <a:spLocks noChangeArrowheads="1"/>
          </p:cNvSpPr>
          <p:nvPr/>
        </p:nvSpPr>
        <p:spPr bwMode="auto">
          <a:xfrm>
            <a:off x="712306" y="3365728"/>
            <a:ext cx="806393" cy="375838"/>
          </a:xfrm>
          <a:prstGeom prst="rect">
            <a:avLst/>
          </a:prstGeom>
          <a:noFill/>
          <a:ln w="25400">
            <a:solidFill>
              <a:srgbClr val="3399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50" name="Rectangle 28"/>
          <p:cNvSpPr>
            <a:spLocks noChangeArrowheads="1"/>
          </p:cNvSpPr>
          <p:nvPr/>
        </p:nvSpPr>
        <p:spPr bwMode="auto">
          <a:xfrm>
            <a:off x="172112" y="3067445"/>
            <a:ext cx="1159528" cy="197898"/>
          </a:xfrm>
          <a:prstGeom prst="rect">
            <a:avLst/>
          </a:prstGeom>
          <a:noFill/>
          <a:ln w="25400">
            <a:solidFill>
              <a:srgbClr val="7030A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6" name="Rectangle 28"/>
          <p:cNvSpPr>
            <a:spLocks noChangeArrowheads="1"/>
          </p:cNvSpPr>
          <p:nvPr/>
        </p:nvSpPr>
        <p:spPr bwMode="auto">
          <a:xfrm>
            <a:off x="4581796" y="4830207"/>
            <a:ext cx="2516746" cy="226352"/>
          </a:xfrm>
          <a:prstGeom prst="rect">
            <a:avLst/>
          </a:prstGeom>
          <a:noFill/>
          <a:ln w="25400">
            <a:solidFill>
              <a:srgbClr val="7030A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</p:spTree>
    <p:extLst>
      <p:ext uri="{BB962C8B-B14F-4D97-AF65-F5344CB8AC3E}">
        <p14:creationId xmlns:p14="http://schemas.microsoft.com/office/powerpoint/2010/main" val="25368416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  <p:bldP spid="42" grpId="0" animBg="1"/>
      <p:bldP spid="43" grpId="0" animBg="1"/>
      <p:bldP spid="44" grpId="0"/>
      <p:bldP spid="19" grpId="0" animBg="1"/>
      <p:bldP spid="20" grpId="0" animBg="1"/>
      <p:bldP spid="21" grpId="0" animBg="1"/>
      <p:bldP spid="22" grpId="0" animBg="1"/>
      <p:bldP spid="23" grpId="0" animBg="1"/>
      <p:bldP spid="46" grpId="0" animBg="1"/>
      <p:bldP spid="3" grpId="0" animBg="1"/>
      <p:bldP spid="47" grpId="0" animBg="1"/>
      <p:bldP spid="49" grpId="0" animBg="1"/>
      <p:bldP spid="50" grpId="0" animBg="1"/>
      <p:bldP spid="3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50136" b="810"/>
          <a:stretch/>
        </p:blipFill>
        <p:spPr bwMode="auto">
          <a:xfrm>
            <a:off x="5652120" y="188640"/>
            <a:ext cx="3491880" cy="51488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3" name="Rectangle 28"/>
          <p:cNvSpPr>
            <a:spLocks noChangeArrowheads="1"/>
          </p:cNvSpPr>
          <p:nvPr/>
        </p:nvSpPr>
        <p:spPr bwMode="auto">
          <a:xfrm>
            <a:off x="5924062" y="1001955"/>
            <a:ext cx="695570" cy="461108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45" name="Line 22"/>
          <p:cNvSpPr>
            <a:spLocks noChangeShapeType="1"/>
          </p:cNvSpPr>
          <p:nvPr/>
        </p:nvSpPr>
        <p:spPr bwMode="auto">
          <a:xfrm flipH="1">
            <a:off x="6670431" y="1181759"/>
            <a:ext cx="387999" cy="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39" name="Rectangle 28"/>
          <p:cNvSpPr>
            <a:spLocks noChangeArrowheads="1"/>
          </p:cNvSpPr>
          <p:nvPr/>
        </p:nvSpPr>
        <p:spPr bwMode="auto">
          <a:xfrm>
            <a:off x="5873262" y="966784"/>
            <a:ext cx="794434" cy="1223858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41" name="Line 22"/>
          <p:cNvSpPr>
            <a:spLocks noChangeShapeType="1"/>
          </p:cNvSpPr>
          <p:nvPr/>
        </p:nvSpPr>
        <p:spPr bwMode="auto">
          <a:xfrm flipH="1">
            <a:off x="6667696" y="1754648"/>
            <a:ext cx="387999" cy="1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32" name="Text Box 4"/>
          <p:cNvSpPr txBox="1">
            <a:spLocks noChangeArrowheads="1"/>
          </p:cNvSpPr>
          <p:nvPr/>
        </p:nvSpPr>
        <p:spPr bwMode="auto">
          <a:xfrm>
            <a:off x="2339752" y="2150145"/>
            <a:ext cx="6624736" cy="3947877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toolbar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toolbar.setLayout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GridLayout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(0,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1));       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smallerButton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JButton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"Smaller"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toolbar.add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smallerButton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smallerButton.addActionListener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(e -&gt;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spc="-100" dirty="0" err="1">
                <a:solidFill>
                  <a:schemeClr val="tx1"/>
                </a:solidFill>
                <a:latin typeface="Courier New" pitchFamily="49" charset="0"/>
              </a:rPr>
              <a:t>makeSmaller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itchFamily="49" charset="0"/>
              </a:rPr>
              <a:t>());</a:t>
            </a:r>
            <a:endParaRPr lang="en-US" altLang="da-DK" sz="16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largerButton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JButton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"Larger"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toolbar.add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largerButton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largerButton.addActionListener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(e -&gt;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makeLarger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flow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flow.add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(toolbar);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(flow,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BorderLayout.WEST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2661162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Knapper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20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514151" y="1124744"/>
            <a:ext cx="5010824" cy="72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Vi vil nu tilføje et par knapper,</a:t>
            </a:r>
            <a:b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</a:b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der kan ændre billedets størrelse</a:t>
            </a:r>
          </a:p>
        </p:txBody>
      </p:sp>
      <p:sp>
        <p:nvSpPr>
          <p:cNvPr id="19" name="Text Box 21"/>
          <p:cNvSpPr txBox="1">
            <a:spLocks noChangeArrowheads="1"/>
          </p:cNvSpPr>
          <p:nvPr/>
        </p:nvSpPr>
        <p:spPr bwMode="auto">
          <a:xfrm>
            <a:off x="95294" y="2389193"/>
            <a:ext cx="2160240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nyt panel og sæt dets layout manager til </a:t>
            </a:r>
            <a:r>
              <a:rPr lang="da-DK" altLang="da-DK" sz="1400" b="1" dirty="0" err="1">
                <a:solidFill>
                  <a:srgbClr val="0000FF"/>
                </a:solidFill>
              </a:rPr>
              <a:t>GridLayout</a:t>
            </a:r>
            <a:endParaRPr lang="da-DK" altLang="da-DK" sz="1400" b="1" dirty="0">
              <a:solidFill>
                <a:srgbClr val="0000FF"/>
              </a:solidFill>
            </a:endParaRPr>
          </a:p>
        </p:txBody>
      </p:sp>
      <p:sp>
        <p:nvSpPr>
          <p:cNvPr id="20" name="Line 22"/>
          <p:cNvSpPr>
            <a:spLocks noChangeShapeType="1"/>
          </p:cNvSpPr>
          <p:nvPr/>
        </p:nvSpPr>
        <p:spPr bwMode="auto">
          <a:xfrm flipV="1">
            <a:off x="2123728" y="2726209"/>
            <a:ext cx="43204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22" name="Rectangle 28"/>
          <p:cNvSpPr>
            <a:spLocks noChangeArrowheads="1"/>
          </p:cNvSpPr>
          <p:nvPr/>
        </p:nvSpPr>
        <p:spPr bwMode="auto">
          <a:xfrm>
            <a:off x="2623651" y="2603297"/>
            <a:ext cx="4869853" cy="494376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3" name="Text Box 21"/>
          <p:cNvSpPr txBox="1">
            <a:spLocks noChangeArrowheads="1"/>
          </p:cNvSpPr>
          <p:nvPr/>
        </p:nvSpPr>
        <p:spPr bwMode="auto">
          <a:xfrm>
            <a:off x="142176" y="3230265"/>
            <a:ext cx="2160240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den første knap og tilføj den til panelet </a:t>
            </a:r>
          </a:p>
        </p:txBody>
      </p:sp>
      <p:sp>
        <p:nvSpPr>
          <p:cNvPr id="24" name="Line 22"/>
          <p:cNvSpPr>
            <a:spLocks noChangeShapeType="1"/>
          </p:cNvSpPr>
          <p:nvPr/>
        </p:nvSpPr>
        <p:spPr bwMode="auto">
          <a:xfrm flipV="1">
            <a:off x="2111536" y="3401121"/>
            <a:ext cx="43204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25" name="Rectangle 28"/>
          <p:cNvSpPr>
            <a:spLocks noChangeArrowheads="1"/>
          </p:cNvSpPr>
          <p:nvPr/>
        </p:nvSpPr>
        <p:spPr bwMode="auto">
          <a:xfrm>
            <a:off x="2611459" y="3148889"/>
            <a:ext cx="6258221" cy="753456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6" name="Text Box 21"/>
          <p:cNvSpPr txBox="1">
            <a:spLocks noChangeArrowheads="1"/>
          </p:cNvSpPr>
          <p:nvPr/>
        </p:nvSpPr>
        <p:spPr bwMode="auto">
          <a:xfrm>
            <a:off x="129984" y="3902569"/>
            <a:ext cx="2160240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den anden knap og tilføj den til panelet</a:t>
            </a:r>
          </a:p>
        </p:txBody>
      </p:sp>
      <p:sp>
        <p:nvSpPr>
          <p:cNvPr id="27" name="Line 22"/>
          <p:cNvSpPr>
            <a:spLocks noChangeShapeType="1"/>
          </p:cNvSpPr>
          <p:nvPr/>
        </p:nvSpPr>
        <p:spPr bwMode="auto">
          <a:xfrm flipV="1">
            <a:off x="2099344" y="4073425"/>
            <a:ext cx="43204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28" name="Rectangle 28"/>
          <p:cNvSpPr>
            <a:spLocks noChangeArrowheads="1"/>
          </p:cNvSpPr>
          <p:nvPr/>
        </p:nvSpPr>
        <p:spPr bwMode="auto">
          <a:xfrm>
            <a:off x="2599267" y="3950513"/>
            <a:ext cx="6258221" cy="753456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9" name="Text Box 21"/>
          <p:cNvSpPr txBox="1">
            <a:spLocks noChangeArrowheads="1"/>
          </p:cNvSpPr>
          <p:nvPr/>
        </p:nvSpPr>
        <p:spPr bwMode="auto">
          <a:xfrm>
            <a:off x="124584" y="4579194"/>
            <a:ext cx="2130950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Skab et nyt panel og</a:t>
            </a:r>
            <a:br>
              <a:rPr lang="da-DK" altLang="da-DK" sz="1400" b="1" dirty="0">
                <a:solidFill>
                  <a:srgbClr val="FF0000"/>
                </a:solidFill>
              </a:rPr>
            </a:br>
            <a:r>
              <a:rPr lang="da-DK" altLang="da-DK" sz="1400" b="1" dirty="0">
                <a:solidFill>
                  <a:srgbClr val="FF0000"/>
                </a:solidFill>
              </a:rPr>
              <a:t>læg det første panel derind i</a:t>
            </a:r>
          </a:p>
        </p:txBody>
      </p:sp>
      <p:sp>
        <p:nvSpPr>
          <p:cNvPr id="30" name="Line 22"/>
          <p:cNvSpPr>
            <a:spLocks noChangeShapeType="1"/>
          </p:cNvSpPr>
          <p:nvPr/>
        </p:nvSpPr>
        <p:spPr bwMode="auto">
          <a:xfrm flipV="1">
            <a:off x="2096296" y="4902481"/>
            <a:ext cx="432048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31" name="Rectangle 28"/>
          <p:cNvSpPr>
            <a:spLocks noChangeArrowheads="1"/>
          </p:cNvSpPr>
          <p:nvPr/>
        </p:nvSpPr>
        <p:spPr bwMode="auto">
          <a:xfrm>
            <a:off x="2596219" y="4779569"/>
            <a:ext cx="3420533" cy="503520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5" name="Text Box 21"/>
          <p:cNvSpPr txBox="1">
            <a:spLocks noChangeArrowheads="1"/>
          </p:cNvSpPr>
          <p:nvPr/>
        </p:nvSpPr>
        <p:spPr bwMode="auto">
          <a:xfrm>
            <a:off x="107504" y="5355065"/>
            <a:ext cx="2148030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Det yderste panel placeres i border layoutets vestlige del</a:t>
            </a:r>
          </a:p>
        </p:txBody>
      </p:sp>
      <p:sp>
        <p:nvSpPr>
          <p:cNvPr id="36" name="Line 22"/>
          <p:cNvSpPr>
            <a:spLocks noChangeShapeType="1"/>
          </p:cNvSpPr>
          <p:nvPr/>
        </p:nvSpPr>
        <p:spPr bwMode="auto">
          <a:xfrm flipV="1">
            <a:off x="1835696" y="5497385"/>
            <a:ext cx="692648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46" name="Rectangle 28"/>
          <p:cNvSpPr>
            <a:spLocks noChangeArrowheads="1"/>
          </p:cNvSpPr>
          <p:nvPr/>
        </p:nvSpPr>
        <p:spPr bwMode="auto">
          <a:xfrm>
            <a:off x="2595776" y="5355065"/>
            <a:ext cx="5130904" cy="284640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3" name="Text Box 21"/>
          <p:cNvSpPr txBox="1">
            <a:spLocks noChangeArrowheads="1"/>
          </p:cNvSpPr>
          <p:nvPr/>
        </p:nvSpPr>
        <p:spPr bwMode="auto">
          <a:xfrm>
            <a:off x="2719708" y="5864786"/>
            <a:ext cx="4896544" cy="789960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marL="177800" indent="-177800">
              <a:spcBef>
                <a:spcPct val="500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Tilføjelsen af det yderste panel sikrer at knapperne ikke skaleres i højden (så de fylder hele West)</a:t>
            </a:r>
          </a:p>
          <a:p>
            <a:pPr marL="177800" indent="-17780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 err="1">
                <a:solidFill>
                  <a:srgbClr val="0000FF"/>
                </a:solidFill>
              </a:rPr>
              <a:t>JPanels</a:t>
            </a:r>
            <a:r>
              <a:rPr lang="da-DK" altLang="da-DK" sz="1400" b="1" dirty="0">
                <a:solidFill>
                  <a:srgbClr val="0000FF"/>
                </a:solidFill>
              </a:rPr>
              <a:t> har </a:t>
            </a:r>
            <a:r>
              <a:rPr lang="da-DK" altLang="da-DK" sz="1400" b="1" dirty="0" err="1">
                <a:solidFill>
                  <a:srgbClr val="0000FF"/>
                </a:solidFill>
              </a:rPr>
              <a:t>FlowLayout</a:t>
            </a:r>
            <a:r>
              <a:rPr lang="da-DK" altLang="da-DK" sz="1400" b="1" dirty="0">
                <a:solidFill>
                  <a:srgbClr val="0000FF"/>
                </a:solidFill>
              </a:rPr>
              <a:t> som default layout manager</a:t>
            </a:r>
          </a:p>
        </p:txBody>
      </p:sp>
      <p:sp>
        <p:nvSpPr>
          <p:cNvPr id="34" name="Text Box 21"/>
          <p:cNvSpPr txBox="1">
            <a:spLocks noChangeArrowheads="1"/>
          </p:cNvSpPr>
          <p:nvPr/>
        </p:nvSpPr>
        <p:spPr bwMode="auto">
          <a:xfrm>
            <a:off x="6295707" y="2245057"/>
            <a:ext cx="2641090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0 ≈ nødvendige antal rækker</a:t>
            </a:r>
          </a:p>
        </p:txBody>
      </p:sp>
      <p:sp>
        <p:nvSpPr>
          <p:cNvPr id="37" name="Line 22"/>
          <p:cNvSpPr>
            <a:spLocks noChangeShapeType="1"/>
          </p:cNvSpPr>
          <p:nvPr/>
        </p:nvSpPr>
        <p:spPr bwMode="auto">
          <a:xfrm>
            <a:off x="6739467" y="2485446"/>
            <a:ext cx="0" cy="355599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38" name="Text Box 21"/>
          <p:cNvSpPr txBox="1">
            <a:spLocks noChangeArrowheads="1"/>
          </p:cNvSpPr>
          <p:nvPr/>
        </p:nvSpPr>
        <p:spPr bwMode="auto">
          <a:xfrm>
            <a:off x="6438518" y="4709483"/>
            <a:ext cx="2580501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 err="1">
                <a:solidFill>
                  <a:srgbClr val="0000FF"/>
                </a:solidFill>
              </a:rPr>
              <a:t>smallerButton</a:t>
            </a:r>
            <a:r>
              <a:rPr lang="da-DK" altLang="da-DK" sz="1400" b="1" dirty="0">
                <a:solidFill>
                  <a:srgbClr val="0000FF"/>
                </a:solidFill>
              </a:rPr>
              <a:t> og </a:t>
            </a:r>
            <a:r>
              <a:rPr lang="da-DK" altLang="da-DK" sz="1400" b="1" dirty="0" err="1">
                <a:solidFill>
                  <a:srgbClr val="0000FF"/>
                </a:solidFill>
              </a:rPr>
              <a:t>largerButton</a:t>
            </a:r>
            <a:r>
              <a:rPr lang="da-DK" altLang="da-DK" sz="1400" b="1" dirty="0">
                <a:solidFill>
                  <a:srgbClr val="0000FF"/>
                </a:solidFill>
              </a:rPr>
              <a:t> er feltvariabler</a:t>
            </a:r>
          </a:p>
        </p:txBody>
      </p:sp>
      <p:sp>
        <p:nvSpPr>
          <p:cNvPr id="40" name="Line 22"/>
          <p:cNvSpPr>
            <a:spLocks noChangeShapeType="1"/>
          </p:cNvSpPr>
          <p:nvPr/>
        </p:nvSpPr>
        <p:spPr bwMode="auto">
          <a:xfrm flipH="1">
            <a:off x="7092280" y="2690572"/>
            <a:ext cx="634400" cy="150473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42" name="Text Box 21"/>
          <p:cNvSpPr txBox="1">
            <a:spLocks noChangeArrowheads="1"/>
          </p:cNvSpPr>
          <p:nvPr/>
        </p:nvSpPr>
        <p:spPr bwMode="auto">
          <a:xfrm>
            <a:off x="7705889" y="2539562"/>
            <a:ext cx="1163791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antal søjler</a:t>
            </a:r>
          </a:p>
        </p:txBody>
      </p:sp>
      <p:sp>
        <p:nvSpPr>
          <p:cNvPr id="47" name="Text Box 21"/>
          <p:cNvSpPr txBox="1">
            <a:spLocks noChangeArrowheads="1"/>
          </p:cNvSpPr>
          <p:nvPr/>
        </p:nvSpPr>
        <p:spPr bwMode="auto">
          <a:xfrm>
            <a:off x="7058430" y="1057711"/>
            <a:ext cx="1580618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 err="1">
                <a:solidFill>
                  <a:srgbClr val="0000FF"/>
                </a:solidFill>
              </a:rPr>
              <a:t>JPanel</a:t>
            </a:r>
            <a:r>
              <a:rPr lang="da-DK" altLang="da-DK" sz="1400" b="1" dirty="0">
                <a:solidFill>
                  <a:srgbClr val="0000FF"/>
                </a:solidFill>
              </a:rPr>
              <a:t> </a:t>
            </a:r>
            <a:r>
              <a:rPr lang="da-DK" altLang="da-DK" sz="1400" b="1" dirty="0" err="1">
                <a:solidFill>
                  <a:srgbClr val="0000FF"/>
                </a:solidFill>
              </a:rPr>
              <a:t>toolbar</a:t>
            </a:r>
            <a:endParaRPr lang="da-DK" altLang="da-DK" sz="1400" b="1" dirty="0">
              <a:solidFill>
                <a:srgbClr val="0000FF"/>
              </a:solidFill>
            </a:endParaRPr>
          </a:p>
        </p:txBody>
      </p:sp>
      <p:sp>
        <p:nvSpPr>
          <p:cNvPr id="44" name="Text Box 21"/>
          <p:cNvSpPr txBox="1">
            <a:spLocks noChangeArrowheads="1"/>
          </p:cNvSpPr>
          <p:nvPr/>
        </p:nvSpPr>
        <p:spPr bwMode="auto">
          <a:xfrm>
            <a:off x="7055695" y="1630600"/>
            <a:ext cx="1580618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 err="1">
                <a:solidFill>
                  <a:srgbClr val="FF0000"/>
                </a:solidFill>
              </a:rPr>
              <a:t>JPanel</a:t>
            </a:r>
            <a:r>
              <a:rPr lang="da-DK" altLang="da-DK" sz="1400" b="1" dirty="0">
                <a:solidFill>
                  <a:srgbClr val="FF0000"/>
                </a:solidFill>
              </a:rPr>
              <a:t> flow</a:t>
            </a:r>
          </a:p>
        </p:txBody>
      </p:sp>
      <p:sp>
        <p:nvSpPr>
          <p:cNvPr id="48" name="Rectangle 47"/>
          <p:cNvSpPr/>
          <p:nvPr/>
        </p:nvSpPr>
        <p:spPr>
          <a:xfrm rot="21165640">
            <a:off x="7442251" y="5657136"/>
            <a:ext cx="1995165" cy="646331"/>
          </a:xfrm>
          <a:prstGeom prst="rect">
            <a:avLst/>
          </a:prstGeom>
          <a:noFill/>
        </p:spPr>
        <p:txBody>
          <a:bodyPr wrap="square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>
              <a:defRPr/>
            </a:pPr>
            <a:r>
              <a:rPr lang="en-US" sz="3600" b="1" dirty="0">
                <a:ln w="11430"/>
                <a:solidFill>
                  <a:srgbClr val="CC0000"/>
                </a:soli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Pause</a:t>
            </a:r>
          </a:p>
        </p:txBody>
      </p:sp>
    </p:spTree>
    <p:extLst>
      <p:ext uri="{BB962C8B-B14F-4D97-AF65-F5344CB8AC3E}">
        <p14:creationId xmlns:p14="http://schemas.microsoft.com/office/powerpoint/2010/main" val="250907803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  <p:bldP spid="39" grpId="0" animBg="1"/>
      <p:bldP spid="41" grpId="0" animBg="1"/>
      <p:bldP spid="32" grpId="0" animBg="1"/>
      <p:bldP spid="19" grpId="0"/>
      <p:bldP spid="20" grpId="0" animBg="1"/>
      <p:bldP spid="22" grpId="0" animBg="1"/>
      <p:bldP spid="23" grpId="0"/>
      <p:bldP spid="24" grpId="0" animBg="1"/>
      <p:bldP spid="25" grpId="0" animBg="1"/>
      <p:bldP spid="26" grpId="0"/>
      <p:bldP spid="27" grpId="0" animBg="1"/>
      <p:bldP spid="28" grpId="0" animBg="1"/>
      <p:bldP spid="29" grpId="0"/>
      <p:bldP spid="30" grpId="0" animBg="1"/>
      <p:bldP spid="31" grpId="0" animBg="1"/>
      <p:bldP spid="35" grpId="0"/>
      <p:bldP spid="36" grpId="0" animBg="1"/>
      <p:bldP spid="46" grpId="0" animBg="1"/>
      <p:bldP spid="33" grpId="0" animBg="1"/>
      <p:bldP spid="34" grpId="0"/>
      <p:bldP spid="37" grpId="0" animBg="1"/>
      <p:bldP spid="38" grpId="0"/>
      <p:bldP spid="40" grpId="0" animBg="1"/>
      <p:bldP spid="42" grpId="0"/>
      <p:bldP spid="47" grpId="0"/>
      <p:bldP spid="4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4447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</a:t>
            </a:r>
            <a:r>
              <a:rPr lang="da-DK" altLang="da-DK" sz="3200" dirty="0">
                <a:ea typeface="ＭＳ Ｐゴシック" pitchFamily="34" charset="-128"/>
              </a:rPr>
              <a:t>Andre GUI elementer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356176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21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67543" y="1052736"/>
            <a:ext cx="8603359" cy="57606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I denne forelæsning har vi kun set på nogle af de vigtigste elementer, der kan indgå i en grafisk brugergrænseflade</a:t>
            </a: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Der er masser af andre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Scrollbarer (klassen Scrollbar)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Checkbokse (klassen </a:t>
            </a:r>
            <a:r>
              <a:rPr lang="da-DK" altLang="da-DK" sz="1800" kern="0" dirty="0" err="1">
                <a:ea typeface="ＭＳ Ｐゴシック" pitchFamily="34" charset="-128"/>
              </a:rPr>
              <a:t>Checkbox</a:t>
            </a:r>
            <a:r>
              <a:rPr lang="da-DK" altLang="da-DK" sz="1800" kern="0" dirty="0">
                <a:ea typeface="ＭＳ Ｐゴシック" pitchFamily="34" charset="-128"/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 err="1">
                <a:ea typeface="ＭＳ Ｐゴシック" pitchFamily="34" charset="-128"/>
              </a:rPr>
              <a:t>Radiobuttons</a:t>
            </a:r>
            <a:r>
              <a:rPr lang="da-DK" altLang="da-DK" sz="1800" kern="0" dirty="0">
                <a:ea typeface="ＭＳ Ｐゴシック" pitchFamily="34" charset="-128"/>
              </a:rPr>
              <a:t> (klassen </a:t>
            </a:r>
            <a:r>
              <a:rPr lang="da-DK" altLang="da-DK" sz="1800" kern="0" dirty="0" err="1">
                <a:ea typeface="ＭＳ Ｐゴシック" pitchFamily="34" charset="-128"/>
              </a:rPr>
              <a:t>JRadioButton</a:t>
            </a:r>
            <a:r>
              <a:rPr lang="da-DK" altLang="da-DK" sz="1800" kern="0" dirty="0">
                <a:ea typeface="ＭＳ Ｐゴシック" pitchFamily="34" charset="-128"/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Lister hvor en/flere indgange kan være selekteret (klassen </a:t>
            </a:r>
            <a:r>
              <a:rPr lang="da-DK" altLang="da-DK" sz="1800" kern="0" dirty="0" err="1">
                <a:ea typeface="ＭＳ Ｐゴシック" pitchFamily="34" charset="-128"/>
              </a:rPr>
              <a:t>JList</a:t>
            </a:r>
            <a:r>
              <a:rPr lang="da-DK" altLang="da-DK" sz="1800" kern="0" dirty="0">
                <a:ea typeface="ＭＳ Ｐゴシック" pitchFamily="34" charset="-128"/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 err="1">
                <a:ea typeface="ＭＳ Ｐゴシック" pitchFamily="34" charset="-128"/>
              </a:rPr>
              <a:t>Dropdown</a:t>
            </a:r>
            <a:r>
              <a:rPr lang="da-DK" altLang="da-DK" sz="1800" kern="0" dirty="0">
                <a:ea typeface="ＭＳ Ｐゴシック" pitchFamily="34" charset="-128"/>
              </a:rPr>
              <a:t> lister, hvor én indgang er selekteret (klassen </a:t>
            </a:r>
            <a:r>
              <a:rPr lang="da-DK" altLang="da-DK" sz="1800" kern="0" dirty="0" err="1">
                <a:ea typeface="ＭＳ Ｐゴシック" pitchFamily="34" charset="-128"/>
              </a:rPr>
              <a:t>JComboBox</a:t>
            </a:r>
            <a:r>
              <a:rPr lang="da-DK" altLang="da-DK" sz="1800" kern="0" dirty="0">
                <a:ea typeface="ＭＳ Ｐゴシック" pitchFamily="34" charset="-128"/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Billeder (klassen ImageIcon)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Kanter/rammer (interfacet Border og dets implementerende klasser)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Usynlige elementer (luft) som påvirker layoutet (Box klassen)</a:t>
            </a: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Fremgangsmåden er hele tiden den samme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spc="-70" dirty="0">
                <a:ea typeface="ＭＳ Ｐゴシック" pitchFamily="34" charset="-128"/>
              </a:rPr>
              <a:t>Skab GUI objekterne og tilføj dem til rammer, paneler og andre Container objekter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Tilknyt en passende LayoutManager til containeren (eller brug default)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Abonnér på de ActionEvents, der sendes fra GUI objektet og angiv, </a:t>
            </a:r>
            <a:r>
              <a:rPr lang="da-DK" altLang="da-DK" sz="1800" kern="0" spc="-50" dirty="0">
                <a:ea typeface="ＭＳ Ｐゴシック" pitchFamily="34" charset="-128"/>
              </a:rPr>
              <a:t>hvilken metode, der skal udføres, når GUI objektet aktiveres af brugeren</a:t>
            </a:r>
          </a:p>
          <a:p>
            <a:pPr lvl="1">
              <a:spcBef>
                <a:spcPts val="600"/>
              </a:spcBef>
            </a:pPr>
            <a:endParaRPr lang="da-DK" altLang="da-DK" sz="1800" kern="0" dirty="0">
              <a:ea typeface="ＭＳ Ｐゴシック" pitchFamily="34" charset="-128"/>
            </a:endParaRPr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00" r="1065" b="-4"/>
          <a:stretch/>
        </p:blipFill>
        <p:spPr bwMode="auto">
          <a:xfrm>
            <a:off x="4644008" y="2285752"/>
            <a:ext cx="2572624" cy="162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/>
          <p:cNvGrpSpPr/>
          <p:nvPr/>
        </p:nvGrpSpPr>
        <p:grpSpPr>
          <a:xfrm>
            <a:off x="5292080" y="2583234"/>
            <a:ext cx="478532" cy="497582"/>
            <a:chOff x="4932040" y="2636912"/>
            <a:chExt cx="478532" cy="497582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32040" y="2636912"/>
              <a:ext cx="190500" cy="200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0072" y="2646436"/>
              <a:ext cx="190500" cy="180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28" name="Picture 4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36802" y="2924944"/>
              <a:ext cx="180975" cy="209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Oval 2"/>
            <p:cNvSpPr/>
            <p:nvPr/>
          </p:nvSpPr>
          <p:spPr bwMode="auto">
            <a:xfrm>
              <a:off x="5260213" y="2982570"/>
              <a:ext cx="131430" cy="123324"/>
            </a:xfrm>
            <a:prstGeom prst="ellipse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84394689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da-DK" altLang="da-DK" sz="3200" dirty="0">
                <a:solidFill>
                  <a:srgbClr val="002060"/>
                </a:solidFill>
                <a:ea typeface="ＭＳ Ｐゴシック" pitchFamily="34" charset="-128"/>
                <a:cs typeface="Arial"/>
              </a:rPr>
              <a:t>Gode råd omkring GUI konstruktion</a:t>
            </a:r>
            <a:endParaRPr lang="da-DK" altLang="da-DK" sz="3200" dirty="0">
              <a:solidFill>
                <a:srgbClr val="002060"/>
              </a:solidFill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22</a:t>
            </a:fld>
            <a:endParaRPr lang="da-DK" altLang="da-DK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 bwMode="auto">
          <a:xfrm>
            <a:off x="395536" y="1009604"/>
            <a:ext cx="8640960" cy="58052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altLang="da-DK" sz="2000" dirty="0">
                <a:ea typeface="ＭＳ Ｐゴシック" pitchFamily="34" charset="-128"/>
              </a:rPr>
              <a:t>Cohesion og læsbarhed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Placer GUI elementerne samlet (i en enkelt eller nogle få klasser) og adskilt fra de ting, der beskriver programmets øvrige funktionalitet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Opdel i et antal private metoder (f.eks. </a:t>
            </a:r>
            <a:r>
              <a:rPr lang="da-DK" altLang="da-DK" sz="1800" dirty="0" err="1">
                <a:ea typeface="ＭＳ Ｐゴシック" pitchFamily="34" charset="-128"/>
              </a:rPr>
              <a:t>makeFrame</a:t>
            </a:r>
            <a:r>
              <a:rPr lang="da-DK" altLang="da-DK" sz="1800" dirty="0">
                <a:ea typeface="ＭＳ Ｐゴシック" pitchFamily="34" charset="-128"/>
              </a:rPr>
              <a:t> og </a:t>
            </a:r>
            <a:r>
              <a:rPr lang="da-DK" altLang="da-DK" sz="1800" dirty="0" err="1">
                <a:ea typeface="ＭＳ Ｐゴシック" pitchFamily="34" charset="-128"/>
              </a:rPr>
              <a:t>makeMenubar</a:t>
            </a:r>
            <a:r>
              <a:rPr lang="da-DK" altLang="da-DK" sz="1800" dirty="0">
                <a:ea typeface="ＭＳ Ｐゴシック" pitchFamily="34" charset="-128"/>
              </a:rPr>
              <a:t>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 lambda'erne, man bruger som parametre til </a:t>
            </a:r>
            <a:r>
              <a:rPr lang="da-DK" altLang="da-DK" sz="1800" kern="0" dirty="0" err="1">
                <a:ea typeface="ＭＳ Ｐゴシック" pitchFamily="34" charset="-128"/>
              </a:rPr>
              <a:t>addActionListener</a:t>
            </a:r>
            <a:r>
              <a:rPr lang="da-DK" altLang="da-DK" sz="1800" kern="0" dirty="0">
                <a:ea typeface="ＭＳ Ｐゴシック" pitchFamily="34" charset="-128"/>
              </a:rPr>
              <a:t> metoden bør være korte og letlæselige (f.eks. et metodekald til en privat metode, hvori den egentlige kode så placeres)</a:t>
            </a:r>
          </a:p>
          <a:p>
            <a:pPr>
              <a:spcBef>
                <a:spcPts val="900"/>
              </a:spcBef>
            </a:pPr>
            <a:r>
              <a:rPr lang="da-DK" altLang="da-DK" sz="2000" kern="0" dirty="0">
                <a:ea typeface="ＭＳ Ｐゴシック" pitchFamily="34" charset="-128"/>
              </a:rPr>
              <a:t>Lad andre gøre arbejdet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Brug de predefinerede GUI objekter i Swing og AWT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Mange af disse kan identificere brugerevents og videregiver dem til lyttere (event listeners)</a:t>
            </a:r>
          </a:p>
          <a:p>
            <a:pPr>
              <a:spcBef>
                <a:spcPts val="900"/>
              </a:spcBef>
            </a:pPr>
            <a:r>
              <a:rPr lang="da-DK" altLang="da-DK" sz="2000" kern="0" spc="-50" dirty="0">
                <a:ea typeface="ＭＳ Ｐゴシック" pitchFamily="34" charset="-128"/>
              </a:rPr>
              <a:t>Der findes værktøjer, hvor man kan lave en GUI via "</a:t>
            </a:r>
            <a:r>
              <a:rPr lang="da-DK" altLang="da-DK" sz="2000" kern="0" spc="-50" dirty="0" err="1">
                <a:ea typeface="ＭＳ Ｐゴシック" pitchFamily="34" charset="-128"/>
              </a:rPr>
              <a:t>plug</a:t>
            </a:r>
            <a:r>
              <a:rPr lang="da-DK" altLang="da-DK" sz="2000" kern="0" spc="-50" dirty="0">
                <a:ea typeface="ＭＳ Ｐゴシック" pitchFamily="34" charset="-128"/>
              </a:rPr>
              <a:t> and </a:t>
            </a:r>
            <a:r>
              <a:rPr lang="da-DK" altLang="da-DK" sz="2000" kern="0" spc="-50" dirty="0" err="1">
                <a:ea typeface="ＭＳ Ｐゴシック" pitchFamily="34" charset="-128"/>
              </a:rPr>
              <a:t>play</a:t>
            </a:r>
            <a:r>
              <a:rPr lang="da-DK" altLang="da-DK" sz="2000" kern="0" spc="-50" dirty="0">
                <a:ea typeface="ＭＳ Ｐゴシック" pitchFamily="34" charset="-128"/>
              </a:rPr>
              <a:t>"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spc="-50" dirty="0">
                <a:ea typeface="ＭＳ Ｐゴシック" pitchFamily="34" charset="-128"/>
              </a:rPr>
              <a:t>Elementerne i vinduer, dialogbokse, menuer og lignende skabes via byggeklodser, der tilpasses og placeres på rette position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spc="-50" dirty="0">
                <a:ea typeface="ＭＳ Ｐゴシック" pitchFamily="34" charset="-128"/>
              </a:rPr>
              <a:t>Herefter kan værktøjet selv generere den nødvendige Java kode – med "huller" til den kode, der skal udføres ved modtagelsen af de forskellige GUI events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spc="-50" dirty="0">
                <a:ea typeface="ＭＳ Ｐゴシック" pitchFamily="34" charset="-128"/>
              </a:rPr>
              <a:t>Anvendelsen af sådanne værktøjer falder uden for rammerne af dette kursus</a:t>
            </a:r>
          </a:p>
          <a:p>
            <a:pPr lvl="1">
              <a:spcBef>
                <a:spcPts val="600"/>
              </a:spcBef>
            </a:pPr>
            <a:endParaRPr lang="da-DK" altLang="da-DK" sz="1800" kern="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1727930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4447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solidFill>
                  <a:srgbClr val="A50021"/>
                </a:solidFill>
                <a:ea typeface="ＭＳ Ｐゴシック" pitchFamily="34" charset="-128"/>
                <a:cs typeface="Arial"/>
              </a:rPr>
              <a:t>●</a:t>
            </a:r>
            <a:r>
              <a:rPr lang="da-DK" altLang="da-DK" sz="3200" dirty="0">
                <a:ea typeface="ＭＳ Ｐゴシック" pitchFamily="34" charset="-128"/>
                <a:cs typeface="Arial"/>
              </a:rPr>
              <a:t> </a:t>
            </a:r>
            <a:r>
              <a:rPr lang="da-DK" altLang="da-DK" sz="3200" dirty="0">
                <a:ea typeface="ＭＳ Ｐゴシック" pitchFamily="34" charset="-128"/>
              </a:rPr>
              <a:t>Anonyme indre klasser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356176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23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67544" y="1052736"/>
            <a:ext cx="8676456" cy="54726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Indtil nu har vi specificeret al event håndtering via lambda'er, fx:</a:t>
            </a:r>
          </a:p>
          <a:p>
            <a:pPr lvl="1">
              <a:spcBef>
                <a:spcPts val="400"/>
              </a:spcBef>
            </a:pPr>
            <a:endParaRPr lang="da-DK" altLang="da-DK" sz="1800" kern="0" dirty="0">
              <a:ea typeface="ＭＳ Ｐゴシック" pitchFamily="34" charset="-128"/>
            </a:endParaRPr>
          </a:p>
          <a:p>
            <a:pPr lvl="1">
              <a:spcBef>
                <a:spcPts val="1800"/>
              </a:spcBef>
            </a:pPr>
            <a:r>
              <a:rPr lang="da-DK" altLang="da-DK" sz="1800" kern="0" spc="-30" dirty="0">
                <a:ea typeface="ＭＳ Ｐゴシック" pitchFamily="34" charset="-128"/>
              </a:rPr>
              <a:t>Dette har været muligt, fordi alle vores events har været af typen </a:t>
            </a:r>
            <a:r>
              <a:rPr lang="da-DK" altLang="da-DK" sz="1800" b="1" kern="0" spc="-30" dirty="0" err="1">
                <a:solidFill>
                  <a:srgbClr val="008000"/>
                </a:solidFill>
                <a:ea typeface="ＭＳ Ｐゴシック" pitchFamily="34" charset="-128"/>
              </a:rPr>
              <a:t>ActionEvent</a:t>
            </a:r>
            <a:r>
              <a:rPr lang="da-DK" altLang="da-DK" sz="1800" kern="0" dirty="0">
                <a:ea typeface="ＭＳ Ｐゴシック" pitchFamily="34" charset="-128"/>
              </a:rPr>
              <a:t>, som man abonnerer på ved at kalde </a:t>
            </a:r>
            <a:r>
              <a:rPr lang="da-DK" altLang="da-DK" sz="1800" b="1" kern="0" dirty="0" err="1">
                <a:solidFill>
                  <a:srgbClr val="008000"/>
                </a:solidFill>
                <a:ea typeface="ＭＳ Ｐゴシック" pitchFamily="34" charset="-128"/>
              </a:rPr>
              <a:t>addActionListener</a:t>
            </a:r>
            <a:r>
              <a:rPr lang="da-DK" altLang="da-DK" sz="1800" kern="0" dirty="0">
                <a:ea typeface="ＭＳ Ｐゴシック" pitchFamily="34" charset="-128"/>
              </a:rPr>
              <a:t> metoden, hvor parameteren er af typen </a:t>
            </a:r>
            <a:r>
              <a:rPr lang="da-DK" altLang="da-DK" sz="1800" b="1" kern="0" dirty="0" err="1">
                <a:solidFill>
                  <a:srgbClr val="008000"/>
                </a:solidFill>
                <a:ea typeface="ＭＳ Ｐゴシック" pitchFamily="34" charset="-128"/>
              </a:rPr>
              <a:t>ActionListener</a:t>
            </a:r>
            <a:r>
              <a:rPr lang="da-DK" altLang="da-DK" sz="1800" kern="0" dirty="0">
                <a:ea typeface="ＭＳ Ｐゴシック" pitchFamily="34" charset="-128"/>
              </a:rPr>
              <a:t>, som er et funktionelt interface</a:t>
            </a:r>
          </a:p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Desværre har Java også en del ældre "lyttere" fra AWT, der ikke</a:t>
            </a:r>
            <a:b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</a:b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er funktionelle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Det gælder bl.a. </a:t>
            </a:r>
            <a:r>
              <a:rPr lang="da-DK" altLang="da-DK" sz="1800" kern="0" dirty="0" err="1">
                <a:ea typeface="ＭＳ Ｐゴシック" pitchFamily="34" charset="-128"/>
              </a:rPr>
              <a:t>KeyListener</a:t>
            </a:r>
            <a:r>
              <a:rPr lang="da-DK" altLang="da-DK" sz="1800" kern="0" dirty="0">
                <a:ea typeface="ＭＳ Ｐゴシック" pitchFamily="34" charset="-128"/>
              </a:rPr>
              <a:t>, </a:t>
            </a:r>
            <a:r>
              <a:rPr lang="da-DK" altLang="da-DK" sz="1800" kern="0" dirty="0" err="1">
                <a:ea typeface="ＭＳ Ｐゴシック" pitchFamily="34" charset="-128"/>
              </a:rPr>
              <a:t>MouseListener</a:t>
            </a:r>
            <a:r>
              <a:rPr lang="da-DK" altLang="da-DK" sz="1800" kern="0" dirty="0">
                <a:ea typeface="ＭＳ Ｐゴシック" pitchFamily="34" charset="-128"/>
              </a:rPr>
              <a:t> og </a:t>
            </a:r>
            <a:r>
              <a:rPr lang="da-DK" altLang="da-DK" sz="1800" kern="0" dirty="0" err="1">
                <a:ea typeface="ＭＳ Ｐゴシック" pitchFamily="34" charset="-128"/>
              </a:rPr>
              <a:t>MouseMotionListener</a:t>
            </a:r>
            <a:endParaRPr lang="da-DK" altLang="da-DK" sz="1800" kern="0" dirty="0">
              <a:ea typeface="ＭＳ Ｐゴシック" pitchFamily="34" charset="-128"/>
            </a:endParaRP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Håndtering af sådanne events sker typisk ved, at man for hvert event, der kan modtages, definerer en </a:t>
            </a: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ny</a:t>
            </a:r>
            <a:r>
              <a:rPr lang="da-DK" altLang="da-DK" sz="1800" kern="0" dirty="0">
                <a:ea typeface="ＭＳ Ｐゴシック" pitchFamily="34" charset="-128"/>
              </a:rPr>
              <a:t> </a:t>
            </a: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klasse</a:t>
            </a:r>
            <a:r>
              <a:rPr lang="da-DK" altLang="da-DK" sz="1800" kern="0" dirty="0">
                <a:ea typeface="ＭＳ Ｐゴシック" pitchFamily="34" charset="-128"/>
              </a:rPr>
              <a:t>, der implementerer det pågældende </a:t>
            </a:r>
            <a:r>
              <a:rPr lang="da-DK" altLang="da-DK" sz="1800" kern="0" dirty="0" err="1">
                <a:ea typeface="ＭＳ Ｐゴシック" pitchFamily="34" charset="-128"/>
              </a:rPr>
              <a:t>Listener</a:t>
            </a:r>
            <a:r>
              <a:rPr lang="da-DK" altLang="da-DK" sz="1800" kern="0" dirty="0">
                <a:ea typeface="ＭＳ Ｐゴシック" pitchFamily="34" charset="-128"/>
              </a:rPr>
              <a:t> interface (og udfører de operationer, der skal foretages)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Vi får derfor en masse små klasser, hvor vi kun har behov for at skabe</a:t>
            </a:r>
            <a:br>
              <a:rPr lang="da-DK" altLang="da-DK" sz="1800" kern="0" dirty="0">
                <a:ea typeface="ＭＳ Ｐゴシック" pitchFamily="34" charset="-128"/>
              </a:rPr>
            </a:b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ét enkelt objekt</a:t>
            </a:r>
            <a:r>
              <a:rPr lang="da-DK" altLang="da-DK" sz="1800" kern="0" dirty="0">
                <a:ea typeface="ＭＳ Ｐゴシック" pitchFamily="34" charset="-128"/>
              </a:rPr>
              <a:t> af hver klasse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Denne situation kan håndteres ved brug af </a:t>
            </a: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anonyme indre klasser</a:t>
            </a:r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1259632" y="1484784"/>
            <a:ext cx="6322987" cy="340735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largerButton.addActionListener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(e -&gt;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makeLarger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());</a:t>
            </a:r>
          </a:p>
        </p:txBody>
      </p:sp>
    </p:spTree>
    <p:extLst>
      <p:ext uri="{BB962C8B-B14F-4D97-AF65-F5344CB8AC3E}">
        <p14:creationId xmlns:p14="http://schemas.microsoft.com/office/powerpoint/2010/main" val="1696868806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4447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latin typeface="+mj-lt"/>
                <a:ea typeface="ＭＳ Ｐゴシック" pitchFamily="34" charset="-128"/>
              </a:rPr>
              <a:t>Erklæring af anonym indre klasse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1895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24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38525" y="1072248"/>
            <a:ext cx="8577791" cy="10013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lnSpc>
                <a:spcPct val="90000"/>
              </a:lnSpc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</a:rPr>
              <a:t>Vi vil se på, hvordan muse-events kan håndteres</a:t>
            </a:r>
          </a:p>
          <a:p>
            <a:pPr lvl="1">
              <a:lnSpc>
                <a:spcPct val="90000"/>
              </a:lnSpc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Sådanne events genereres, når brugeren trykker på en museknap (udenfor specifikke kontroller såsom knapper, menuindgange, scrollbarer, osv.) </a:t>
            </a:r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2483767" y="2013427"/>
            <a:ext cx="6228911" cy="1919629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imagePanel.</a:t>
            </a:r>
            <a:r>
              <a:rPr lang="en-US" altLang="da-DK" sz="1600" b="1" spc="-50" dirty="0" err="1">
                <a:solidFill>
                  <a:schemeClr val="tx1"/>
                </a:solidFill>
                <a:latin typeface="Courier New" pitchFamily="49" charset="0"/>
              </a:rPr>
              <a:t>addMouseListener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 </a:t>
            </a:r>
            <a:r>
              <a:rPr lang="en-US" altLang="da-DK" sz="1600" b="1" spc="-50" dirty="0" err="1">
                <a:solidFill>
                  <a:srgbClr val="008000"/>
                </a:solidFill>
                <a:latin typeface="Courier New" pitchFamily="49" charset="0"/>
              </a:rPr>
              <a:t>MouseAdapter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()</a:t>
            </a:r>
            <a:endParaRPr lang="en-US" altLang="da-DK" sz="800" b="1" dirty="0">
              <a:solidFill>
                <a:srgbClr val="008000"/>
              </a:solidFill>
              <a:latin typeface="Courier New" pitchFamily="49" charset="0"/>
            </a:endParaRPr>
          </a:p>
          <a:p>
            <a:pPr eaLnBrk="1" hangingPunct="1">
              <a:lnSpc>
                <a:spcPct val="50000"/>
              </a:lnSpc>
              <a:spcBef>
                <a:spcPts val="600"/>
              </a:spcBef>
            </a:pPr>
            <a:r>
              <a:rPr lang="en-US" altLang="da-DK" sz="800" b="1" dirty="0">
                <a:solidFill>
                  <a:srgbClr val="008000"/>
                </a:solidFill>
                <a:latin typeface="Courier New" pitchFamily="49" charset="0"/>
              </a:rPr>
              <a:t>       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{</a:t>
            </a:r>
          </a:p>
          <a:p>
            <a:pPr eaLnBrk="1" hangingPunct="1">
              <a:lnSpc>
                <a:spcPct val="5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     public void 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mousePressed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MouseEvent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e) {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       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handleMousePressed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(e);</a:t>
            </a:r>
          </a:p>
          <a:p>
            <a:pPr eaLnBrk="1" hangingPunct="1">
              <a:lnSpc>
                <a:spcPct val="6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     }</a:t>
            </a:r>
          </a:p>
          <a:p>
            <a:pPr eaLnBrk="1" hangingPunct="1">
              <a:lnSpc>
                <a:spcPct val="6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   }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; </a:t>
            </a:r>
            <a:endParaRPr lang="en-US" altLang="da-DK" sz="1600" b="1" spc="-100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lnSpc>
                <a:spcPct val="5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10" name="Rectangle 28"/>
          <p:cNvSpPr>
            <a:spLocks noChangeArrowheads="1"/>
          </p:cNvSpPr>
          <p:nvPr/>
        </p:nvSpPr>
        <p:spPr bwMode="auto">
          <a:xfrm>
            <a:off x="2782570" y="2478214"/>
            <a:ext cx="5679944" cy="1117671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2" name="Line 22"/>
          <p:cNvSpPr>
            <a:spLocks noChangeShapeType="1"/>
          </p:cNvSpPr>
          <p:nvPr/>
        </p:nvSpPr>
        <p:spPr bwMode="auto">
          <a:xfrm flipV="1">
            <a:off x="1798194" y="2819733"/>
            <a:ext cx="984376" cy="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13" name="Text Box 21"/>
          <p:cNvSpPr txBox="1">
            <a:spLocks noChangeArrowheads="1"/>
          </p:cNvSpPr>
          <p:nvPr/>
        </p:nvSpPr>
        <p:spPr bwMode="auto">
          <a:xfrm>
            <a:off x="383363" y="2285743"/>
            <a:ext cx="1742634" cy="12557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Tilknyt en </a:t>
            </a:r>
            <a:r>
              <a:rPr lang="da-DK" altLang="da-DK" sz="1400" b="1" dirty="0" err="1">
                <a:solidFill>
                  <a:srgbClr val="0000FF"/>
                </a:solidFill>
              </a:rPr>
              <a:t>MouseListener</a:t>
            </a:r>
            <a:br>
              <a:rPr lang="da-DK" altLang="da-DK" sz="1400" b="1" dirty="0">
                <a:solidFill>
                  <a:srgbClr val="0000FF"/>
                </a:solidFill>
              </a:rPr>
            </a:br>
            <a:r>
              <a:rPr lang="da-DK" altLang="da-DK" sz="1400" b="1" dirty="0">
                <a:solidFill>
                  <a:srgbClr val="0000FF"/>
                </a:solidFill>
              </a:rPr>
              <a:t>til </a:t>
            </a:r>
            <a:r>
              <a:rPr lang="da-DK" altLang="da-DK" sz="1400" b="1" dirty="0" err="1">
                <a:solidFill>
                  <a:srgbClr val="0000FF"/>
                </a:solidFill>
              </a:rPr>
              <a:t>imagePanel</a:t>
            </a:r>
            <a:r>
              <a:rPr lang="da-DK" altLang="da-DK" sz="1400" b="1" dirty="0">
                <a:solidFill>
                  <a:srgbClr val="0000FF"/>
                </a:solidFill>
              </a:rPr>
              <a:t> (det område af vores vindue, der ineholder billedet)</a:t>
            </a:r>
          </a:p>
        </p:txBody>
      </p:sp>
      <p:sp>
        <p:nvSpPr>
          <p:cNvPr id="20" name="Rectangle 3"/>
          <p:cNvSpPr txBox="1">
            <a:spLocks noChangeArrowheads="1"/>
          </p:cNvSpPr>
          <p:nvPr/>
        </p:nvSpPr>
        <p:spPr bwMode="auto">
          <a:xfrm>
            <a:off x="438525" y="4069244"/>
            <a:ext cx="8632378" cy="25281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lnSpc>
                <a:spcPct val="90000"/>
              </a:lnSpc>
              <a:buFontTx/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Parameteren til </a:t>
            </a:r>
            <a:r>
              <a:rPr lang="da-DK" altLang="da-DK" b="1" kern="0" dirty="0" err="1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addMouseListener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er af typen</a:t>
            </a:r>
            <a:r>
              <a:rPr lang="da-DK" altLang="da-DK" kern="0" spc="-30" dirty="0">
                <a:ea typeface="ＭＳ Ｐゴシック" pitchFamily="34" charset="-128"/>
              </a:rPr>
              <a:t> </a:t>
            </a:r>
            <a:r>
              <a:rPr lang="da-DK" altLang="da-DK" b="1" kern="0" spc="-30" dirty="0" err="1">
                <a:solidFill>
                  <a:srgbClr val="008000"/>
                </a:solidFill>
                <a:ea typeface="ＭＳ Ｐゴシック" pitchFamily="34" charset="-128"/>
              </a:rPr>
              <a:t>MouseListener</a:t>
            </a:r>
            <a:endParaRPr lang="da-DK" altLang="da-DK" kern="0" spc="-30" dirty="0">
              <a:ea typeface="ＭＳ Ｐゴシック" pitchFamily="34" charset="-128"/>
            </a:endParaRPr>
          </a:p>
          <a:p>
            <a:pPr lvl="1">
              <a:lnSpc>
                <a:spcPct val="90000"/>
              </a:lnSpc>
              <a:spcBef>
                <a:spcPts val="600"/>
              </a:spcBef>
            </a:pPr>
            <a:r>
              <a:rPr lang="da-DK" altLang="da-DK" sz="1800" kern="0" spc="-30" dirty="0">
                <a:ea typeface="ＭＳ Ｐゴシック" pitchFamily="34" charset="-128"/>
              </a:rPr>
              <a:t>Denne type er ikke et funktionelt interface (idet den har mere end en metode), og vi kan derfor ikke bruge en lambda som parameterværdi</a:t>
            </a:r>
          </a:p>
          <a:p>
            <a:pPr lvl="1">
              <a:lnSpc>
                <a:spcPct val="90000"/>
              </a:lnSpc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I stedet </a:t>
            </a: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erklærer vi en ny klasse</a:t>
            </a:r>
            <a:r>
              <a:rPr lang="da-DK" altLang="da-DK" sz="1800" kern="0" dirty="0">
                <a:ea typeface="ＭＳ Ｐゴシック" pitchFamily="34" charset="-128"/>
              </a:rPr>
              <a:t> (vist med grønt) og </a:t>
            </a: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skaber et objekt</a:t>
            </a:r>
            <a:r>
              <a:rPr lang="da-DK" altLang="da-DK" sz="1800" kern="0" dirty="0">
                <a:ea typeface="ＭＳ Ｐゴシック" pitchFamily="34" charset="-128"/>
              </a:rPr>
              <a:t> fra denne klasse (ved kald af new operatoren)</a:t>
            </a:r>
          </a:p>
          <a:p>
            <a:pPr lvl="1">
              <a:lnSpc>
                <a:spcPct val="90000"/>
              </a:lnSpc>
              <a:spcBef>
                <a:spcPts val="600"/>
              </a:spcBef>
            </a:pPr>
            <a:r>
              <a:rPr lang="da-DK" altLang="da-DK" sz="1800" kern="0" spc="-60" dirty="0">
                <a:ea typeface="ＭＳ Ｐゴシック" pitchFamily="34" charset="-128"/>
              </a:rPr>
              <a:t>Dette gøres på det sted, hvor objektet skal bruges (mellem de to røde parenteser)</a:t>
            </a:r>
          </a:p>
          <a:p>
            <a:pPr marL="342900" lvl="1" indent="-342900">
              <a:lnSpc>
                <a:spcPct val="90000"/>
              </a:lnSpc>
              <a:spcBef>
                <a:spcPts val="1800"/>
              </a:spcBef>
              <a:buFontTx/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Den nye klasse har intet navn og er erklæret inde i </a:t>
            </a:r>
            <a:r>
              <a:rPr lang="da-DK" altLang="da-DK" b="1" kern="0" dirty="0" err="1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ImageViewer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klassen, hvorfor den siges at være en </a:t>
            </a:r>
            <a:r>
              <a:rPr lang="da-DK" altLang="da-DK" b="1" kern="0" dirty="0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anonym indre klasse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 flipH="1">
            <a:off x="6084168" y="2271920"/>
            <a:ext cx="216024" cy="206294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14" name="Line 22"/>
          <p:cNvSpPr>
            <a:spLocks noChangeShapeType="1"/>
          </p:cNvSpPr>
          <p:nvPr/>
        </p:nvSpPr>
        <p:spPr bwMode="auto">
          <a:xfrm flipH="1" flipV="1">
            <a:off x="3203848" y="3595884"/>
            <a:ext cx="288032" cy="19315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15" name="Text Box 21"/>
          <p:cNvSpPr txBox="1">
            <a:spLocks noChangeArrowheads="1"/>
          </p:cNvSpPr>
          <p:nvPr/>
        </p:nvSpPr>
        <p:spPr bwMode="auto">
          <a:xfrm>
            <a:off x="6253600" y="2113412"/>
            <a:ext cx="2505670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Start på klasseerklæring</a:t>
            </a:r>
          </a:p>
        </p:txBody>
      </p:sp>
      <p:sp>
        <p:nvSpPr>
          <p:cNvPr id="16" name="Text Box 21"/>
          <p:cNvSpPr txBox="1">
            <a:spLocks noChangeArrowheads="1"/>
          </p:cNvSpPr>
          <p:nvPr/>
        </p:nvSpPr>
        <p:spPr bwMode="auto">
          <a:xfrm>
            <a:off x="3479840" y="3646824"/>
            <a:ext cx="2505670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Slut på klasseerklæring</a:t>
            </a:r>
          </a:p>
        </p:txBody>
      </p:sp>
    </p:spTree>
    <p:extLst>
      <p:ext uri="{BB962C8B-B14F-4D97-AF65-F5344CB8AC3E}">
        <p14:creationId xmlns:p14="http://schemas.microsoft.com/office/powerpoint/2010/main" val="1688236861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4447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 err="1">
                <a:latin typeface="+mj-lt"/>
                <a:ea typeface="ＭＳ Ｐゴシック" pitchFamily="34" charset="-128"/>
              </a:rPr>
              <a:t>MouseAdapter</a:t>
            </a:r>
            <a:r>
              <a:rPr lang="da-DK" altLang="da-DK" sz="3200" dirty="0">
                <a:latin typeface="+mj-lt"/>
                <a:ea typeface="ＭＳ Ｐゴシック" pitchFamily="34" charset="-128"/>
              </a:rPr>
              <a:t> klassen</a:t>
            </a:r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403648" y="3811769"/>
            <a:ext cx="6208704" cy="1993495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imagePanel.</a:t>
            </a:r>
            <a:r>
              <a:rPr lang="en-US" altLang="da-DK" sz="1600" b="1" spc="-50" dirty="0" err="1">
                <a:solidFill>
                  <a:schemeClr val="tx1"/>
                </a:solidFill>
                <a:latin typeface="Courier New" pitchFamily="49" charset="0"/>
              </a:rPr>
              <a:t>addMouseListener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 </a:t>
            </a:r>
            <a:r>
              <a:rPr lang="en-US" altLang="da-DK" sz="1600" b="1" spc="-50" dirty="0" err="1">
                <a:solidFill>
                  <a:srgbClr val="008000"/>
                </a:solidFill>
                <a:latin typeface="Courier New" pitchFamily="49" charset="0"/>
              </a:rPr>
              <a:t>MouseAdapter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</a:t>
            </a:r>
            <a:endParaRPr lang="en-US" altLang="da-DK" sz="8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>
              <a:lnSpc>
                <a:spcPct val="50000"/>
              </a:lnSpc>
              <a:spcBef>
                <a:spcPts val="600"/>
              </a:spcBef>
            </a:pP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      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{</a:t>
            </a:r>
          </a:p>
          <a:p>
            <a:pPr eaLnBrk="1" hangingPunct="1">
              <a:lnSpc>
                <a:spcPct val="5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    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mousePressed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MouseEvent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e) {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handleMousePressed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(e);</a:t>
            </a:r>
          </a:p>
          <a:p>
            <a:pPr eaLnBrk="1" hangingPunct="1">
              <a:lnSpc>
                <a:spcPct val="5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    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   }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; </a:t>
            </a:r>
            <a:endParaRPr lang="en-US" altLang="da-DK" sz="1600" b="1" spc="-100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lnSpc>
                <a:spcPct val="5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9" name="Rectangle 28"/>
          <p:cNvSpPr>
            <a:spLocks noChangeArrowheads="1"/>
          </p:cNvSpPr>
          <p:nvPr/>
        </p:nvSpPr>
        <p:spPr bwMode="auto">
          <a:xfrm>
            <a:off x="2169777" y="4595571"/>
            <a:ext cx="5041906" cy="629729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0" name="Rectangle 3"/>
          <p:cNvSpPr txBox="1">
            <a:spLocks noChangeArrowheads="1"/>
          </p:cNvSpPr>
          <p:nvPr/>
        </p:nvSpPr>
        <p:spPr bwMode="auto">
          <a:xfrm>
            <a:off x="573958" y="1021013"/>
            <a:ext cx="8318521" cy="26960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r>
              <a:rPr lang="da-DK" altLang="da-DK" sz="2000" kern="0" dirty="0">
                <a:ea typeface="ＭＳ Ｐゴシック" pitchFamily="34" charset="-128"/>
              </a:rPr>
              <a:t>Vores nye klasse er en subklasse af </a:t>
            </a:r>
            <a:r>
              <a:rPr lang="da-DK" altLang="da-DK" sz="2000" kern="0" dirty="0" err="1">
                <a:solidFill>
                  <a:srgbClr val="008000"/>
                </a:solidFill>
                <a:ea typeface="ＭＳ Ｐゴシック" pitchFamily="34" charset="-128"/>
              </a:rPr>
              <a:t>MouseAdapter</a:t>
            </a:r>
            <a:r>
              <a:rPr lang="da-DK" altLang="da-DK" sz="2000" kern="0" dirty="0">
                <a:solidFill>
                  <a:srgbClr val="008000"/>
                </a:solidFill>
                <a:ea typeface="ＭＳ Ｐゴシック" pitchFamily="34" charset="-128"/>
              </a:rPr>
              <a:t> </a:t>
            </a:r>
            <a:r>
              <a:rPr lang="da-DK" altLang="da-DK" sz="2000" kern="0" dirty="0">
                <a:ea typeface="ＭＳ Ｐゴシック" pitchFamily="34" charset="-128"/>
              </a:rPr>
              <a:t>klassen</a:t>
            </a:r>
          </a:p>
          <a:p>
            <a:pPr lvl="1">
              <a:lnSpc>
                <a:spcPct val="95000"/>
              </a:lnSpc>
              <a:spcBef>
                <a:spcPts val="400"/>
              </a:spcBef>
            </a:pPr>
            <a:r>
              <a:rPr lang="da-DK" altLang="da-DK" sz="1800" kern="0" dirty="0" err="1">
                <a:ea typeface="ＭＳ Ｐゴシック" pitchFamily="34" charset="-128"/>
              </a:rPr>
              <a:t>MouseAdapter</a:t>
            </a:r>
            <a:r>
              <a:rPr lang="da-DK" altLang="da-DK" sz="1800" kern="0" dirty="0">
                <a:ea typeface="ＭＳ Ｐゴシック" pitchFamily="34" charset="-128"/>
              </a:rPr>
              <a:t> klassen implementerer </a:t>
            </a:r>
            <a:r>
              <a:rPr lang="da-DK" altLang="da-DK" sz="1800" kern="0" dirty="0" err="1">
                <a:ea typeface="ＭＳ Ｐゴシック" pitchFamily="34" charset="-128"/>
              </a:rPr>
              <a:t>MouseListener</a:t>
            </a:r>
            <a:r>
              <a:rPr lang="da-DK" altLang="da-DK" sz="1800" kern="0" dirty="0">
                <a:ea typeface="ＭＳ Ｐゴシック" pitchFamily="34" charset="-128"/>
              </a:rPr>
              <a:t> interfacet, men implementationen er helt triviel, idet alle otte metoder i interfacet har tomme kroppe i </a:t>
            </a:r>
            <a:r>
              <a:rPr lang="da-DK" altLang="da-DK" sz="1800" kern="0" dirty="0" err="1">
                <a:ea typeface="ＭＳ Ｐゴシック" pitchFamily="34" charset="-128"/>
              </a:rPr>
              <a:t>MouseAdaptor</a:t>
            </a:r>
            <a:r>
              <a:rPr lang="da-DK" altLang="da-DK" sz="1800" kern="0" dirty="0">
                <a:ea typeface="ＭＳ Ｐゴシック" pitchFamily="34" charset="-128"/>
              </a:rPr>
              <a:t> implementationen</a:t>
            </a:r>
          </a:p>
          <a:p>
            <a:pPr marL="342900" lvl="1" indent="-342900">
              <a:lnSpc>
                <a:spcPct val="90000"/>
              </a:lnSpc>
              <a:spcBef>
                <a:spcPts val="1200"/>
              </a:spcBef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Vi skal kun bruge </a:t>
            </a:r>
            <a:r>
              <a:rPr lang="da-DK" altLang="da-DK" b="1" dirty="0">
                <a:solidFill>
                  <a:srgbClr val="008000"/>
                </a:solidFill>
                <a:ea typeface="ＭＳ Ｐゴシック" pitchFamily="-106" charset="-128"/>
                <a:cs typeface="ＭＳ Ｐゴシック" pitchFamily="-106" charset="-128"/>
              </a:rPr>
              <a:t>én</a:t>
            </a:r>
            <a:r>
              <a:rPr lang="da-DK" alt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 af metoderne i </a:t>
            </a:r>
            <a:r>
              <a:rPr lang="da-DK" altLang="da-DK" b="1" dirty="0" err="1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MouseListener</a:t>
            </a:r>
            <a:r>
              <a:rPr lang="da-DK" alt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 interfacet</a:t>
            </a:r>
          </a:p>
          <a:p>
            <a:pPr lvl="1">
              <a:lnSpc>
                <a:spcPct val="90000"/>
              </a:lnSpc>
              <a:spcBef>
                <a:spcPts val="2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Den overskriver vi i den anonyme indre klasse</a:t>
            </a:r>
          </a:p>
          <a:p>
            <a:pPr lvl="1">
              <a:lnSpc>
                <a:spcPct val="90000"/>
              </a:lnSpc>
              <a:spcBef>
                <a:spcPts val="2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 øvrige syv metoder nedarver vi fra </a:t>
            </a:r>
            <a:r>
              <a:rPr lang="da-DK" altLang="da-DK" sz="1800" kern="0" dirty="0" err="1">
                <a:ea typeface="ＭＳ Ｐゴシック" pitchFamily="34" charset="-128"/>
              </a:rPr>
              <a:t>MouseAdapter</a:t>
            </a:r>
            <a:r>
              <a:rPr lang="da-DK" altLang="da-DK" sz="1800" kern="0" dirty="0">
                <a:ea typeface="ＭＳ Ｐゴシック" pitchFamily="34" charset="-128"/>
              </a:rPr>
              <a:t> klassen</a:t>
            </a:r>
          </a:p>
          <a:p>
            <a:pPr lvl="1">
              <a:lnSpc>
                <a:spcPct val="90000"/>
              </a:lnSpc>
              <a:spcBef>
                <a:spcPts val="200"/>
              </a:spcBef>
            </a:pPr>
            <a:r>
              <a:rPr lang="da-DK" altLang="da-DK" sz="1800" kern="0" spc="-50" dirty="0">
                <a:ea typeface="ＭＳ Ｐゴシック" pitchFamily="34" charset="-128"/>
              </a:rPr>
              <a:t>De har tomme kroppe, men det betyder ikke noget, da vi ikke skal bruge dem</a:t>
            </a:r>
          </a:p>
          <a:p>
            <a:pPr lvl="1">
              <a:lnSpc>
                <a:spcPct val="90000"/>
              </a:lnSpc>
              <a:spcBef>
                <a:spcPts val="2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På den måde slipper vi for at skulle lave de syv metoder vi ikke bruger</a:t>
            </a:r>
          </a:p>
        </p:txBody>
      </p:sp>
      <p:sp>
        <p:nvSpPr>
          <p:cNvPr id="10" name="Text Box 21"/>
          <p:cNvSpPr txBox="1">
            <a:spLocks noChangeArrowheads="1"/>
          </p:cNvSpPr>
          <p:nvPr/>
        </p:nvSpPr>
        <p:spPr bwMode="auto">
          <a:xfrm>
            <a:off x="4235750" y="5736826"/>
            <a:ext cx="4800746" cy="992579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marL="177800" indent="-177800">
              <a:spcBef>
                <a:spcPct val="500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Parameteren til </a:t>
            </a:r>
            <a:r>
              <a:rPr lang="da-DK" altLang="da-DK" sz="1400" b="1" dirty="0" err="1">
                <a:solidFill>
                  <a:srgbClr val="0000FF"/>
                </a:solidFill>
              </a:rPr>
              <a:t>addMouseListener</a:t>
            </a:r>
            <a:r>
              <a:rPr lang="da-DK" altLang="da-DK" sz="1400" b="1" dirty="0">
                <a:solidFill>
                  <a:srgbClr val="0000FF"/>
                </a:solidFill>
              </a:rPr>
              <a:t> skal være af typen </a:t>
            </a:r>
            <a:r>
              <a:rPr lang="da-DK" altLang="da-DK" sz="1400" b="1" dirty="0" err="1">
                <a:solidFill>
                  <a:srgbClr val="0000FF"/>
                </a:solidFill>
              </a:rPr>
              <a:t>MouseListener</a:t>
            </a:r>
            <a:endParaRPr lang="da-DK" altLang="da-DK" sz="1400" b="1" dirty="0">
              <a:solidFill>
                <a:srgbClr val="0000FF"/>
              </a:solidFill>
            </a:endParaRPr>
          </a:p>
          <a:p>
            <a:pPr marL="177800" indent="-17780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400" b="1" spc="-50" dirty="0">
                <a:solidFill>
                  <a:srgbClr val="0000FF"/>
                </a:solidFill>
              </a:rPr>
              <a:t>Det opnås ved at bruge en subklasse af </a:t>
            </a:r>
            <a:r>
              <a:rPr lang="da-DK" altLang="da-DK" sz="1400" b="1" spc="-50" dirty="0" err="1">
                <a:solidFill>
                  <a:srgbClr val="0000FF"/>
                </a:solidFill>
              </a:rPr>
              <a:t>MouseAdapter</a:t>
            </a:r>
            <a:r>
              <a:rPr lang="da-DK" altLang="da-DK" sz="1400" b="1" spc="-50" dirty="0">
                <a:solidFill>
                  <a:srgbClr val="0000FF"/>
                </a:solidFill>
              </a:rPr>
              <a:t> </a:t>
            </a:r>
            <a:r>
              <a:rPr lang="da-DK" altLang="da-DK" sz="1400" b="1" dirty="0">
                <a:solidFill>
                  <a:srgbClr val="0000FF"/>
                </a:solidFill>
              </a:rPr>
              <a:t>klassen, der implementerer </a:t>
            </a:r>
            <a:r>
              <a:rPr lang="da-DK" altLang="da-DK" sz="1400" b="1" dirty="0" err="1">
                <a:solidFill>
                  <a:srgbClr val="0000FF"/>
                </a:solidFill>
              </a:rPr>
              <a:t>MouseListener</a:t>
            </a:r>
            <a:endParaRPr lang="da-DK" altLang="da-DK" sz="1400" b="1" dirty="0">
              <a:solidFill>
                <a:srgbClr val="0000FF"/>
              </a:solidFill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1895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25</a:t>
            </a:fld>
            <a:endParaRPr lang="da-DK" altLang="da-DK" dirty="0"/>
          </a:p>
        </p:txBody>
      </p:sp>
      <p:sp>
        <p:nvSpPr>
          <p:cNvPr id="7" name="Text Box 21"/>
          <p:cNvSpPr txBox="1">
            <a:spLocks noChangeArrowheads="1"/>
          </p:cNvSpPr>
          <p:nvPr/>
        </p:nvSpPr>
        <p:spPr bwMode="auto">
          <a:xfrm>
            <a:off x="107504" y="5746063"/>
            <a:ext cx="4064130" cy="992579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marL="177800" indent="-177800">
              <a:spcBef>
                <a:spcPct val="50000"/>
              </a:spcBef>
              <a:buFont typeface="Arial" panose="020B0604020202020204" pitchFamily="34" charset="0"/>
              <a:buChar char="•"/>
              <a:defRPr sz="1400" b="1">
                <a:solidFill>
                  <a:srgbClr val="0000FF"/>
                </a:solidFill>
              </a:defRPr>
            </a:lvl1pPr>
          </a:lstStyle>
          <a:p>
            <a:r>
              <a:rPr lang="da-DK" altLang="da-DK" dirty="0"/>
              <a:t>Vi overskriver den "tomme" </a:t>
            </a:r>
            <a:r>
              <a:rPr lang="da-DK" altLang="da-DK" dirty="0" err="1"/>
              <a:t>mousePressed</a:t>
            </a:r>
            <a:r>
              <a:rPr lang="da-DK" altLang="da-DK" dirty="0"/>
              <a:t> metoden fra </a:t>
            </a:r>
            <a:r>
              <a:rPr lang="da-DK" altLang="da-DK" dirty="0" err="1"/>
              <a:t>MouseAdapter</a:t>
            </a:r>
            <a:r>
              <a:rPr lang="da-DK" altLang="da-DK" dirty="0"/>
              <a:t> klassen</a:t>
            </a:r>
          </a:p>
          <a:p>
            <a:pPr>
              <a:spcBef>
                <a:spcPts val="300"/>
              </a:spcBef>
            </a:pPr>
            <a:r>
              <a:rPr lang="da-DK" altLang="da-DK" dirty="0"/>
              <a:t>Den overskrivende metode kalder blot den private metode </a:t>
            </a:r>
            <a:r>
              <a:rPr lang="da-DK" altLang="da-DK" dirty="0" err="1"/>
              <a:t>handleMousePressed</a:t>
            </a:r>
            <a:endParaRPr lang="da-DK" altLang="da-DK" dirty="0"/>
          </a:p>
        </p:txBody>
      </p:sp>
      <p:sp>
        <p:nvSpPr>
          <p:cNvPr id="12" name="Line 22"/>
          <p:cNvSpPr>
            <a:spLocks noChangeShapeType="1"/>
          </p:cNvSpPr>
          <p:nvPr/>
        </p:nvSpPr>
        <p:spPr bwMode="auto">
          <a:xfrm flipH="1">
            <a:off x="5018693" y="4076759"/>
            <a:ext cx="216024" cy="206294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13" name="Line 22"/>
          <p:cNvSpPr>
            <a:spLocks noChangeShapeType="1"/>
          </p:cNvSpPr>
          <p:nvPr/>
        </p:nvSpPr>
        <p:spPr bwMode="auto">
          <a:xfrm flipH="1" flipV="1">
            <a:off x="2138373" y="5400722"/>
            <a:ext cx="247101" cy="13709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14" name="Text Box 21"/>
          <p:cNvSpPr txBox="1">
            <a:spLocks noChangeArrowheads="1"/>
          </p:cNvSpPr>
          <p:nvPr/>
        </p:nvSpPr>
        <p:spPr bwMode="auto">
          <a:xfrm>
            <a:off x="5188125" y="3918251"/>
            <a:ext cx="2505670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Start på klasseerklæring</a:t>
            </a:r>
          </a:p>
        </p:txBody>
      </p:sp>
      <p:sp>
        <p:nvSpPr>
          <p:cNvPr id="15" name="Text Box 21"/>
          <p:cNvSpPr txBox="1">
            <a:spLocks noChangeArrowheads="1"/>
          </p:cNvSpPr>
          <p:nvPr/>
        </p:nvSpPr>
        <p:spPr bwMode="auto">
          <a:xfrm>
            <a:off x="2385474" y="5401292"/>
            <a:ext cx="2505670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spc="-50" dirty="0">
                <a:solidFill>
                  <a:srgbClr val="FF0000"/>
                </a:solidFill>
              </a:rPr>
              <a:t>Slut på klasseerklæring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683546" y="4923710"/>
            <a:ext cx="478281" cy="832655"/>
            <a:chOff x="1659692" y="4971079"/>
            <a:chExt cx="478281" cy="832655"/>
          </a:xfrm>
        </p:grpSpPr>
        <p:sp>
          <p:nvSpPr>
            <p:cNvPr id="8" name="Line 22"/>
            <p:cNvSpPr>
              <a:spLocks noChangeShapeType="1"/>
            </p:cNvSpPr>
            <p:nvPr/>
          </p:nvSpPr>
          <p:spPr bwMode="auto">
            <a:xfrm flipV="1">
              <a:off x="1659692" y="4972973"/>
              <a:ext cx="47828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r>
                <a:rPr lang="da-DK" dirty="0"/>
                <a:t>     </a:t>
              </a:r>
            </a:p>
          </p:txBody>
        </p:sp>
        <p:sp>
          <p:nvSpPr>
            <p:cNvPr id="16" name="Line 22"/>
            <p:cNvSpPr>
              <a:spLocks noChangeShapeType="1"/>
            </p:cNvSpPr>
            <p:nvPr/>
          </p:nvSpPr>
          <p:spPr bwMode="auto">
            <a:xfrm flipV="1">
              <a:off x="1665609" y="4971079"/>
              <a:ext cx="4165" cy="83265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r>
                <a:rPr lang="da-DK" dirty="0"/>
                <a:t>    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7262623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95969" y="214063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latin typeface="+mj-lt"/>
                <a:ea typeface="ＭＳ Ｐゴシック" pitchFamily="34" charset="-128"/>
              </a:rPr>
              <a:t>Indre klasser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1895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26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521847" y="1023174"/>
            <a:ext cx="8383613" cy="53855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da-DK" b="1" kern="0" dirty="0">
                <a:solidFill>
                  <a:srgbClr val="A50021"/>
                </a:solidFill>
                <a:ea typeface="ＭＳ Ｐゴシック" pitchFamily="34" charset="-128"/>
              </a:rPr>
              <a:t>Indre klasser behøver </a:t>
            </a:r>
            <a:r>
              <a:rPr lang="da-DK" b="1" kern="0" dirty="0">
                <a:solidFill>
                  <a:srgbClr val="008000"/>
                </a:solidFill>
                <a:ea typeface="ＭＳ Ｐゴシック" pitchFamily="34" charset="-128"/>
              </a:rPr>
              <a:t>ikke</a:t>
            </a:r>
            <a:r>
              <a:rPr lang="da-DK" b="1" kern="0" dirty="0">
                <a:solidFill>
                  <a:srgbClr val="A50021"/>
                </a:solidFill>
                <a:ea typeface="ＭＳ Ｐゴシック" pitchFamily="34" charset="-128"/>
              </a:rPr>
              <a:t> være anonyme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–"/>
            </a:pPr>
            <a:r>
              <a:rPr lang="da-DK" sz="1800" kern="0" dirty="0">
                <a:ea typeface="ＭＳ Ｐゴシック" pitchFamily="34" charset="-128"/>
              </a:rPr>
              <a:t>Man kan have en helt almindelig (ikke-anonym) klasse inden i en anden klasse (den indre klasse placeres normalt sidst i den ydre klasse)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–"/>
            </a:pPr>
            <a:r>
              <a:rPr lang="da-DK" sz="1800" kern="0" dirty="0">
                <a:ea typeface="ＭＳ Ｐゴシック" pitchFamily="34" charset="-128"/>
              </a:rPr>
              <a:t>På den måde kan man opdele en stor og kompleks klasse i flere (nært forbundne) klasser og dermed forbedre læsbarheden (øget cohesion)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–"/>
            </a:pPr>
            <a:r>
              <a:rPr lang="da-DK" sz="1800" kern="0" dirty="0">
                <a:ea typeface="ＭＳ Ｐゴシック" pitchFamily="34" charset="-128"/>
              </a:rPr>
              <a:t>Ved at bruge indre klasser (i stedet for almindelige klasser) har man adgang til </a:t>
            </a:r>
            <a:r>
              <a:rPr lang="da-DK" altLang="da-DK" sz="1800" kern="0" dirty="0">
                <a:ea typeface="ＭＳ Ｐゴシック" pitchFamily="34" charset="-128"/>
              </a:rPr>
              <a:t>feltvariablerne og metoderne i den omgivende klasse</a:t>
            </a:r>
            <a:endParaRPr lang="da-DK" sz="1800" kern="0" dirty="0">
              <a:ea typeface="ＭＳ Ｐゴシック" pitchFamily="34" charset="-128"/>
            </a:endParaRPr>
          </a:p>
          <a:p>
            <a:pPr lvl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–"/>
            </a:pPr>
            <a:r>
              <a:rPr lang="da-DK" sz="1800" kern="0" dirty="0">
                <a:ea typeface="ＭＳ Ｐゴシック" pitchFamily="34" charset="-128"/>
              </a:rPr>
              <a:t>I computerspilsopgaven har GUI klasen en indre klasse, </a:t>
            </a:r>
            <a:r>
              <a:rPr lang="da-DK" sz="1800" kern="0" dirty="0" err="1">
                <a:ea typeface="ＭＳ Ｐゴシック" pitchFamily="34" charset="-128"/>
              </a:rPr>
              <a:t>WorldPanel</a:t>
            </a:r>
            <a:r>
              <a:rPr lang="da-DK" sz="1800" kern="0" dirty="0">
                <a:ea typeface="ＭＳ Ｐゴシック" pitchFamily="34" charset="-128"/>
              </a:rPr>
              <a:t>, som implementerer den del af vinduet, der indeholder landkortet </a:t>
            </a:r>
          </a:p>
          <a:p>
            <a:pPr marL="342900" lvl="1" indent="-342900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</a:rPr>
              <a:t>Objekter af en indre klasse kan kun eksistere "</a:t>
            </a:r>
            <a:r>
              <a:rPr lang="da-DK" altLang="da-DK" b="1" kern="0" dirty="0">
                <a:solidFill>
                  <a:srgbClr val="008000"/>
                </a:solidFill>
                <a:ea typeface="ＭＳ Ｐゴシック" pitchFamily="34" charset="-128"/>
              </a:rPr>
              <a:t>inde i"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</a:rPr>
              <a:t> objekter af den omgivende klasse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–"/>
            </a:pPr>
            <a:r>
              <a:rPr lang="da-DK" altLang="da-DK" sz="1800" kern="0" dirty="0">
                <a:ea typeface="ＭＳ Ｐゴシック" pitchFamily="34" charset="-128"/>
              </a:rPr>
              <a:t>Det indre objekt skabes sammen med det omgivende objekt og dør sammen med det</a:t>
            </a:r>
          </a:p>
          <a:p>
            <a:pPr marL="342900" lvl="1" indent="-342900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</a:rPr>
              <a:t>Før introduktionen af funktionelle interfaces i Java 8 skulle man også lave en anonym indre klasse for hvert ActionEvent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–"/>
            </a:pPr>
            <a:r>
              <a:rPr lang="da-DK" altLang="da-DK" sz="1800" kern="0" dirty="0">
                <a:ea typeface="ＭＳ Ｐゴシック" pitchFamily="34" charset="-128"/>
              </a:rPr>
              <a:t>Nu kan man (som vi har set) i stedet bruge en lambda som parameter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–"/>
            </a:pPr>
            <a:r>
              <a:rPr lang="da-DK" altLang="da-DK" sz="1800" kern="0" dirty="0">
                <a:ea typeface="ＭＳ Ｐゴシック" pitchFamily="34" charset="-128"/>
              </a:rPr>
              <a:t>Det er meget lettere – både at skrive og forstå </a:t>
            </a:r>
          </a:p>
        </p:txBody>
      </p:sp>
    </p:spTree>
    <p:extLst>
      <p:ext uri="{BB962C8B-B14F-4D97-AF65-F5344CB8AC3E}">
        <p14:creationId xmlns:p14="http://schemas.microsoft.com/office/powerpoint/2010/main" val="18748660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</a:t>
            </a:r>
            <a:r>
              <a:rPr lang="da-DK" altLang="da-DK" sz="3200">
                <a:ea typeface="ＭＳ Ｐゴシック" pitchFamily="34" charset="-128"/>
              </a:rPr>
              <a:t>Computerspil 3</a:t>
            </a:r>
            <a:endParaRPr lang="da-DK" altLang="da-DK" sz="3200" dirty="0"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27</a:t>
            </a:fld>
            <a:endParaRPr lang="da-DK" altLang="da-DK" dirty="0"/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575357" y="1011239"/>
            <a:ext cx="8496944" cy="2952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r>
              <a:rPr lang="da-DK" sz="2000" spc="-70" dirty="0"/>
              <a:t>I den tredje delaflevering skal I bruge nogle af de ting, som I har lært om nedarvning og </a:t>
            </a:r>
            <a:r>
              <a:rPr lang="da-DK" sz="2000" spc="-70" dirty="0" err="1"/>
              <a:t>dynamic</a:t>
            </a:r>
            <a:r>
              <a:rPr lang="da-DK" sz="2000" spc="-70" dirty="0"/>
              <a:t> </a:t>
            </a:r>
            <a:r>
              <a:rPr lang="da-DK" sz="2000" spc="-70" dirty="0" err="1"/>
              <a:t>method</a:t>
            </a:r>
            <a:r>
              <a:rPr lang="da-DK" sz="2000" spc="-70" dirty="0"/>
              <a:t> </a:t>
            </a:r>
            <a:r>
              <a:rPr lang="da-DK" sz="2000" spc="-70" dirty="0" err="1"/>
              <a:t>lookup</a:t>
            </a:r>
            <a:r>
              <a:rPr lang="da-DK" sz="2000" spc="-70" dirty="0"/>
              <a:t> til at strukturere jeres kode</a:t>
            </a:r>
          </a:p>
          <a:p>
            <a:pPr lvl="1">
              <a:spcBef>
                <a:spcPts val="600"/>
              </a:spcBef>
            </a:pPr>
            <a:r>
              <a:rPr lang="da-DK" sz="1800" kern="0" dirty="0">
                <a:ea typeface="ＭＳ Ｐゴシック" pitchFamily="34" charset="-128"/>
              </a:rPr>
              <a:t>I skal indføre flere forskellige slags byer/lande:</a:t>
            </a:r>
          </a:p>
          <a:p>
            <a:pPr lvl="2">
              <a:spcBef>
                <a:spcPts val="600"/>
              </a:spcBef>
            </a:pPr>
            <a:r>
              <a:rPr 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BorderCity </a:t>
            </a:r>
            <a:r>
              <a:rPr lang="da-DK" sz="1800" kern="0" dirty="0">
                <a:solidFill>
                  <a:srgbClr val="002060"/>
                </a:solidFill>
                <a:ea typeface="ＭＳ Ｐゴシック" pitchFamily="34" charset="-128"/>
              </a:rPr>
              <a:t>repræsenterer en grænseby, hvor man skal betale told, når man ankommer fra udlandet</a:t>
            </a:r>
          </a:p>
          <a:p>
            <a:pPr lvl="2">
              <a:spcBef>
                <a:spcPts val="600"/>
              </a:spcBef>
            </a:pPr>
            <a:r>
              <a:rPr 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CapitalCity</a:t>
            </a:r>
            <a:r>
              <a:rPr lang="da-DK" sz="1800" kern="0" dirty="0">
                <a:solidFill>
                  <a:srgbClr val="002060"/>
                </a:solidFill>
                <a:ea typeface="ＭＳ Ｐゴシック" pitchFamily="34" charset="-128"/>
              </a:rPr>
              <a:t> repræsenterer en hovedstad, hvor der er mange fristelser, så man (udover at modtage bonus) bruger af sin formue</a:t>
            </a:r>
            <a:endParaRPr lang="da-DK" sz="1800" kern="0" dirty="0">
              <a:ea typeface="ＭＳ Ｐゴシック" pitchFamily="34" charset="-128"/>
            </a:endParaRPr>
          </a:p>
          <a:p>
            <a:pPr lvl="2">
              <a:spcBef>
                <a:spcPts val="600"/>
              </a:spcBef>
            </a:pPr>
            <a:r>
              <a:rPr lang="da-DK" sz="1800" b="1" kern="0" dirty="0" err="1">
                <a:solidFill>
                  <a:srgbClr val="008000"/>
                </a:solidFill>
                <a:ea typeface="ＭＳ Ｐゴシック" pitchFamily="34" charset="-128"/>
              </a:rPr>
              <a:t>MafiaCountry</a:t>
            </a:r>
            <a:r>
              <a:rPr lang="da-DK" sz="1800" kern="0" dirty="0">
                <a:solidFill>
                  <a:srgbClr val="002060"/>
                </a:solidFill>
                <a:ea typeface="ＭＳ Ｐゴシック" pitchFamily="34" charset="-128"/>
              </a:rPr>
              <a:t> repræsenterer et land (Sverige!), hvor man risikerer at blive overfaldet og frarøvet dele af sin formue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509693" y="4035864"/>
            <a:ext cx="2199966" cy="847873"/>
            <a:chOff x="5145718" y="4077072"/>
            <a:chExt cx="2605531" cy="1090008"/>
          </a:xfrm>
        </p:grpSpPr>
        <p:sp>
          <p:nvSpPr>
            <p:cNvPr id="6" name="Line 22"/>
            <p:cNvSpPr>
              <a:spLocks noChangeShapeType="1"/>
            </p:cNvSpPr>
            <p:nvPr/>
          </p:nvSpPr>
          <p:spPr bwMode="auto">
            <a:xfrm flipV="1">
              <a:off x="5868145" y="4448311"/>
              <a:ext cx="360981" cy="386404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r>
                <a:rPr lang="da-DK" sz="1800" dirty="0"/>
                <a:t>     </a:t>
              </a:r>
            </a:p>
          </p:txBody>
        </p:sp>
        <p:sp>
          <p:nvSpPr>
            <p:cNvPr id="8" name="Text Box 21"/>
            <p:cNvSpPr txBox="1">
              <a:spLocks noChangeArrowheads="1"/>
            </p:cNvSpPr>
            <p:nvPr/>
          </p:nvSpPr>
          <p:spPr bwMode="auto">
            <a:xfrm>
              <a:off x="6084168" y="4077072"/>
              <a:ext cx="856443" cy="332363"/>
            </a:xfrm>
            <a:prstGeom prst="rect">
              <a:avLst/>
            </a:prstGeom>
            <a:noFill/>
            <a:ln w="19050" algn="ctr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algn="ctr"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1200" b="1" dirty="0">
                  <a:solidFill>
                    <a:srgbClr val="0000FF"/>
                  </a:solidFill>
                </a:rPr>
                <a:t>City</a:t>
              </a:r>
            </a:p>
          </p:txBody>
        </p:sp>
        <p:sp>
          <p:nvSpPr>
            <p:cNvPr id="9" name="Text Box 21"/>
            <p:cNvSpPr txBox="1">
              <a:spLocks noChangeArrowheads="1"/>
            </p:cNvSpPr>
            <p:nvPr/>
          </p:nvSpPr>
          <p:spPr bwMode="auto">
            <a:xfrm>
              <a:off x="6534766" y="4834717"/>
              <a:ext cx="1216483" cy="332363"/>
            </a:xfrm>
            <a:prstGeom prst="rect">
              <a:avLst/>
            </a:prstGeom>
            <a:noFill/>
            <a:ln w="19050" algn="ctr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algn="ctr"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1200" b="1" dirty="0">
                  <a:solidFill>
                    <a:srgbClr val="0000FF"/>
                  </a:solidFill>
                </a:rPr>
                <a:t>CapitalCity</a:t>
              </a:r>
            </a:p>
          </p:txBody>
        </p:sp>
        <p:sp>
          <p:nvSpPr>
            <p:cNvPr id="10" name="Text Box 21"/>
            <p:cNvSpPr txBox="1">
              <a:spLocks noChangeArrowheads="1"/>
            </p:cNvSpPr>
            <p:nvPr/>
          </p:nvSpPr>
          <p:spPr bwMode="auto">
            <a:xfrm>
              <a:off x="5145718" y="4834717"/>
              <a:ext cx="1198834" cy="332363"/>
            </a:xfrm>
            <a:prstGeom prst="rect">
              <a:avLst/>
            </a:prstGeom>
            <a:noFill/>
            <a:ln w="19050" algn="ctr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algn="ctr"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1200" b="1" dirty="0">
                  <a:solidFill>
                    <a:srgbClr val="0000FF"/>
                  </a:solidFill>
                </a:rPr>
                <a:t>BorderCity</a:t>
              </a:r>
            </a:p>
          </p:txBody>
        </p:sp>
        <p:sp>
          <p:nvSpPr>
            <p:cNvPr id="11" name="Line 22"/>
            <p:cNvSpPr>
              <a:spLocks noChangeShapeType="1"/>
            </p:cNvSpPr>
            <p:nvPr/>
          </p:nvSpPr>
          <p:spPr bwMode="auto">
            <a:xfrm flipH="1" flipV="1">
              <a:off x="6752547" y="4409434"/>
              <a:ext cx="332079" cy="42528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r>
                <a:rPr lang="da-DK" sz="1800" dirty="0"/>
                <a:t>     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6444208" y="4068579"/>
            <a:ext cx="1130630" cy="1289909"/>
            <a:chOff x="5904147" y="4077072"/>
            <a:chExt cx="1216483" cy="1509178"/>
          </a:xfrm>
        </p:grpSpPr>
        <p:sp>
          <p:nvSpPr>
            <p:cNvPr id="13" name="Line 22"/>
            <p:cNvSpPr>
              <a:spLocks noChangeShapeType="1"/>
            </p:cNvSpPr>
            <p:nvPr/>
          </p:nvSpPr>
          <p:spPr bwMode="auto">
            <a:xfrm flipV="1">
              <a:off x="6498661" y="4363302"/>
              <a:ext cx="1" cy="314277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r>
                <a:rPr lang="da-DK" dirty="0"/>
                <a:t>     </a:t>
              </a:r>
            </a:p>
          </p:txBody>
        </p:sp>
        <p:sp>
          <p:nvSpPr>
            <p:cNvPr id="14" name="Text Box 21"/>
            <p:cNvSpPr txBox="1">
              <a:spLocks noChangeArrowheads="1"/>
            </p:cNvSpPr>
            <p:nvPr/>
          </p:nvSpPr>
          <p:spPr bwMode="auto">
            <a:xfrm>
              <a:off x="6084168" y="4077072"/>
              <a:ext cx="856443" cy="302479"/>
            </a:xfrm>
            <a:prstGeom prst="rect">
              <a:avLst/>
            </a:prstGeom>
            <a:noFill/>
            <a:ln w="19050" algn="ctr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algn="ctr"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1200" b="1" dirty="0">
                  <a:solidFill>
                    <a:srgbClr val="0000FF"/>
                  </a:solidFill>
                </a:rPr>
                <a:t>City</a:t>
              </a:r>
            </a:p>
          </p:txBody>
        </p:sp>
        <p:sp>
          <p:nvSpPr>
            <p:cNvPr id="15" name="Text Box 21"/>
            <p:cNvSpPr txBox="1">
              <a:spLocks noChangeArrowheads="1"/>
            </p:cNvSpPr>
            <p:nvPr/>
          </p:nvSpPr>
          <p:spPr bwMode="auto">
            <a:xfrm>
              <a:off x="5904147" y="5283771"/>
              <a:ext cx="1216483" cy="302479"/>
            </a:xfrm>
            <a:prstGeom prst="rect">
              <a:avLst/>
            </a:prstGeom>
            <a:noFill/>
            <a:ln w="19050" algn="ctr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algn="ctr"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1200" b="1" dirty="0">
                  <a:solidFill>
                    <a:srgbClr val="0000FF"/>
                  </a:solidFill>
                </a:rPr>
                <a:t>CapitalCity</a:t>
              </a:r>
            </a:p>
          </p:txBody>
        </p:sp>
        <p:sp>
          <p:nvSpPr>
            <p:cNvPr id="16" name="Text Box 21"/>
            <p:cNvSpPr txBox="1">
              <a:spLocks noChangeArrowheads="1"/>
            </p:cNvSpPr>
            <p:nvPr/>
          </p:nvSpPr>
          <p:spPr bwMode="auto">
            <a:xfrm>
              <a:off x="5912971" y="4680421"/>
              <a:ext cx="1198834" cy="302479"/>
            </a:xfrm>
            <a:prstGeom prst="rect">
              <a:avLst/>
            </a:prstGeom>
            <a:noFill/>
            <a:ln w="19050" algn="ctr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algn="ctr"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1200" b="1" dirty="0">
                  <a:solidFill>
                    <a:srgbClr val="0000FF"/>
                  </a:solidFill>
                </a:rPr>
                <a:t>BorderCity</a:t>
              </a:r>
            </a:p>
          </p:txBody>
        </p:sp>
        <p:sp>
          <p:nvSpPr>
            <p:cNvPr id="17" name="Line 22"/>
            <p:cNvSpPr>
              <a:spLocks noChangeShapeType="1"/>
            </p:cNvSpPr>
            <p:nvPr/>
          </p:nvSpPr>
          <p:spPr bwMode="auto">
            <a:xfrm flipH="1" flipV="1">
              <a:off x="6498661" y="4963809"/>
              <a:ext cx="0" cy="314276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r>
                <a:rPr lang="da-DK" dirty="0"/>
                <a:t>     </a:t>
              </a:r>
            </a:p>
          </p:txBody>
        </p:sp>
      </p:grpSp>
      <p:sp>
        <p:nvSpPr>
          <p:cNvPr id="18" name="Rectangle 3"/>
          <p:cNvSpPr txBox="1">
            <a:spLocks noChangeArrowheads="1"/>
          </p:cNvSpPr>
          <p:nvPr/>
        </p:nvSpPr>
        <p:spPr bwMode="auto">
          <a:xfrm>
            <a:off x="663239" y="5095097"/>
            <a:ext cx="8373257" cy="13582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Herudover skal I</a:t>
            </a:r>
          </a:p>
          <a:p>
            <a:pPr lvl="1">
              <a:spcBef>
                <a:spcPts val="300"/>
              </a:spcBef>
            </a:pPr>
            <a:r>
              <a:rPr lang="da-DK" sz="1800" dirty="0">
                <a:ea typeface="ＭＳ Ｐゴシック" pitchFamily="34" charset="-128"/>
              </a:rPr>
              <a:t>rette gamle fejl og mangler </a:t>
            </a:r>
          </a:p>
          <a:p>
            <a:pPr lvl="1">
              <a:spcBef>
                <a:spcPts val="300"/>
              </a:spcBef>
            </a:pPr>
            <a:r>
              <a:rPr lang="da-DK" sz="1800" dirty="0">
                <a:ea typeface="ＭＳ Ｐゴシック" pitchFamily="34" charset="-128"/>
              </a:rPr>
              <a:t>holde jeres dokumentation og regression tests opdaterede</a:t>
            </a:r>
          </a:p>
          <a:p>
            <a:pPr lvl="1">
              <a:spcBef>
                <a:spcPts val="300"/>
              </a:spcBef>
            </a:pPr>
            <a:r>
              <a:rPr lang="da-DK" sz="1800" dirty="0">
                <a:ea typeface="ＭＳ Ｐゴシック" pitchFamily="34" charset="-128"/>
              </a:rPr>
              <a:t>herunder tilføje dokumentation og regression tests for nye programdele</a:t>
            </a:r>
            <a:endParaRPr lang="da-DK" altLang="da-DK" sz="1800" dirty="0">
              <a:ea typeface="ＭＳ Ｐゴシック" pitchFamily="34" charset="-128"/>
            </a:endParaRPr>
          </a:p>
        </p:txBody>
      </p:sp>
      <p:sp>
        <p:nvSpPr>
          <p:cNvPr id="19" name="Text Box 21"/>
          <p:cNvSpPr txBox="1">
            <a:spLocks noChangeArrowheads="1"/>
          </p:cNvSpPr>
          <p:nvPr/>
        </p:nvSpPr>
        <p:spPr bwMode="auto">
          <a:xfrm>
            <a:off x="897674" y="4035038"/>
            <a:ext cx="1433273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Naturlige valg:</a:t>
            </a:r>
          </a:p>
        </p:txBody>
      </p:sp>
      <p:sp>
        <p:nvSpPr>
          <p:cNvPr id="20" name="Text Box 21"/>
          <p:cNvSpPr txBox="1">
            <a:spLocks noChangeArrowheads="1"/>
          </p:cNvSpPr>
          <p:nvPr/>
        </p:nvSpPr>
        <p:spPr bwMode="auto">
          <a:xfrm>
            <a:off x="4295349" y="4036037"/>
            <a:ext cx="2367188" cy="5878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Men vi har i stedet valgt:</a:t>
            </a:r>
          </a:p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Hvorfor mon det?</a:t>
            </a:r>
          </a:p>
        </p:txBody>
      </p:sp>
    </p:spTree>
    <p:extLst>
      <p:ext uri="{BB962C8B-B14F-4D97-AF65-F5344CB8AC3E}">
        <p14:creationId xmlns:p14="http://schemas.microsoft.com/office/powerpoint/2010/main" val="2853289118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23528" y="260648"/>
            <a:ext cx="8820472" cy="682625"/>
          </a:xfrm>
        </p:spPr>
        <p:txBody>
          <a:bodyPr/>
          <a:lstStyle/>
          <a:p>
            <a:r>
              <a:rPr lang="da-DK" altLang="da-DK" sz="3200" dirty="0">
                <a:ea typeface="ＭＳ Ｐゴシック" pitchFamily="34" charset="-128"/>
              </a:rPr>
              <a:t>Regression tests for BorderCity / CapitalCity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28</a:t>
            </a:fld>
            <a:endParaRPr lang="da-DK" altLang="da-DK" dirty="0"/>
          </a:p>
        </p:txBody>
      </p:sp>
      <p:sp>
        <p:nvSpPr>
          <p:cNvPr id="5" name="Text Box 4"/>
          <p:cNvSpPr txBox="1">
            <a:spLocks noChangeArrowheads="1"/>
          </p:cNvSpPr>
          <p:nvPr/>
        </p:nvSpPr>
        <p:spPr bwMode="auto">
          <a:xfrm>
            <a:off x="2118070" y="2348880"/>
            <a:ext cx="6870182" cy="2722926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18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@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Test</a:t>
            </a:r>
          </a:p>
          <a:p>
            <a:pPr eaLnBrk="1" hangingPunct="1"/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arriveFromOtherCountry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for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seed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=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0; seed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&lt;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1000; seed++) {</a:t>
            </a:r>
            <a:endParaRPr lang="en-US" altLang="da-DK" sz="1400" b="1" dirty="0">
              <a:solidFill>
                <a:srgbClr val="0000FF"/>
              </a:solidFill>
              <a:latin typeface="Courier New" pitchFamily="49" charset="0"/>
            </a:endParaRPr>
          </a:p>
          <a:p>
            <a:pPr eaLnBrk="1" hangingPunct="1">
              <a:spcBef>
                <a:spcPts val="0"/>
              </a:spcBef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spc="-70" dirty="0">
                <a:solidFill>
                  <a:schemeClr val="tx1"/>
                </a:solidFill>
                <a:latin typeface="Courier New" pitchFamily="49" charset="0"/>
              </a:rPr>
              <a:t>Player </a:t>
            </a:r>
            <a:r>
              <a:rPr lang="en-US" altLang="da-DK" sz="1400" b="1" spc="-70" dirty="0" err="1">
                <a:solidFill>
                  <a:schemeClr val="tx1"/>
                </a:solidFill>
                <a:latin typeface="Courier New" pitchFamily="49" charset="0"/>
              </a:rPr>
              <a:t>player</a:t>
            </a:r>
            <a:r>
              <a:rPr lang="en-US" altLang="da-DK" sz="1400" b="1" spc="-70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400" b="1" spc="-100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400" b="1" spc="-1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spc="-100" dirty="0" err="1">
                <a:solidFill>
                  <a:schemeClr val="tx1"/>
                </a:solidFill>
                <a:latin typeface="Courier New" pitchFamily="49" charset="0"/>
              </a:rPr>
              <a:t>GUIPlayer</a:t>
            </a:r>
            <a:r>
              <a:rPr lang="en-US" altLang="da-DK" sz="1400" b="1" spc="-100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400" b="1" spc="-100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400" b="1" spc="-100" dirty="0">
                <a:solidFill>
                  <a:schemeClr val="tx1"/>
                </a:solidFill>
                <a:latin typeface="Courier New" pitchFamily="49" charset="0"/>
              </a:rPr>
              <a:t> Position(</a:t>
            </a:r>
            <a:r>
              <a:rPr lang="en-US" altLang="da-DK" sz="1400" b="1" spc="-100" dirty="0" err="1">
                <a:solidFill>
                  <a:schemeClr val="tx1"/>
                </a:solidFill>
                <a:latin typeface="Courier New" pitchFamily="49" charset="0"/>
              </a:rPr>
              <a:t>cityE</a:t>
            </a:r>
            <a:r>
              <a:rPr lang="en-US" altLang="da-DK" sz="1400" b="1" spc="-100" dirty="0">
                <a:solidFill>
                  <a:schemeClr val="tx1"/>
                </a:solidFill>
                <a:latin typeface="Courier New" pitchFamily="49" charset="0"/>
              </a:rPr>
              <a:t>,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spc="-100" dirty="0" err="1">
                <a:solidFill>
                  <a:schemeClr val="tx1"/>
                </a:solidFill>
                <a:latin typeface="Courier New" pitchFamily="49" charset="0"/>
              </a:rPr>
              <a:t>cityC</a:t>
            </a:r>
            <a:r>
              <a:rPr lang="en-US" altLang="da-DK" sz="1400" b="1" spc="-100" dirty="0">
                <a:solidFill>
                  <a:schemeClr val="tx1"/>
                </a:solidFill>
                <a:latin typeface="Courier New" pitchFamily="49" charset="0"/>
              </a:rPr>
              <a:t>,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spc="-100" dirty="0">
                <a:solidFill>
                  <a:schemeClr val="tx1"/>
                </a:solidFill>
                <a:latin typeface="Courier New" pitchFamily="49" charset="0"/>
              </a:rPr>
              <a:t>0),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spc="-100" dirty="0">
                <a:solidFill>
                  <a:schemeClr val="tx1"/>
                </a:solidFill>
                <a:latin typeface="Courier New" pitchFamily="49" charset="0"/>
              </a:rPr>
              <a:t>250);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game.getRandom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().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setSeed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(seed);        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Set seed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bonus = country1.bonus(40);        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Remember bonus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toll = 250 / 5;                    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20% of 250</a:t>
            </a:r>
            <a:endParaRPr lang="en-US" altLang="da-DK" sz="14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game.getRandom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().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setSeed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(seed);        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Reset seed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        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assertEquals(...,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cityC.arrive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(player));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Same bonus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assertEquals(...,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cityC.getValue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());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cityC.reset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}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</p:txBody>
      </p:sp>
      <p:sp>
        <p:nvSpPr>
          <p:cNvPr id="8" name="Rectangle 28"/>
          <p:cNvSpPr>
            <a:spLocks noChangeArrowheads="1"/>
          </p:cNvSpPr>
          <p:nvPr/>
        </p:nvSpPr>
        <p:spPr bwMode="auto">
          <a:xfrm>
            <a:off x="2660216" y="3016445"/>
            <a:ext cx="6239944" cy="234888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9" name="Line 22"/>
          <p:cNvSpPr>
            <a:spLocks noChangeShapeType="1"/>
          </p:cNvSpPr>
          <p:nvPr/>
        </p:nvSpPr>
        <p:spPr bwMode="auto">
          <a:xfrm>
            <a:off x="2033289" y="3157440"/>
            <a:ext cx="602818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0" name="Text Box 21"/>
          <p:cNvSpPr txBox="1">
            <a:spLocks noChangeArrowheads="1"/>
          </p:cNvSpPr>
          <p:nvPr/>
        </p:nvSpPr>
        <p:spPr bwMode="auto">
          <a:xfrm>
            <a:off x="189638" y="2445287"/>
            <a:ext cx="1928432" cy="8679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Skaber en spiller, der ankommer fra City E til City C med en formue på 250 €</a:t>
            </a:r>
          </a:p>
        </p:txBody>
      </p:sp>
      <p:sp>
        <p:nvSpPr>
          <p:cNvPr id="13" name="Rectangle 28"/>
          <p:cNvSpPr>
            <a:spLocks noChangeArrowheads="1"/>
          </p:cNvSpPr>
          <p:nvPr/>
        </p:nvSpPr>
        <p:spPr bwMode="auto">
          <a:xfrm>
            <a:off x="2672191" y="3679501"/>
            <a:ext cx="2475873" cy="201328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4" name="Text Box 21"/>
          <p:cNvSpPr txBox="1">
            <a:spLocks noChangeArrowheads="1"/>
          </p:cNvSpPr>
          <p:nvPr/>
        </p:nvSpPr>
        <p:spPr bwMode="auto">
          <a:xfrm>
            <a:off x="395536" y="3649043"/>
            <a:ext cx="1634024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Beregn 20% told</a:t>
            </a:r>
          </a:p>
        </p:txBody>
      </p:sp>
      <p:sp>
        <p:nvSpPr>
          <p:cNvPr id="17" name="Line 22"/>
          <p:cNvSpPr>
            <a:spLocks noChangeShapeType="1"/>
          </p:cNvSpPr>
          <p:nvPr/>
        </p:nvSpPr>
        <p:spPr bwMode="auto">
          <a:xfrm>
            <a:off x="2029560" y="3789877"/>
            <a:ext cx="615174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3" name="Rectangle 2"/>
          <p:cNvSpPr/>
          <p:nvPr/>
        </p:nvSpPr>
        <p:spPr>
          <a:xfrm>
            <a:off x="557789" y="980728"/>
            <a:ext cx="8244408" cy="13388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eaLnBrk="0" hangingPunct="0">
              <a:spcBef>
                <a:spcPct val="20000"/>
              </a:spcBef>
              <a:buChar char="•"/>
            </a:pPr>
            <a:r>
              <a:rPr lang="da-DK" b="1" dirty="0">
                <a:latin typeface="+mn-lt"/>
                <a:ea typeface="ＭＳ Ｐゴシック" pitchFamily="-106" charset="-128"/>
                <a:cs typeface="ＭＳ Ｐゴシック" pitchFamily="-106" charset="-128"/>
              </a:rPr>
              <a:t>Testmetoden for </a:t>
            </a:r>
            <a:r>
              <a:rPr lang="da-DK" b="1" dirty="0" err="1">
                <a:latin typeface="+mn-lt"/>
                <a:ea typeface="ＭＳ Ｐゴシック" pitchFamily="-106" charset="-128"/>
                <a:cs typeface="ＭＳ Ｐゴシック" pitchFamily="-106" charset="-128"/>
              </a:rPr>
              <a:t>arrive</a:t>
            </a:r>
            <a:r>
              <a:rPr lang="da-DK" b="1" dirty="0">
                <a:latin typeface="+mn-lt"/>
                <a:ea typeface="ＭＳ Ｐゴシック" pitchFamily="-106" charset="-128"/>
                <a:cs typeface="ＭＳ Ｐゴシック" pitchFamily="-106" charset="-128"/>
              </a:rPr>
              <a:t> metoden i </a:t>
            </a:r>
            <a:r>
              <a:rPr lang="da-DK" b="1" dirty="0">
                <a:ea typeface="ＭＳ Ｐゴシック" pitchFamily="-106" charset="-128"/>
                <a:cs typeface="ＭＳ Ｐゴシック" pitchFamily="-106" charset="-128"/>
              </a:rPr>
              <a:t>BorderCity </a:t>
            </a:r>
            <a:r>
              <a:rPr lang="da-DK" b="1" dirty="0">
                <a:latin typeface="+mn-lt"/>
                <a:ea typeface="ＭＳ Ｐゴシック" pitchFamily="-106" charset="-128"/>
                <a:cs typeface="ＭＳ Ｐゴシック" pitchFamily="-106" charset="-128"/>
              </a:rPr>
              <a:t>kan være næsten identisk med den tilsvarende testmetode i City klassen</a:t>
            </a:r>
          </a:p>
          <a:p>
            <a:pPr marL="742950" lvl="1" indent="-285750" eaLnBrk="0" hangingPunct="0">
              <a:spcBef>
                <a:spcPts val="300"/>
              </a:spcBef>
              <a:buChar char="–"/>
            </a:pPr>
            <a:r>
              <a:rPr lang="da-DK" sz="1800" kern="0" dirty="0">
                <a:solidFill>
                  <a:srgbClr val="000066"/>
                </a:solidFill>
                <a:latin typeface="+mn-lt"/>
              </a:rPr>
              <a:t>Den væsentlige forskel er, at der skal betales told, hvis spilleren kommer fra et andet land, f.eks. fra City E til City 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7068" y="5465263"/>
            <a:ext cx="7803616" cy="9925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1" indent="-342900" eaLnBrk="0" hangingPunct="0">
              <a:spcBef>
                <a:spcPct val="20000"/>
              </a:spcBef>
              <a:buFontTx/>
              <a:buChar char="•"/>
            </a:pPr>
            <a:r>
              <a:rPr lang="da-DK" b="1" dirty="0">
                <a:latin typeface="+mn-lt"/>
                <a:ea typeface="ＭＳ Ｐゴシック" pitchFamily="-106" charset="-128"/>
                <a:cs typeface="ＭＳ Ｐゴシック" pitchFamily="-106" charset="-128"/>
              </a:rPr>
              <a:t>For CapitalCity klassen laves tilsvarende testmetoder</a:t>
            </a:r>
            <a:endParaRPr lang="da-DK" sz="1800" kern="0" dirty="0">
              <a:solidFill>
                <a:srgbClr val="000066"/>
              </a:solidFill>
              <a:latin typeface="+mn-lt"/>
            </a:endParaRPr>
          </a:p>
          <a:p>
            <a:pPr marL="742950" lvl="1" indent="-285750" eaLnBrk="0" hangingPunct="0">
              <a:spcBef>
                <a:spcPts val="300"/>
              </a:spcBef>
              <a:buFontTx/>
              <a:buChar char="–"/>
            </a:pPr>
            <a:r>
              <a:rPr lang="da-DK" sz="1800" kern="0" dirty="0">
                <a:solidFill>
                  <a:srgbClr val="000066"/>
                </a:solidFill>
                <a:latin typeface="+mn-lt"/>
              </a:rPr>
              <a:t>Nu skal man også tage hensyn til de penge, som spilleren bruger i hovedstaden</a:t>
            </a:r>
            <a:endParaRPr lang="da-DK" b="1" dirty="0">
              <a:latin typeface="+mn-lt"/>
              <a:ea typeface="ＭＳ Ｐゴシック" pitchFamily="-106" charset="-128"/>
              <a:cs typeface="ＭＳ Ｐゴシック" pitchFamily="-106" charset="-128"/>
            </a:endParaRPr>
          </a:p>
        </p:txBody>
      </p:sp>
      <p:sp>
        <p:nvSpPr>
          <p:cNvPr id="15" name="Rectangle 28"/>
          <p:cNvSpPr>
            <a:spLocks noChangeArrowheads="1"/>
          </p:cNvSpPr>
          <p:nvPr/>
        </p:nvSpPr>
        <p:spPr bwMode="auto">
          <a:xfrm>
            <a:off x="2682241" y="4099276"/>
            <a:ext cx="4362994" cy="427061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6" name="Line 22"/>
          <p:cNvSpPr>
            <a:spLocks noChangeShapeType="1"/>
          </p:cNvSpPr>
          <p:nvPr/>
        </p:nvSpPr>
        <p:spPr bwMode="auto">
          <a:xfrm flipV="1">
            <a:off x="2045264" y="4293096"/>
            <a:ext cx="626927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9" name="Text Box 21"/>
          <p:cNvSpPr txBox="1">
            <a:spLocks noChangeArrowheads="1"/>
          </p:cNvSpPr>
          <p:nvPr/>
        </p:nvSpPr>
        <p:spPr bwMode="auto">
          <a:xfrm>
            <a:off x="104918" y="4149109"/>
            <a:ext cx="2144758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Tag hensyn til tolden</a:t>
            </a:r>
          </a:p>
        </p:txBody>
      </p:sp>
      <p:sp>
        <p:nvSpPr>
          <p:cNvPr id="20" name="Text Box 21"/>
          <p:cNvSpPr txBox="1">
            <a:spLocks noChangeArrowheads="1"/>
          </p:cNvSpPr>
          <p:nvPr/>
        </p:nvSpPr>
        <p:spPr bwMode="auto">
          <a:xfrm>
            <a:off x="4485252" y="4853432"/>
            <a:ext cx="4064605" cy="461665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spcBef>
                <a:spcPts val="600"/>
              </a:spcBef>
            </a:pPr>
            <a:r>
              <a:rPr lang="da-DK" altLang="da-DK" sz="1200" b="1" dirty="0">
                <a:solidFill>
                  <a:srgbClr val="0000FF"/>
                </a:solidFill>
              </a:rPr>
              <a:t>I skal også lave en testmetode, der tjekker, at der ikke betales told, når spilleren kommer fra samme land</a:t>
            </a:r>
          </a:p>
        </p:txBody>
      </p:sp>
      <p:sp>
        <p:nvSpPr>
          <p:cNvPr id="21" name="Line 22"/>
          <p:cNvSpPr>
            <a:spLocks noChangeShapeType="1"/>
          </p:cNvSpPr>
          <p:nvPr/>
        </p:nvSpPr>
        <p:spPr bwMode="auto">
          <a:xfrm flipH="1">
            <a:off x="6876256" y="2745670"/>
            <a:ext cx="270476" cy="2707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2" name="Line 22"/>
          <p:cNvSpPr>
            <a:spLocks noChangeShapeType="1"/>
          </p:cNvSpPr>
          <p:nvPr/>
        </p:nvSpPr>
        <p:spPr bwMode="auto">
          <a:xfrm>
            <a:off x="7306078" y="2751496"/>
            <a:ext cx="200693" cy="264949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3" name="Text Box 21"/>
          <p:cNvSpPr txBox="1">
            <a:spLocks noChangeArrowheads="1"/>
          </p:cNvSpPr>
          <p:nvPr/>
        </p:nvSpPr>
        <p:spPr bwMode="auto">
          <a:xfrm>
            <a:off x="6531624" y="2318386"/>
            <a:ext cx="1838019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Disse to byer ligger i forskellige lander</a:t>
            </a:r>
          </a:p>
        </p:txBody>
      </p:sp>
    </p:spTree>
    <p:extLst>
      <p:ext uri="{BB962C8B-B14F-4D97-AF65-F5344CB8AC3E}">
        <p14:creationId xmlns:p14="http://schemas.microsoft.com/office/powerpoint/2010/main" val="66714189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Box 4"/>
          <p:cNvSpPr txBox="1">
            <a:spLocks noChangeArrowheads="1"/>
          </p:cNvSpPr>
          <p:nvPr/>
        </p:nvSpPr>
        <p:spPr bwMode="auto">
          <a:xfrm>
            <a:off x="3563888" y="1755399"/>
            <a:ext cx="4846122" cy="5049717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18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@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Test</a:t>
            </a:r>
          </a:p>
          <a:p>
            <a:pPr eaLnBrk="1" hangingPunct="1"/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bonus() {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for(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seed = 0; seed &lt; 1000; seed++) {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game.getRandom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().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setSeed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(seed);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robs = 0;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loss = 0;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Set&lt;Integer&gt; values = </a:t>
            </a:r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new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HashSet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&lt;&gt;();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for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i = 0; i&lt;50000; i++) {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bonus = country2.bonus(80);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</a:t>
            </a:r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if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(bonus &lt; 0) {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Robbery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  robs++;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assertTrue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 ...); 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  loss -= bonus;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values.add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(-bonus);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}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</a:t>
            </a:r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else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{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No Robbery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  ...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  ...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}                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}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assertTrue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(...);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assertTrue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(...);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assertEquals(...);</a:t>
            </a:r>
          </a:p>
          <a:p>
            <a:pPr eaLnBrk="1" hangingPunct="1">
              <a:lnSpc>
                <a:spcPct val="4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...</a:t>
            </a:r>
          </a:p>
          <a:p>
            <a:pPr eaLnBrk="1" hangingPunct="1">
              <a:lnSpc>
                <a:spcPct val="4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...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}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</p:txBody>
      </p:sp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r>
              <a:rPr lang="da-DK" altLang="da-DK" sz="3200" dirty="0">
                <a:ea typeface="ＭＳ Ｐゴシック" pitchFamily="34" charset="-128"/>
              </a:rPr>
              <a:t>Regression test for </a:t>
            </a:r>
            <a:r>
              <a:rPr lang="da-DK" altLang="da-DK" sz="3200" dirty="0" err="1">
                <a:ea typeface="ＭＳ Ｐゴシック" pitchFamily="34" charset="-128"/>
              </a:rPr>
              <a:t>MafiaCountry</a:t>
            </a:r>
            <a:endParaRPr lang="da-DK" altLang="da-DK" sz="3200" dirty="0"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29</a:t>
            </a:fld>
            <a:endParaRPr lang="da-DK" altLang="da-DK" dirty="0"/>
          </a:p>
        </p:txBody>
      </p:sp>
      <p:sp>
        <p:nvSpPr>
          <p:cNvPr id="21" name="Text Box 21"/>
          <p:cNvSpPr txBox="1">
            <a:spLocks noChangeArrowheads="1"/>
          </p:cNvSpPr>
          <p:nvPr/>
        </p:nvSpPr>
        <p:spPr bwMode="auto">
          <a:xfrm>
            <a:off x="739810" y="2633808"/>
            <a:ext cx="2736304" cy="22365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I skal tjekke, at</a:t>
            </a:r>
          </a:p>
          <a:p>
            <a:pPr marL="285750" indent="-285750" eaLnBrk="1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tabet ved røveriet ligger i intervallet [10,50]</a:t>
            </a:r>
          </a:p>
          <a:p>
            <a:pPr eaLnBrk="1" hangingPunct="1">
              <a:lnSpc>
                <a:spcPct val="90000"/>
              </a:lnSpc>
              <a:spcBef>
                <a:spcPts val="0"/>
              </a:spcBef>
            </a:pPr>
            <a:endParaRPr lang="da-DK" altLang="da-DK" sz="1400" b="1" dirty="0">
              <a:solidFill>
                <a:srgbClr val="FF0000"/>
              </a:solidFill>
            </a:endParaRPr>
          </a:p>
          <a:p>
            <a:pPr marL="285750" indent="-285750" eaLnBrk="1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man bliver røvet ca. 20%</a:t>
            </a:r>
            <a:br>
              <a:rPr lang="da-DK" altLang="da-DK" sz="1400" b="1" dirty="0">
                <a:solidFill>
                  <a:srgbClr val="FF0000"/>
                </a:solidFill>
              </a:rPr>
            </a:br>
            <a:r>
              <a:rPr lang="da-DK" altLang="da-DK" sz="1400" b="1" dirty="0">
                <a:solidFill>
                  <a:srgbClr val="FF0000"/>
                </a:solidFill>
              </a:rPr>
              <a:t>af gangene</a:t>
            </a:r>
          </a:p>
          <a:p>
            <a:pPr marL="285750" indent="-285750" eaLnBrk="1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tabet i gennemsnit</a:t>
            </a:r>
            <a:br>
              <a:rPr lang="da-DK" altLang="da-DK" sz="1400" b="1" dirty="0">
                <a:solidFill>
                  <a:srgbClr val="FF0000"/>
                </a:solidFill>
              </a:rPr>
            </a:br>
            <a:r>
              <a:rPr lang="da-DK" altLang="da-DK" sz="1400" b="1" dirty="0">
                <a:solidFill>
                  <a:srgbClr val="FF0000"/>
                </a:solidFill>
              </a:rPr>
              <a:t>udgør ca. 30 €</a:t>
            </a:r>
          </a:p>
          <a:p>
            <a:pPr marL="285750" indent="-285750" eaLnBrk="1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tabet kan antage alle værdier i intervallet [10,50]</a:t>
            </a:r>
          </a:p>
        </p:txBody>
      </p:sp>
      <p:sp>
        <p:nvSpPr>
          <p:cNvPr id="22" name="Rectangle 28"/>
          <p:cNvSpPr>
            <a:spLocks noChangeArrowheads="1"/>
          </p:cNvSpPr>
          <p:nvPr/>
        </p:nvSpPr>
        <p:spPr bwMode="auto">
          <a:xfrm>
            <a:off x="4121027" y="5605933"/>
            <a:ext cx="1992390" cy="672947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3" name="Line 22"/>
          <p:cNvSpPr>
            <a:spLocks noChangeShapeType="1"/>
          </p:cNvSpPr>
          <p:nvPr/>
        </p:nvSpPr>
        <p:spPr bwMode="auto">
          <a:xfrm>
            <a:off x="3347864" y="4900300"/>
            <a:ext cx="773163" cy="63596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9" name="Rectangle 28"/>
          <p:cNvSpPr>
            <a:spLocks noChangeArrowheads="1"/>
          </p:cNvSpPr>
          <p:nvPr/>
        </p:nvSpPr>
        <p:spPr bwMode="auto">
          <a:xfrm>
            <a:off x="4544843" y="4150099"/>
            <a:ext cx="1949281" cy="220134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0" name="Line 22"/>
          <p:cNvSpPr>
            <a:spLocks noChangeShapeType="1"/>
          </p:cNvSpPr>
          <p:nvPr/>
        </p:nvSpPr>
        <p:spPr bwMode="auto">
          <a:xfrm>
            <a:off x="3227112" y="3250634"/>
            <a:ext cx="1291350" cy="103284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3" name="Rectangle 2"/>
          <p:cNvSpPr/>
          <p:nvPr/>
        </p:nvSpPr>
        <p:spPr>
          <a:xfrm>
            <a:off x="395536" y="1022876"/>
            <a:ext cx="864096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eaLnBrk="0" hangingPunct="0">
              <a:spcBef>
                <a:spcPct val="20000"/>
              </a:spcBef>
              <a:buChar char="•"/>
            </a:pPr>
            <a:r>
              <a:rPr lang="da-DK" b="1" dirty="0">
                <a:latin typeface="+mn-lt"/>
                <a:ea typeface="ＭＳ Ｐゴシック" pitchFamily="-106" charset="-128"/>
                <a:cs typeface="ＭＳ Ｐゴシック" pitchFamily="-106" charset="-128"/>
              </a:rPr>
              <a:t>Testmetoden for bonus metoden i </a:t>
            </a:r>
            <a:r>
              <a:rPr lang="da-DK" b="1" dirty="0" err="1">
                <a:ea typeface="ＭＳ Ｐゴシック" pitchFamily="-106" charset="-128"/>
                <a:cs typeface="ＭＳ Ｐゴシック" pitchFamily="-106" charset="-128"/>
              </a:rPr>
              <a:t>MafiaCountry</a:t>
            </a:r>
            <a:r>
              <a:rPr lang="da-DK" b="1" dirty="0">
                <a:ea typeface="ＭＳ Ｐゴシック" pitchFamily="-106" charset="-128"/>
                <a:cs typeface="ＭＳ Ｐゴシック" pitchFamily="-106" charset="-128"/>
              </a:rPr>
              <a:t> </a:t>
            </a:r>
            <a:r>
              <a:rPr lang="da-DK" b="1" dirty="0">
                <a:latin typeface="+mn-lt"/>
                <a:ea typeface="ＭＳ Ｐゴシック" pitchFamily="-106" charset="-128"/>
                <a:cs typeface="ＭＳ Ｐゴシック" pitchFamily="-106" charset="-128"/>
              </a:rPr>
              <a:t>er analog til den tilsvarende testmetode i Country klassen</a:t>
            </a:r>
          </a:p>
        </p:txBody>
      </p:sp>
      <p:sp>
        <p:nvSpPr>
          <p:cNvPr id="12" name="Line 22"/>
          <p:cNvSpPr>
            <a:spLocks noChangeShapeType="1"/>
          </p:cNvSpPr>
          <p:nvPr/>
        </p:nvSpPr>
        <p:spPr bwMode="auto">
          <a:xfrm flipH="1">
            <a:off x="6508156" y="2996951"/>
            <a:ext cx="584123" cy="52177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3" name="Text Box 21"/>
          <p:cNvSpPr txBox="1">
            <a:spLocks noChangeArrowheads="1"/>
          </p:cNvSpPr>
          <p:nvPr/>
        </p:nvSpPr>
        <p:spPr bwMode="auto">
          <a:xfrm>
            <a:off x="6743032" y="2724246"/>
            <a:ext cx="1008112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Mafialand</a:t>
            </a:r>
          </a:p>
        </p:txBody>
      </p:sp>
      <p:sp>
        <p:nvSpPr>
          <p:cNvPr id="19" name="Rectangle 28"/>
          <p:cNvSpPr>
            <a:spLocks noChangeArrowheads="1"/>
          </p:cNvSpPr>
          <p:nvPr/>
        </p:nvSpPr>
        <p:spPr bwMode="auto">
          <a:xfrm>
            <a:off x="5611644" y="3526971"/>
            <a:ext cx="902367" cy="191589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4" name="Text Box 21"/>
          <p:cNvSpPr txBox="1">
            <a:spLocks noChangeArrowheads="1"/>
          </p:cNvSpPr>
          <p:nvPr/>
        </p:nvSpPr>
        <p:spPr bwMode="auto">
          <a:xfrm>
            <a:off x="827584" y="5218282"/>
            <a:ext cx="2148564" cy="954107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marL="177800" indent="-177800">
              <a:spcBef>
                <a:spcPct val="50000"/>
              </a:spcBef>
              <a:buFont typeface="Arial" panose="020B0604020202020204" pitchFamily="34" charset="0"/>
              <a:buChar char="•"/>
              <a:defRPr sz="1400" b="1">
                <a:solidFill>
                  <a:srgbClr val="0000FF"/>
                </a:solidFill>
              </a:defRPr>
            </a:lvl1pPr>
          </a:lstStyle>
          <a:p>
            <a:pPr marL="0" indent="0">
              <a:buNone/>
            </a:pPr>
            <a:r>
              <a:rPr lang="da-DK" altLang="da-DK" dirty="0"/>
              <a:t>Husk også at tjekke, at bonussen udregnes korrekt, når man ikke bliver røvet</a:t>
            </a:r>
          </a:p>
        </p:txBody>
      </p:sp>
    </p:spTree>
    <p:extLst>
      <p:ext uri="{BB962C8B-B14F-4D97-AF65-F5344CB8AC3E}">
        <p14:creationId xmlns:p14="http://schemas.microsoft.com/office/powerpoint/2010/main" val="60899540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da-DK" altLang="da-DK" sz="3200" dirty="0">
                <a:ea typeface="ＭＳ Ｐゴシック" pitchFamily="34" charset="-128"/>
              </a:rPr>
              <a:t>Testserveren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30</a:t>
            </a:fld>
            <a:endParaRPr lang="da-DK" altLang="da-DK" dirty="0"/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395536" y="980728"/>
            <a:ext cx="8568952" cy="57606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sz="2000" dirty="0"/>
              <a:t>Testserveren skal også anvendes for Computerspil 3</a:t>
            </a:r>
          </a:p>
          <a:p>
            <a:pPr lvl="1">
              <a:spcBef>
                <a:spcPts val="600"/>
              </a:spcBef>
            </a:pPr>
            <a:r>
              <a:rPr lang="da-DK" sz="1800" kern="0" dirty="0">
                <a:ea typeface="ＭＳ Ｐゴシック" pitchFamily="34" charset="-128"/>
              </a:rPr>
              <a:t>Her testes kun de </a:t>
            </a:r>
            <a:r>
              <a:rPr 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nye klasser</a:t>
            </a:r>
            <a:r>
              <a:rPr lang="da-DK" sz="1800" kern="0" dirty="0">
                <a:ea typeface="ＭＳ Ｐゴシック" pitchFamily="34" charset="-128"/>
              </a:rPr>
              <a:t>, som I har skrevet i CG3</a:t>
            </a:r>
          </a:p>
          <a:p>
            <a:pPr lvl="1">
              <a:spcBef>
                <a:spcPts val="600"/>
              </a:spcBef>
            </a:pPr>
            <a:r>
              <a:rPr lang="da-DK" sz="1800" kern="0" dirty="0">
                <a:ea typeface="ＭＳ Ｐゴシック" pitchFamily="34" charset="-128"/>
              </a:rPr>
              <a:t>For hver klasse udføres en række </a:t>
            </a:r>
            <a:r>
              <a:rPr 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regression tests</a:t>
            </a:r>
            <a:r>
              <a:rPr lang="da-DK" sz="1800" kern="0" dirty="0">
                <a:ea typeface="ＭＳ Ｐゴシック" pitchFamily="34" charset="-128"/>
              </a:rPr>
              <a:t> for konstruktørerne og metoderne (på tilsvarende vis som i Computerspil 1)</a:t>
            </a:r>
          </a:p>
          <a:p>
            <a:pPr lvl="1">
              <a:spcBef>
                <a:spcPts val="600"/>
              </a:spcBef>
            </a:pPr>
            <a:r>
              <a:rPr lang="da-DK" sz="1800" kern="0" dirty="0">
                <a:ea typeface="ＭＳ Ｐゴシック" pitchFamily="34" charset="-128"/>
              </a:rPr>
              <a:t>Derudover testes det, at jeres </a:t>
            </a:r>
            <a:r>
              <a:rPr 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regression tests</a:t>
            </a:r>
            <a:r>
              <a:rPr lang="da-DK" sz="1800" kern="0" dirty="0">
                <a:ea typeface="ＭＳ Ｐゴシック" pitchFamily="34" charset="-128"/>
              </a:rPr>
              <a:t> er fornuftige</a:t>
            </a:r>
            <a:br>
              <a:rPr lang="da-DK" sz="1800" kern="0" dirty="0">
                <a:ea typeface="ＭＳ Ｐゴシック" pitchFamily="34" charset="-128"/>
              </a:rPr>
            </a:br>
            <a:r>
              <a:rPr lang="da-DK" sz="1800" kern="0" dirty="0">
                <a:ea typeface="ＭＳ Ｐゴシック" pitchFamily="34" charset="-128"/>
              </a:rPr>
              <a:t>(på tilsvarende vis som i Computerspil 2)</a:t>
            </a:r>
            <a:endParaRPr lang="da-DK" sz="1800" b="1" kern="0" dirty="0">
              <a:solidFill>
                <a:srgbClr val="A50021"/>
              </a:solidFill>
              <a:ea typeface="ＭＳ Ｐゴシック" pitchFamily="34" charset="-128"/>
              <a:cs typeface="ＭＳ Ｐゴシック" pitchFamily="-106" charset="-128"/>
            </a:endParaRP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Brug Testserveren med omtanke</a:t>
            </a:r>
          </a:p>
          <a:p>
            <a:pPr lvl="1">
              <a:spcBef>
                <a:spcPts val="600"/>
              </a:spcBef>
            </a:pPr>
            <a:r>
              <a:rPr lang="da-DK" sz="1800" kern="0" dirty="0">
                <a:ea typeface="ＭＳ Ｐゴシック" pitchFamily="34" charset="-128"/>
              </a:rPr>
              <a:t>Når I får en fejlrapport, bør I rette alle de fejl, der rapporteres og kontrollere, at rettelserne er korrekte, </a:t>
            </a:r>
            <a:r>
              <a:rPr 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før</a:t>
            </a:r>
            <a:r>
              <a:rPr lang="da-DK" sz="1800" kern="0" dirty="0">
                <a:ea typeface="ＭＳ Ｐゴシック" pitchFamily="34" charset="-128"/>
              </a:rPr>
              <a:t> I atter forsøger at køre </a:t>
            </a:r>
            <a:r>
              <a:rPr lang="da-DK" sz="1800" kern="0" dirty="0" err="1">
                <a:ea typeface="ＭＳ Ｐゴシック" pitchFamily="34" charset="-128"/>
              </a:rPr>
              <a:t>TestServeren</a:t>
            </a:r>
            <a:endParaRPr lang="da-DK" sz="1800" kern="0" dirty="0">
              <a:ea typeface="ＭＳ Ｐゴシック" pitchFamily="34" charset="-128"/>
            </a:endParaRP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Testserveren er et stort og komplekst stykke kode (50.000+ linjer)</a:t>
            </a:r>
          </a:p>
          <a:p>
            <a:pPr lvl="1">
              <a:spcBef>
                <a:spcPts val="400"/>
              </a:spcBef>
            </a:pPr>
            <a:r>
              <a:rPr lang="da-DK" altLang="da-DK" sz="1800" dirty="0">
                <a:ea typeface="ＭＳ Ｐゴシック" pitchFamily="34" charset="-128"/>
              </a:rPr>
              <a:t>Det er derfor ikke underligt, at den sommetider indeholder fejl og går ned</a:t>
            </a:r>
          </a:p>
          <a:p>
            <a:pPr lvl="1">
              <a:spcBef>
                <a:spcPts val="400"/>
              </a:spcBef>
            </a:pPr>
            <a:r>
              <a:rPr lang="da-DK" altLang="da-DK" sz="1800" dirty="0">
                <a:ea typeface="ＭＳ Ｐゴシック" pitchFamily="34" charset="-128"/>
              </a:rPr>
              <a:t>Nogle nedbrud skyldes upload af kørsler med en uendelig løkke/</a:t>
            </a:r>
            <a:r>
              <a:rPr lang="da-DK" altLang="da-DK" sz="1800" dirty="0" err="1">
                <a:ea typeface="ＭＳ Ｐゴシック" pitchFamily="34" charset="-128"/>
              </a:rPr>
              <a:t>rekursion</a:t>
            </a:r>
            <a:endParaRPr lang="da-DK" altLang="da-DK" sz="1800" dirty="0">
              <a:ea typeface="ＭＳ Ｐゴシック" pitchFamily="34" charset="-128"/>
            </a:endParaRP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Inden man bliver irriteret på testserveren, skal man huske, hvordan situationen ville være, hvis I ikke havde den</a:t>
            </a:r>
          </a:p>
          <a:p>
            <a:pPr lvl="1">
              <a:spcBef>
                <a:spcPts val="400"/>
              </a:spcBef>
            </a:pPr>
            <a:r>
              <a:rPr lang="da-DK" altLang="da-DK" sz="1800" dirty="0">
                <a:ea typeface="ＭＳ Ｐゴシック" pitchFamily="34" charset="-128"/>
              </a:rPr>
              <a:t>Så skulle I helt på egen hånd finde frem til, hvor fejlene er i jeres kode</a:t>
            </a:r>
          </a:p>
          <a:p>
            <a:pPr lvl="1">
              <a:spcBef>
                <a:spcPts val="400"/>
              </a:spcBef>
            </a:pPr>
            <a:r>
              <a:rPr lang="da-DK" altLang="da-DK" sz="1800">
                <a:ea typeface="ＭＳ Ｐゴシック" pitchFamily="34" charset="-128"/>
              </a:rPr>
              <a:t>Nu får I </a:t>
            </a:r>
            <a:r>
              <a:rPr lang="da-DK" altLang="da-DK" sz="1800" dirty="0">
                <a:ea typeface="ＭＳ Ｐゴシック" pitchFamily="34" charset="-128"/>
              </a:rPr>
              <a:t>at vide, hvilke klasser og metoder, I skal søge fejlene i</a:t>
            </a:r>
          </a:p>
          <a:p>
            <a:pPr lvl="1">
              <a:spcBef>
                <a:spcPts val="600"/>
              </a:spcBef>
            </a:pPr>
            <a:endParaRPr lang="da-DK" sz="1800" kern="0" dirty="0">
              <a:ea typeface="ＭＳ Ｐゴシック" pitchFamily="34" charset="-128"/>
            </a:endParaRPr>
          </a:p>
          <a:p>
            <a:pPr lvl="1">
              <a:spcBef>
                <a:spcPts val="600"/>
              </a:spcBef>
            </a:pPr>
            <a:endParaRPr lang="da-DK" sz="1800" kern="0" spc="-50" dirty="0">
              <a:ea typeface="ＭＳ Ｐゴシック" pitchFamily="34" charset="-128"/>
            </a:endParaRPr>
          </a:p>
          <a:p>
            <a:pPr lvl="1">
              <a:spcBef>
                <a:spcPts val="600"/>
              </a:spcBef>
            </a:pPr>
            <a:endParaRPr lang="da-DK" sz="1800" kern="0" spc="-5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22689510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208912" cy="682625"/>
          </a:xfrm>
        </p:spPr>
        <p:txBody>
          <a:bodyPr/>
          <a:lstStyle/>
          <a:p>
            <a:r>
              <a:rPr lang="da-DK" altLang="da-DK" sz="3200" dirty="0">
                <a:ea typeface="ＭＳ Ｐゴシック" pitchFamily="34" charset="-128"/>
              </a:rPr>
              <a:t>Statistik for brug af testserveren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31</a:t>
            </a:fld>
            <a:endParaRPr lang="da-DK" altLang="da-DK" dirty="0"/>
          </a:p>
        </p:txBody>
      </p:sp>
      <p:sp>
        <p:nvSpPr>
          <p:cNvPr id="10" name="Rectangle 3"/>
          <p:cNvSpPr txBox="1">
            <a:spLocks noChangeArrowheads="1"/>
          </p:cNvSpPr>
          <p:nvPr/>
        </p:nvSpPr>
        <p:spPr bwMode="auto">
          <a:xfrm>
            <a:off x="359532" y="1072208"/>
            <a:ext cx="8424936" cy="3600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Godt 12.000 kørsler indtil nu, dvs. ca. 85 kørsler pr studerende</a:t>
            </a:r>
          </a:p>
          <a:p>
            <a:pPr marL="457200" lvl="1" indent="0">
              <a:spcBef>
                <a:spcPts val="600"/>
              </a:spcBef>
              <a:buNone/>
            </a:pPr>
            <a:endParaRPr lang="da-DK" altLang="da-DK" sz="1800" dirty="0">
              <a:ea typeface="ＭＳ Ｐゴシック" pitchFamily="34" charset="-128"/>
            </a:endParaRPr>
          </a:p>
          <a:p>
            <a:pPr lvl="1">
              <a:spcBef>
                <a:spcPts val="600"/>
              </a:spcBef>
            </a:pPr>
            <a:endParaRPr lang="da-DK" altLang="da-DK" sz="1800" spc="-50" dirty="0">
              <a:ea typeface="ＭＳ Ｐゴシック" pitchFamily="34" charset="-128"/>
            </a:endParaRPr>
          </a:p>
          <a:p>
            <a:pPr marL="457200" lvl="1" indent="0">
              <a:spcBef>
                <a:spcPts val="600"/>
              </a:spcBef>
              <a:buNone/>
            </a:pPr>
            <a:endParaRPr lang="da-DK" altLang="da-DK" dirty="0">
              <a:ea typeface="ＭＳ Ｐゴシック" pitchFamily="34" charset="-128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552" y="6313591"/>
            <a:ext cx="7704856" cy="3715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E796CF-DF49-53BB-E7BC-185E55FE80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576" y="1507851"/>
            <a:ext cx="7740860" cy="21929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E35F907-5B18-EA88-4EA4-A113CF3C6B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528" y="3824695"/>
            <a:ext cx="7704856" cy="2460668"/>
          </a:xfrm>
          <a:prstGeom prst="rect">
            <a:avLst/>
          </a:prstGeom>
        </p:spPr>
      </p:pic>
      <p:sp>
        <p:nvSpPr>
          <p:cNvPr id="11" name="Text Box 21"/>
          <p:cNvSpPr txBox="1">
            <a:spLocks noChangeArrowheads="1"/>
          </p:cNvSpPr>
          <p:nvPr/>
        </p:nvSpPr>
        <p:spPr bwMode="auto">
          <a:xfrm>
            <a:off x="4932040" y="4440401"/>
            <a:ext cx="3960440" cy="1220847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marL="182563" indent="-182563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Husk at teste jeres ting i BlueJ </a:t>
            </a:r>
            <a:r>
              <a:rPr lang="da-DK" altLang="da-DK" sz="1400" b="1" dirty="0">
                <a:solidFill>
                  <a:srgbClr val="008000"/>
                </a:solidFill>
              </a:rPr>
              <a:t>før</a:t>
            </a:r>
            <a:r>
              <a:rPr lang="da-DK" altLang="da-DK" sz="1400" b="1" dirty="0">
                <a:solidFill>
                  <a:srgbClr val="0000FF"/>
                </a:solidFill>
              </a:rPr>
              <a:t> I sender dem til testserveren</a:t>
            </a:r>
          </a:p>
          <a:p>
            <a:pPr marL="182563" indent="-182563" eaLnBrk="1" hangingPunct="1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Det er specielt vigtigt for </a:t>
            </a:r>
            <a:r>
              <a:rPr lang="da-DK" altLang="da-DK" sz="1400" b="1" dirty="0">
                <a:solidFill>
                  <a:srgbClr val="008000"/>
                </a:solidFill>
              </a:rPr>
              <a:t>regression tests</a:t>
            </a:r>
            <a:r>
              <a:rPr lang="da-DK" altLang="da-DK" sz="1400" b="1" dirty="0">
                <a:solidFill>
                  <a:srgbClr val="0000FF"/>
                </a:solidFill>
              </a:rPr>
              <a:t>, idet BlueJ’s testsystem ofte giver </a:t>
            </a:r>
            <a:r>
              <a:rPr lang="da-DK" altLang="da-DK" sz="1400" b="1" dirty="0">
                <a:solidFill>
                  <a:srgbClr val="008000"/>
                </a:solidFill>
              </a:rPr>
              <a:t>mere præcise fejlmeddelelser</a:t>
            </a:r>
            <a:r>
              <a:rPr lang="da-DK" altLang="da-DK" sz="1400" b="1" dirty="0">
                <a:solidFill>
                  <a:srgbClr val="0000FF"/>
                </a:solidFill>
              </a:rPr>
              <a:t> end testserveren</a:t>
            </a:r>
          </a:p>
        </p:txBody>
      </p:sp>
    </p:spTree>
    <p:extLst>
      <p:ext uri="{BB962C8B-B14F-4D97-AF65-F5344CB8AC3E}">
        <p14:creationId xmlns:p14="http://schemas.microsoft.com/office/powerpoint/2010/main" val="30888390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60350"/>
            <a:ext cx="8568183" cy="682625"/>
          </a:xfrm>
        </p:spPr>
        <p:txBody>
          <a:bodyPr/>
          <a:lstStyle/>
          <a:p>
            <a:pPr eaLnBrk="1" hangingPunct="1"/>
            <a:r>
              <a:rPr lang="da-DK" altLang="da-DK" sz="3200" dirty="0">
                <a:solidFill>
                  <a:srgbClr val="A50021"/>
                </a:solidFill>
                <a:ea typeface="ＭＳ Ｐゴシック" pitchFamily="34" charset="-128"/>
                <a:cs typeface="Arial"/>
              </a:rPr>
              <a:t>●</a:t>
            </a:r>
            <a:r>
              <a:rPr lang="da-DK" altLang="da-DK" sz="3200" dirty="0">
                <a:ea typeface="ＭＳ Ｐゴシック" pitchFamily="34" charset="-128"/>
                <a:cs typeface="Arial"/>
              </a:rPr>
              <a:t> </a:t>
            </a:r>
            <a:r>
              <a:rPr lang="da-DK" altLang="da-DK" sz="3200" noProof="0" dirty="0">
                <a:ea typeface="ＭＳ Ｐゴシック" pitchFamily="34" charset="-128"/>
              </a:rPr>
              <a:t>Opsummering</a:t>
            </a:r>
          </a:p>
        </p:txBody>
      </p:sp>
      <p:sp>
        <p:nvSpPr>
          <p:cNvPr id="3072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7544" y="1052735"/>
            <a:ext cx="8496944" cy="2088233"/>
          </a:xfrm>
        </p:spPr>
        <p:txBody>
          <a:bodyPr/>
          <a:lstStyle/>
          <a:p>
            <a:pPr>
              <a:spcBef>
                <a:spcPts val="1200"/>
              </a:spcBef>
            </a:pPr>
            <a:r>
              <a:rPr lang="da-DK" altLang="da-DK" sz="2000" dirty="0">
                <a:ea typeface="ＭＳ Ｐゴシック" pitchFamily="34" charset="-128"/>
              </a:rPr>
              <a:t>Konstruktion af grafiske brugergrænseflader (</a:t>
            </a:r>
            <a:r>
              <a:rPr lang="da-DK" altLang="da-DK" sz="2000" dirty="0" err="1">
                <a:ea typeface="ＭＳ Ｐゴシック" pitchFamily="34" charset="-128"/>
              </a:rPr>
              <a:t>GUI'er</a:t>
            </a:r>
            <a:r>
              <a:rPr lang="da-DK" altLang="da-DK" sz="2000" dirty="0">
                <a:ea typeface="ＭＳ Ｐゴシック" pitchFamily="34" charset="-128"/>
              </a:rPr>
              <a:t>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Definition af de elementer, der vises på skærmen</a:t>
            </a:r>
            <a:br>
              <a:rPr lang="da-DK" altLang="da-DK" sz="1800" kern="1200" dirty="0">
                <a:ea typeface="ＭＳ Ｐゴシック" pitchFamily="34" charset="-128"/>
                <a:cs typeface="+mn-cs"/>
              </a:rPr>
            </a:br>
            <a:r>
              <a:rPr lang="da-DK" altLang="da-DK" sz="1800" kern="1200" dirty="0">
                <a:ea typeface="ＭＳ Ｐゴシック" pitchFamily="34" charset="-128"/>
                <a:cs typeface="+mn-cs"/>
              </a:rPr>
              <a:t>(vinduer, knapper, menuer, scrollbarer, tekster, osv.)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Hvordan reagerer de på input (via mus og tastatur)?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Hvordan placeres de i forhold til hinanden (layout)?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63771" y="2924945"/>
            <a:ext cx="8140677" cy="16122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altLang="da-DK" sz="2000" kern="0" dirty="0">
                <a:ea typeface="ＭＳ Ｐゴシック" pitchFamily="34" charset="-128"/>
              </a:rPr>
              <a:t>Anonyme indre klasser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Sprogkonstruktion, der </a:t>
            </a:r>
            <a:r>
              <a:rPr lang="da-DK" altLang="da-DK" sz="1800" kern="0" dirty="0" err="1">
                <a:ea typeface="ＭＳ Ｐゴシック" pitchFamily="34" charset="-128"/>
              </a:rPr>
              <a:t>bl.a</a:t>
            </a:r>
            <a:r>
              <a:rPr lang="da-DK" altLang="da-DK" sz="1800" kern="0" dirty="0">
                <a:ea typeface="ＭＳ Ｐゴシック" pitchFamily="34" charset="-128"/>
              </a:rPr>
              <a:t> er nyttig i </a:t>
            </a:r>
            <a:r>
              <a:rPr lang="da-DK" altLang="da-DK" sz="1800" kern="0" spc="-50" dirty="0">
                <a:ea typeface="ＭＳ Ｐゴシック" pitchFamily="34" charset="-128"/>
              </a:rPr>
              <a:t>forbindelse med visse GUI events</a:t>
            </a:r>
          </a:p>
          <a:p>
            <a:pPr marL="342900" lvl="1" indent="-342900">
              <a:spcBef>
                <a:spcPts val="1800"/>
              </a:spcBef>
              <a:buFontTx/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Afleveringsopgave: Computerspil 3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Brug af nedarvning og </a:t>
            </a:r>
            <a:r>
              <a:rPr lang="da-DK" altLang="da-DK" sz="1800" dirty="0" err="1">
                <a:ea typeface="ＭＳ Ｐゴシック" pitchFamily="34" charset="-128"/>
              </a:rPr>
              <a:t>dynamic</a:t>
            </a:r>
            <a:r>
              <a:rPr lang="da-DK" altLang="da-DK" sz="1800" dirty="0">
                <a:ea typeface="ＭＳ Ｐゴシック" pitchFamily="34" charset="-128"/>
              </a:rPr>
              <a:t> </a:t>
            </a:r>
            <a:r>
              <a:rPr lang="da-DK" altLang="da-DK" sz="1800" dirty="0" err="1">
                <a:ea typeface="ＭＳ Ｐゴシック" pitchFamily="34" charset="-128"/>
              </a:rPr>
              <a:t>method</a:t>
            </a:r>
            <a:r>
              <a:rPr lang="da-DK" altLang="da-DK" sz="1800" dirty="0">
                <a:ea typeface="ＭＳ Ｐゴシック" pitchFamily="34" charset="-128"/>
              </a:rPr>
              <a:t> </a:t>
            </a:r>
            <a:r>
              <a:rPr lang="da-DK" altLang="da-DK" sz="1800" dirty="0" err="1">
                <a:ea typeface="ＭＳ Ｐゴシック" pitchFamily="34" charset="-128"/>
              </a:rPr>
              <a:t>lookup</a:t>
            </a:r>
            <a:endParaRPr lang="da-DK" altLang="da-DK" sz="1800" dirty="0"/>
          </a:p>
        </p:txBody>
      </p:sp>
      <p:sp>
        <p:nvSpPr>
          <p:cNvPr id="6" name="Text Box 21"/>
          <p:cNvSpPr txBox="1">
            <a:spLocks noChangeArrowheads="1"/>
          </p:cNvSpPr>
          <p:nvPr/>
        </p:nvSpPr>
        <p:spPr bwMode="auto">
          <a:xfrm>
            <a:off x="5004048" y="4794519"/>
            <a:ext cx="2922442" cy="1712846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>
                <a:solidFill>
                  <a:srgbClr val="0000FF"/>
                </a:solidFill>
              </a:rPr>
              <a:t>Mundtlige </a:t>
            </a:r>
            <a:r>
              <a:rPr lang="da-DK" altLang="da-DK" sz="1400" b="1" dirty="0">
                <a:solidFill>
                  <a:srgbClr val="0000FF"/>
                </a:solidFill>
              </a:rPr>
              <a:t>præsentationer</a:t>
            </a:r>
          </a:p>
          <a:p>
            <a:pPr marL="182563" indent="-182563" eaLnBrk="1" hangingPunct="1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Husk at se den sidste video om den "perfekte" mundtlige præsentation</a:t>
            </a:r>
          </a:p>
          <a:p>
            <a:pPr marL="182563" indent="-182563" eaLnBrk="1" hangingPunct="1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Den handler om grafiske brugergrænseflader</a:t>
            </a:r>
          </a:p>
          <a:p>
            <a:pPr marL="182563" indent="-182563" eaLnBrk="1" hangingPunct="1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Findes under Uge 13</a:t>
            </a:r>
          </a:p>
        </p:txBody>
      </p:sp>
      <p:sp>
        <p:nvSpPr>
          <p:cNvPr id="7" name="Text Box 21"/>
          <p:cNvSpPr txBox="1">
            <a:spLocks noChangeArrowheads="1"/>
          </p:cNvSpPr>
          <p:nvPr/>
        </p:nvSpPr>
        <p:spPr bwMode="auto">
          <a:xfrm>
            <a:off x="874845" y="4804335"/>
            <a:ext cx="3890689" cy="1703030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Computerspillets GUI klasse indeholder næsten 1000 linjer kode</a:t>
            </a:r>
          </a:p>
          <a:p>
            <a:pPr marL="182563" indent="-182563" eaLnBrk="1" hangingPunct="1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Kig evt. lidt på den og find eksempler på nogle af de ting, som jeg har gennemgået i denne forelæsning</a:t>
            </a:r>
          </a:p>
          <a:p>
            <a:pPr marL="182563" indent="-182563" eaLnBrk="1" hangingPunct="1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I Computerspil 4 skal i lave nogle simple modifikationer/udvidelser af GUI klassen</a:t>
            </a:r>
          </a:p>
        </p:txBody>
      </p:sp>
      <p:sp>
        <p:nvSpPr>
          <p:cNvPr id="9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32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3948282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a-DK" altLang="da-DK" sz="3200" noProof="0" dirty="0">
                <a:ea typeface="ＭＳ Ｐゴシック" pitchFamily="34" charset="-128"/>
              </a:rPr>
              <a:t>Det var alt for nu…..              … spørgsmål</a:t>
            </a:r>
          </a:p>
        </p:txBody>
      </p:sp>
      <p:pic>
        <p:nvPicPr>
          <p:cNvPr id="16" name="Picture 2" descr="j0404263[1]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1916831"/>
            <a:ext cx="4213225" cy="3589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 algn="ctr"/>
            <a:fld id="{075E60B5-46BA-4D08-962C-193FD827B169}" type="slidenum">
              <a:rPr lang="da-DK" altLang="da-DK" smtClean="0"/>
              <a:pPr algn="ctr"/>
              <a:t>33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15205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Standard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rgbClr val="000066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0000" tIns="46800" rIns="90000" bIns="468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a-DK" sz="2000" b="0" i="0" u="none" strike="noStrike" cap="none" normalizeH="0" baseline="0">
            <a:ln>
              <a:noFill/>
            </a:ln>
            <a:solidFill>
              <a:srgbClr val="A5002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rgbClr val="000066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0000" tIns="46800" rIns="90000" bIns="468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a-DK" sz="2000" b="0" i="0" u="none" strike="noStrike" cap="none" normalizeH="0" baseline="0">
            <a:ln>
              <a:noFill/>
            </a:ln>
            <a:solidFill>
              <a:srgbClr val="A5002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Standarddesign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10058</TotalTime>
  <Words>4328</Words>
  <Application>Microsoft Office PowerPoint</Application>
  <PresentationFormat>On-screen Show (4:3)</PresentationFormat>
  <Paragraphs>624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ＭＳ Ｐゴシック</vt:lpstr>
      <vt:lpstr>Arial</vt:lpstr>
      <vt:lpstr>Courier New</vt:lpstr>
      <vt:lpstr>Times New Roman</vt:lpstr>
      <vt:lpstr>Standarddesign</vt:lpstr>
      <vt:lpstr>Forelæsning Uge 13 </vt:lpstr>
      <vt:lpstr>● AWT og Swing</vt:lpstr>
      <vt:lpstr>● Vinduer (frames)</vt:lpstr>
      <vt:lpstr>Terminologi for frames (vinduer)</vt:lpstr>
      <vt:lpstr>Java kode for simpel frame</vt:lpstr>
      <vt:lpstr>● Menuer</vt:lpstr>
      <vt:lpstr>● Håndtering af events (actions)</vt:lpstr>
      <vt:lpstr>Håndtering af billeder</vt:lpstr>
      <vt:lpstr>openFile metoden</vt:lpstr>
      <vt:lpstr>● Layout managers</vt:lpstr>
      <vt:lpstr>Flow layout</vt:lpstr>
      <vt:lpstr>Horisontalt box layout</vt:lpstr>
      <vt:lpstr>Vertikalt box layout</vt:lpstr>
      <vt:lpstr>Grid layout</vt:lpstr>
      <vt:lpstr>Border layout</vt:lpstr>
      <vt:lpstr>Border layout (fortsat)</vt:lpstr>
      <vt:lpstr>Border layout (fortsat)</vt:lpstr>
      <vt:lpstr>Indlejring af layout managers</vt:lpstr>
      <vt:lpstr>● Dialogbokse og knapper</vt:lpstr>
      <vt:lpstr>Knapper</vt:lpstr>
      <vt:lpstr>● Andre GUI elementer</vt:lpstr>
      <vt:lpstr>Gode råd omkring GUI konstruktion</vt:lpstr>
      <vt:lpstr>● Anonyme indre klasser</vt:lpstr>
      <vt:lpstr>Erklæring af anonym indre klasse</vt:lpstr>
      <vt:lpstr>MouseAdapter klassen</vt:lpstr>
      <vt:lpstr>Indre klasser</vt:lpstr>
      <vt:lpstr>● Computerspil 3</vt:lpstr>
      <vt:lpstr>Regression tests for BorderCity / CapitalCity</vt:lpstr>
      <vt:lpstr>Regression test for MafiaCountry</vt:lpstr>
      <vt:lpstr>Testserveren</vt:lpstr>
      <vt:lpstr>Statistik for brug af testserveren</vt:lpstr>
      <vt:lpstr>● Opsummering</vt:lpstr>
      <vt:lpstr>Det var alt for nu…..              … spørgsmål</vt:lpstr>
    </vt:vector>
  </TitlesOfParts>
  <Company>DAIMI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Programmering  – fra instruktion til modellering</dc:title>
  <dc:creator>Michael E. Caspersen</dc:creator>
  <cp:lastModifiedBy>Kurt Jensen</cp:lastModifiedBy>
  <cp:revision>943</cp:revision>
  <cp:lastPrinted>2015-09-29T11:26:29Z</cp:lastPrinted>
  <dcterms:created xsi:type="dcterms:W3CDTF">2009-09-02T10:07:09Z</dcterms:created>
  <dcterms:modified xsi:type="dcterms:W3CDTF">2025-11-17T16:32:56Z</dcterms:modified>
</cp:coreProperties>
</file>